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आर्थिक संवृद्धि (Economic Growth) और आर्थिक विकास (Economic Development) के बीच मूलभूत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संवृद्धि केवल गुणात्मक परिवर्तन है, जबकि विकास केवल मात्रात्मक वृद्धि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संवृद्धि सकल घरेलू उत्पाद (GDP) में मात्रात्मक वृद्धि को दर्शाती है, जबकि विकास जीवन स्तर, शिक्षा एवं स्वास्थ्य में समग्र गुणात्मक सुधार का बहुआयामी मापक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संवृद्धि अल्पकालिक होती है, जबकि विकास केवल मध्यमकालिक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अवधारणाएं पूरी तरह से एक समान हैं और इनमें कोई सैद्धांतिक अंतर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संवृद्धि सकल घरेलू उत्पाद (GDP) में मात्रात्मक वृद्धि को दर्शाती है, जबकि विकास जीवन स्तर, शिक्षा एवं स्वास्थ्य में समग्र गुणात्मक सुधार का बहुआयामी मापक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संवृद्धि केवल गुणात्मक परिवर्तन है, जबकि विकास केवल मात्रात्मक वृद्धि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संवृद्धि अल्पकालिक होती है, जबकि विकास केवल मध्यमकालिक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अवधारणाएं पूरी तरह से एक समान हैं और इनमें कोई सैद्धांतिक अंतर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आर्थिक संवृद्धि एक संकीर्ण और मात्रात्मक (Quantitative) अवधारणा है, जो किसी निश्चित समयावधि में किसी देश के वास्तविक उत्पादन यानी सकल घरेलू उत्पाद (GDP) या प्रति व्यक्ति आय में होने वाली भौतिक वृद्धि को मापती है। इसके विपरीत, आर्थिक विकास एक व्यापक और गुणात्मक (Qualitative) अवधारणा है, जिसमें आर्थिक संवृद्धि के साथ-साथ गरीबी में कमी, बेरोजगारी निवारण, साक्षरता, स्वास्थ्य सेवाओं में सुधार और जीवन प्रत्याशा में वृद्धि जैसे संस्थागत और संरचनात्मक सुधार शामिल होते हैं। अतः संवृद्धि केवल उत्पादन का बढ़ना है, जबकि विकास जीवन की गुणवत्ता का संवर्धन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'सतत विकास' (Sustainable Development) की अवधारणा को किस ऐतिहासिक आयोग की रिपोर्ट द्वारा वैश्विक स्तर पर आधिकारिक मान्यता प्राप्त हुई?</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कोठारी आयोग (1966)</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ब्रंटलैंड आयोग (1987)</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सरकारिया आयोग (1988)</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नरसिम्हम आयोग (1991)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ब्रंटलैंड आयोग (1987)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कोठारी आयोग (1966)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सरकारिया आयोग (1988)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नरसिम्हम आयोग (1991)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सतत विकास की आधुनिक अवधारणा को 1987 में विश्व पर्यावरण और विकास आयोग (WCED), जिसे 'ब्रंटलैंड आयोग' (Brundtland Commission) कहा जाता है, की प्रसिद्ध रिपोर्ट 'अवर कॉमन फ्यूचर' (Our Common Future) में औपचारिक रूप से परिभाषित किया गया था। इस रिपोर्ट के अनुसार, सतत विकास ऐसा विकास है जो भविष्य की पीढ़ियों की अपनी आवश्यकताओं को पूरा करने की क्षमता से समझौता किए बिना वर्तमान पीढ़ी की आवश्यकताओं को पूरा करता है। इसमें पर्यावरण संरक्षण, सामाजिक समानता और आर्थिक संवृद्धि के बीच दीर्घकालिक संतुलन स्थापित करने पर जोर दिया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यदि किसी अर्थव्यवस्था में नाममात्र सकल घरेलू उत्पाद (Nominal GDP) में वृद्धि होती है, लेकिन वास्तविक सकल घरेलू उत्पाद (Real GDP) स्थिर रहता है, तो इसका क्या तात्पर्य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देश में वस्तुओं और सेवाओं के भौतिक उत्पादन में भारी वृद्धि हुई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देश में भौतिक उत्पादन स्थिर रहा है और GDP में यह वृद्धि केवल मूल्य वृद्धि (मुद्रास्फीति) के कारण हुई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से प्राप्त शुद्ध साधन आय (NFIA) ऋणात्मक हो गई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अर्थव्यवस्था में बचत और निवेश की दर में भारी गिरावट दर्ज की गई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देश में भौतिक उत्पादन स्थिर रहा है और GDP में यह वृद्धि केवल मूल्य वृद्धि (मुद्रास्फीति) के कारण हुई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देश में वस्तुओं और सेवाओं के भौतिक उत्पादन में भारी वृद्धि हुई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से प्राप्त शुद्ध साधन आय (NFIA) ऋणात्मक हो गई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अर्थव्यवस्था में बचत और निवेश की दर में भारी गिरावट दर्ज की गई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नाममात्र GDP (Nominal GDP) की गणना चालू वर्ष की प्रचलित बाजार कीमतों पर की जाती है, जबकि वास्तविक GDP (Real GDP) की गणना किसी स्थिर आधार वर्ष (Base Year) की कीमतों पर की जाती है। यदि वास्तविक GDP में कोई परिवर्तन नहीं होता, तो इसका सीधा अर्थ है कि अर्थव्यवस्था में वस्तुओं और सेवाओं के वास्तविक उत्पादन की मात्रा में कोई वृद्धि नहीं हुई है। ऐसे में यदि नाममात्र GDP बढ़ती दिख रही है, तो यह केवल सामान्य मूल्य स्तर में वृद्धि यानी मुद्रास्फीति (Inflation) का परिणाम है। वास्तविक आर्थिक विकास का सही आकलन हमेशा वास्तविक GDP से ही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राष्ट्रीय आय (National Income) के आकलन में 'दोहरी गणना' (Double Counting) की समस्या से बचने के लिए किस विधि का प्रयोग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मध्यवर्ती वस्तुओं के मूल्य को जोड़ना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मूल्य वर्धित विधि (Value Added Method) का प्रयोग कर प्रत्येक चरण पर जुड़े मूल्य को शामिल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चालू और पूंजीगत दोनों लेन-देनों को एक साथ जोड़ना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अप्रत्यक्ष करों को GDP में दोबारा जोड़ना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मूल्य वर्धित विधि (Value Added Method) का प्रयोग कर प्रत्येक चरण पर जुड़े मूल्य को शामिल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मध्यवर्ती वस्तुओं के मूल्य को जोड़ना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चालू और पूंजीगत दोनों लेन-देनों को एक साथ जोड़ना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अप्रत्यक्ष करों को GDP में दोबारा जोड़ना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आय की गणना करते समय दोहरी गणना की समस्या तब उत्पन्न होती है जब किसी अंतिम उत्पाद के मूल्य में उसके निर्माण में प्रयुक्त मध्यवर्ती वस्तुओं (Intermediate Goods) का मूल्य बार-बार जुड़ जाता है। उदाहरण के लिए, गेहूं, आटा और ब्रेड तीनों के मूल्यों को अलग-अलग जोड़ने से गेहूं का मूल्य कई बार शामिल हो जाएगा। इस समस्या से बचने के लिए 'मूल्य वर्धित विधि' (Value Added Method) अपनाई जाती है, जिसमें उत्पादन के प्रत्येक चरण पर 'उत्पादन के मूल्य' में से 'मध्यवर्ती उपभोग' को घटाकर केवल शुद्ध मूल्य वर्धन (GVA) की गणना की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भूटान द्वारा प्रतिपादित 'सकल राष्ट्रीय खुशहाली' (Gross National Happiness - GNH) दर्शन के चार प्रमुख स्तंभों में निम्नलिखित में से कौन-सा शामिल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सतत और न्यायसंगत सामाजिक-आर्थिक विकास</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सांस्कृतिक मूल्यों का संरक्षण और संवर्धन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पर्यावरण का संरक्षण एवं संवर्धन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अनियंत्रित एवं तीव्र औद्योगीकरण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अनियंत्रित एवं तीव्र औद्योगीकरण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सतत और न्यायसंगत सामाजिक-आर्थिक विकास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सांस्कृतिक मूल्यों का संरक्षण और संवर्धन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पर्यावरण का संरक्षण एवं संवर्धन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सकल राष्ट्रीय खुशहाली (GNH) की अवधारणा को 1970 के दशक में भूटान के चौथे राजा जिग्मे सिंग्ये वांगचुक द्वारा प्रतिपादित किया गया था। GNH विशुद्ध आर्थिक लाभ के बजाय नागरिक कल्याण, आध्यात्मिक शांति और पारिस्थितिक संतुलन को प्राथमिकता देता है। इसके चार मूलभूत स्तंभ हैं: 1. सतत एवं न्यायसंगत सामाजिक-आर्थिक विकास, 2. सांस्कृतिक मूल्यों का संरक्षण एवं संवर्धन, 3. पर्यावरण एवं प्राकृतिक संसाधनों का संरक्षण, और 4. सुशासन (Good Governance)। तीव्र और अनियंत्रित औद्योगीकरण इसका हिस्सा नहीं है बल्कि यह पर्यावरण के लिए हानिकारक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पर्यावरणीय कुजनेट्स वक्र (Environmental Kuznets Curve - EKC) का "टर्निंग पॉइंट" (Turning Point) क्या दर्शाता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बिंदु जहां आर्थिक विकास के साथ प्रदूषण में तीव्रतम वृद्धि शुरू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आय या विकास का वह स्तर जिसके बाद निरंतर आर्थिक संवृद्धि के बावजूद पर्यावरणीय क्षरण कम होने लगता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बिंदु जहां प्राकृतिक संसाधनों का क्षरण GDP के 50% से अधिक हो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अवस्था जहां किसी देश का व्यापार संतुलन शून्य हो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आय या विकास का वह स्तर जिसके बाद निरंतर आर्थिक संवृद्धि के बावजूद पर्यावरणीय क्षरण कम होने लगता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बिंदु जहां आर्थिक विकास के साथ प्रदूषण में तीव्रतम वृद्धि शुरू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बिंदु जहां प्राकृतिक संसाधनों का क्षरण GDP के 50% से अधिक हो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अवस्था जहां किसी देश का व्यापार संतुलन शून्य हो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पर्यावरणीय कुजनेट्स वक्र (EKC) प्रति व्यक्ति आय और पर्यावरणीय क्षरण के बीच संबंध को प्रदर्शित करने वाला एक उल्टा 'U' (Inverted U) आकार का वक्र है। इसके अनुसार, विकास के प्रारंभिक चरण में औद्योगीकरण के कारण प्रदूषण और संसाधनों का दोहन तेजी से बढ़ता है। लेकिन एक निश्चित आय स्तर (टर्निंग पॉइंट) पर पहुंचने के बाद, जब लोगों की जागरूकता बढ़ती है, आधुनिक स्वच्छ तकनीकें अपनाई जाती हैं और कठोर पर्यावरणीय कानून लागू होते हैं, तब आगे आर्थिक विकास होने पर भी पर्यावरणीय प्रदूषण घटने लगता है और पर्यावरण की गुणवत्ता में सुधार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'हरित जीडीपी' (Green GDP) का सटीक मान प्राप्त करने के लिए पारंपरिक सकल घरेलू उत्पाद (GDP) में से किसे घटाया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रक्षा और आंतरिक सुरक्षा पर किया गया सरकारी व्यय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प्राकृतिक संसाधनों की कमी (Depletion) तथा पर्यावरणीय गिरावट की आर्थिक लागत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अप्रत्यक्ष करों और सब्सिडी के अंतर 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विदेशों से प्राप्त शुद्ध प्रेषण (Remittances) 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प्राकृतिक संसाधनों की कमी (Depletion) तथा पर्यावरणीय गिरावट की आर्थिक लागत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रक्षा और आंतरिक सुरक्षा पर किया गया सरकारी व्यय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अप्रत्यक्ष करों और सब्सिडी के अंतर 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विदेशों से प्राप्त शुद्ध प्रेषण (Remittances) 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पारंपरिक GDP केवल बाजार में उत्पादित वस्तुओं और सेवाओं के कुल मौद्रिक मूल्य को मापती है, लेकिन यह उत्पादन प्रक्रिया के दौरान होने वाले पर्यावरणीय नुकसान और प्राकृतिक संसाधनों (जैसे वन, खनिज, जल) के क्षरण को नजरअंदाज कर देती है। हरित जीडीपी (Green GDP) पर्यावरण-समायोजित आर्थिक कल्याण का एक आधुनिक सूचकांक है। इसकी गणना पारंपरिक GDP में से प्राकृतिक संसाधनों की कमी का मूल्य और प्रदूषण व पारिस्थितिक क्षति की अनुमानित लागत घटाकर की जाती है, ताकि देश की वास्तविक संधारणीय प्रगति का पता चल सके।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संयुक्त राष्ट्र द्वारा अपनाए गए सतत विकास लक्ष्यों (SDGs) एजेंडा 2030 के तहत कुल कितने मुख्य लक्ष्य, उप-लक्ष्य और संकेतक निर्धारित किए गए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15 लक्ष्य, 150 उप-लक्ष्य, 200 संकेतक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17 लक्ष्य, 169 उप-लक्ष्य, 247 संकेतक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18 लक्ष्य, 175 उप-लक्ष्य, 300 संकेतक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20 लक्ष्य, 180 उप-लक्ष्य, 320 संकेतक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17 लक्ष्य, 169 उप-लक्ष्य, 247 संकेतक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 लक्ष्य, 150 उप-लक्ष्य, 200 संकेतक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 लक्ष्य, 175 उप-लक्ष्य, 300 संकेतक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 लक्ष्य, 180 उप-लक्ष्य, 320 संकेतक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सितंबर 2015 में संयुक्त राष्ट्र महासभा ने 'ट्रांसफॉर्मिंग अवर वर्ल्ड: द 2030 एजेंडा फॉर सस्टेनेबल डेवलपमेंट' को सर्वसम्मति से स्वीकार किया। इसके अंतर्गत वैश्विक स्तर पर गरीबी, असमानता, जलवायु परिवर्तन, शांति और न्याय जैसी चुनौतियों से निपटने के लिए 17 मुख्य सतत विकास लक्ष्य (SDGs), 169 विशिष्ट उप-लक्ष्य (Targets) तथा वैश्विक प्रगति की निगरानी के लिए 247 आधिकारिक संकेतक (Global Indicators) निर्धारित किए गए हैं। इन सभी लक्ष्यों को 2016 से 2030 के बीच हासिल करने का वैश्विक संकल्प लिया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आर्थिक विकास के अंतरराष्ट्रीय विश्लेषण में 'क्रय शक्ति समता' (Purchasing Power Parity - PPP) का मुख्य अनुप्रयोग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विभिन्न देशों के चालू खाता घाटे (CAD) की तुलना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मुद्रा विनिमय दरों की विकृति को समाप्त कर विभिन्न देशों के बीच वास्तविक क्रय शक्ति और जीवन स्तर की निष्पक्ष तुलना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सोने के अंतरराष्ट्रीय मूल्य का निर्धारण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मुद्रा भंडार की सुरक्षा सुनिश्चित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मुद्रा विनिमय दरों की विकृति को समाप्त कर विभिन्न देशों के बीच वास्तविक क्रय शक्ति और जीवन स्तर की निष्पक्ष तुलना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विभिन्न देशों के चालू खाता घाटे (CAD) की तुलना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सोने के अंतरराष्ट्रीय मूल्य का निर्धारण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मुद्रा भंडार की सुरक्षा सुनिश्चित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जब विभिन्न देशों की राष्ट्रीय आय की तुलना केवल बाजार विनिमय दर (Market Exchange Rate) पर की जाती है, तो स्थानीय वस्तुओं और गैर-व्यापारिक सेवाओं की कम कीमतों के कारण विकासशील देशों की अर्थव्यवस्था का आकार वास्तविकता से कम दिखाई देता है। क्रय शक्ति समता (PPP) सिद्धांत वस्तुओं की एक समान टोकरी (Basket of Goods) की लागत के आधार पर मुद्राओं की वास्तविक क्रय शक्ति की गणना करता है। इससे देशों के नागरिकों की वास्तविक आय, क्रय शक्ति और जीवन स्तर की सटीक एवं यथार्थपरक अंतरराष्ट्रीय तुलना संभव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अर्थशास्त्र में 'गिनी गुणांक' (Gini Coefficient) का मान यदि '0' (शून्य) प्राप्त होता है, तो यह किस स्थिति को इंगित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अर्थव्यवस्था में आय का वितरण पूर्णतः असमान है (एक ही व्यक्ति के पास सारी आय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अर्थव्यवस्था में आय का वितरण पूर्णतः समान है (सभी व्यक्तियों की आय बिल्कुल बराबर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अर्थव्यवस्था गंभीर मंदी और नकारात्मक वृद्धि का सामना कर रही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देश में बेरोजगारी की दर 100% तक पहुंच गई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अर्थव्यवस्था में आय का वितरण पूर्णतः समान है (सभी व्यक्तियों की आय बिल्कुल बराबर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अर्थव्यवस्था में आय का वितरण पूर्णतः असमान है (एक ही व्यक्ति के पास सारी आय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अर्थव्यवस्था गंभीर मंदी और नकारात्मक वृद्धि का सामना कर रही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देश में बेरोजगारी की दर 100% तक पहुंच गई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गिनी गुणांक आय या धन के वितरण में असमानता को मापने का एक गणितीय पैमाना है, जिसे लोरेंज वक्र (Lorenz Curve) के आधार पर विकसित किया गया है। गिनी गुणांक का मान 0 से 1 (या 0% से 100%) के बीच होता है। '0' का मान 'पूर्ण समानता' (Perfect Equality) को प्रदर्शित करता है, जिसका अर्थ है कि समाज के प्रत्येक व्यक्ति की आय बिल्कुल एक समान है और लोरेंज वक्र 45 डिग्री की समता रेखा पर स्थित है। वहीं '1' का मान 'पूर्ण असमानता' (Perfect Inequality) को दर्शाता है, जहाँ देश की संपूर्ण आय केवल एक ही व्यक्ति के पास संकेंद्रित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राष्ट्रीय आय (NNP at FC) के आकलन में निम्नलिखित में से किसे 'हस्तांतरण भुगतान' (Transfer Payment) मानकर बाहर रखा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कर्मचारियों को उनके काम के बदले दिया गया वेतन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सरकार द्वारा दी जाने वाली वृद्धावस्था पेंशन एवं छात्रवृत्ति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किसी व्यावसायिक भवन से प्राप्त किराया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उत्पादन प्रक्रिया से अर्जित शुद्ध लाभ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सरकार द्वारा दी जाने वाली वृद्धावस्था पेंशन एवं छात्रवृत्ति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कर्मचारियों को उनके काम के बदले दिया गया वेतन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किसी व्यावसायिक भवन से प्राप्त किराया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उत्पादन प्रक्रिया से अर्जित शुद्ध लाभ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आय (साधन लागत पर शुद्ध राष्ट्रीय उत्पाद) में केवल उत्पादन के साधनों (भूमि, श्रम, पूंजी, उद्यम) द्वारा दी गई सेवाओं के बदले अर्जित 'कारक आय' (Factor Income) को शामिल किया जाता है। हस्तांतरण भुगतान (Transfer Payments) जैसे वृद्धावस्था पेंशन, बेरोजगारी भत्ता, विद्यार्थियों को दी जाने वाली छात्रवृत्ति या उपहार एकतरफा भुगतान होते हैं, जिनके बदले में चालू वर्ष में किसी नई वस्तु या सेवा का उत्पादन नहीं होता है। अतः दोहरी गणना और बिना उत्पादन वाली आय से बचने के लिए इन्हें राष्ट्रीय आय के आकलन से पूरी तरह बाहर रखा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बाजार मूल्य पर शुद्ध घरेलू उत्पाद (NDP at MP) और साधन लागत पर शुद्ध राष्ट्रीय उत्पाद (NNP at FC) के बीच सही गणितीय संबंध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NNP at FC = NDP at MP + मूल्यह्रास - NFIA</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NNP at FC = NDP at MP + विदेशों से शुद्ध साधन आय (NFIA) - शुद्ध अप्रत्यक्ष कर (NIT)</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NNP at FC = NDP at MP - विदेशों से शुद्ध साधन आय (NFIA) + शुद्ध अप्रत्यक्ष कर (NIT)</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NNP at FC = NDP at MP + सब्सिडी + मूल्यह्रास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NNP at FC = NDP at MP + विदेशों से शुद्ध साधन आय (NFIA) - शुद्ध अप्रत्यक्ष कर (NIT)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NNP at FC = NDP at MP + मूल्यह्रास - NFIA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NNP at FC = NDP at MP - विदेशों से शुद्ध साधन आय (NFIA) + शुद्ध अप्रत्यक्ष कर (NIT)</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NNP at FC = NDP at MP + सब्सिडी + मूल्यह्रास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आय लेखांकन में दो प्रमुख परिवर्तन किए जाते हैं: 1. 'घरेलू' (Domestic) घटक को 'राष्ट्रीय' (National) में बदलने के लिए 'विदेशों से प्राप्त शुद्ध साधन आय' (NFIA) को जोड़ा जाता है। 2. 'बाजार मूल्य' (Market Price) को 'साधन लागत' (Factor Cost) में बदलने के लिए 'शुद्ध अप्रत्यक्ष कर' (NIT = अप्रत्यक्ष कर - सब्सिडी) को घटाया जाता है। चूंकि दोनों ही अवधारणाएं पहले से 'शुद्ध' (Net) हैं, इसलिए मूल्यह्रास का कोई समायोजन नहीं होगा। अतः सही सूत्र है: NNP at FC = NDP at MP + NFIA - NIT।</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सहस्राब्दी विकास लक्ष्यों (MDGs) और सतत विकास लक्ष्यों (SDGs) के संदर्भ में निम्नलिखित कथनों पर विचार कीजिए: A. MDGs की समयावधि वर्ष 2000 से 2015 थी, जबकि SDGs की कार्यान्वयन अवधि 2016 से 2030 है। B. MDGs मुख्य रूप से विकासशील देशों में बुनियादी सामाजिक लक्ष्यों पर केंद्रित थे, जबकि SDGs विकसित और विकासशील दोनों देशों पर समान रूप से लागू होने वाला सार्वभौमिक एजेंडा है। C. MDGs में 8 लक्ष्य निर्धारित थे, जबकि SDGs के तहत 17 व्यापक लक्ष्य शामिल किए गए हैं। D. SDGs में आर्थिक, सामाजिक और पर्यावरणीय तीनों आयामों का संतुलित एकीकरण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सहस्राब्दी विकास लक्ष्य (MDGs: 2000-2015) 8 लक्ष्यों और 21 उप-लक्ष्यों के साथ मुख्य रूप से विकासशील देशों में अत्यधिक गरीबी, भूख और बुनियादी स्वास्थ्य समस्याओं से निपटने के लिए तैयार किए गए थे। इसके विपरीत, सतत विकास लक्ष्य (SDGs: 2016-2030) में 17 लक्ष्य और 169 उप-लक्ष्य हैं। SDGs सार्वभौमिक (Universal) हैं जो विश्व के सभी देशों (विकसित और विकासशील) पर लागू होते हैं। SDGs में सामाजिक समावेशन, आर्थिक संवृद्धि और पर्यावरणीय संधारणीयता (तीन स्तंभ) के बीच संतुलित समन्वय स्थापित किया गया है। अतः चारों कथन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प्रमुख सतत विकास लक्ष्यों (SDGs) को उनके संबंधित विषयों के साथ सुमेलित कीजिए: सूची-I: सूची-I: A. SDG 2 B. SDG 6 C. SDG 8 D. SDG 13 सूची-II: 1. जलवायु कार्रवाई (Climate Action) 2. भुखमरी की समाप्ति एवं सतत कृषि (Zero Hunger) 3. स्वच्छ जल एवं स्वच्छता (Clean Water and Sanitation) 4. उत्कृष्ट कार्य एवं आर्थिक संवृद्धि (Decent Work &amp; Economic Growth)</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सतत विकास लक्ष्यों (SDGs) की आधिकारिक सूची के अनुसार: SDG 2 का उद्देश्य भुखमरी की समाप्ति, खाद्य सुरक्षा, बेहतर पोषण और टिकाऊ कृषि को बढ़ावा देना है (Zero Hunger)। SDG 6 सभी के लिए स्वच्छ जल और स्वच्छता की उपलब्धता और सतत प्रबंधन सुनिश्चित करने से संबंधित है (Clean Water &amp; Sanitation)। SDG 8 निरंतर, समावेशी और सतत आर्थिक विकास के साथ सभी के लिए पूर्ण व उत्पादक रोजगार तथा मर्यादित कार्य को बढ़ावा देता है (Decent Work and Economic Growth)। SDG 13 जलवायु परिवर्तन और उसके दुष्प्रभावों से निपटने के लिए तत्काल कार्रवाई करने से संबंधित है (Climate Action)। अतः सही मिलान A-2, B-3, C-4,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यदि किसी देश का नाममात्र जीडीपी ₹30,000 करोड़ है और जीडीपी डिफ्लेटर (GDP Deflator) का मान 150 है, तो उस देश का वास्तविक जीडीपी (Real GDP) कितना होगा?</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₹15,000 करोड़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₹20,000 करोड़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₹25,000 करोड़</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₹45,000 करोड़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₹20,000 करोड़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₹15,000 करोड़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₹25,000 करोड़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₹45,000 करोड़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जीडीपी डिफ्लेटर का उपयोग चालू कीमतों पर आधारित GDP को स्थिर कीमतों पर आधारित GDP में बदलने के लिए किया जाता है। इसका सूत्र है: जीडीपी डिफ्लेटर = (नाममात्र जीडीपी / वास्तविक जीडीपी) × 100। अतः वास्तविक जीडीपी = (नाममात्र जीडीपी / जीडीपी डिफ्लेटर) × 100। दिए गए आंकड़ों के अनुसार: वास्तविक जीडीपी = (30,000 / 150) × 100 = 200 × 100 = ₹20,000 करोड़। डिफ्लेटर का 150 होना यह दर्शाता है कि आधार वर्ष की तुलना में अर्थव्यवस्था में कीमतों में 50% की वृद्धि हुई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राष्ट्रीय आय आकलन की 'मूल्य वर्धित विधि' (Value Added Method) में 'सकल मूल्य वर्धन' (GVA at MP) निकालने का सही सूत्र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उत्पादन का मूल्य + मध्यवर्ती उपभोग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उत्पादन का मूल्य - मध्यवर्ती उपभोग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 बिक्री + अंतिम स्टॉक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कारक लागत + अप्रत्यक्ष 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उत्पादन का मूल्य - मध्यवर्ती उपभोग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उत्पादन का मूल्य + मध्यवर्ती उपभोग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बिक्री + अंतिम स्टॉक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कारक लागत + अप्रत्यक्ष 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आय लेखांकन में मूल्य वर्धित विधि उत्पादन के प्रत्येक चरण पर सृजित नए मूल्य की गणना करती है। सकल मूल्य वर्धन (Gross Value Added - GVA) ज्ञात करने के लिए किसी उत्पादन इकाई द्वारा उत्पादित कुल 'उत्पादन के मूल्य' (Value of Output = बिक्री + स्टॉक में परिवर्तन) में से उसके द्वारा उपयोग किए गए कच्चे माल व सेवाओं के 'मध्यवर्ती उपभोग' (Intermediate Consumption) को घटाया जाता है। यह विधि अर्थव्यवस्था में दोहरी गणना को पूर्ण रूप से समाप्त कर वास्तविक उत्पादन को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समष्टि अर्थशास्त्र (Macroeconomics) में 'प्रवाह चर' (Flow Variable) और 'स्टॉक चर' (Stock Variable) के संबंध में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पूंजी स्टॉक और मुद्रा आपूर्ति प्रवाह चर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आय और वार्षिक निवेश प्रवाह चर हैं, जबकि राष्ट्रीय संपत्ति और मुद्रा आपूर्ति स्टॉक चर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आर्थिक चर केवल स्टॉक चर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प्रवाह चर को समय के एक निश्चित बिंदु (Point of time) पर मापा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राष्ट्रीय आय और वार्षिक निवेश प्रवाह चर हैं, जबकि राष्ट्रीय संपत्ति और मुद्रा आपूर्ति स्टॉक चर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पूंजी स्टॉक और मुद्रा आपूर्ति प्रवाह चर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आर्थिक चर केवल स्टॉक चर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प्रवाह चर को समय के एक निश्चित बिंदु (Point of time) पर मापा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'स्टॉक चर' (Stock Variable) वह आर्थिक चर है जिसे समय के एक विशिष्ट बिंदु (Point of Time) पर मापा जाता है, जैसे कि किसी निश्चित तिथि (उदा. 31 मार्च) को देश की कुल संपत्ति, विदेशी मुद्रा भंडार, पूंजीगत स्टॉक या कुल मुद्रा आपूर्ति। इसके विपरीत, 'प्रवाह चर' (Flow Variable) वह चर है जिसे समय की एक निश्चित अवधि (Period of Time - जैसे प्रति माह या प्रति वर्ष) में मापा जाता है, जैसे कि राष्ट्रीय आय, वार्षिक निवेश, सकल घरेलू उत्पाद (GDP), निर्यात, आयात और घाटा। अतः विकल्प B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'मानव पूंजी निर्माण' (Human Capital Formation - HCF) और अमर्त्य सेन के 'मानव विकास' (Human Development) दृष्टिकोण में मुख्य दार्शनिक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HCF केवल औपचारिक साक्षरता पर ध्यान देता है, जबकि मानव विकास केवल प्राथमिक स्वास्थ्य 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HCF मानव को आर्थिक उत्पादन और श्रम उत्पादकता बढ़ाने के 'साधन' (Means) के रूप में देखता है, जबकि मानव विकास मनुष्य के कल्याण और क्षमताओं के विस्तार को स्वयं में 'साध्य' (End) मानता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HCF केवल विकसित देशों के लिए लागू होता है, जबकि मानव विकास विकासशील देशों के लिए।</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अवधारणाओं में कोई वैचारिक या व्यावहारिक अंतर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HCF मानव को आर्थिक उत्पादन और श्रम उत्पादकता बढ़ाने के 'साधन' (Means) के रूप में देखता है, जबकि मानव विकास मनुष्य के कल्याण और क्षमताओं के विस्तार को स्वयं में 'साध्य' (End) मानता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HCF केवल औपचारिक साक्षरता पर ध्यान देता है, जबकि मानव विकास केवल प्राथमिक स्वास्थ्य 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HCF केवल विकसित देशों के लिए लागू होता है, जबकि मानव विकास विकासशील देशों के लिए।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अवधारणाओं में कोई वैचारिक या व्यावहारिक अंतर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मानव पूंजी निर्माण (HCF) शिक्षा और स्वास्थ्य में निवेश को इस दृष्टि से देखता है कि इससे मानव की कार्यकुशलता और श्रम उत्पादकता बढ़ेगी, जिससे अंततः GDP और भौतिक उत्पादन में वृद्धि होगी। अर्थात् HCF में मानव विकास का एक 'साधन' (Means) है। इसके विपरीत, प्रो. अमर्त्य सेन और महबूब-उल-हक का 'मानव विकास दृष्टिकोण' यह मानता है कि स्वस्थ, शिक्षित और सशक्त जीवन जीना स्वयं में विकास का अंतिम 'लक्ष्य/साध्य' (End) है, चाहे वह प्रत्यक्ष रूप से भौतिक उत्पादन बढ़ाए या न बढ़ाए।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यदि किसी देश का GDP at MP = ₹8,000 करोड़, मूल्यह्रास (Depreciation) = ₹600 करोड़ तथा शुद्ध अप्रत्यक्ष कर (NIT) = ₹900 करोड़ है, तो NDP at FC का मूल्य क्या होगा?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₹6,500 करोड़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₹7,100 करोड़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₹7,400 करोड़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₹8,300 करोड़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₹6,500 करोड़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₹7,100 करोड़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₹7,400 करोड़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₹8,300 करोड़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GDP at MP से NDP at FC ज्ञात करने के लिए दो प्रमुख कटौतियां की जाती हैं: 1. 'सकल' (Gross) को 'शुद्ध' (Net) बनाने के लिए मूल्यह्रास घटाया जाता है (8,000 - 600 = ₹7,400 करोड़ NDP at MP)। 2. 'बाजार मूल्य' (MP) को 'साधन लागत' (FC) में बदलने के लिए शुद्ध अप्रत्यक्ष कर (NIT) घटाया जाता है (7,400 - 900 = ₹6,500 करोड़)। अतः NDP at FC = 8000 - 600 - 900 = ₹6,500 करोड़।</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1972 में घातांकीय जनसंख्या वृद्धि और अनियंत्रित औद्योगिक दोहन के खतरों पर प्रकाशित प्रसिद्ध रिपोर्ट 'द लिमिट्स टू ग्रोथ' (The Limits to Growth) किस अंतरराष्ट्रीय संस्था द्वारा जारी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विश्व आर्थिक मंच (WEF)</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 क्लब ऑफ रोम (The Club of Rome)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संयुक्त राष्ट्र पर्यावरण कार्यक्रम (UNEP)</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अंतरराष्ट्रीय मुद्रा कोष (IMF)</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20/200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द क्लब ऑफ रोम (The Club of Rome)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विश्व आर्थिक मंच (WEF)</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संयुक्त राष्ट्र पर्यावरण कार्यक्रम (UNEP)</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अंतरराष्ट्रीय मुद्रा कोष (IMF)</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 लिमिट्स टू ग्रोथ' (The Limits to Growth) वर्ष 1972 में मैसाचुसेट्स इंस्टीट्यूट ऑफ टेक्नोलॉजी (MIT) के शोधकर्ताओं द्वारा 'द क्लब ऑफ रोम' (The Club of Rome) के तत्वावधान में प्रकाशित एक ऐतिहासिक रिपोर्ट थी। इसमें कंप्यूटर मॉडल सिमुलेशन के माध्यम से पहली बार यह सिद्ध किया गया था कि सीमित प्राकृतिक संसाधनों और सीमित अवशोषण क्षमता वाले ग्रह पर घातांकीय जनसंख्या वृद्धि और अंधाधुंध भौतिक आर्थिक संवृद्धि निरंतर संभव नहीं है, और यदि इसे नियंत्रित नहीं किया गया तो 21वीं सदी में वैश्विक पारिस्थितिक और आर्थिक पतन 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20/200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राष्ट्रीय आय लेखांकन में 'वैयक्तिक प्रयोज्य आय' (Personal Disposable Income - PDI) का सही अर्थ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निगमों द्वारा अर्जित कुल अवितरित लाभ</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परिवारों और व्यक्तियों के पास सभी प्रत्यक्ष करों एवं गैर-कर भुगतानों के बाद उपभोग या बचत के लिए वास्तव में उपलब्ध शुद्ध आय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से प्राप्त शुद्ध कारक आय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सकल राष्ट्रीय उत्पाद में से मूल्यह्रास घटाने के बाद बची आय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625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21/200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परिवारों और व्यक्तियों के पास सभी प्रत्यक्ष करों एवं गैर-कर भुगतानों के बाद उपभोग या बचत के लिए वास्तव में उपलब्ध शुद्ध आय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निगमों द्वारा अर्जित कुल अवितरित लाभ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से प्राप्त शुद्ध कारक आय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सकल राष्ट्रीय उत्पाद में से मूल्यह्रास घटाने के बाद बची आय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वैयक्तिक प्रयोज्य आय (PDI) किसी देश के व्यक्तियों और परिवारों को वास्तव में प्राप्त होने वाली वह शुद्ध आय है, जिसे वे अपनी इच्छानुसार वस्तुओं और सेवाओं के उपभोग पर खर्च कर सकते हैं या बचत के रूप में रख सकते हैं। इसकी गणना 'वैयक्तिक आय' (Personal Income) में से व्यक्तिगत प्रत्यक्ष करों (जैसे आयकर) तथा प्रशासनिक गैर-कर भुगतानों (जैसे चालान, जुर्माना, लाइसेंस फीस) को घटाकर की जाती है। यह समाज की वास्तविक घरेलू क्रय शक्ति और मांग का सबसे सटीक सूचक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625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21/200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किस विशेष स्थिति में किसी देश का सकल राष्ट्रीय उत्पाद (GNP), उसके सकल घरेलू उत्पाद (GDP) से अधिक होगा?</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जब विदेशों से प्राप्त शुद्ध साधन आय (NFIA) धनात्मक (Positive)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जब विदेशों से प्राप्त शुद्ध साधन आय (NFIA) ऋणात्मक (Negative)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जब देश का व्यापार संतुलन घाटे में हो (आयात &gt; निर्यात)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जब मूल्यह्रास की दर शून्य से कम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22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22/200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जब विदेशों से प्राप्त शुद्ध साधन आय (NFIA) धनात्मक (Positive)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जब विदेशों से प्राप्त शुद्ध साधन आय (NFIA) ऋणात्मक (Negative)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जब देश का व्यापार संतुलन घाटे में हो (आयात &gt; निर्यात)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जब मूल्यह्रास की दर शून्य से कम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आय की मूलभूत संकल्पना के अनुसार: GNP = GDP + NFIA (विदेशों से प्राप्त शुद्ध साधन आय)। NFIA = (देश के निवासियों द्वारा विदेशों से अर्जित साधन आय - विदेशी नागरिकों द्वारा देश की घरेलू सीमा के भीतर अर्जित साधन आय)। यदि देश के नागरिकों द्वारा विदेशों से अर्जित आय, विदेशियों द्वारा देश में कमाई गई आय से अधिक है, तो NFIA धनात्मक होगा। इस स्थिति में GNP का मान हमेशा GDP से अधिक होगा। भारत जैसी विकासशील अर्थव्यवस्थाओं में विदेशी देनदारियां अधिक होने के कारण सामान्यतः NFIA ऋणात्मक रहता है, जिससे GDP &gt; GNP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22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22/200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अर्थव्यवस्था में 'वृद्धिशील पूंजी-उत्पाद अनुपात' (Incremental Capital-Output Ratio - ICOR) के संबंध में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उच्च ICOR अर्थव्यवस्था की उच्च उत्पादकता और दक्षता का प्रमाण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निम्न ICOR यह दर्शाता है कि पूंजी का उपयोग अत्यंत कुशल और उत्पादक तरीके से हो रहा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ICOR का मान हमेशा 10 से अधिक होना चाहिए।</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ICOR केवल कृषि क्षेत्र की पूंजी दक्षता को मापता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828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23/200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निम्न ICOR यह दर्शाता है कि पूंजी का उपयोग अत्यंत कुशल और उत्पादक तरीके से हो रहा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उच्च ICOR अर्थव्यवस्था की उच्च उत्पादकता और दक्षता का प्रमाण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ICOR का मान हमेशा 10 से अधिक होना चाहिए।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ICOR केवल कृषि क्षेत्र की पूंजी दक्षता को मापता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वृद्धिशील पूंजी-उत्पाद अनुपात (ICOR) यह मापता है कि उत्पादन की 1 अतिरिक्त इकाई उत्पन्न करने के लिए कितनी अतिरिक्त पूंजी निवेश करने की आवश्यकता है (ICOR = निवेश दर / आर्थिक संवृद्धि दर)। अतः ICOR का मान जितना कम होगा, उसका अर्थ है कि कम पूंजी लगाकर भी अधिक उत्पादन प्राप्त किया जा रहा है, जो अर्थव्यवस्था में उच्च दक्षता, बेहतर तकनीक और संसाधनों के इष्टतम उपयोग को दर्शाता है। इसके विपरीत, उच्च ICOR पूंजी की बर्बादी और अक्षमता का प्रतीक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828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23/200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"एक देश इसलिए गरीब है क्योंकि वह गरीब है" (A country is poor because it is poor) - गरीबी के दुष्चक्र (Vicious Circle of Poverty) का यह प्रसिद्ध सिद्धांत किस अर्थशास्त्री ने प्रतिपादित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अमर्त्य सेन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रैगनर नर्क्स (Ragnar Nurkse)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एडम स्मिथ</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जॉन मेनार्ड कीन्स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24/200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रैगनर नर्क्स (Ragnar Nurkse)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अमर्त्य सेन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एडम स्मिथ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जॉन मेनार्ड कीन्स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प्रसिद्ध अर्थशास्त्री रैगनर नर्क्स ने अपनी पुस्तक 'प्रॉब्लम्स ऑफ कैपिटल फॉर्मेशन इन अंडरडेवलप्ड कंट्रीज' (1953) में गरीबी के दुष्चक्र का सिद्धांत दिया था। उन्होंने स्पष्ट किया कि अल्पविकसित देशों में कम आय के कारण बचत का स्तर कम होता है, जिससे पूंजी निर्माण और निवेश में कमी आती है। कम निवेश के कारण उत्पादकता कम रहती है और कम उत्पादकता पुनः कम आय को जन्म देती है। इस प्रकार मांग और आपूर्ति दोनों पक्षों पर यह दुष्चक्र लगातार घूमता रहता है और देश गरीबी के जाल में फंसा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24/200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पर्यावरण अर्थशास्त्र में 'नकारात्मक बाह्यताएं' (Negative Externalities) बाजार विफलता और पर्यावरण क्षरण का कारण कैसे बनती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 वस्तुओं की उत्पादन लागत में सामाजिक और पर्यावरणीय क्षति की लागत को शामिल नहीं करती हैं, जिससे उत्पादों का अति-उत्पादन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 हरित प्रौद्योगिकियों की कीमतों को कृत्रिम रूप से कम कर देती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 केवल सरकारी सार्वजनिक उपक्रमों पर लागू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 सभी उद्योगों में 100% कर छूट प्रदान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030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25/200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 वस्तुओं की उत्पादन लागत में सामाजिक और पर्यावरणीय क्षति की लागत को शामिल नहीं करती हैं, जिससे उत्पादों का अति-उत्पादन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 हरित प्रौद्योगिकियों की कीमतों को कृत्रिम रूप से कम कर देती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 केवल सरकारी सार्वजनिक उपक्रमों पर लागू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 सभी उद्योगों में 100% कर छूट प्रदान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जब किसी आर्थिक गतिविधि (जैसे कारखाने द्वारा उत्पादन या जीवाश्म ईंधन का दहन) से किसी तीसरे पक्ष या पूरे समाज को नुकसान पहुंचता है और उत्पादक उस नुकसान की भरपाई नहीं करता, तो इसे 'नकारात्मक बाह्यता' कहते हैं। चूंकि बाजार मूल्य में प्रदूषण और स्वास्थ्य हानि जैसी सामाजिक लागतें (Social Costs) शामिल नहीं होतीं, इसलिए वे वस्तुएं बाजार में कृत्रिम रूप से सस्ती बिकती हैं। इसके परिणामस्वरूप समाज में ऐसे प्रदूषणकारी उत्पादों की मांग और उत्पादन आवश्यकता से अधिक (Overproduction) होता है, जो पर्यावरण क्षरण का मुख्य कारण बनता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030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25/200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यदि किसी अर्थव्यवस्था में सरकार द्वारा दी जाने वाली 'सब्सिडी' (Subsidies) का कुल मूल्य 'अप्रत्यक्ष करों' (Indirect Taxes) से अधिक हो जाए, तो GDP के मापन पर क्या प्रभाव पड़ेगा?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GDP at MP का मान GDP at FC से अधिक हो जाएगा।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GDP at MP का मान GDP at FC से कम हो जाएगा।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दोनों का मान बिल्कुल एक समान रहेगा।</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वास्तविक GDP शून्य हो जाएगी।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631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26/200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GDP at MP का मान GDP at FC से कम हो जाएगा।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GDP at MP का मान GDP at FC से अधिक हो जाएगा।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दोनों का मान बिल्कुल एक समान रहेगा।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वास्तविक GDP शून्य हो जाएगी।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साधन लागत पर GDP (GDP at FC) और बाजार मूल्य पर GDP (GDP at MP) के बीच का संबंध इस प्रकार है: GDP at MP = GDP at FC + (अप्रत्यक्ष कर - सब्सिडी)। यदि सब्सिडी का मान अप्रत्यक्ष करों से अधिक है, तो शुद्ध अप्रत्यक्ष कर (NIT = अप्रत्यक्ष कर - सब्सिडी) का मान ऋणात्मक (Negative) हो जाएगा। ऐसी स्थिति में बाजार मूल्य पर GDP (GDP at MP), साधन लागत पर GDP (GDP at FC) की तुलना में कम हो जाएगी।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631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26/200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1992 के रियो पृथ्वी सम्मेलन (Rio Earth Summit) में स्वीकृत 'एजेंडा 21' (Agenda 21) में संख्या '21' का क्या तात्पर्य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21 प्रमुख औद्योगिक देशों का समूह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21वीं सदी में वैश्विक सतत विकास की व्यापक कार्ययोजना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21 वर्षों के भीतर सभी पर्यावरणीय समस्याओं का समाधान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21 अनिवार्य अंतरराष्ट्रीय संधियां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232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27/200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21वीं सदी में वैश्विक सतत विकास की व्यापक कार्ययोजना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21 प्रमुख औद्योगिक देशों का समूह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21 वर्षों के भीतर सभी पर्यावरणीय समस्याओं का समाधान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21 अनिवार्य अंतरराष्ट्रीय संधियां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1992 में ब्राजील के रियो डी जेनेरियो में आयोजित संयुक्त राष्ट्र पर्यावरण एवं विकास सम्मेलन (UNCED), जिसे 'पृथ्वी सम्मेलन' भी कहा जाता है, में 'एजेंडा 21' को अपनाया गया था। इसमें '21' का तात्पर्य '21वीं सदी' (21st Century) से है। यह एक गैर-बाध्यकारी, व्यापक और स्वैच्छिक वैश्विक कार्ययोजना (Action Plan) है, जिसका मुख्य उद्देश्य 21वीं सदी में स्थानीय, राष्ट्रीय और वैश्विक स्तर पर पर्यावरण संरक्षण, गरीबी उन्मूलन और सतत विकास को बढ़ावा देना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232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27/200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UNDP द्वारा पेश किए गए 'प्लैनेटरी प्रेशर्स-एडजस्टेड मानव विकास सूचकांक' (PHDI) में पारंपरिक HDI को किन दो पर्यावरणीय संकेतकों के आधार पर समायोजित किया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वन आवरण में कमी और जल प्रदूषण स्तर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 व्यक्ति कार्बन डाइऑक्साइड उत्सर्जन और प्रति व्यक्ति मटेरियल फुटप्रिंट (Material Footprint)</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प्लास्टिक कचरा उत्पादन और वायु गुणवत्ता सूचकांक (AQI)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रासायनिक उर्वरक का उपयोग और भूजल दोहन 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28/200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प्रति व्यक्ति कार्बन डाइऑक्साइड उत्सर्जन और प्रति व्यक्ति मटेरियल फुटप्रिंट (Material Footprint)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वन आवरण में कमी और जल प्रदूषण स्तर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प्लास्टिक कचरा उत्पादन और वायु गुणवत्ता सूचकांक (AQI)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रासायनिक उर्वरक का उपयोग और भूजल दोहन 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UNDP ने मानव विकास रिपोर्ट 2020 में मानव विकास के पारंपरिक माप को पर्यावरण के अनुकूल बनाने के लिए 'प्लैनेटरी प्रेशर्स-एडजस्टेड HDI' (PHDI) की शुरुआत की। PHDI पारंपरिक HDI को दो प्रमुख ग्रहीय दबाव कारकों: 1. प्रति व्यक्ति जीवाश्म ईंधन से CO2 उत्सर्जन और 2. प्रति व्यक्ति मटेरियल फुटप्रिंट (कच्चे माल, बायोमास, जीवाश्म ईंधन का निष्कर्षण) के आधार पर छूट (Discount) देकर समायोजित करता है। यदि किसी देश का विकास पर्यावरण को अत्यधिक नुकसान पहुंचाकर हुआ है, तो उसका PHDI स्कोर उसके पारंपरिक HDI स्कोर से काफी कम 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28/200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जब किसी जनसंख्या या क्षेत्र का 'पारिस्थितिक पदचिह्न' (Ecological Footprint) उस क्षेत्र की 'जैव-क्षमता' (Biocapacity) से अधिक हो जाता है, तो इस अवस्था को क्या कहा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पारिस्थितिक अधिशेष (Ecological Reserve)</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पारिस्थितिक घाटा (Ecological Deficit)</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कार्बन तटस्थता (Carbon Neutrality)</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जैविक पुनरुद्धार (Biological Regeneration)</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435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29/200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पारिस्थितिक घाटा (Ecological Deficit)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पारिस्थितिक अधिशेष (Ecological Reserve)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कार्बन तटस्थता (Carbon Neutrality)</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जैविक पुनरुद्धार (Biological Regeneration)</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'पारिस्थितिक पदचिह्न' (Ecological Footprint) यह मापता है कि किसी जनसंख्या द्वारा उपभोग किए जाने वाले संसाधनों के उत्पादन और उनके कचरे (विशेषकर कार्बन) को अवशोषित करने के लिए कितने प्राकृतिक क्षेत्र की आवश्यकता है। 'जैव-क्षमता' (Biocapacity) किसी पारिस्थितिकी तंत्र की प्राकृतिक संसाधनों को पुनर्जीवित करने की क्षमता है। जब किसी क्षेत्र का पारिस्थितिक पदचिह्न उसकी जैव-क्षमता से अधिक हो जाता है, तो इसे 'पारिस्थितिक घाटा' (Ecological Deficit) कहते हैं। इसका अर्थ है कि वह क्षेत्र प्रकृति की पुनरुत्पादन क्षमता से अधिक तेजी से संसाधनों का दोहन कर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435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29/200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आर्थिक संवृद्धि के 'सोलो-स्वान मॉडल' (Solow Growth Model) के अनुसार, किसी अर्थव्यवस्था में दीर्घकालिक संवृद्धि (Sustained Long-term Growth) का एकमात्र बहिर्जात स्रोत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निरंतर पूंजी संचय (Capital Accumulation)</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जनसंख्या वृद्धि दर में असीमित विस्तार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तकनीकी प्रगति (Technological Progress)</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विदेशी प्रत्यक्ष निवेश (FDI) की मात्रा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30/200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तकनीकी प्रगति (Technological Progress)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निरंतर पूंजी संचय (Capital Accumulation)</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जनसंख्या वृद्धि दर में असीमित विस्तार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विदेशी प्रत्यक्ष निवेश (FDI) की मात्रा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नोबेल पुरस्कार विजेता रॉबर्ट सोलो के नवशास्त्रीय संवृद्धि मॉडल (Neoclassical Growth Model) के अनुसार, केवल पूंजी और श्रम के संचय से दीर्घकालिक संवृद्धि प्राप्त नहीं की जा सकती, क्योंकि पूंजी संचय अंततः 'पूंजी पर ह्रासमान प्रतिफल' (Diminishing Returns to Capital) का शिकार हो जाता है और अर्थव्यवस्था स्थिर अवस्था (Steady State) में पहुंच जाती है। सोलो मॉडल यह सिद्ध करता है कि दीर्घकाल में प्रति व्यक्ति आय में निरंतर और संधारणीय वृद्धि का एकमात्र प्राथमिक स्रोत 'तकनीकी प्रगति' (Technological Progress या Total Factor Productivity) 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30/200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'समावेशी विकास' (Inclusive Growth) की संकल्पना में निम्नलिखित में से कौन-सा तत्व शामिल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उत्पादक और गुणवत्तापूर्ण रोजगार के व्यापक अवसरों का सृजन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गरीबी और क्षेत्रीय व आय असमानता में निरंतर कमी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पूंजी-गहन विनिर्माण क्षेत्र में तीव्र संवृद्धि और कृषि की उपेक्षा</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सभी वर्गों के लिए शिक्षा, स्वास्थ्य और सामाजिक सुरक्षा तक समान पहुंच</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637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31/200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केवल पूंजी-गहन विनिर्माण क्षेत्र में तीव्र संवृद्धि और कृषि की उपेक्षा</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उत्पादक और गुणवत्तापूर्ण रोजगार के व्यापक अवसरों का सृजन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गरीबी और क्षेत्रीय व आय असमानता में निरंतर कमी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 वर्गों के लिए शिक्षा, स्वास्थ्य और सामाजिक सुरक्षा तक समान पहुंच</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समावेशी विकास (Inclusive Growth) का तात्पर्य ऐसी आर्थिक संवृद्धि से है जो समाज के सभी वर्गों (विशेषकर महिलाओं, अल्पसंख्यकों, अनुसूचित जातियों/जनजातियों और हाशिए के लोगों) को विकास प्रक्रिया में भागीदार बनाती है और विकास के लाभों का न्यायसंगत वितरण सुनिश्चित करती है। इसके प्रमुख स्तंभों में रोजगार सृजन, गरीबी उन्मूलन, कृषि एवं ग्रामीण विकास, तथा शिक्षा-स्वास्थ्य तक समान पहुंच शामिल हैं। केवल किसी एक विशिष्ट क्षेत्र (जैसे केवल विनिर्माण) में विकास होना और अन्य क्षेत्रों या आबादी की उपेक्षा करना समावेशी विकास के मूल सिद्धांतों के विपरीत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637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31/200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राष्ट्रीय आय के आकलन में 'अंतिम वस्तुएं' (Final Goods) और 'मध्यवर्ती वस्तुएं' (Intermediate Goods) के बीच भेद किस आधार पर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वस्तु के भौतिक रूप और आकार के आधार 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वस्तु के अंतिम उपयोग (End-use of the good) के आधार 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वस्तु के बाजार मूल्य के आधार पर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वस्तु के उत्पादन करने वाली कंपनी के स्वामित्व के आधार 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32/200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वस्तु के अंतिम उपयोग (End-use of the good) के आधार पर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वस्तु के भौतिक रूप और आकार के आधार 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वस्तु के बाजार मूल्य के आधार 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वस्तु के उत्पादन करने वाली कंपनी के स्वामित्व के आधार 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अर्थशास्त्र में कोई वस्तु अंतिम है या मध्यवर्ती, यह उसके भौतिक स्वरूप पर नहीं बल्कि उसके 'अंतिम उपयोग' (End-use) पर निर्भर करता है। यदि किसी वस्तु का उपयोग अंतिम उपभोक्ता द्वारा अपनी आवश्यकता की प्रत्यक्ष संतुष्टि (उपभोग) के लिए या किसी उत्पादक द्वारा स्थायी पूंजीगत संपत्ति (निवेश) के रूप में किया जाता है, तो वह 'अंतिम वस्तु' है। लेकिन यदि उसी वस्तु का उपयोग उसी वित्तीय वर्ष में अन्य वस्तुओं के उत्पादन में कच्चे माल के रूप में या पुनः बिक्री (Resale) के लिए किया जाता है, तो वह 'मध्यवर्ती वस्तु' कहलाती है (जैसे दूध परिवार पिए तो अंतिम वस्तु, मिठाई की दुकान पर उपयोग हो तो मध्यवर्ती वस्तु)।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32/200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आर्थिक विकास और पर्यावरणीय क्षरण के अंतर्संबंधों को मापने के लिए संयुक्त राष्ट्र सांख्यिकी प्रभाग (UNSD) द्वारा विकसित अंतरराष्ट्रीय मानक 'SEEA' का पूर्ण रूप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सिस्टम ऑफ एनवायर्नमेंटल-इकोनॉमिक अकाउंटिंग (System of Environmental-Economic Accounting)</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सस्टेनेबल एनर्जी एंड एमिशन असेसमेंट (Sustainable Energy and Emissions Assessment)</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सोशल एंड इकोनॉमिक इक्विटी एनालिसिस (Social and Economic Equity Analysis)</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स्टैंडर्ड इकोलॉजिकल इवैल्यूएशन एग्रीमेंट (Standard Ecological Evaluation Agreement)</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840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33/200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सिस्टम ऑफ एनवायर्नमेंटल-इकोनॉमिक अकाउंटिंग (System of Environmental-Economic Accounting)</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सस्टेनेबल एनर्जी एंड एमिशन असेसमेंट (Sustainable Energy and Emissions Assessment)</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सोशल एंड इकोनॉमिक इक्विटी एनालिसिस (Social and Economic Equity Analysis)</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स्टैंडर्ड इकोलॉजिकल इवैल्यूएशन एग्रीमेंट (Standard Ecological Evaluation Agreement)</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SEEA (System of Environmental-Economic Accounting) संयुक्त राष्ट्र सांख्यिकी आयोग द्वारा विकसित एक आधिकारिक अंतरराष्ट्रीय सांख्यिकीय ढांचा है। यह आर्थिक गतिविधियों और पर्यावरण के बीच होने वाले पारस्परिक लेन-देन को व्यवस्थित रूप से दर्ज करता है। SEEA प्राकृतिक संसाधनों (जल, ऊर्जा, वन, खनिज) के उपयोग, प्रदूषण उत्सर्जन तथा पारिस्थितिकी तंत्र सेवाओं के आर्थिक मूल्य को राष्ट्रीय आय खातों (SNA) के साथ एकीकृत करता है, जिससे नीति निर्माताओं को पर्यावरण-अनुकूल नीतियां बनाने में सांख्यिकीय मदद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840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33/200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राष्ट्रीय आय और पूंजी निर्माण के संदर्भ में निम्नलिखित कथनों पर विचार कीजिए: A. सकल स्थायी पूंजी निर्माण (GFCF) अर्थव्यवस्था में नई भौतिक संपत्तियों जैसे मशीनरी, भवन और बुनियादी ढांचे में किए गए शुद्ध निवेश को मापता है। B. शेयर बाजार में सूचीबद्ध पुराने शेयरों और प्रतिभूतियों की खरीद-फरोख्त से होने वाले कुल लेन-देन मूल्य को सीधे GDP में शामिल किया जाता है। C. पुराने शेयरों की खरीद-बिक्री से कोई नया भौतिक उत्पादन नहीं होता, अतः केवल शेयर दलालों (Brokers) द्वारा ली गई दलाली/कमीशन को ही GDP में शामिल किया जाता है। D. GFCF की उच्च दर भविष्य में अर्थव्यवस्था की उच्च उत्पादन क्षमता और आर्थिक संवृद्धि का संकेत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441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34/200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सकल स्थायी पूंजी निर्माण (GFCF) अर्थव्यवस्था में स्थायी परिसंपत्तियों (मशीनरी, परिवहन उपकरण, बुनियादी ढांचा) के संचय को मापता है और यह आर्थिक वृद्धि का मुख्य इंजन है। शेयर बाजार में पुराने शेयरों का क्रय-विक्रय केवल वित्तीय दावों और स्वामित्व का एक व्यक्ति से दूसरे व्यक्ति को हस्तांतरण (Transfer of Ownership) है; इससे अर्थव्यवस्था में किसी नई वस्तु या सेवा का भौतिक उत्पादन नहीं होता, इसलिए इस लेन-देन की कुल राशि GDP में शामिल नहीं होती। हालांकि, इस वित्तीय सेवा को सुगम बनाने के बदले दलालों द्वारा लिया जाने वाला कमीशन/फीस चालू वर्ष की उत्पादक सेवा है, इसलिए केवल ब्रोकरेज को GDP में शामिल किया जाता है। अतः कथन B गलत है और A, C, D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441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34/200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'सकल राष्ट्रीय उत्पाद' (GNP) की तुलना में 'शुद्ध राष्ट्रीय उत्पाद' (NNP) को किसी देश के आर्थिक कल्याण और वास्तविक आय का अधिक सटीक पैमाना क्यों माना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NNP में विदेशी ऋणों और अनुदानों को पूरी तरह शामिल किया जाता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NNP उत्पादन प्रक्रिया के दौरान पूंजीगत परिसंपत्तियों में होने वाली घिसावट व टूट-फूट यानी 'मूल्यह्रास' (Depreciation) को समायोजित करता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NNP केवल देश की भौगोलिक सीमाओं के भीतर उत्पादन को मापता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NNP में अप्रत्यक्ष करों की दर हमेशा शून्य मानी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042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35/200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क्योंकि NNP उत्पादन प्रक्रिया के दौरान पूंजीगत परिसंपत्तियों में होने वाली घिसावट व टूट-फूट यानी 'मूल्यह्रास' (Depreciation) को समायोजित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क्योंकि NNP में विदेशी ऋणों और अनुदानों को पूरी तरह शामिल किया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क्योंकि NNP केवल देश की भौगोलिक सीमाओं के भीतर उत्पादन को मापता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क्योंकि NNP में अप्रत्यक्ष करों की दर हमेशा शून्य मानी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उत्पादन प्रक्रिया के दौरान मशीनों, उपकरणों और कारखानों में घिसावट, टूट-फूट और अप्रचलन (Wear and tear / Obsolescence) होता है, जिसे 'मूल्यह्रास' (Depreciation या Consumption of Fixed Capital) कहा जाता है। सकल राष्ट्रीय उत्पाद (GNP) में से इस मूल्यह्रास को घटाकर शुद्ध राष्ट्रीय उत्पाद (NNP = GNP - Depreciation) प्राप्त होता है। NNP यह दर्शाता है कि पूंजी के वर्तमान स्टॉक को यथावत बनाए रखने के बाद देश के पास उपभोग और नए निवेश के लिए वास्तव में कितनी शुद्ध आय बची है। अतः साधन लागत पर NNP (NNP at FC) को ही आधिकारिक 'राष्ट्रीय आय'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042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35/200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1990 में 'मानव विकास सूचकांक' (Human Development Index - HDI) की अवधारणा का प्रतिपादन किस प्रख्यात अर्थशास्त्री के नेतृत्व में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प्रो. अमर्त्य सेन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 महबूब-उल-हक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जोसेफ स्टिग्लिट्ज़</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मोहम्मद यूनुस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36/200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डॉ. महबूब-उल-हक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 अमर्त्य सेन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जोसेफ स्टिग्लिट्ज़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मोहम्मद यूनुस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मानव विकास सूचकांक (HDI) का विकास वर्ष 1990 में प्रसिद्ध पाकिस्तानी अर्थशास्त्री डॉ. महबूब-उल-हक के नेतृत्व में किया गया था, जिसमें भारतीय नोबेल पुरस्कार विजेता प्रो. अमर्त्य सेन और अन्य अर्थशास्त्रियों ने महत्वपूर्ण योगदान दिया था। डॉ. हक ने तर्क दिया कि किसी देश की प्रगति का पैमाना केवल GDP नहीं बल्कि लोगों के जीवन की गुणवत्ता और विकल्पों का विस्तार होना चाहिए। इसे संयुक्त राष्ट्र विकास कार्यक्रम (UNDP) ने अपनी पहली 'मानव विकास रिपोर्ट 1990' में आधिकारिक तौर पर अपनाया।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36/200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संयुक्त राष्ट्र विकास कार्यक्रम (UNDP) द्वारा वैश्विक स्तर पर पहली 'मानव विकास रिपोर्ट' (Human Development Report - HDR) किस वर्ष प्रकाशित की गई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1985</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1990</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1995</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245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37/200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1990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1985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1995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2000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UNDP द्वारा पहली वार्षिक 'मानव विकास रिपोर्ट' (HDR) वर्ष 1990 में प्रकाशित की गई थी। इस ऐतिहासिक रिपोर्ट की मुख्य थीम "लोग ही किसी राष्ट्र की वास्तविक संपत्ति हैं" (People are the real wealth of a nation) थी। 1990 से लेकर आज तक UNDP प्रतिवर्ष यह रिपोर्ट जारी करता है, जो विश्व के सभी देशों को मानव विकास के विभिन्न आयामों (HDI, IHDI, GII, MPI, PHDI) पर रैंक प्रदान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245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37/200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मानव विकास सूचकांक (HDI) की गणना में निम्नलिखित में से कौन-सा मूल आयाम (Dimension) शामिल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दीर्घ एवं स्वस्थ जीवन (जीवन प्रत्याशा)</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ज्ञान एवं शिक्षा (स्कूली शिक्षा के औसत व अपेक्षित वर्ष)</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सभ्य जीवन स्तर (प्रति व्यक्ति सकल राष्ट्रीय आय - GNI per capita at PPP)</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महिला राजनीतिक सशक्तिकरण 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846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38/200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महिला राजनीतिक सशक्तिकरण दर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दीर्घ एवं स्वस्थ जीवन (जीवन प्रत्याशा)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ज्ञान एवं शिक्षा (स्कूली शिक्षा के औसत व अपेक्षित वर्ष)</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सभ्य जीवन स्तर (प्रति व्यक्ति सकल राष्ट्रीय आय - GNI per capita at PPP)</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मानव विकास सूचकांक (HDI) तीन बुनियादी आयामों और चार संकेतकों पर आधारित है: 1. स्वास्थ्य आयाम: जन्म के समय जीवन प्रत्याशा (Life Expectancy at Birth), 2. शिक्षा आयाम: 25 वर्ष या अधिक आयु के वयस्कों के लिए 'स्कूली शिक्षा के औसत वर्ष' (Mean Years of Schooling) तथा 6 वर्ष के बच्चे के लिए 'स्कूली शिक्षा के अपेक्षित वर्ष' (Expected Years of Schooling), और 3. जीवन स्तर आयाम: क्रय शक्ति समता पर प्रति व्यक्ति सकल राष्ट्रीय आय (GNI per capita at 2017 PPP $)। 'महिला राजनीतिक सशक्तिकरण' HDI का प्रत्यक्ष घटक नहीं है, बल्कि इसे जेंडर इनइक्वैलिटी इंडेक्स (GII) में मापा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846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38/200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UNDP और OPHI द्वारा विकसित 'बहुआयामी गरीबी सूचकांक' (Multidimensional Poverty Index - MPI) किन तीन प्रमुख आयामों में वंचनाओं (Deprivations) को मापता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स्वास्थ्य, शिक्षा और जीवन स्तर (Health, Education, and Standard of Living)</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आय, रोजगार और पोषण</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आवास, पेयजल और स्वच्छता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साक्षरता, उपभोग व्यय और सामाजिक न्याय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447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39/200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स्वास्थ्य, शिक्षा और जीवन स्तर (Health, Education, and Standard of Living)</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आय, रोजगार और पोषण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आवास, पेयजल और स्वच्छता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साक्षरता, उपभोग व्यय और सामाजिक न्याय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वैश्विक बहुआयामी गरीबी सूचकांक (MPI) को 2010 में ऑक्सफोर्ड पॉवर्टी एंड ह्यूमन डेवलपमेंट इनिशिएटिव (OPHI) और UNDP द्वारा शुरू किया गया था। MPI केवल आय के आधार पर नहीं बल्कि उन विभिन्न वंचनाओं को मापता है जिनका सामना एक गरीब व्यक्ति अपने दैनिक जीवन में एक साथ करता है। यह HDI के समान तीन मुख्य आयामों: 1. स्वास्थ्य (Health), 2. शिक्षा (Education), और 3. जीवन स्तर (Standard of Living) पर आधारित है, जिनमें तीनों आयामों को समान भारांक (1/3 प्रत्येक) दिया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447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39/200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बहुआयामी गरीबी सूचकांक (MPI) के 3 आयामों के तहत कुल कितने विशिष्ट संकेतकों (Indicators) का उपयोग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 संकेतक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 संकेतक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 संकेतक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 संकेतक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40/200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10 संकेतक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 संकेतक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 संकेतक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 संकेतक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वैश्विक बहुआयामी गरीबी सूचकांक (MPI) में 3 आयामों के तहत कुल 10 संकेतक शामिल हैं: 1. स्वास्थ्य आयाम (भारांक 1/3) के 2 संकेतक: पोषण (Nutrition) और बाल मृत्यु दर (Child Mortality) - प्रत्येक का भारांक 1/6। 2. शिक्षा आयाम (भारांक 1/3) के 2 संकेतक: स्कूली शिक्षा के वर्ष (Years of Schooling) और स्कूल में उपस्थिति (School Attendance) - प्रत्येक का भारांक 1/6। 3. जीवन स्तर आयाम (भारांक 1/3) के 6 संकेतक: खाना पकाने का ईंधन, स्वच्छता, सुरक्षित पेयजल, बिजली, आवास और संपत्ति (Assets) - प्रत्येक का भारांक 1/18। (नोट: भारत के राष्ट्रीय MPI में नीति आयोग ने 2 अतिरिक्त संकेतक 'प्रसव पूर्व देखभाल' और 'बैंक खाता' जोड़कर 12 संकेतक बनाए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40/200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लोरेंज वक्र से व्युत्पन्न 'गिनी गुणांक' (Gini Coefficient) का मान यदि '1' (एक) है, तो यह समाज में किस स्थिति को दर्शाता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समाज में आय का पूर्ण और आदर्श समान वितरण</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समाज में पूर्ण आय असमानता (Perfect Income Inequality) जहाँ सम्पूर्ण राष्ट्रीय आय केवल एक व्यक्ति के पास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शून्य गरीबी दर और 100% रोजगार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संतुलित आर्थिक विकास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649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41/200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समाज में पूर्ण आय असमानता (Perfect Income Inequality) जहाँ सम्पूर्ण राष्ट्रीय आय केवल एक व्यक्ति के पास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समाज में आय का पूर्ण और आदर्श समान वितरण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शून्य गरीबी दर और 100% रोजगार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संतुलित आर्थिक विकास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गिनी गुणांक लोरेंज वक्र और 45 डिग्री की पूर्ण समता रेखा के बीच के क्षेत्रफल का अनुपात होता है। इसका मान 0 से 1 के बीच होता है। 0 का अर्थ पूर्ण समानता है (प्रत्येक नागरिक की आय बराबर है)। जबकि 1 का अर्थ 'पूर्ण असमानता' (Perfect Inequality) है, जिसका तात्पर्य है कि अर्थव्यवस्था की संपूर्ण राष्ट्रीय आय समाज के केवल एक ही व्यक्ति के पास संकेंद्रित है और शेष पूरी आबादी की आय शून्य है। व्यावहारिक रूप से अधिकांश देशों का गिनी गुणांक 0.25 से 0.60 के बीच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649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41/200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का वह पहला देश कौन-सा है जिसने पारंपरिक GNP या GDP के स्थान पर 'सकल राष्ट्रीय खुशहाली' (GNH) को विकास के आधिकारिक मापक के रूप में अपने संविधान में शामिल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नॉर्वे</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फिनलैंड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भूटान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न्यूजीलैंड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25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42/200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भूटान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नॉर्वे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फिनलैंड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न्यूजीलैंड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भूटान विश्व का पहला और एकमात्र देश है जिसने 1970 के दशक से आर्थिक नीति निर्माण में पारंपरिक सकल राष्ट्रीय उत्पाद (GNP) की जगह 'सकल राष्ट्रीय खुशहाली' (Gross National Happiness - GNH) को विकास का मुख्य सूचकांक माना। वर्ष 2008 में अपनाए गए भूटान के संविधान के अनुच्छेद 9 में स्पष्ट रूप से उल्लेख किया गया है कि राज्य ऐसी परिस्थितियों का निर्माण करेगा जो सकल राष्ट्रीय खुशहाली को बढ़ावा दें। भूटान का GNH 9 डोमेन और 33 संकेतकों पर आधारित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25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42/200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संयुक्त राष्ट्र महासभा द्वारा प्रत्येक वर्ष 'अंतरराष्ट्रीय खुशहाली दिवस' (International Day of Happiness) किस तिथि को मनाया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24 जनवरी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 मार्च</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22 अप्रैल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 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852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43/200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 मार्च</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24 जनवरी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22 अप्रैल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 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संयुक्त राष्ट्र महासभा ने जुलाई 2012 में भूटान के प्रस्ताव पर सर्वसम्मति से संकल्प 66/281 पारित किया और वर्ष 2013 से प्रतिवर्ष 20 मार्च को 'अंतरराष्ट्रीय खुशहाली दिवस' (International Day of Happiness) के रूप में मनाने की घोषणा की। इसका उद्देश्य इस बात को रेखांकित करना है कि समग्र मानव कल्याण और खुशहाली वैश्विक विकास नीतियों का एक प्राथमिक लक्ष्य होना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852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43/200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2010 से UNDP ने मानव विकास सूचकांक (HDI) की गणना में आयाम सूचकांकों के संयोजन के लिए अंकगणितीय माध्य (Arithmetic Mean) के स्थान पर किस गणितीय विधि का उपयोग शुरू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हरात्मक माध्य (Harmonic Mean)</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ज्यामितीय माध्य (Geometric Mean)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बहुलक (Mode)</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 औसत (Weighted Average)</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44/200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ज्यामितीय माध्य (Geometric Mean)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हरात्मक माध्य (Harmonic Mean)</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बहुलक (Mode)</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औसत (Weighted Average)</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2010 की मानव विकास रिपोर्ट से पूर्व HDI की गणना तीनों आयामों के अंकगणितीय माध्य (Arithmetic Mean) से की जाती थी। इसकी सबसे बड़ी कमी यह थी कि किसी एक आयाम (जैसे उच्च आय) के अत्यधिक अच्छे प्रदर्शन से दूसरे आयाम (जैसे खराब स्वास्थ्य या शिक्षा) की गंभीर विफलता छिप जाती थी (पूर्ण प्रतिस्थापन की त्रुटि)। 2010 से UNDP ने 'ज्यामितीय माध्य' (Geometric Mean: $HDI = \sqrt[3]{I_{Health} imes I_{Education} imes I_{Income}}$) को अपनाया। ज्यामितीय माध्य यह सुनिश्चित करता है कि सभी आयामों में संतुलित प्रगति हो और किसी एक क्षेत्र में खराब प्रदर्शन का सीधा नकारात्मक प्रभाव समग्र HDI स्कोर पर दिखाई दे।</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44/200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1979 में गैर-आय संकेतकों के आधार पर 'भौतिक जीवन गुणवत्ता सूचकांक' (Physical Quality of Life Index - PQLI) का प्रतिपादन किस अर्थशास्त्री ने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मॉरिस डी. मॉरिस (Morris D. Morris)</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महबूब-उल-हक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अमर्त्य सेन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गुन्नार मिर्डल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054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45/200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मॉरिस डी. मॉरिस (Morris D. Morris)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महबूब-उल-हक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अमर्त्य सेन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गुन्नार मिर्डल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1979 में ओवरसीज डेवलपमेंट काउंसिल के अर्थशास्त्री मॉरिस डी. मॉरिस (Morris D. Morris) ने 'भौतिक जीवन गुणवत्ता सूचकांक' (PQLI) विकसित किया था। यह विशुद्ध गैर-आय संकेतकों पर आधारित पहला प्रमुख सूचकांक था, जो जीवन की भौतिक गुणवत्ता को 1 से 100 के पैमाने पर मापता है। इसमें तीन बुनियादी संकेतकों को समान भारांक दिया गया है: 1. बुनियादी साक्षरता दर (Basic Literacy Rate), 2. शिशु मृत्यु दर (Infant Mortality Rate), और 3. एक वर्ष की आयु में जीवन प्रत्याशा (Life Expectancy at Age 1)। PQLI में प्रति व्यक्ति आय को शामिल नहीं किया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054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45/200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'असमानता-समायोजित मानव विकास सूचकांक' (Inequality-adjusted HDI - IHDI) के संबंध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समाज में आय, स्वास्थ्य और शिक्षा में असमानता होने पर IHDI का मान पारंपरिक HDI से अधिक हो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समाज में किसी भी आयाम में कोई असमानता न हो (पूर्ण समानता), तो IHDI का मान पारंपरिक HDI के बिल्कुल बराबर होगा।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IHDI केवल कार्बन फुटप्रिंट के आधार पर देशों को रैंक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IHDI विश्व बैंक द्वारा तैयार किया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656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46/200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यदि समाज में किसी भी आयाम में कोई असमानता न हो (पूर्ण समानता), तो IHDI का मान पारंपरिक HDI के बिल्कुल बराबर होगा।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समाज में आय, स्वास्थ्य और शिक्षा में असमानता होने पर IHDI का मान पारंपरिक HDI से अधिक हो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IHDI केवल कार्बन फुटप्रिंट के आधार पर देशों को रैंक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IHDI विश्व बैंक द्वारा तैयार किया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UNDP द्वारा 2010 में शुरू किया गया IHDI समाज में स्वास्थ्य, शिक्षा और आय के वितरण में मौजूद असमानता के स्तर को ध्यान में रखता है। यदि समाज में असमानता मौजूद है, तो IHDI का मान हमेशा पारंपरिक HDI से कम होगा (यह अंतर असमानता के कारण हुआ नुकसान दर्शाता है)। लेकिन यदि समाज में तीनों आयामों में पूर्ण समानता (Perfect Equality) है, तो असमानता की हानि शून्य होगी और IHDI का मान पारंपरिक HDI के बिल्कुल बराबर होगा। अतः IHDI किसी देश के मानव विकास के 'वास्तविक स्तर' को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656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46/200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UNDP द्वारा प्रकाशित 'जेंडर इनइक्वैलिटी इंडेक्स' (Gender Inequality Index - GII) महिलाओं के पिछड़ेपन और नुकसान को किन तीन प्रमुख आयामों में मापता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प्राथमिक शिक्षा, संपत्ति का अधिकार और वैवाहिक सुरक्षा</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प्रजनन स्वास्थ्य, सशक्तिकरण और श्रम बाजार भागीदारी (Reproductive Health, Empowerment, and Labour Market)</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जीवन प्रत्याशा, पोषण स्तर और मातृत्व अवकाश</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घरेलू निर्णय निर्माण, ऋण पहुंच और साक्षरता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257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47/200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प्रजनन स्वास्थ्य, सशक्तिकरण और श्रम बाजार भागीदारी (Reproductive Health, Empowerment, and Labour Market)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प्राथमिक शिक्षा, संपत्ति का अधिकार और वैवाहिक सुरक्षा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जीवन प्रत्याशा, पोषण स्तर और मातृत्व अवकाश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घरेलू निर्णय निर्माण, ऋण पहुंच और साक्षरता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जेंडर इनइक्वैलिटी इंडेक्स (GII) को UNDP द्वारा 2010 में लिंग आधारित असमानताओं को मापने के लिए पेश किया गया था। GII का मान 0 (पूर्ण लैंगिक समानता) से 1 (महिलाओं के साथ पूर्ण असमानता) के बीच होता है। यह 3 आयामों और 5 संकेतकों पर आधारित है: 1. प्रजनन स्वास्थ्य: मातृ मृत्यु अनुपात (MMR) और किशोर जन्म दर (ABR), 2. सशक्तिकरण: संसद में महिलाओं की हिस्सेदारी का प्रतिशत और माध्यमिक व उच्च शिक्षा प्राप्त महिलाओं का प्रतिशत, 3. श्रम बाजार: 15 वर्ष व अधिक आयु की महिलाओं की श्रम बल भागीदारी दर (LFPR)।</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257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47/200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संयुक्त राष्ट्र विकास कार्यक्रम (UNDP) की मानव विकास रिपोर्ट 2025 (2023 डेटा) के अनुसार, 'जेंडर इनइक्वैलिटी इंडेक्स' (GII) में भारत को 193 देशों में से कौन-सा स्थान प्राप्त हुआ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102वां स्थान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108वां स्थान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122वां स्थान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127वां स्थान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48/200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102वां स्थान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108वां स्थान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122वां स्थान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127वां स्थान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UNDP की नवीनतम मानव विकास रिपोर्ट 2025 (HDR 2025 - 2023 डेटा) के अनुसार, भारत ने जेंडर इनइक्वैलिटी इंडेक्स (GII) में 193 देशों में से 102वां स्थान प्राप्त किया है (GII मान 0.437)। इससे पूर्व HDR 2023/2024 (2022 डेटा) में भारत 108वें स्थान पर था और 2021 में 122वें स्थान पर था। यह प्रगति भारत में मातृ मृत्यु अनुपात (MMR) में कमी, बालिकाओं की उच्च शिक्षा में वृद्धि और महिला सशक्तिकरण कार्यक्रमों के सकारात्मक प्रभाव को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48/200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UNDP द्वारा वर्ष 1997 में शुरू किया गया 'मानव गरीबी सूचकांक' (Human Poverty Index - HPI), जिसे 2010 में MPI द्वारा प्रतिस्थापित किया गया, मुख्य रूप से क्या मापता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प्रति व्यक्ति दैनिक आय की कमी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मानव विकास के तीन बुनियादी आयामों (लंबा व स्वस्थ जीवन, ज्ञान, और सभ्य जीवन स्तर) में वंचनाओं का समग्र स्तर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शहरी क्षेत्रों में बेरोजगारी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विदेशी ऋण पर निर्भरता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459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49/200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मानव विकास के तीन बुनियादी आयामों (लंबा व स्वस्थ जीवन, ज्ञान, और सभ्य जीवन स्तर) में वंचनाओं का समग्र स्तर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प्रति व्यक्ति दैनिक आय की कमी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शहरी क्षेत्रों में बेरोजगारी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विदेशी ऋण पर निर्भरता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मानव विकास सूचकांक (HDI) किसी देश में प्रगति के औसत स्तर को मापता है, जबकि 'मानव गरीबी सूचकांक' (HPI) उसी देश में मौजूद वंचनाओं (Deprivations) के स्तर को मापने के लिए 1997 में विकसित किया गया था। HPI यह देखता था कि जनसंख्या का कितना प्रतिशत 40 वर्ष से पहले मृत्यु का शिकार हो जाता है (स्वास्थ्य वंचना), कितने वयस्क निरक्षर हैं (ज्ञान वंचना), और कितने लोग सुरक्षित जल व स्वास्थ्य सेवाओं से वंचित हैं तथा कितने बच्चे कुपोषित हैं (जीवन स्तर वंचना)। 2010 में इसे अधिक व्यापक 'बहुआयामी गरीबी सूचकांक' (MPI) द्वारा बदल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459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49/200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प्रतिवर्ष 'विश्व खुशहाली रिपोर्ट' (World Happiness Report) और वैश्विक खुशहाली रैंकिंग किस अंतरराष्ट्रीय निकाय द्वारा प्रकाशित की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विश्व आर्थिक मंच (WEF)</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सतत विकास समाधान नेटवर्क (Sustainable Development Solutions Network - SDSN)</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विश्व बैंक (World Bank)</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एमनेस्टी इंटरनेशनल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50/200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सतत विकास समाधान नेटवर्क (Sustainable Development Solutions Network - SDSN)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विश्व आर्थिक मंच (WEF)</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विश्व बैंक (World Bank)</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एमनेस्टी इंटरनेशनल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'विश्व खुशहाली रिपोर्ट' (World Happiness Report) प्रतिवर्ष संयुक्त राष्ट्र के तत्वावधान में 'सतत विकास समाधान नेटवर्क' (UN-SDSN) द्वारा जारी की जाती है। यह रिपोर्ट गैलप वर्ल्ड पोल (Gallup World Poll) के जीवन मूल्यांकन डेटा और 6 प्रमुख चरों: प्रति व्यक्ति GDP, सामाजिक सहयोग (Social Support), स्वस्थ जीवन प्रत्याशा, जीवन में विकल्प चुनने की स्वतंत्रता, उदारता (Generosity), और भ्रष्टाचार की अनुपस्थिति के आधार पर देशों को खुशहाली रैंकिंग प्रदान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50/200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यूके स्थित 'न्यू इकोनॉमिक्स फाउंडेशन' (New Economics Foundation) द्वारा प्रकाशित 'हैप्पी प्लैनेट इंडेक्स' (Happy Planet Index - HPI) का मुख्य उद्देश्य क्या मापना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 देश के शेयर बाजार का प्रदर्शन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कोई देश अपने पर्यावरणीय संसाधनों और पारिस्थितिक पदचिह्न की न्यूनतम लागत पर अपने नागरिकों के लिए कितना लंबा, खुशहाल और टिकाऊ जीवन उत्पन्न करता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हथियारों पर किए जाने वाले रक्षा व्यय की मात्रा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कृषि निर्यात की वृद्धि 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662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51/200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कोई देश अपने पर्यावरणीय संसाधनों और पारिस्थितिक पदचिह्न की न्यूनतम लागत पर अपने नागरिकों के लिए कितना लंबा, खुशहाल और टिकाऊ जीवन उत्पन्न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 देश के शेयर बाजार का प्रदर्शन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हथियारों पर किए जाने वाले रक्षा व्यय की मात्रा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कृषि निर्यात की वृद्धि 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हैप्पी प्लैनेट इंडेक्स (Happy Planet Index) को 2006 में 'न्यू इकोनॉमिक्स फाउंडेशन' (NEF) द्वारा पेश किया गया था। पारंपरिक GDP के विपरीत, HPI यह मानता है कि आर्थिक संवृद्धि स्वयं में साध्य नहीं है बल्कि मानव कल्याण साध्य है। HPI का सूत्र है: (व्यक्तिपरक कल्याण × जीवन प्रत्याशा × परिणामों की समानता) / पारिस्थितिक पदचिह्न (Ecological Footprint)। यह सूचकांक उन देशों को उच्च रैंक देता है जो पृथ्वी के पारिस्थितिक तंत्र को नुकसान पहुंचाए बिना अपने नागरिकों को स्वस्थ और संतुष्ट जीवन प्रदान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662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51/200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'हैप्पी प्लैनेट इंडेक्स' (Happy Planet Index) की गणना में निम्नलिखित में से किस घटक को शामिल नहीं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जीवन संतुष्टि / कल्याण (Wellbeing)</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जन्म के समय जीवन प्रत्याशा (Life Expectancy)</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पारिस्थितिक पदचिह्न (Ecological Footprint)</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प्रति व्यक्ति सकल घरेलू उत्पाद (Per Capita GDP)</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52/200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प्रति व्यक्ति सकल घरेलू उत्पाद (Per Capita GDP)</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जीवन संतुष्टि / कल्याण (Wellbeing)</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जन्म के समय जीवन प्रत्याशा (Life Expectancy)</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पारिस्थितिक पदचिह्न (Ecological Footprint)</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हैप्पी प्लैनेट इंडेक्स (HPI) चार प्रमुख घटकों पर आधारित है: 1. कल्याण (Wellbeing - गैलप पोल पर 0 से 10 के पैमाने पर जीवन संतुष्टि), 2. जीवन प्रत्याशा (Life Expectancy), 3. परिणामों की असमानता (Inequality of Outcomes), और 4. पारिस्थितिक पदचिह्न (Ecological Footprint - प्रति व्यक्ति वैश्विक हेक्टेयर में)। HPI जानबूझकर 'प्रति व्यक्ति GDP' को अपनी गणना से बाहर रखता है, क्योंकि इसका मुख्य सिद्धांत यह है कि उच्च GDP आवश्यक रूप से उच्च खुशहाली या पर्यावरण सुरक्षा की गारंटी नहीं देती।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52/200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मानव विकास सूचकांक (HDI) में जीवन स्तर को मापने के लिए प्रति व्यक्ति आय को सामान्य विनिमय दर के बजाय 'क्रय शक्ति समता' (PPP) अमेरिकी डॉलर में क्यों मापा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सभी देशों की मुद्रा विनिमय दरों को स्थिर रखने में मदद करता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विभिन्न देशों में वस्तुओं और सेवाओं की स्थानीय कीमतों तथा जीवन-यापन की वास्तविक लागत के अंतर को निष्पक्ष रूप से समायोजित करता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निर्यात और आयात के मूल्य को मापने का एकमात्र साधन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विदेशी ऋण चुकाने की क्षमता को मापता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864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53/200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विभिन्न देशों में वस्तुओं और सेवाओं की स्थानीय कीमतों तथा जीवन-यापन की वास्तविक लागत के अंतर को निष्पक्ष रूप से समायोजित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सभी देशों की मुद्रा विनिमय दरों को स्थिर रखने में मदद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निर्यात और आयात के मूल्य को मापने का एकमात्र साधन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विदेशी ऋण चुकाने की क्षमता को मापता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यदि विभिन्न देशों की प्रति व्यक्ति आय की तुलना केवल बाजार विनिमय दर (उदा. ₹83 = $1) पर की जाए, तो भारत जैसे विकासशील देशों में भोजन, आवास, स्वास्थ्य और परिवहन जैसी स्थानीय गैर-व्यापारिक सेवाओं की कम कीमतों का लाभ छिप जाता है और वास्तविक जीवन स्तर अत्यंत निम्न दिखाई देता है। क्रय शक्ति समता (PPP) डॉलर यह मापता है कि अमेरिका में $1 में जितनी वस्तुएं खरीदी जा सकती हैं, किसी अन्य देश की घरेलू मुद्रा में उतनी ही वस्तुएं खरीदने के लिए कितने रुपयों की आवश्यकता होगी। अतः PPP का उपयोग नागरिकों की वास्तविक क्रय शक्ति और उपभोग क्षमता की यथार्थवादी तुलना सुनिश्चित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864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53/200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'पूर्ण गरीबी' (Absolute Poverty) और 'सापेक्ष गरीबी' (Relative Poverty) के बीच आधारभूत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पूर्ण गरीबी केवल अमीर देशों में पाई जाती है, जबकि सापेक्ष गरीबी केवल गरीब देशों 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पूर्ण गरीबी जीवन की न्यूनतम बुनियादी आवश्यकताओं (भोजन, आश्रय, वस्त्र) को पूरा करने के लिए एक निश्चित न्यूनतम आय सीमा पर आधारित है, जबकि सापेक्ष गरीबी समाज के औसत जीवन स्तर की तुलना में आय असमानता को मापती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पूर्ण गरीबी को केवल लोरेंज वक्र से मापा जाता है, जबकि सापेक्ष गरीबी को गरीबी रेखा बास्केट 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के बीच कोई सैद्धांतिक अंतर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465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54/200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पूर्ण गरीबी जीवन की न्यूनतम बुनियादी आवश्यकताओं (भोजन, आश्रय, वस्त्र) को पूरा करने के लिए एक निश्चित न्यूनतम आय सीमा पर आधारित है, जबकि सापेक्ष गरीबी समाज के औसत जीवन स्तर की तुलना में आय असमानता को मापती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पूर्ण गरीबी केवल अमीर देशों में पाई जाती है, जबकि सापेक्ष गरीबी केवल गरीब देशों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पूर्ण गरीबी को केवल लोरेंज वक्र से मापा जाता है, जबकि सापेक्ष गरीबी को गरीबी रेखा बास्केट 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के बीच कोई सैद्धांतिक अंतर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'पूर्ण गरीबी' (Absolute Poverty) एक जैविक और भौतिक अवधारणा है। इसमें जीवित रहने के लिए आवश्यक न्यूनतम उपभोग व्यय या पोषण स्तर (जैसे प्रति दिन निश्चित कैलोरी या विश्व बैंक की $3.00/दिन की गरीबी रेखा) निर्धारित की जाती है; जो लोग इस रेखा से नीचे हैं, वे पूर्ण रूप से गरीब हैं (यह मुख्य रूप से विकासशील देशों में पाई जाती है)। इसके विपरीत, 'सापेक्ष गरीबी' (Relative Poverty) समाज में आय वितरण और आर्थिक असमानता को दर्शाती है। इसमें किसी व्यक्ति की आय की तुलना समाज की औसत या मध्यिका आय (Median Income) से की जाती है (जैसे मध्यिका आय के 50% से कम कमाने वाले सापेक्ष रूप से गरीब हैं; यह विकसित देशों में गरीबी मापने का मुख्य पैमाना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465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54/200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बैंक (World Bank) द्वारा जून 2025 में 2021 PPP आधार वर्ष के अनुसार संशोधित वर्तमान 'अंतरराष्ट्रीय अत्यधिक गरीबी रेखा' (International Poverty Line) कितनी निर्धारित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$1.90 प्रति व्यक्ति प्रति दिन (2011 PPP)</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$2.15 प्रति व्यक्ति प्रति दिन (2017 PPP)</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$3.00 प्रति व्यक्ति प्रति दिन (2021 PPP)</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$5.50 प्रति व्यक्ति प्रति दिन (2021 PPP)</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066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55/200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$3.00 प्रति व्यक्ति प्रति दिन (2021 PPP)</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$1.90 प्रति व्यक्ति प्रति दिन (2011 PPP)</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$2.15 प्रति व्यक्ति प्रति दिन (2017 PPP)</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$5.50 प्रति व्यक्ति प्रति दिन (2021 PPP)</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विश्व बैंक ने अंतरराष्ट्रीय तुलनात्मक कार्यक्रम (ICP) के 2021 क्रय शक्ति समता (PPP) आंकड़ों के आधार पर जून 2025 में वैश्विक अत्यधिक गरीबी रेखा को संशोधित कर $3.00 प्रति व्यक्ति प्रति दिन (2021 PPP) कर दिया है। इससे पूर्व 2017 PPP के आधार पर यह रेखा $2.15 प्रति दिन थी और 2011 PPP के आधार पर $1.90 प्रति दिन थी। इसके अतिरिक्त, निम्न-मध्यम आय वाले देशों के लिए गरीबी रेखा $4.70/दिन तथा उच्च-मध्यम आय वाले देशों के लिए $8.30/दिन निर्धारित की गई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066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55/200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स्वतंत्रता-पूर्व भारत में वर्ष 1901 में कैदियों के बुनियादी आहार के आधार पर "जेल निर्वाह लागत" (Jail Cost of Living) की अवधारणा का प्रयोग कर राष्ट्रीय गरीबी का पहला अनुमान किसने लगाया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दादाभाई नौरोजी</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रमेश चंद्र दत्त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एम. विश्वेश्वरैया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महात्मा गांधी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56/200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दादाभाई नौरोजी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रमेश चंद्र दत्त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एम. विश्वेश्वरैया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महात्मा गांधी</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गरीबी रेखा का सबसे पहला ऐतिहासिक अनुमान 'ग्रैंड ओल्ड मैन ऑफ इंडिया' दादाभाई नौरोजी ने अपनी प्रसिद्ध पुस्तक 'पावर्टी एंड अन-ब्रिटिश रूल इन इंडिया' (1901) में प्रस्तुत किया था। उन्होंने जेल में कैदियों को दिए जाने वाले न्यूनतम भोजन (चावल/आटा, दाल, घी/तेल, नमक आदि) की कीमतों के आधार पर 'जेल निर्वाह लागत' (Jail Cost of Living) की गणना की। चूंकि समाज में बच्चे और बूढ़े भी होते हैं जो वयस्क कैदियों जितना उपभोग नहीं करते, इसलिए उन्होंने इसे भारित समायोजित करके ₹16 से ₹35 प्रति व्यक्ति प्रति वर्ष की पहली गरीबी रेखा तय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56/200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गरीबी रेखा के निर्धारण के लिए किस विशेषज्ञ समिति ने पारंपरिक 'कैलोरी-आधारित मॉडल' से हटकर स्वास्थ्य, शिक्षा, वस्त्र और फुटवियर पर होने वाले निजी उपभोग व्यय को 'गरीबी रेखा बास्केट' (PLB) में शामिल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वाई. के. अलघ समिति (1979)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टी. लकड़ावाला समिति (1993)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सुरेश तेंदुलकर समिति (2009)</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 रंगराजन समिति (2014)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269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57/200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सुरेश तेंदुलकर समिति (2009)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वाई. के. अलघ समिति (1979)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टी. लकड़ावाला समिति (1993)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 रंगराजन समिति (2014)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योजना आयोग द्वारा गठित प्रो. सुरेश तेंदुलकर समिति (2009) ने भारत में गरीबी मापन की पद्धति में क्रांतिकारी बदलाव किए। उन्होंने 1973 से चली आ रही केवल कैलोरी सेवन आधारित गरीबी रेखा (ग्रामीण 2400 कैलोरी, शहरी 2100 कैलोरी) की आलोचना की और एक नई 'गरीबी रेखा बास्केट' (PLB) पेश की। तेंदुलकर समिति ने पहली बार स्वास्थ्य और शिक्षा पर परिवारों द्वारा किए जाने वाले निजी व्यय को आवश्यक माना और अखिल भारतीय शहरी उपभोग बास्केट के आधार पर मासिक प्रति व्यक्ति उपभोग व्यय (MPCE: ग्रामीण ₹446.68 और शहरी ₹578.80 (2004-05 मूल्य पर) तथा 2011-12 में ग्रामीण ₹816 और शहरी ₹1000) निर्धारित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269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57/200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अर्थशास्त्र में 'गरीबी अंतराल सूचकांक' (Poverty Gap Index - PGI) मुख्य रूप से क्या मापता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गरीबी रेखा से नीचे रहने वाले लोगों की कुल संख्या (हेडकाउंट अनुपात)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गरीबी की गहराई (Depth of Poverty), यानी कुल आबादी की औसत आय/उपभोग का गरीबी रेखा से फासला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अमीर और गरीब के बीच का अनुपात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एक वर्ष में गरीबी से बाहर निकले लोगों का प्रतिशत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870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58/200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गरीबी की गहराई (Depth of Poverty), यानी कुल आबादी की औसत आय/उपभोग का गरीबी रेखा से फासला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गरीबी रेखा से नीचे रहने वाले लोगों की कुल संख्या (हेडकाउंट अनुपात)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अमीर और गरीब के बीच का अनुपात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एक वर्ष में गरीबी से बाहर निकले लोगों का प्रतिशत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केवल 'हेडकाउंट अनुपात' (Headcount Ratio - HCR) यह बताता है कि कितने प्रतिशत लोग गरीब हैं, लेकिन यह नहीं बताता कि वे गरीब कितने ज्यादा गरीब हैं। 'गरीबी अंतराल सूचकांक' (Poverty Gap Index) गरीबी रेखा से नीचे रहने वाले लोगों की आय में गरीबी रेखा के सापेक्ष औसत कमी (Shortfall) को मापता है। यह गरीबी की 'गहराई' (Depth of Poverty) को दर्शाता है। PGI से यह स्पष्ट होता है कि देश के सभी गरीबों को गरीबी रेखा तक लाने के लिए कुल राष्ट्रीय आय का कितना प्रतिशत हस्तांतरित करने की आवश्यकता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870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58/200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अर्थशास्त्र में गरीबी के स्तर, गहराई और गंभीरता को एक साथ मापने के लिए प्रयुक्त 'फोस्टर-ग्रीर-थार्नडाइक' (Foster-Greer-Thorndike - FGT) सूचकांक में $P_2$ (FGT-2) क्या मापता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हेडकाउंट अनुपात (गरीबी की व्यापकता)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गरीबी अंतराल (गरीबी की गहराई)</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गरीबी की गंभीरता (Severity of Poverty / Squared Poverty Gap), जो गरीबों के बीच आपसी असमानता को मापती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प्रति व्यक्ति आय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471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59/200</a:t>
            </a:r>
          </a:p>
        </p:txBody>
      </p:sp>
    </p:spTree>
  </p:cSld>
  <p:clrMapOvr>
    <a:masterClrMapping/>
  </p:clrMapOvr>
</p:sld>
</file>

<file path=ppt/slides/slide118.xml><?xml version="1.0" encoding="UTF-8" standalone="yes"?><p:sld xmlns:a="http://schemas.openxmlformats.org/drawingml/2006/main" xmlns:p="http://schemas.openxmlformats.org/presentationml/2006/main" xmlns:r="http://schemas.openxmlformats.org/officeDocument/2006/relationships"><p:cSld><p:bg><p:bgPr><a:solidFill><a:srgbClr val="F5F7FF"/></a:solidFill></p:bgPr></p:bg><p:spTree><p:nvGrpSpPr><p:cNvPr id="1" name=""/><p:cNvGrpSpPr/><p:nvPr/></p:nvGrpSpPr><p:grpSpPr><a:xfrm><a:off x="0" y="0"/><a:ext cx="0" cy="0"/><a:chOff x="0" y="0"/><a:chExt cx="0" cy="0"/></a:xfrm></p:grpSpPr><p:sp><p:nvSpPr><p:cNvPr id="10" name="r10"/><p:cNvSpPr><a:spLocks noGrp="1"/></p:cNvSpPr><p:nvPr/></p:nvSpPr><p:spPr><a:xfrm><a:off x="0" y="0"/><a:ext cx="164592" cy="6858000"/></a:xfrm><a:prstGeom prst="rect"><a:avLst/></a:prstGeom><a:solidFill><a:srgbClr val="00AA44"/></a:solidFill><a:ln><a:noFill/></a:ln></p:spPr><p:txBody><a:bodyPr/><a:lstStyle/><a:p/></p:txBody></p:sp><p:sp><p:nvSpPr><p:cNvPr id="11" name="r11"/><p:cNvSpPr><a:spLocks noGrp="1"/></p:cNvSpPr><p:nvPr/></p:nvSpPr><p:spPr><a:xfrm><a:off x="164592" y="0"/><a:ext cx="12024360" cy="1188720"/></a:xfrm><a:prstGeom prst="rect"><a:avLst/></a:prstGeom><a:solidFill><a:srgbClr val="006B2D"/></a:solidFill><a:ln><a:noFill/></a:ln></p:spPr><p:txBody><a:bodyPr/><a:lstStyle/><a:p/></p:txBody></p:sp><p:sp><p:nvSpPr><p:cNvPr id="12" name="t12"/><p:cNvSpPr txBox="1"><a:spLocks noGrp="1"/></p:cNvSpPr><p:nvPr/></p:nvSpPr><p:spPr><a:xfrm><a:off x="320040" y="128016"/><a:ext cx="1188720" cy="914400"/></a:xfrm><a:prstGeom prst="rect"><a:avLst/></a:prstGeom><a:noFill/><a:ln><a:noFill/></a:ln></p:spPr><p:txBody><a:bodyPr wrap="square" anchor="ctr"><a:noAutofit/></a:bodyPr><a:lstStyle/><a:p><a:pPr algn="l"/><a:r><a:rPr lang="hi-IN" altLang="en-US" sz="1800" b="1" dirty="0"><a:solidFill><a:srgbClr val="AAFFCC"/></a:solidFill><a:latin typeface="Nirmala UI"/><a:cs typeface="Nirmala UI"/></a:rPr><a:t>Q.59</a:t></a:r></a:p></p:txBody></p:sp><p:sp><p:nvSpPr><p:cNvPr id="13" name="t13"/><p:cNvSpPr txBox="1"><a:spLocks noGrp="1"/></p:cNvSpPr><p:nvPr/></p:nvSpPr><p:spPr><a:xfrm><a:off x="1691640" y="91440"/><a:ext cx="10332720" cy="1005840"/></a:xfrm><a:prstGeom prst="rect"><a:avLst/></a:prstGeom><a:noFill/><a:ln><a:noFill/></a:ln></p:spPr><p:txBody><a:bodyPr wrap="square" anchor="ctr"><a:noAutofit/></a:bodyPr><a:lstStyle/><a:p><a:pPr algn="l"/><a:r><a:rPr lang="hi-IN" altLang="en-US" sz="2600" b="1" dirty="0"><a:solidFill><a:srgbClr val="FFFFFF"/></a:solidFill><a:latin typeface="Nirmala UI"/><a:cs typeface="Nirmala UI"/></a:rPr><a:t>✅  सही उत्तर  (Correct Answer)</a:t></a:r></a:p></p:txBody></p:sp><p:sp><p:nvSpPr><p:cNvPr id="14" name="r14"/><p:cNvSpPr><a:spLocks noGrp="1"/></p:cNvSpPr><p:nvPr/></p:nvSpPr><p:spPr><a:xfrm><a:off x="164592" y="1188720"/><a:ext cx="12024360" cy="54864"/></a:xfrm><a:prstGeom prst="rect"><a:avLst/></a:prstGeom><a:solidFill><a:srgbClr val="FF6600"/></a:solidFill><a:ln><a:noFill/></a:ln></p:spPr><p:txBody><a:bodyPr/><a:lstStyle/><a:p/></p:txBody></p:sp><p:sp><p:nvSpPr><p:cNvPr id="15" name="r15"/><p:cNvSpPr><a:spLocks noGrp="1"/></p:cNvSpPr><p:nvPr/></p:nvSpPr><p:spPr><a:xfrm><a:off x="320040" y="1417320"/><a:ext cx="11567160" cy="1280160"/></a:xfrm><a:prstGeom prst="rect"><a:avLst/></a:prstGeom><a:solidFill><a:srgbClr val="DFF7EB"/></a:solidFill><a:ln w="31750"><a:solidFill><a:srgbClr val="00AA44"/></a:solidFill></a:ln></p:spPr><p:txBody><a:bodyPr/><a:lstStyle/><a:p/></p:txBody></p:sp><p:sp><p:nvSpPr><p:cNvPr id="16" name="t16"/><p:cNvSpPr txBox="1"><a:spLocks noGrp="1"/></p:cNvSpPr><p:nvPr/></p:nvSpPr><p:spPr><a:xfrm><a:off x="457200" y="1463040"/><a:ext cx="1051560" cy="1188720"/></a:xfrm><a:prstGeom prst="rect"><a:avLst/></a:prstGeom><a:solidFill><a:srgbClr val="00AA44"/></a:solidFill><a:ln><a:noFill/></a:ln></p:spPr><p:txBody><a:bodyPr wrap="square" anchor="ctr"><a:noAutofit/></a:bodyPr><a:lstStyle/><a:p><a:pPr algn="ctr"/><a:r><a:rPr lang="hi-IN" altLang="en-US" sz="3600" b="1" dirty="0"><a:solidFill><a:srgbClr val="FFFFFF"/></a:solidFill><a:latin typeface="Nirmala UI"/><a:cs typeface="Nirmala UI"/></a:rPr><a:t>C</a:t></a:r></a:p></p:txBody></p:sp><p:sp><p:nvSpPr><p:cNvPr id="17" name="t17"/><p:cNvSpPr txBox="1"><a:spLocks noGrp="1"/></p:cNvSpPr><p:nvPr/></p:nvSpPr><p:spPr><a:xfrm><a:off x="1691640" y="1481328"/><a:ext cx="9966960" cy="1152144"/></a:xfrm><a:prstGeom prst="rect"><a:avLst/></a:prstGeom><a:noFill/><a:ln><a:noFill/></a:ln></p:spPr><p:txBody><a:bodyPr wrap="square" anchor="ctr"><a:normAutofit/></a:bodyPr><a:lstStyle/><a:p><a:pPr algn="l"/><a:r><a:rPr lang="hi-IN" altLang="en-US" sz="1600" b="1" dirty="0"><a:solidFill><a:srgbClr val="005A24"/></a:solidFill><a:latin typeface="Nirmala UI"/><a:cs typeface="Nirmala UI"/></a:rPr><a:t>गरीबी की गंभीरता (Severity of Poverty / Squared Poverty Gap), जो गरीबों के बीच आपसी असमानता को मापती है</a:t></a:r></a:p></p:txBody></p:sp><p:sp><p:nvSpPr><p:cNvPr id="18" name="t18"/><p:cNvSpPr txBox="1"><a:spLocks noGrp="1"/></p:cNvSpPr><p:nvPr/></p:nvSpPr><p:spPr><a:xfrm><a:off x="320040" y="2788920"/><a:ext cx="457200" cy="384048"/></a:xfrm><a:prstGeom prst="rect"><a:avLst/></a:prstGeom><a:noFill/><a:ln><a:noFill/></a:ln></p:spPr><p:txBody><a:bodyPr wrap="square" anchor="ctr"><a:noAutofit/></a:bodyPr><a:lstStyle/><a:p><a:pPr algn="l"/><a:r><a:rPr lang="hi-IN" altLang="en-US" sz="1600"  dirty="0"><a:solidFill><a:srgbClr val="8890A8"/></a:solidFill><a:latin typeface="Nirmala UI"/><a:cs typeface="Nirmala UI"/></a:rPr><a:t>A)</a:t></a:r></a:p></p:txBody></p:sp><p:sp><p:nvSpPr><p:cNvPr id="19" name="t19"/><p:cNvSpPr txBox="1"><a:spLocks noGrp="1"/></p:cNvSpPr><p:nvPr/></p:nvSpPr><p:spPr><a:xfrm><a:off x="777240" y="2788920"/><a:ext cx="10607040" cy="384048"/></a:xfrm><a:prstGeom prst="rect"><a:avLst/></a:prstGeom><a:noFill/><a:ln><a:noFill/></a:ln></p:spPr><p:txBody><a:bodyPr wrap="square" anchor="ctr"><a:noAutofit/></a:bodyPr><a:lstStyle/><a:p><a:pPr algn="l"/><a:r><a:rPr lang="hi-IN" altLang="en-US" sz="1600"  dirty="0"><a:solidFill><a:srgbClr val="8890A8"/></a:solidFill><a:latin typeface="Nirmala UI"/><a:cs typeface="Nirmala UI"/></a:rPr><a:t>हेडकाउंट अनुपात (गरीबी की व्यापकता)</a:t></a:r></a:p></p:txBody></p:sp><p:sp><p:nvSpPr><p:cNvPr id="20" name="t20"/><p:cNvSpPr txBox="1"><a:spLocks noGrp="1"/></p:cNvSpPr><p:nvPr/></p:nvSpPr><p:spPr><a:xfrm><a:off x="320040" y="3227832"/><a:ext cx="457200" cy="384048"/></a:xfrm><a:prstGeom prst="rect"><a:avLst/></a:prstGeom><a:noFill/><a:ln><a:noFill/></a:ln></p:spPr><p:txBody><a:bodyPr wrap="square" anchor="ctr"><a:noAutofit/></a:bodyPr><a:lstStyle/><a:p><a:pPr algn="l"/><a:r><a:rPr lang="hi-IN" altLang="en-US" sz="1600"  dirty="0"><a:solidFill><a:srgbClr val="8890A8"/></a:solidFill><a:latin typeface="Nirmala UI"/><a:cs typeface="Nirmala UI"/></a:rPr><a:t>B)</a:t></a:r></a:p></p:txBody></p:sp><p:sp><p:nvSpPr><p:cNvPr id="21" name="t21"/><p:cNvSpPr txBox="1"><a:spLocks noGrp="1"/></p:cNvSpPr><p:nvPr/></p:nvSpPr><p:spPr><a:xfrm><a:off x="777240" y="3227832"/><a:ext cx="10607040" cy="384048"/></a:xfrm><a:prstGeom prst="rect"><a:avLst/></a:prstGeom><a:noFill/><a:ln><a:noFill/></a:ln></p:spPr><p:txBody><a:bodyPr wrap="square" anchor="ctr"><a:noAutofit/></a:bodyPr><a:lstStyle/><a:p><a:pPr algn="l"/><a:r><a:rPr lang="hi-IN" altLang="en-US" sz="1600"  dirty="0"><a:solidFill><a:srgbClr val="8890A8"/></a:solidFill><a:latin typeface="Nirmala UI"/><a:cs typeface="Nirmala UI"/></a:rPr><a:t>गरीबी अंतराल (गरीबी की गहराई)</a:t></a:r></a:p></p:txBody></p:sp><p:sp><p:nvSpPr><p:cNvPr id="22" name="t22"/><p:cNvSpPr txBox="1"><a:spLocks noGrp="1"/></p:cNvSpPr><p:nvPr/></p:nvSpPr><p:spPr><a:xfrm><a:off x="320040" y="3666744"/><a:ext cx="457200" cy="384048"/></a:xfrm><a:prstGeom prst="rect"><a:avLst/></a:prstGeom><a:noFill/><a:ln><a:noFill/></a:ln></p:spPr><p:txBody><a:bodyPr wrap="square" anchor="ctr"><a:noAutofit/></a:bodyPr><a:lstStyle/><a:p><a:pPr algn="l"/><a:r><a:rPr lang="hi-IN" altLang="en-US" sz="1600"  dirty="0"><a:solidFill><a:srgbClr val="8890A8"/></a:solidFill><a:latin typeface="Nirmala UI"/><a:cs typeface="Nirmala UI"/></a:rPr><a:t>D)</a:t></a:r></a:p></p:txBody></p:sp><p:sp><p:nvSpPr><p:cNvPr id="23" name="t23"/><p:cNvSpPr txBox="1"><a:spLocks noGrp="1"/></p:cNvSpPr><p:nvPr/></p:nvSpPr><p:spPr><a:xfrm><a:off x="777240" y="3666744"/><a:ext cx="10607040" cy="384048"/></a:xfrm><a:prstGeom prst="rect"><a:avLst/></a:prstGeom><a:noFill/><a:ln><a:noFill/></a:ln></p:spPr><p:txBody><a:bodyPr wrap="square" anchor="ctr"><a:noAutofit/></a:bodyPr><a:lstStyle/><a:p><a:pPr algn="l"/><a:r><a:rPr lang="hi-IN" altLang="en-US" sz="1600"  dirty="0"><a:solidFill><a:srgbClr val="8890A8"/></a:solidFill><a:latin typeface="Nirmala UI"/><a:cs typeface="Nirmala UI"/></a:rPr><a:t>राष्ट्रीय प्रति व्यक्ति आय</a:t></a:r></a:p></p:txBody></p:sp><p:sp><p:nvSpPr><p:cNvPr id="24" name="r24"/><p:cNvSpPr><a:spLocks noGrp="1"/></p:cNvSpPr><p:nvPr/></p:nvSpPr><p:spPr><a:xfrm><a:off x="320040" y="4242816"/><a:ext cx="11567160" cy="1746504"/></a:xfrm><a:prstGeom prst="rect"><a:avLst/></a:prstGeom><a:solidFill><a:srgbClr val="FFF3E0"/></a:solidFill><a:ln w="19050"><a:solidFill><a:srgbClr val="FF6600"/></a:solidFill></a:ln></p:spPr><p:txBody><a:bodyPr/><a:lstStyle/><a:p/></p:txBody></p:sp><p:sp><p:nvSpPr><p:cNvPr id="25" name="r25"/><p:cNvSpPr><a:spLocks noGrp="1"/></p:cNvSpPr><p:nvPr/></p:nvSpPr><p:spPr><a:xfrm><a:off x="320040" y="4242816"/><a:ext cx="91440" cy="1746504"/></a:xfrm><a:prstGeom prst="rect"><a:avLst/></a:prstGeom><a:solidFill><a:srgbClr val="FF6600"/></a:solidFill><a:ln><a:noFill/></a:ln></p:spPr><p:txBody><a:bodyPr/><a:lstStyle/><a:p/></p:txBody></p:sp><p:sp><p:nvSpPr><p:cNvPr id="26" name="t26"/><p:cNvSpPr txBox="1"><a:spLocks noGrp="1"/></p:cNvSpPr><p:nvPr/></p:nvSpPr><p:spPr><a:xfrm><a:off x="530352" y="4297680"/><a:ext cx="11247120" cy="384048"/></a:xfrm><a:prstGeom prst="rect"><a:avLst/></a:prstGeom><a:noFill/><a:ln><a:noFill/></a:ln></p:spPr><p:txBody><a:bodyPr wrap="square" anchor="ctr"><a:noAutofit/></a:bodyPr><a:lstStyle/><a:p><a:pPr algn="l"/><a:r><a:rPr lang="hi-IN" altLang="en-US" sz="1500" b="1" dirty="0"><a:solidFill><a:srgbClr val="FF6600"/></a:solidFill><a:latin typeface="Nirmala UI"/><a:cs typeface="Nirmala UI"/></a:rPr><a:t>📝 व्याख्या (Explanation)</a:t></a:r></a:p></p:txBody></p:sp><p:sp><p:nvSpPr><p:cNvPr id="27" name="t27"/><p:cNvSpPr txBox="1"><a:spLocks noGrp="1"/></p:cNvSpPr><p:nvPr/></p:nvSpPr><p:spPr><a:xfrm><a:off x="530352" y="4718304"/><a:ext cx="11247120" cy="1197864"/></a:xfrm><a:prstGeom prst="rect"><a:avLst/></a:prstGeom><a:noFill/><a:ln><a:noFill/></a:ln></p:spPr><p:txBody><a:bodyPr wrap="square" anchor="t"><a:normAutofit/></a:bodyPr><a:lstStyle/><a:p><a:pPr algn="l"/><a:r><a:rPr lang="hi-IN" altLang="en-US" sz="1300"  dirty="0"><a:solidFill><a:srgbClr val="1A1A1A"/></a:solidFill><a:latin typeface="Nirmala UI"/><a:cs typeface="Nirmala UI"/></a:rPr><a:t>FGT (Foster-Greer-Thorndike) सूचकांक गरीबी मापन का एक उन्नत गणितीय ढांचा ($FGT_lpha$) है: 1. जब $lpha = 0$, तो $P_0$ 'हेडकाउंट अनुपात' (गरीबी की व्यापकता/स्तर) दर्शाता है। 2. जब $lpha = 1$, तो $P_1$ 'गरीबी अंतराल सूचकांक' (गरीबी की गहराई) दर्शाता है। 3. जब $lpha = 2$, तो $P_2$ 'वर्गीकृत गरीबी अंतराल' (Squared Poverty Gap) कहलाता है, जो 'गरीबी की गंभीरता' (Severity of Poverty) को मापता है। $P_2$ उन गरीबों को अधिक भारांक (Weight) देता है जो गरीबी रेखा से बहुत अधिक नीचे हैं, जिससे गरीबों के बीच की आंतरिक असमानता का पता चलता है।</a:t></a:r></a:p></p:txBody></p:sp><p:sp><p:nvSpPr><p:cNvPr id="28" name="r28"/><p:cNvSpPr><a:spLocks noGrp="1"/></p:cNvSpPr><p:nvPr/></p:nvSpPr><p:spPr><a:xfrm><a:off x="164592" y="6053328"/><a:ext cx="12024360" cy="146304"/></a:xfrm><a:prstGeom prst="rect"><a:avLst/></a:prstGeom><a:solidFill><a:srgbClr val="E8EDFF"/></a:solidFill><a:ln><a:noFill/></a:ln></p:spPr><p:txBody><a:bodyPr/><a:lstStyle/><a:p/></p:txBody></p:sp><p:sp><p:nvSpPr><p:cNvPr id="29" name="r29"/><p:cNvSpPr><a:spLocks noGrp="1"/></p:cNvSpPr><p:nvPr/></p:nvSpPr><p:spPr><a:xfrm><a:off x="164592" y="6053328"/><a:ext cx="3547186" cy="146304"/></a:xfrm><a:prstGeom prst="rect"><a:avLst/></a:prstGeom><a:solidFill><a:srgbClr val="00AA44"/></a:solidFill><a:ln><a:noFill/></a:ln></p:spPr><p:txBody><a:bodyPr/><a:lstStyle/><a:p/></p:txBody></p:sp><p:sp><p:nvSpPr><p:cNvPr id="30" name="t30"/><p:cNvSpPr txBox="1"><a:spLocks noGrp="1"/></p:cNvSpPr><p:nvPr/></p:nvSpPr><p:spPr><a:xfrm><a:off x="320040" y="6272784"/><a:ext cx="11795760" cy="457200"/></a:xfrm><a:prstGeom prst="rect"><a:avLst/></a:prstGeom><a:noFill/><a:ln><a:noFill/></a:ln></p:spPr><p:txBody><a:bodyPr wrap="square" anchor="ctr"><a:noAutofit/></a:bodyPr><a:lstStyle/><a:p><a:pPr algn="ctr"/><a:r><a:rPr lang="hi-IN" altLang="en-US" sz="1300"  dirty="0"><a:solidFill><a:srgbClr val="1A237E"/></a:solidFill><a:latin typeface="Nirmala UI"/><a:cs typeface="Nirmala UI"/></a:rPr><a:t>🕉️ New India Education (NIEd)  |  omkarsir.com</a:t></a:r></a:p></p:txBody></p:sp><p:sp><p:nvSpPr><p:cNvPr id="31" name="t31"/><p:cNvSpPr txBox="1"><a:spLocks noGrp="1"/></p:cNvSpPr><p:nvPr/></p:nvSpPr><p:spPr><a:xfrm><a:off x="10241280" y="6272784"/><a:ext cx="1737360" cy="457200"/></a:xfrm><a:prstGeom prst="rect"><a:avLst/></a:prstGeom><a:noFill/><a:ln><a:noFill/></a:ln></p:spPr><p:txBody><a:bodyPr wrap="square" anchor="ctr"><a:noAutofit/></a:bodyPr><a:lstStyle/><a:p><a:pPr algn="r"/><a:r><a:rPr lang="hi-IN" altLang="en-US" sz="1300" b="1" dirty="0"><a:solidFill><a:srgbClr val="00AA44"/></a:solidFill><a:latin typeface="Nirmala UI"/><a:cs typeface="Nirmala UI"/></a:rPr><a:t>Q 59/200</a:t></a:r></a:p></p:txBody></p:sp></p:spTree></p:cSld><p:clrMapOvr><a:masterClrMapping/></p:clrMapOvr></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विश्व बैंक द्वारा जारी 'मानव पूंजी सूचकांक' (Human Capital Index - HCI) और UNDP के 'मानव विकास सूचकांक' (HDI) के बीच मुख्य संरचनात्मक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HCI में केवल बुजुर्गों के स्वास्थ्य को मापा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HDI में प्रति व्यक्ति आय को शामिल किया जाता है, जबकि विश्व बैंक के HCI में आय को शामिल न करके केवल बच्चों के स्वास्थ्य (उत्तरजीविता व स्टंटिंग) और शिक्षा की गुणवत्ता पर ध्यान केंद्रित किया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सूचकांक बिल्कुल समान संकेतकों का उपयोग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HCI केवल निजी कंपनियों के कर्मचारियों के लिए लागू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60/200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HDI में प्रति व्यक्ति आय को शामिल किया जाता है, जबकि विश्व बैंक के HCI में आय को शामिल न करके केवल बच्चों के स्वास्थ्य (उत्तरजीविता व स्टंटिंग) और शिक्षा की गुणवत्ता पर ध्यान केंद्रित किया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HCI में केवल बुजुर्गों के स्वास्थ्य को मापा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सूचकांक बिल्कुल समान संकेतकों का उपयोग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HCI केवल निजी कंपनियों के कर्मचारियों के लिए लागू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UNDP का मानव विकास सूचकांक (HDI) वर्तमान मानव कल्याण को स्वास्थ्य, शिक्षा और प्रति व्यक्ति आय (GNI per capita) के माध्यम से मापता है। इसके विपरीत, विश्व बैंक का 'मानव पूंजी सूचकांक' (HCI) भविष्य की उत्पादकता पर केंद्रित है। यह मापता है कि आज पैदा होने वाला बच्चा 18 वर्ष की आयु तक कितनी मानव पूंजी प्राप्त करेगा। HCI में तीन घटक हैं: 1. उत्तरजीविता (5 वर्ष की आयु तक जीवित रहने की संभावना), 2. शिक्षा (अपेक्षित स्कूली शिक्षा के वर्ष और सीखने की गुणवत्ता-समायोजित वर्ष), और 3. स्वास्थ्य (वयस्क उत्तरजीविता दर और 5 वर्ष से कम बच्चों में स्टंटिंग की रोकथाम)। HCI में प्रति व्यक्ति आय को शामिल नहीं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60/200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'जेन्युइन प्रोग्रेस इंडिकेटर' (Genuine Progress Indicator - GPI) को पारंपरिक जीडीपी (GDP) का अधिक संतुलित और उन्नत विकल्प क्यों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यह केवल शेयर बाजार और कॉरपोरेट मुनाफे के आधार पर विकास को मापता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यह GDP में आर्थिक कल्याण बढ़ाने वाली गैर-बाजार गतिविधियों (जैसे घरेलू कार्य, स्वयंसेवा) को जोड़ता है और अपराध, प्रदूषण व संसाधन क्षरण जैसी सामाजिक-पर्यावरणीय लागतों को घटाता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यह सभी देशों के लिए समान विकास दर तय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यह केवल विदेशी निवेश को मापता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674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61/200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क्योंकि यह GDP में आर्थिक कल्याण बढ़ाने वाली गैर-बाजार गतिविधियों (जैसे घरेलू कार्य, स्वयंसेवा) को जोड़ता है और अपराध, प्रदूषण व संसाधन क्षरण जैसी सामाजिक-पर्यावरणीय लागतों को घटाता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क्योंकि यह केवल शेयर बाजार और कॉरपोरेट मुनाफे के आधार पर विकास को मापता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क्योंकि यह सभी देशों के लिए समान विकास दर तय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क्योंकि यह केवल विदेशी निवेश को मापता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पारंपरिक GDP किसी भी आर्थिक लेन-देन को सकारात्मक मानती है, चाहे वह तेल रिसाव की सफाई हो, अपराध के बाद कानूनी खर्च हो या बीमारी का इलाज हो। इसके विपरीत, 'जेन्युइन प्रोग्रेस इंडिकेटर' (GPI) आर्थिक संवृद्धि के वास्तविक शुद्ध लाभ को मापता है। GPI व्यक्तिगत उपभोग व्यय से शुरू होता है, इसमें अवैतनिक घरेलू श्रम, स्वयंसेवी कार्य और उच्च शिक्षा के सामाजिक लाभों को जोड़ता है, तथा आय असमानता की लागत, अपराध की लागत, पर्यावरण प्रदूषण, ओजोन क्षरण और प्राकृतिक पूंजी के नुकसान जैसी नकारात्मक लागतों को घटाकर वास्तविक सतत कल्याण की गणना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674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61/200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राज्यों और केंद्र शासित प्रदेशों के सतत विकास लक्ष्यों (SDGs) पर प्रदर्शन का वार्षिक मूल्यांकन करने के लिए 'एसडीजी इंडिया इंडेक्स' (SDG India Index) किस संस्था द्वारा जारी किया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केंद्रीय सांख्यिकी कार्यालय (CSO)</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नीति आयोग (NITI Aayog)</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पर्यावरण, वन एवं जलवायु परिवर्तन मंत्रालय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भारतीय रिजर्व बैंक (RBI)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275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62/200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नीति आयोग (NITI Aayog)</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केंद्रीय सांख्यिकी कार्यालय (CSO)</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पर्यावरण, वन एवं जलवायु परिवर्तन मंत्रालय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रिजर्व बैंक (RBI)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 आयोग (NITI Aayog) संयुक्त राष्ट्र के सतत विकास लक्ष्यों (SDGs) के राष्ट्रीय स्थानीयकरण (Localisation) और निगरानी के लिए नोडल संस्था है। नीति आयोग द्वारा विकसित 'एसडीजी इंडिया इंडेक्स' (SDG India Index) भारत के सभी राज्यों और केंद्र शासित प्रदेशों को 16 SDGs (SDG 14 तटीय राज्यों को छोड़कर) के तहत उनके प्रदर्शन के आधार पर 0 से 100 के स्कोर पर रैंक प्रदान करता है। राज्यों को 4 श्रेणियों में बांटा जाता है: आकांक्षी (Aspirant: 0-49), अच्छा प्रदर्शन करने वाले (Performer: 50-64), अग्रणी (Front Runner: 65-99), और लक्ष्य प्राप्तकर्ता (Achiever: 100)। यह राज्यों में प्रतिस्पर्धी संघवाद को बढ़ावा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275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62/200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'राजकोषीय नीति' (Fiscal Policy) और 'मौद्रिक नीति' (Monetary Policy) के निर्माण एवं संचालन की आधिकारिक जिम्मेदारी क्रमशः किन संस्थाओं के पास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नीति आयोग और सेबी (SEBI)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वित्त मंत्रालय (भारत सरकार) और भारतीय रिजर्व बैंक (RBI)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वित्त आयोग और स्टेट बैंक ऑफ इंडिया (SBI)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वाणिज्य मंत्रालय और भारतीय प्रतिस्पर्धा आयोग (CCI)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876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63/200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वित्त मंत्रालय (भारत सरकार) और भारतीय रिजर्व बैंक (RBI)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नीति आयोग और सेबी (SEBI)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वित्त आयोग और स्टेट बैंक ऑफ इंडिया (SBI)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वाणिज्य मंत्रालय और भारतीय प्रतिस्पर्धा आयोग (CCI)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राजकोषीय नीति (Fiscal Policy) का संबंध सरकार के सार्वजनिक व्यय, कराधान (Taxation), बजट घाटे और सार्वजनिक ऋण प्रबंधन से है, जिसका निर्माण और क्रियान्वयन भारत सरकार के 'वित्त मंत्रालय' (Ministry of Finance) द्वारा संसद के माध्यम से किया जाता है। इसके विपरीत, मौद्रिक नीति (Monetary Policy) का संबंध अर्थव्यवस्था में मुद्रा आपूर्ति, ब्याज दरों, साख की उपलब्धता और मुद्रास्फीति नियंत्रण से है, जिसका संचालन देश के केंद्रीय बैंक यानी 'भारतीय रिजर्व बैंक' (RBI) की मौद्रिक नीति समिति (MPC) द्वारा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876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63/200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आर्थिक मंदी (Economic Recession) और उच्च बेरोजगारी की स्थिति में सरकार द्वारा 'विस्तारवादी राजकोषीय नीति' (Expansionary Fiscal Policy) अपनाने के तहत कौन-से कदम उठाए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सरकारी खर्च में भारी कटौती करना और करों की दरों में वृद्धि करना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सरकारी व्यय (विशेषकर पूंजीगत बुनियादी ढांचे) में वृद्धि करना और करों की दरों में कटौती करना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ब्याज दरों में तीव्र वृद्धि कर बाजार से तरलता सोखना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आयातों पर 100% सीमा शुल्क लगाना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64/200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सरकारी व्यय (विशेषकर पूंजीगत बुनियादी ढांचे) में वृद्धि करना और करों की दरों में कटौती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सरकारी खर्च में भारी कटौती करना और करों की दरों में वृद्धि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ब्याज दरों में तीव्र वृद्धि कर बाजार से तरलता सोखना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आयातों पर 100% सीमा शुल्क लगाना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जब अर्थव्यवस्था में मंदी, मांग में कमी और बेरोजगारी होती है, तो कीनेसियन अर्थशास्त्र के अनुसार सरकार 'विस्तारवादी राजकोषीय नीति' (Expansionary Fiscal Policy) अपनाती है। इसके तहत सरकार अपने सार्वजनिक व्यय (विशेषकर सड़कों, रेलवे और अवसंरचना पर पूंजीगत व्यय) को बढ़ाती है और प्रत्यक्ष व अप्रत्यक्ष करों की दरों में कटौती करती है। इससे लोगों और कंपनियों के पास प्रयोज्य आय बढ़ती है, समग्र मांग (Aggregate Demand) में वृद्धि होती है, निजी निवेश प्रेरित होता है और रोजगार के नए अवसर सृजित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64/200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रिजर्व बैंक (RBI) द्वारा मुद्रा आपूर्ति के विभिन्न घटकों (M1, M2, M3, M4) में से 'सर्वाधिक तरल' (Most Liquid) साधन किसे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M1 (संकीर्ण मुद्रा - Narrow Money)</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M2</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M3 (व्यापक मुद्रा - Broad Money)</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M4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079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65/200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M1 (संकीर्ण मुद्रा - Narrow Money)</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M2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M3 (व्यापक मुद्रा - Broad Money)</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M4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RBI तरलता (Liquidity) के घटते क्रम में मुद्रा आपूर्ति के चार मौद्रिक समुच्चय मापता है: 1. M1 = जनता के पास करेंसी (नोट व सिक्के) + बैंकों में मांग जमा (Demand Deposits जैसे चालू व बचत खाते) + RBI के पास अन्य जमा। M1 को 'संकीर्ण मुद्रा' (Narrow Money) कहा जाता है और यह सर्वाधिक तरल है क्योंकि इसे तुरंत लेन-देन में उपयोग किया जा सकता है। 2. M2 = M1 + डाकघर बचत बैंकों की बचत जमा। 3. M3 = M1 + बैंकिंग प्रणाली में सावधि जमा (Time/Fixed Deposits)। M3 को 'व्यापक मुद्रा' (Broad Money) कहा जाता है। 4. M4 = M3 + डाकघरों की कुल जमा (राष्ट्रीय बचत पत्रों को छोड़कर)। M4 सबसे कम तरल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079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65/200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रिजर्व बैंक की मौद्रिक नीति के 'गुणात्मक' (Qualitative / Selective) उपकरणों का प्राथमिक उद्देश्य क्या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अर्थव्यवस्था में कुल मुद्रा आपूर्ति की मात्रा को नियंत्रित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अर्थव्यवस्था के विशिष्ट प्राथमिकता वाले क्षेत्रों (जैसे कृषि, MSME) में ऋण के प्रवाह और दिशा को विनियमित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सरकारी प्रतिभूतियों की थोक खरीद-बिक्री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नकद आरक्षित अनुपात की न्यूनतम सीमा तय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680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66/200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अर्थव्यवस्था के विशिष्ट प्राथमिकता वाले क्षेत्रों (जैसे कृषि, MSME) में ऋण के प्रवाह और दिशा को विनियमित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अर्थव्यवस्था में कुल मुद्रा आपूर्ति की मात्रा को नियंत्रित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सरकारी प्रतिभूतियों की थोक खरीद-बिक्री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नकद आरक्षित अनुपात की न्यूनतम सीमा तय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RBI के मौद्रिक उपकरण दो प्रकार के होते हैं: 1. 'मात्रात्मक उपकरण' (Quantitative Tools - जैसे रेपो रेट, बैंक रेट, CRR, SLR, OMO), जो अर्थव्यवस्था में कुल साख की मात्रा और लागत को नियंत्रित करते हैं। 2. 'गुणात्मक/चयनात्मक उपकरण' (Qualitative Tools - जैसे मार्जिन आवश्यकताएं (Margin Requirements), उपभोक्ता ऋण का नियमन, साख की राशनिंग, नैतिक दबाव (Moral Suasion) और प्रत्यक्ष कार्रवाई)। गुणात्मक उपकरणों का मुख्य उद्देश्य कुल साख की मात्रा को प्रभावित किए बिना ऋण के प्रवाह को सट्टेबाजी से हटाकर उत्पादक और प्राथमिकता प्राप्त सामाजिक-आर्थिक क्षेत्रों की ओर निर्देशित करना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680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66/200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यदि भारतीय रिजर्व बैंक (RBI) 'नकद आरक्षित अनुपात' (Cash Reserve Ratio - CRR) में वृद्धि करता है, तो अर्थव्यवस्था और बैंकिंग प्रणाली पर इसका क्या प्रत्यक्ष प्रभाव पड़ेगा?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वाणिज्यिक बैंकों की ऋण देने की क्षमता बढ़ जाएगी और ब्याज दरें गिर जाएंगी।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वाणिज्यिक बैंकों के पास ऋण देने योग्य तरलता कम हो जाएगी, जिससे मुद्रा आपूर्ति में संकुचन होगा और मुद्रास्फीति पर लगाम लगेगी।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देश का राजकोषीय घाटा स्वतः समाप्त हो जाएगा।</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पूंजी का देश से बाहर जाना पूरी तरह रुक जाएगा।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281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67/200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वाणिज्यिक बैंकों के पास ऋण देने योग्य तरलता कम हो जाएगी, जिससे मुद्रा आपूर्ति में संकुचन होगा और मुद्रास्फीति पर लगाम लगेगी।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वाणिज्यिक बैंकों की ऋण देने की क्षमता बढ़ जाएगी और ब्याज दरें गिर जाएंगी।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देश का राजकोषीय घाटा स्वतः समाप्त हो जाएगा।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पूंजी का देश से बाहर जाना पूरी तरह रुक जाएगा।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नकद आरक्षित अनुपात (CRR) वाणिज्यिक बैंकों की कुल शुद्ध मांग और सावधि देनदारियों (NDTL) का वह न्यूनतम प्रतिशत है, जिसे बैंकों को अनिवार्य रूप से नकद (Cash) के रूप में RBI के पास बनाए रखना होता है (इस पर RBI कोई ब्याज नहीं देता)। जब RBI CRR बढ़ाता है, तो बैंकों को अपनी जमा का बड़ा हिस्सा RBI के पास बंधक रखना पड़ता है। इससे बैंकों के पास जनता और उद्योगों को ऋण देने के लिए उपलब्ध नकदी घट जाती है। परिणामस्वरूप बैंक ब्याज दरें बढ़ाते हैं, बाजार में मुद्रा आपूर्ति कम होती है और समग्र मांग घटने से महंगाई नियंत्रित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281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67/200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बैंकिंग विनियमन अधिनियम, 1949 के तहत 'सांविधिक तरलता अनुपात' (Statutory Liquidity Ratio - SLR) के संबंध में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वह राशि है जो बैंकों को अनिवार्य रूप से केवल नकद में RBI के पास जमा रखनी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कुल जमा (NDTL) का वह न्यूनतम प्रतिशत है जिसे वाणिज्यिक बैंकों को अपने पास सुरक्षित एवं स्वीकृत तरल परिसंपत्तियों (नकद, सोना, सरकारी प्रतिभूतियां) के रूप में बनाए रखना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SLR की वर्तमान अधिकतम वैधानिक सीमा 100%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SLR कम होने से बैंकों की साख सृजन क्षमता घट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68/200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कुल जमा (NDTL) का वह न्यूनतम प्रतिशत है जिसे वाणिज्यिक बैंकों को अपने पास सुरक्षित एवं स्वीकृत तरल परिसंपत्तियों (नकद, सोना, सरकारी प्रतिभूतियां) के रूप में बनाए रखना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वह राशि है जो बैंकों को अनिवार्य रूप से केवल नकद में RBI के पास जमा रखनी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SLR की वर्तमान अधिकतम वैधानिक सीमा 100%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SLR कम होने से बैंकों की साख सृजन क्षमता घट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सांविधिक तरलता अनुपात (SLR) बैंकिंग विनियमन अधिनियम, 1949 की धारा 24 के तहत RBI द्वारा निर्धारित किया जाता है। CRR के विपरीत (जो RBI के पास नकद रखा जाता है), SLR को प्रत्येक बैंक को 'स्वयं अपने पास' (With Themselves) तरल रूप में बनाए रखना होता है। बैंक इसे तीन रूपों में रख सकते हैं: 1. नकद (Cash), 2. सोना (Gold - वर्तमान बाजार मूल्य पर), और 3. केंद्र व राज्य सरकारों की स्वीकृत प्रतिभूतियां (G-Secs/T-Bills)। SLR का मुख्य उद्देश्य बैंक की सॉल्वेंसी सुनिश्चित करना और सरकारी उधारी के लिए एक सुरक्षित बाजार उपलब्ध कराना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68/200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वाणिज्यिक बैंक अपनी अल्पकालिक तरलता आवश्यकताओं (Overnight Short-term Liquidity) को पूरा करने के लिए सरकारी प्रतिभूतियों के एवज में RBI से जिस ब्याज दर पर ऋण प्राप्त करते हैं, उसे क्या कहा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बैंक दर (Bank Rate)</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रेपो दर (Repo Rate)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रिवर्स रेपो दर (Reverse Repo Rate)</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सीमांत स्थायी सुविधा दर (MSF Rate)</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484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69/200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रेपो दर (Repo Rate)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 दर (Bank Rate)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रिवर्स रेपो दर (Reverse Repo Rate)</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सीमांत स्थायी सुविधा दर (MSF Rate)</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रेपो दर (Repo Rate - Repurchase Option Rate) तरलता समायोजन सुविधा (LAF) के तहत RBI की मुख्य नीतिगत ब्याज दर (Policy Rate) है। जब वाणिज्यिक बैंकों को अल्पकालिक (सामान्यतः 1 दिन से 14 दिन) नकदी की कमी का सामना करना पड़ता है, तो वे अपनी अतिरिक्त सरकारी प्रतिभूतियों (SLR कोटे से बाहर) को RBI को गिरवी रखकर रेपो रेट पर अल्पकालिक कर्ज लेते हैं। यदि RBI अर्थव्यवस्था में महंगाई रोकना चाहता है तो वह रेपो रेट बढ़ा देता है (जिससे कर्ज महंगे होते हैं), और यदि मंदी में संवृद्धि को बढ़ावा देना चाहता है तो रेपो रेट घटा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484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69/200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जब किसी वाणिज्यिक बैंक के पास तरलता समायोजन सुविधा (LAF) के तहत सामान्य उधारी सीमा समाप्त हो जाती है, तो वह गंभीर आपातकालीन स्थिति में अपने SLR कोटे की प्रतिभूतियों को गिरवी रखकर RBI से किस सुविधा के तहत रातों-रात (Overnight) ऋण ले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ओपन मार्केट ऑपरेशंस (OMO)</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सीमांत स्थायी सुविधा (Marginal Standing Facility - MSF)</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रिवर्स रेपो विंडो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स्टैंडिंग डिपॉजिट फैसिलिटी (SDF)</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70/200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सीमांत स्थायी सुविधा (Marginal Standing Facility - MSF)</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ओपन मार्केट ऑपरेशंस (OMO)</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रिवर्स रेपो विंडो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स्टैंडिंग डिपॉजिट फैसिलिटी (SDF)</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सीमांत स्थायी सुविधा (MSF) की शुरुआत RBI द्वारा मई 2011 में की गई थी। यह एक दंडात्मक दर (Penal Rate) वाली आपातकालीन विंडो है, जिसके तहत अनुसूचित वाणिज्यिक बैंक गंभीर नकदी संकट के समय रातों-रात (Overnight) धन उधार ले सकते हैं। MSF की सबसे बड़ी विशेषता यह है कि बैंक इसके तहत अपने वैधानिक तरलता अनुपात (SLR) कोटे में रखी गई अनिवार्य सरकारी प्रतिभूतियों में से एक निश्चित सीमा (जैसे NDTL का 2%) तक गिरवी रखकर ऋण ले सकते हैं, जिसकी अनुमति सामान्य रेपो विंडो में नहीं होती। MSF दर सामान्यतः रेपो रेट से 25 आधार अंक (0.25%) अधिक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70/200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रिजर्व बैंक (RBI) द्वारा मौद्रिक नीति के तहत खुले बाजार में सरकारी प्रतिभूतियों की 'खरीद' (OMO Purchase) करने का अर्थव्यवस्था पर क्या प्रभाव पड़ता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वित्तीय प्रणाली से तरलता सोख ली जाती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बैंकिंग प्रणाली में नई तरलता (Liquidity) का संचार होता है और ब्याज दरों पर नीचे की ओर दबाव पड़ता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देश का विदेशी मुद्रा भंडार कम हो जाता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वाणिज्यिक बैंकों की ऋण देने की क्षमता समाप्त हो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686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71/200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बैंकिंग प्रणाली में नई तरलता (Liquidity) का संचार होता है और ब्याज दरों पर नीचे की ओर दबाव पड़ता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वित्तीय प्रणाली से तरलता सोख ली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देश का विदेशी मुद्रा भंडार कम हो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वाणिज्यिक बैंकों की ऋण देने की क्षमता समाप्त हो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खुले बाजार की क्रियाएं (Open Market Operations - OMO) RBI द्वारा बाजार में सरकारी प्रतिभूतियों (G-Secs) की प्रत्यक्ष खरीद और बिक्री का साधन हैं। जब RBI वाणिज्यिक बैंकों और वित्तीय संस्थानों से सरकारी प्रतिभूतियां 'खरीदता' (Purchase) है, तो वह उनके खातों में नकद राशि हस्तांतरित करता है। इससे बैंकिंग प्रणाली में तरलता (मुद्रा की मात्रा) बढ़ जाती है, बैंकों के पास उधार देने के लिए अधिक धन उपलब्ध होता है, जिससे बाजार में ब्याज दरें कम होती हैं और निवेश व आर्थिक गतिविधियों को प्रोत्साहन मिलता है। इसके विपरीत, तरलता सोखने के लिए RBI प्रतिभूतियां 'बेचता' (Sell)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686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71/200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किसी वित्तीय वर्ष में सरकार की 'कुल उधारी आवश्यकताओं' (Total Borrowing Requirements) को स्पष्ट रूप से दर्शाने वाला सबसे व्यापक बजटीय घाटा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राजस्व घाटा (Revenue Deficit)</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प्रभावी राजस्व घाटा (Effective Revenue Deficit)</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प्राथमिक घाटा (Primary Deficit)</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राजकोषीय घाटा (Fiscal Deficit)</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72/200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राजकोषीय घाटा (Fiscal Deficit)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राजस्व घाटा (Revenue Deficit)</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प्रभावी राजस्व घाटा (Effective Revenue Deficit)</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प्राथमिक घाटा (Primary Deficit)</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राजकोषीय घाटा (Fiscal Deficit) किसी वित्तीय वर्ष में सरकार के कुल व्यय (राजस्व व्यय + पूंजीगत व्यय) और कुल गैर-ऋण सृजन प्राप्तियों (राजस्व प्राप्तियां + ऋणों की वसूली + विनिवेश) के बीच का अंतर है। सरल शब्दों में, राजकोषीय घाटा = कुल व्यय - (राजस्व प्राप्तियां + गैर-ऋण पूंजीगत प्राप्तियां)। यह ठीक उस कुल राशि के बराबर होता है जिसे सरकार को अपने खर्चों को पूरा करने के लिए घरेलू बाजार, RBI या विदेशी स्रोतों से उधार (Borrowing) लेना पड़ता है। अतः राजकोषीय घाटा सरकार की कुल वार्षिक ऋण देयता का सबसे प्रामाणिक मापक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72/200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यदि किसी केंद्रीय बजट में राजकोषीय घाटा ₹18,00,000 करोड़ है और पुराने कर्जों पर ब्याज भुगतान ₹11,00,000 करोड़ है, तो 'प्राथमिक घाटे' (Primary Deficit) का मान कितना होगा?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₹29,00,000 करोड़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₹7,00,000 करोड़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₹11,00,000 करोड़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शून्य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888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73/200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₹7,00,000 करोड़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₹29,00,000 करोड़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₹11,00,000 करोड़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शून्य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प्राथमिक घाटा (Primary Deficit) चालू वित्तीय वर्ष में सरकार के वित्तीय अनुशासन को दर्शाता है। इसका सूत्र है: प्राथमिक घाटा = राजकोषीय घाटा - ब्याज भुगतान (Interest Payments)। दिए गए आंकड़ों के अनुसार: प्राथमिक घाटा = ₹18,00,000 करोड़ - ₹11,00,000 करोड़ = ₹7,00,000 करोड़। प्राथमिक घाटा यह बताता है कि सरकार को पुराने लिए गए कर्जों पर ब्याज चुकाने की मजबूरी को छोड़कर, चालू वर्ष की अपनी नियमित नीतियों और योजनाओं को चलाने के लिए वास्तव में कितने नए कर्ज की आवश्यकता है। यदि प्राथमिक घाटा शून्य हो, तो इसका अर्थ है कि सरकार चालू वर्ष में केवल पुराना ब्याज चुकाने के लिए कर्ज ले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888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73/200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केंद्रीय बजट में 'प्रभावी राजस्व घाटा' (Effective Revenue Deficit - ERD) की गणना किस प्रकार की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राजकोषीय घाटा - प्राथमिक घाटा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राजस्व घाटा - राज्यों को पूंजीगत संपत्तियों के निर्माण के लिए दिया गया सहायता अनुदान (Grants-in-aid for creation of capital assets)</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कुल व्यय - कुल प्राप्तियां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राजस्व व्यय - राजस्व प्राप्तियां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490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74/200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राजस्व घाटा - राज्यों को पूंजीगत संपत्तियों के निर्माण के लिए दिया गया सहायता अनुदान (Grants-in-aid for creation of capital assets)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राजकोषीय घाटा - प्राथमिक घाटा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कुल व्यय - कुल प्राप्तियां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राजस्व व्यय - राजस्व प्राप्तियां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प्रभावी राजस्व घाटे (ERD) की अवधारणा को 2011-12 के बजट में पेश किया गया था और 2012 में FRBM अधिनियम में शामिल किया गया। केंद्र सरकार द्वारा राज्यों और स्थानीय निकायों को दिया जाने वाला सहायता अनुदान केंद्र के बजट में 'राजस्व व्यय' (उपभोग व्यय) के रूप में दर्ज होता है, लेकिन राज्य सरकारें इस अनुदान के बड़े हिस्से का उपयोग स्कूल, अस्पताल, ग्रामीण सड़कें जैसी उत्पादक स्थायी पूंजीगत संपत्तियां बनाने में करती हैं। अतः इस उत्पादक व्यय को अलग करने के लिए: प्रभावी राजस्व घाटा = राजस्व घाटा - पूंजीगत परिसंपत्तियों के सृजन हेतु दिए गए अनुदान।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490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74/200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राजकोषीय-मौद्रिक नीति के संदर्भ में 'मौद्रीकृत घाटा' (Monetized Deficit) का क्या तात्पर्य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सरकार द्वारा घरेलू जनता और वाणिज्यिक बैंकों से बाजार बांड जारी कर उधार लेना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राजकोषीय घाटे की भरपाई के लिए केंद्रीय बैंक (RBI) द्वारा सीधे नई मुद्रा छापना और प्राथमिक बाजार से सीधे सरकारी प्रतिभूतियां खरीदना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विश्व बैंक और एशियाई विकास बैंक से रियायती ऋण प्राप्त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सार्वजनिक क्षेत्र के उपक्रमों के शेयरों की रणनीतिक बिक्री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091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75/200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राजकोषीय घाटे की भरपाई के लिए केंद्रीय बैंक (RBI) द्वारा सीधे नई मुद्रा छापना और प्राथमिक बाजार से सीधे सरकारी प्रतिभूतियां खरीदना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सरकार द्वारा घरेलू जनता और वाणिज्यिक बैंकों से बाजार बांड जारी कर उधार लेना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विश्व बैंक और एशियाई विकास बैंक से रियायती ऋण प्राप्त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सार्वजनिक क्षेत्र के उपक्रमों के शेयरों की रणनीतिक बिक्री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मौद्रीकृत घाटा (Monetized Deficit या घाटे का विमुद्रीकरण) तब होता है जब सरकार के राजकोषीय घाटे को पूरा करने के लिए केंद्रीय बैंक (RBI) सीधे नई करेंसी (High Powered Money) छापकर सरकार को वित्तपोषित करता है और बदले में सीधे सरकार से तदर्थ ट्रेजरी बिल या प्रतिभूतियां खरीदता है। यह सीधे तौर पर मुद्रा आपूर्ति को तेजी से बढ़ाता है, जिससे अर्थव्यवस्था में बेलगाम मुद्रास्फीति (Hyperinflation) का गंभीर खतरा पैदा होता है। भारत में 1997 में सुखमय चक्रवर्ती समिति की सिफारिशों के बाद एड-हॉक ट्रेजरी बिलों को समाप्त कर मौद्रीकृत घाटे की प्रथा को औपचारिक रूप से बंद कर दिया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091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75/200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सरकार के केंद्रीय बजट में निम्नलिखित में से किसे "गैर-ऋण सृजन पूंजीगत प्राप्ति" (Non-Debt Creating Capital Receipt - NDCR)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खुले बाजार में सरकारी बांड बेचकर जुटाया गया ऋण</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सरकारों एवं अन्य संस्थाओं को दिए गए पिछले ऋणों और अग्रिमों की वसूली तथा विनिवेश से प्राप्त आय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अंतरराष्ट्रीय मुद्रा कोष (IMF) से लिया गया आपातकालीन विदेशी ऋण</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91-दिवसीय ट्रेजरी बिल जारी करके प्राप्त की गई राशि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76/200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राज्य सरकारों एवं अन्य संस्थाओं को दिए गए पिछले ऋणों और अग्रिमों की वसूली तथा विनिवेश से प्राप्त आय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खुले बाजार में सरकारी बांड बेचकर जुटाया गया ऋण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अंतरराष्ट्रीय मुद्रा कोष (IMF) से लिया गया आपातकालीन विदेशी ऋण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91-दिवसीय ट्रेजरी बिल जारी करके प्राप्त की गई राशि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पूंजीगत प्राप्तियां (Capital Receipts) वे प्राप्तियां हैं जो या तो सरकार के लिए भविष्य की वित्तीय देयता (Liability/Debt) उत्पन्न करती हैं या सरकार की वित्तीय परिसंपत्तियों (Assets) में कमी लाती हैं। बाजार से लिया गया कर्ज भविष्य में चुकाना पड़ता है, अतः यह 'ऋण सृजन प्राप्ति' है। इसके विपरीत, जब सरकार राज्य सरकारों या सार्वजनिक उपक्रमों को पूर्व में दिए गए ऋणों की मूल राशि 'वसूली' (Recovery of Loans) के रूप में वापस पाती है या सार्वजनिक उपक्रमों के शेयरों को बेचकर 'विनिवेश' (Disinvestment) आय प्राप्त करती है, तो इससे सरकार पर कोई नया कर्ज या भविष्य की देयता नहीं बनती। अतः इसे 'गैर-ऋण पूंजीगत प्राप्ति'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76/200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सरकार द्वारा पुराने सार्वजनिक ऋणों पर किया जाने वाला 'ब्याज भुगतान' (Interest Payment) किस प्रकार का बजटीय व्यय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पूंजीगत व्यय (Capital Expenditure)</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राजस्व व्यय (Revenue Expenditure)</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विकासात्मक पूंजी निर्माण व्यय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आकस्मिक अप्रत्याशित व्यय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293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77/200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राजस्व व्यय (Revenue Expenditure)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पूंजीगत व्यय (Capital Expenditure)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विकासात्मक पूंजी निर्माण व्यय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आकस्मिक अप्रत्याशित व्यय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बजटीय वर्गीकरण के अनुसार, 'राजस्व व्यय' (Revenue Expenditure) वह सरकारी व्यय है जिससे न तो किसी भौतिक या वित्तीय परिसंपत्ति (Asset) का निर्माण होता है और न ही सरकार की किसी पूर्व देनदारी/ऋण (Liability) में कोई कमी आती है। चूंकि ब्याज का भुगतान करने से केवल चालू दायित्व पूरा होता है और कर्ज की मूल राशि (Principal Amount) में ₹1 की भी कमी नहीं आती, इसलिए ब्याज भुगतान को विशुद्ध रूप से गैर-विकासात्मक 'राजस्व व्यय' माना जाता है। भारत सरकार के बजट में कुल व्यय का लगभग 20% हिस्सा अकेले ब्याज भुगतान में चला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293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77/200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'लागत-पुश मुद्रास्फीति' (Cost-Push Inflation) का प्राथमिक कारण क्या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बाजार में आसान और अत्यधिक बैंक ऋण के कारण उपभोक्ता मांग में अचानक भारी वृद्धि</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कच्चे माल की कीमतों में वृद्धि (उदा. अंतरराष्ट्रीय क्रूड ऑयल), मजदूरी दरों में उछाल या अप्रत्यक्ष करों में वृद्धि के कारण उत्पादन लागत का बढ़ना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सरकार द्वारा प्रत्यक्ष आयकर दरों में भारी कटौती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पर्यटकों द्वारा घरेलू बाजार में अत्यधिक खरीदारी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895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78/200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कच्चे माल की कीमतों में वृद्धि (उदा. अंतरराष्ट्रीय क्रूड ऑयल), मजदूरी दरों में उछाल या अप्रत्यक्ष करों में वृद्धि के कारण उत्पादन लागत का बढ़ना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बाजार में आसान और अत्यधिक बैंक ऋण के कारण उपभोक्ता मांग में अचानक भारी वृद्धि</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सरकार द्वारा प्रत्यक्ष आयकर दरों में भारी कटौती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पर्यटकों द्वारा घरेलू बाजार में अत्यधिक खरीदारी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मुद्रास्फीति के दो मुख्य प्रकार होते हैं: 1. मांग-जनित (Demand-Pull), जब समग्र मांग आपूर्ति से अधिक हो जाती है ("Too much money chasing too few goods")। 2. लागत-जनित (Cost-Push Inflation), जब मांग स्थिर रहने पर भी आपूर्ति पक्ष पर उत्पादन की लागत बढ़ जाती है। जब प्रमुख कच्चे माल (जैसे कच्चा तेल, धातुएं, उर्वरक) महंगे होते हैं, परिवहन व लॉजिस्टिक्स लागत बढ़ती है, मजदूरों की न्यूनतम मजदूरी बढ़ती है या सरकार उत्पादन शुल्क/GST बढ़ाती है, तो उत्पादक अपने लाभ मार्जिन को बचाने के लिए अंतिम वस्तुओं की कीमतें बढ़ा देते हैं, जिससे लागत-पुश मुद्रास्फीति उत्पन्न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895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78/200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समष्टि अर्थशास्त्र में 'स्टैगफ्लेशन' (Stagflation) की स्थिति को सबसे सटीक रूप से कैसे परिभाषित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उच्च आर्थिक विकास दर के साथ-साथ मुद्रास्फीति की उच्च दर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आर्थिक ठहराव (मंदी, कम GDP संवृद्धि और उच्च बेरोजगारी) के साथ-साथ लगातार उच्च बनी रहने वाली मुद्रास्फीति की विरोधाभासी स्थिति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जब मुद्रास्फीति की दर शून्य से नीचे गिरकर नकारात्मक हो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जब देश का निर्यात उसके आयात से दोगुना हो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496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79/200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आर्थिक ठहराव (मंदी, कम GDP संवृद्धि और उच्च बेरोजगारी) के साथ-साथ लगातार उच्च बनी रहने वाली मुद्रास्फीति की विरोधाभासी स्थिति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उच्च आर्थिक विकास दर के साथ-साथ मुद्रास्फीति की उच्च दर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जब मुद्रास्फीति की दर शून्य से नीचे गिरकर नकारात्मक हो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जब देश का निर्यात उसके आयात से दोगुना हो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स्टैगफ्लेशन (Stagflation) शब्द 'Stagnation' (आर्थिक ठहराव/मंदी) और 'Inflation' (मुद्रास्फीति) के संयोजन से बना है। पारंपरिक फिलिप्स वक्र (Phillips Curve) के अनुसार बेरोजगारी और मुद्रास्फीति में विपरीत संबंध होता है, लेकिन 1970 के दशक के तेल संकट के दौरान यह देखा गया कि एक साथ दोहरी समस्या उत्पन्न हो गई: अर्थव्यवस्था में उत्पादन घट रहा था, कंपनियां घाटे में थीं और बेरोजगारी दर बहुत ऊंची थी (Stagnation), लेकिन इसके बावजूद आपूर्ति पक्ष के झटके के कारण बाजार में महंगाई दर भी अत्यधिक ऊंची थी (Inflation)। इस दोहरे संकट को स्टैगफ्लेशन कहा जाता है, जिसका समाधान मौद्रिक और राजकोषीय नीतियों के लिए सबसे कठिन चुनौती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496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79/200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राजकोषीय नीति के संदर्भ में 'क्राउडिंग आउट प्रभाव' (Crowding Out Effect) का क्या तात्पर्य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सरकारी निवेश बढ़ने से निजी क्षेत्र का निवेश भी तेजी से आकर्षित होना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सरकार द्वारा अपने भारी राजकोषीय घाटे को पूरा करने के लिए बाजार से अत्यधिक उधारी लेने के कारण वित्तीय बाजार में ब्याज दरों का बढ़ना तथा निजी क्षेत्र के लिए ऋण योग्य कोष की कमी हो जाना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करों में वृद्धि के कारण उपभोक्ताओं द्वारा घरेलू बाजार छोड़कर विदेशी बाजार से खरीदारी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सार्वजनिक उपक्रमों में विदेशी कर्मचारियों की संख्या बढ़ना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80/200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सरकार द्वारा अपने भारी राजकोषीय घाटे को पूरा करने के लिए बाजार से अत्यधिक उधारी लेने के कारण वित्तीय बाजार में ब्याज दरों का बढ़ना तथा निजी क्षेत्र के लिए ऋण योग्य कोष की कमी हो जाना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सरकारी निवेश बढ़ने से निजी क्षेत्र का निवेश भी तेजी से आकर्षित होना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करों में वृद्धि के कारण उपभोक्ताओं द्वारा घरेलू बाजार छोड़कर विदेशी बाजार से खरीदारी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सार्वजनिक उपक्रमों में विदेशी कर्मचारियों की संख्या बढ़ना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जब सरकार का बजटीय खर्च उसकी आय से बहुत अधिक हो जाता है, तो वह भारी राजकोषीय घाटे की भरपाई के लिए वित्तीय बाजार से बड़े पैमाने पर सरकारी बांड जारी करके ऋण लेती है। चूंकि बाजार में कुल ऋण योग्य घरेलू बचत सीमित होती है, इसलिए सरकार द्वारा भारी उधारी लेने से बाजार में तरलता की कमी हो जाती है और ब्याज दरें (Cost of Borrowing) बढ़ जाती हैं। इसके परिणामस्वरूप निजी कंपनियों और उद्यमियों के लिए नए निवेश हेतु कर्ज महंगा और दुर्लभ हो जाता है, जिससे निजी निवेश में गिरावट आती है। निजी क्षेत्र के निवेश के इस तरह बाहर धकेले जाने को 'क्राउडिंग आउट' (Crowding Out)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80/200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'डिफ्लेशन' (Deflation - अपस्फीति) और 'डिसइन्फ्लेशन' (Disinflation - अवस्फीति) के बीच मूलभूत तकनीकी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डिफ्लेशन में कीमतें तेजी से बढ़ती हैं, जबकि डिसइन्फ्लेशन में कीमतें स्थिर रहती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डिफ्लेशन सामान्य मूल्य स्तर में वास्तविक गिरावट (नकारात्मक मुद्रास्फीति दर, जैसे -2%) है, जबकि डिसइन्फ्लेशन केवल मुद्रास्फीति की दर में गिरावट है (कीमतें बढ़ती हैं लेकिन धीमी गति से, जैसे 8% से घटकर 4% होना)।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डिफ्लेशन केवल विनिर्माण क्षेत्र में होता है, जबकि डिसइन्फ्लेशन केवल कृषि 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का अर्थव्यवस्था पर बिल्कुल समान प्रभाव पड़ता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698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81/200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डिफ्लेशन सामान्य मूल्य स्तर में वास्तविक गिरावट (नकारात्मक मुद्रास्फीति दर, जैसे -2%) है, जबकि डिसइन्फ्लेशन केवल मुद्रास्फीति की दर में गिरावट है (कीमतें बढ़ती हैं लेकिन धीमी गति से, जैसे 8% से घटकर 4% होना)।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डिफ्लेशन में कीमतें तेजी से बढ़ती हैं, जबकि डिसइन्फ्लेशन में कीमतें स्थिर रहती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डिफ्लेशन केवल विनिर्माण क्षेत्र में होता है, जबकि डिसइन्फ्लेशन केवल कृषि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का अर्थव्यवस्था पर बिल्कुल समान प्रभाव पड़ता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डिफ्लेशन (Deflation / अपस्फीति) अर्थव्यवस्था में सामान्य मूल्य स्तर में निरंतर होने वाली वास्तविक गिरावट है, जहाँ मुद्रास्फीति दर शून्य से नीचे (ऋणात्मक, जैसे -1%, -3%) चली जाती है; यह मंदी का संकेत है क्योंकि मांग न होने से उत्पादक उत्पादन घटाने लगते हैं। इसके विपरीत, डिसइन्फ्लेशन (Disinflation / अवस्फीति) एक सकारात्मक और नियंत्रित प्रक्रिया है, जिसमें मुद्रास्फीति की 'वृद्धि दर' धीमी होती है (उदाहरण के लिए यदि महंगाई दर 7% से घटकर 4% पर आ जाए)। डिसइन्फ्लेशन में कीमतें अभी भी बढ़ रही होती हैं, लेकिन उनकी वृद्धि की गति पहले से धीमी 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698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81/200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राजकोषीय नीति में 'स्वचालित स्टेबलाइजर्स' (Automatic Stabilizers) का सबसे सटीक उदाहरण निम्नलिखित में से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द्वारा पारित किया जाने वाला विशेष आर्थिक राहत पैकेज</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प्रगतिशील आयकर प्रणाली (Progressive Income Tax) और बेरोजगारी बीमा/सामाजिक सुरक्षा लाभ</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केंद्रीय बैंक द्वारा रेपो दर में किया जाने वाला त्रैमासिक संशोधन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अंतरराष्ट्रीय संस्थाओं द्वारा दिया जाने वाला आपातकालीन विदेशी अनुदान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299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82/200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प्रगतिशील आयकर प्रणाली (Progressive Income Tax) और बेरोजगारी बीमा/सामाजिक सुरक्षा लाभ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द्वारा पारित किया जाने वाला विशेष आर्थिक राहत पैकेज</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केंद्रीय बैंक द्वारा रेपो दर में किया जाने वाला त्रैमासिक संशोधन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अंतरराष्ट्रीय संस्थाओं द्वारा दिया जाने वाला आपातकालीन विदेशी अनुदान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स्वचालित स्टेबलाइजर्स (Automatic Stabilizers) किसी देश की कर और कल्याणकारी प्रणाली की वे अंतर्निहित विशेषताएं हैं, जो किसी नए विधायी कानून या सरकारी घोषणा के बिना ही आर्थिक चक्रों (Boom and Recession) के दौरान अर्थव्यवस्था के उतार-चढ़ाव को स्वतः स्थिर करने का काम करती हैं। उदाहरण के लिए, मंदी के समय जब लोगों की आय गिरती है, तो प्रगतिशील कर प्रणाली के कारण वे स्वतः ही निचले टैक्स स्लैब में आ जाते हैं (जिससे उनका कर का बोझ स्वतः घट जाता है) और अधिक लोग बेरोजगारी भत्तों के पात्र हो जाते हैं (जिससे सरकारी कल्याणकारी खर्च स्वतः बढ़ जाता है)। इससे मंदी के समय मांग को स्वतः सहारा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299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82/200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'मौद्रिक नीति समिति' (Monetary Policy Committee - MPC) की 6-सदस्यीय संरचना के संबंध में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सभी 6 सदस्य केवल नीति आयोग द्वारा नियुक्त किए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इसमें 3 सदस्य भारतीय रिजर्व बैंक से (आरबीआई गवर्नर, डिप्टी गवर्नर और एक अन्य अधिकारी) तथा 3 स्वतंत्र बाह्य विशेषज्ञ केंद्र सरकार द्वारा 4 वर्ष के कार्यकाल के लिए नियुक्त किए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इसमें सभी राज्यों के वित्त मंत्री शामिल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अध्यक्ष केंद्रीय वित्त मंत्री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901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83/200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इसमें 3 सदस्य भारतीय रिजर्व बैंक से (आरबीआई गवर्नर, डिप्टी गवर्नर और एक अन्य अधिकारी) तथा 3 स्वतंत्र बाह्य विशेषज्ञ केंद्र सरकार द्वारा 4 वर्ष के कार्यकाल के लिए नियुक्त किए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सभी 6 सदस्य केवल नीति आयोग द्वारा नियुक्त किए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इसमें सभी राज्यों के वित्त मंत्री शामिल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अध्यक्ष केंद्रीय वित्त मंत्री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आरबीआई अधिनियम, 1934 की धारा 45ZB के तहत 2016 में 6 सदस्यीय मौद्रिक नीति समिति (MPC) का गठन किया गया था। इसकी संरचना इस प्रकार है: 1. आरबीआई गवर्नर (पदेन अध्यक्ष), 2. मौद्रिक नीति के प्रभारी डिप्टी गवर्नर (पदेन सदस्य), 3. केंद्रीय बोर्ड द्वारा नामित आरबीआई का एक अधिकारी (पदेन सदस्य), तथा 4, 5, 6. अर्थशास्त्र, बैंकिंग या वित्त क्षेत्र के तीन प्रख्यात बाह्य विशेषज्ञ जिन्हें केंद्र सरकार द्वारा 4 वर्ष की अवधि के लिए नियुक्त किया जाता है। MPC में प्रत्येक सदस्य का एक वोट होता है और मत बराबर होने की स्थिति में आरबीआई गवर्नर को 'निर्णायक मत' (Casting Vote) देने का अधिकार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901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83/200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वर्तमान विधिक ढांचे के तहत, भारत में RBI के लिए आधिकारिक 'लचीला मुद्रास्फीति लक्ष्य' (Flexible Inflation Target) और सहिष्णुता सीमा (Tolerance Band) क्या निर्धारित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2% से 6% की सहिष्णुता सीमा के साथ 4% का मध्यबिंदु लक्ष्य (4% ± 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 से 5% की सहिष्णुता सीमा के साथ 3% का लक्ष्य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0% से 4% की सहिष्णुता सीमा के साथ 2% का लक्ष्य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4% से 8% की सहिष्णुता सीमा के साथ 6% का लक्ष्य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84/200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2% से 6% की सहिष्णुता सीमा के साथ 4% का मध्यबिंदु लक्ष्य (4% ± 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 से 5% की सहिष्णुता सीमा के साथ 3% का लक्ष्य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0% से 4% की सहिष्णुता सीमा के साथ 2% का लक्ष्य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 से 8% की सहिष्णुता सीमा के साथ 6% का लक्ष्य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उर्जित पटेल समिति की सिफारिशों के आधार पर भारत सरकार ने 2016 में लचीला मुद्रास्फीति लक्ष्यीकरण ढांचा (FIT Framework) अपनाया। आरबीआई अधिनियम, 1934 की धारा 45ZA के तहत केंद्र सरकार ने आरबीआई के परामर्श से उपभोक्ता मूल्य सूचकांक (CPI-Combined) पर आधारित मुद्रास्फीति का लक्ष्य 4% निर्धारित किया है, जिसमें ±2% का सहिष्णुता बैंड (Tolerance Band) यानी न्यूनतम 2% और अधिकतम 6% की सीमा तय की गई है। यदि मुद्रास्फीति लगातार तीन तिमाहियों तक 2% से नीचे या 6% से ऊपर बनी रहती है, तो RBI को विफलता के कारणों और सुधारात्मक कदमों पर केंद्र सरकार को लिखित रिपोर्ट देनी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84/200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मुद्रास्फीति मापन के लिए प्रयुक्त 'थोक मूल्य सूचकांक' (WPI) और 'उपभोक्ता मूल्य सूचकांक' (CPI) के बीच मुख्य संरचनात्मक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WPI में केवल सेवाओं की कीमतें मापी जाती हैं, जबकि CPI में केवल वस्तुओं 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WPI केवल थोक स्तर पर वस्तुओं (Goods) के मूल्य परिवर्तन को मापता है और इसमें सेवाएं शामिल नहीं हैं, जबकि CPI खुदरा स्तर पर वस्तुओं और सेवाओं (Services) दोनों को शामिल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WPI में खाद्य वस्तुओं का भारांक CPI से कहीं अधिक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RBI अपनी मौद्रिक नीति के निर्णयों के लिए मुख्य रूप से WPI को ही आधार बनाता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103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85/200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WPI केवल थोक स्तर पर वस्तुओं (Goods) के मूल्य परिवर्तन को मापता है और इसमें सेवाएं शामिल नहीं हैं, जबकि CPI खुदरा स्तर पर वस्तुओं और सेवाओं (Services) दोनों को शामिल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WPI में केवल सेवाओं की कीमतें मापी जाती हैं, जबकि CPI में केवल वस्तुओं 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WPI में खाद्य वस्तुओं का भारांक CPI से कहीं अधिक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RBI अपनी मौद्रिक नीति के निर्णयों के लिए मुख्य रूप से WPI को ही आधार बनाता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WPI (उद्योग एवं आंतरिक व्यापार संवर्धन विभाग - DPIIT द्वारा जारी, आधार वर्ष 2011-12) थोक स्तर पर 697 केवल भौतिक वस्तुओं की कीमतों को मापता है; इसमें 'सेवा क्षेत्र' (Services) पूरी तरह अनुपस्थित है और विनिर्मित उत्पादों का भारांक (64.23%) सबसे अधिक है। इसके विपरीत, CPI (राष्ट्रीय सांख्यिकी कार्यालय - NSO द्वारा जारी, आधार वर्ष 2012) खुदरा स्तर पर आम उपभोक्ताओं द्वारा खरीदी जाने वाली वस्तुओं और सेवाओं दोनों (शिक्षा, स्वास्थ्य, परिवहन आदि) को मापता है। CPI में खाद्य और पेय पदार्थों का भारांक (लगभग 45.86%) काफी अधिक है। 2014 से RBI ने नीतिगत निर्णयों के लिए WPI के स्थान पर CPI (Combined) को अपना मुख्य पैमाना बनाया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103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85/200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मुद्रास्फीति के एक व्यापक मापक के रूप में 'जीडीपी डिफ्लेटर' (GDP Deflator) को CPI और WPI की तुलना में अधिक श्रेष्ठ क्यों माना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यह केवल विदेशी आयातित वस्तुओं की मूल्य वृद्धि को मापता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CPI/WPI में केवल वस्तुओं की एक निश्चित प्रतिनिधि बास्केट शामिल होती है, जबकि GDP डिफ्लेटर देश के भीतर घरेलू रूप से उत्पादित सभी वस्तुओं और सेवाओं के मूल्यों को व्यापक रूप से समाहित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यह केवल शेयर बाजार के सूचकांकों पर आधारित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यह प्रति सप्ताह प्रकाशित किया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704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86/200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क्योंकि CPI/WPI में केवल वस्तुओं की एक निश्चित प्रतिनिधि बास्केट शामिल होती है, जबकि GDP डिफ्लेटर देश के भीतर घरेलू रूप से उत्पादित सभी वस्तुओं और सेवाओं के मूल्यों को व्यापक रूप से समाहित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क्योंकि यह केवल विदेशी आयातित वस्तुओं की मूल्य वृद्धि को मापता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क्योंकि यह केवल शेयर बाजार के सूचकांकों पर आधारित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क्योंकि यह प्रति सप्ताह प्रकाशित किया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CPI और WPI में केवल पहले से तय की गई वस्तुओं और सेवाओं की एक निश्चित टोकरी (Fixed Basket of Goods) शामिल होती है, जिसके कारण उपभोक्ताओं के उपभोग पैटर्न में आने वाले नए बदलाव तुरंत दर्ज नहीं हो पाते। इसके विपरीत, 'जीडीपी डिफ्लेटर' (GDP Deflator = [Nominal GDP / Real GDP] × 100) किसी अर्थव्यवस्था में उस वित्तीय वर्ष में घरेलू रूप से उत्पादित 'सभी' नई वस्तुओं और सेवाओं के समग्र मूल्य परिवर्तन को दर्शाता है। इसमें किसी वस्तु का उत्पादन बढ़ने पर उसका भारांक स्वतः बदल जाता है। हालांकि, चूंकि इसमें केवल घरेलू उत्पादन शामिल होता है, इसलिए आयातित वस्तुओं की कीमतें इसमें शामिल नहीं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704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86/200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'प्रत्यक्ष कर' (Direct Tax) और 'अप्रत्यक्ष कर' (Indirect Tax) के बीच सबसे आधारभूत अंतर निम्नलिखित में से किस सिद्धांत पर आधारित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प्रत्यक्ष कर केवल राज्य सरकार लगाती है, जबकि अप्रत्यक्ष कर केवल केंद्र सरकार।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प्रत्यक्ष कर में कराघात (Impact) और करापात (Incidence) एक ही व्यक्ति पर होता है और इसे दूसरों पर टाला नहीं जा सकता, जबकि अप्रत्यक्ष कर का मौद्रिक बोझ अंतिम उपभोक्ता पर स्थानांतरित किया जा सकता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अप्रत्यक्ष कर हमेशा प्रगतिशील होते हैं, जबकि प्रत्यक्ष कर प्रतिगामी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प्रत्यक्ष कर केवल वस्तुओं के उत्पादन पर लगाया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305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87/200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प्रत्यक्ष कर में कराघात (Impact) और करापात (Incidence) एक ही व्यक्ति पर होता है और इसे दूसरों पर टाला नहीं जा सकता, जबकि अप्रत्यक्ष कर का मौद्रिक बोझ अंतिम उपभोक्ता पर स्थानांतरित किया जा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प्रत्यक्ष कर केवल राज्य सरकार लगाती है, जबकि अप्रत्यक्ष कर केवल केंद्र सरकार।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अप्रत्यक्ष कर हमेशा प्रगतिशील होते हैं, जबकि प्रत्यक्ष कर प्रतिगामी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प्रत्यक्ष कर केवल वस्तुओं के उत्पादन पर लगाया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कराधान के सिद्धांत में दो प्रमुख अवधारणाएं होती हैं: 'कराघात' (Impact - जिस पर कर का कानूनी दायित्व है) और 'करापात' (Incidence - जो कर का अंतिम मौद्रिक बोझ उठाता है)। प्रत्यक्ष कर (जैसे आयकर, कॉरपोरेट टैक्स) में कराघात और करापात दोनों एक ही व्यक्ति या संस्था पर पड़ते हैं और इसे किसी अन्य पर Shift नहीं किया जा सकता। इसके विपरीत, अप्रत्यक्ष कर (जैसे GST, सीमा शुल्क) में कानूनी रूप से कर उत्पादक या विक्रेता पर लगाया जाता है, लेकिन वह वस्तु की कीमत बढ़ाकर कर का पूरा बोझ अंतिम उपभोक्ता पर स्थानांतरित (Shift) कर देता है। प्रत्यक्ष कर सामान्यतः प्रगतिशील (Progressive) होते हैं, जबकि अप्रत्यक्ष कर प्रतिगामी (Regressive) प्रकृति के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305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87/200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101वें संविधान संशोधन अधिनियम द्वारा भारत में अपनाए गए 'दोहरे जीएसटी मॉडल' (Dual GST Model) की सबसे सटीक व्याख्या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एक ऐसी प्रणाली जहाँ केंद्र केवल वस्तुओं पर कर लगाता है और राज्य केवल सेवाओं पर।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एक ऐसा संघीय ढांचा जहाँ एक ही साझा कर योग्य आधार (Common Taxable Base) पर केंद्र (CGST) और संबंधित राज्य (SGST) एक साथ मिलकर कर लगाते और एकत्र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एक ऐसा मॉडल जहाँ केवल गंतव्य राज्य ही सारा कर एकत्र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एक ऐसा मॉडल जहाँ पूरे देश में केवल केंद्र सरकार 18% का एकल फ्लैट टैक्स लगाती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88/200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एक ऐसा संघीय ढांचा जहाँ एक ही साझा कर योग्य आधार (Common Taxable Base) पर केंद्र (CGST) और संबंधित राज्य (SGST) एक साथ मिलकर कर लगाते और एकत्र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एक ऐसी प्रणाली जहाँ केंद्र केवल वस्तुओं पर कर लगाता है और राज्य केवल सेवाओं पर।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एक ऐसा मॉडल जहाँ केवल गंतव्य राज्य ही सारा कर एकत्र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एक ऐसा मॉडल जहाँ पूरे देश में केवल केंद्र सरकार 18% का एकल फ्लैट टैक्स लगाती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संघीय ढांचे (Federal Structure) का सम्मान करने और केंद्र व राज्यों की वित्तीय स्वायत्तता को संतुलित रखने के लिए भारत ने कनाडा के समान 'दोहरा जीएसटी मॉडल' (Dual GST Model) अपनाया। इसके तहत जब किसी राज्य की सीमा के भीतर (Intra-State) वस्तुओं या सेवाओं की बिक्री होती है, तो एक ही लेन-देन मूल्य पर केंद्र सरकार केंद्रीय जीएसटी (CGST) लगाती है और संबंधित राज्य सरकार राज्य जीएसटी (SGST) लगाती है। उदाहरण के लिए, यदि किसी वस्तु पर 18% GST दर है, तो 9% CGST केंद्र के पास और 9% SGST राज्य के पास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88/200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मुद्रा गुणक (Money Multiplier) के सूत्र $MM = 1 / R$ (जहाँ $R$ कुल विधिक आरक्षित अनुपात है) के अनुसार, यदि RBI बैंकों के आरक्षित अनुपात को कम कर देता है, तो इसका क्या परिणाम होगा?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मुद्रा गुणक का मान घटेगा और कुल मुद्रा आपूर्ति कम हो जाएगी।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मुद्रा गुणक का मान बढ़ेगा, जिससे बैंकिंग प्रणाली की साख सृजन क्षमता में विस्तार होगा और अर्थव्यवस्था में कुल मुद्रा आपूर्ति बढ़ जाएगी।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मुद्रा गुणक का मान शून्य हो जाएगा।</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बैंकों की ऋण देने की क्षमता पूरी तरह समाप्त हो जाएगी।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508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89/200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मुद्रा गुणक का मान बढ़ेगा, जिससे बैंकिंग प्रणाली की साख सृजन क्षमता में विस्तार होगा और अर्थव्यवस्था में कुल मुद्रा आपूर्ति बढ़ जाएगी।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मुद्रा गुणक का मान घटेगा और कुल मुद्रा आपूर्ति कम हो जाएगी।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मुद्रा गुणक का मान शून्य हो जाएगा।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बैंकों की ऋण देने की क्षमता पूरी तरह समाप्त हो जाएगी।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मुद्रा गुणक (Money Multiplier) यह दर्शाता है कि वाणिज्यिक बैंकों के पास मौजूद प्रारंभिक प्राथमिक जमा के आधार पर बैंकिंग प्रणाली कुल कितनी नई मुद्रा (साख) का सृजन कर सकती है। मुद्रा गुणक (MM) और आरक्षित अनुपात ($R = CRR + SLR$) के बीच व्युत्क्रमानुपाती (Inverse) संबंध होता है ($MM = 1 / R$)। यदि RBI आरक्षित अनुपात ($R$) को कम करता है (उदा. 20% से घटाकर 10%), तो मुद्रा गुणक 5 से बढ़कर 10 हो जाएगा। इससे बैंकों को अपनी जमा का कम हिस्सा रिजर्व में रखना पड़ेगा और वे कहीं अधिक ऋण जारी कर सकेंगे, जिससे बैंकिंग प्रणाली में साख सृजन और समग्र मुद्रा आपूर्ति में भारी वृद्धि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508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89/200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रिजर्व बैंक (RBI) द्वारा केंद्र और राज्य सरकारों को प्रदान की जाने वाली 'अर्थोपाय अग्रिम' (Ways and Means Advances - WMA) सुविधा की मुख्य विशेषता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बुनियादी ढांचा परियोजनाओं के निर्माण के लिए दिया जाने वाला 20 वर्षीय दीर्घावधि ऋण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सरकारों को उनकी दैनिक प्राप्तियों (राजस्व संग्रह) और नियमित व्यय के बीच उत्पन्न होने वाले अस्थायी नकदी प्रवाह बेमेल (Cash Flow Mismatch) को पाटने के लिए दिया जाने वाला 90-दिवसीय अल्पकालिक अग्रिम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पर RBI कोई ब्याज नहीं लेता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विदेशी मुद्रा भंडार को बढ़ाने के लिए प्रदान किया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90/200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सरकारों को उनकी दैनिक प्राप्तियों (राजस्व संग्रह) और नियमित व्यय के बीच उत्पन्न होने वाले अस्थायी नकदी प्रवाह बेमेल (Cash Flow Mismatch) को पाटने के लिए दिया जाने वाला 90-दिवसीय अल्पकालिक अग्रिम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बुनियादी ढांचा परियोजनाओं के निर्माण के लिए दिया जाने वाला 20 वर्षीय दीर्घावधि ऋण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पर RBI कोई ब्याज नहीं लेता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विदेशी मुद्रा भंडार को बढ़ाने के लिए प्रदान किया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अर्थोपाय अग्रिम (WMA) सुविधा की शुरुआत 1 अप्रैल 1997 को की गई थी, जब घाटे के तदर्थ विमुद्रीकरण (Ad-hoc Treasury Bills) को समाप्त किया गया था। WMA कोई स्थायी ऋण नहीं है बल्कि केंद्र और राज्य सरकारों के लिए एक अल्पकालिक नकदी प्रबंधन सुविधा (Overdraft/Advance) है। इसका उपयोग सरकारें तब करती हैं जब किसी महीने में राजस्व करों की वसूली कम हो लेकिन वेतन व पेंशन जैसे आवश्यक खर्च तुरंत करने हों। WMA की सामान्य अवधि 90 दिन (3 माह) होती है और इस पर ली जाने वाली ब्याज दर RBI के 'रेपो रेट' (Repo Rate) के बराबर होती है। यदि सरकार 90 दिन से अधिक समय लेती है तो उसे स्पेशल ओवरड्राफ्ट दर (रेपो + 2%) चुकानी पड़ती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90/200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केंद्रीय बजट 2026-27 (बजट अनुमान) के अनुसार, वित्तीय वर्ष 2026-27 के लिए भारत सरकार के 'राजकोषीय घाटे' (Fiscal Deficit) का आधिकारिक लक्ष्य GDP का कितना प्रतिशत निर्धारित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4.10%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4.30%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4.40%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4.50%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710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91/200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4.30%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4.10%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4.40%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4.50%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बजट 2026-27 में राजकोषीय सुदृढ़ीकरण (Fiscal Consolidation) के पथ पर दृढ़ता से आगे बढ़ते हुए वित्तीय वर्ष 2026-27 के लिए राजकोषीय घाटे का लक्ष्य GDP का 4.30% (बजट अनुमान) निर्धारित किया गया है। यह वित्तीय वर्ष 2025-26 के संशोधित अनुमान (4.40%) और 2024-25 के अनंतिम आंकड़ों से कम है। सरकार ने FRBM रोडमैप के तहत राजकोषीय घाटे को नियंत्रित रखते हुए पूंजीगत व्यय के माध्यम से गुणवत्तापूर्ण आर्थिक विकास को गति देने की संतुलित रणनीति अपनाई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710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91/200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केंद्रीय बजट 2026-27 के 'रुपया कहाँ से आता है' (Rupee Comes From) घटक के अनुसार, सरकार के कुल राजस्व संग्रह और प्राप्तियों में सबसे बड़ा एकल स्रोत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माल एवं सेवा कर (GST)</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प्रत्यक्ष आयकर (Income Tax)</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निगम कर (Corporation Tax)</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उधार और अन्य देयताएं (Borrowings and Other Liabilities)</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92/200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उधार और अन्य देयताएं (Borrowings and Other Liabilities)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माल एवं सेवा कर (GST)</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प्रत्यक्ष आयकर (Income Tax)</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निगम कर (Corporation Tax)</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बजट 2026-27 के बजट दस्तावेजों ('रुपया कहाँ से आता है') के अनुसार, केंद्र सरकार की कुल प्राप्तियों में सबसे बड़ा हिस्सा 'उधार और अन्य देयताओं' (Borrowings and Other Liabilities) का है, जो कुल राजस्व का 24% (प्रत्येक 1 रुपये में 24 पैसे) है। इसके बाद दूसरे स्थान पर आयकर (21%), तीसरे स्थान पर निगम कर (18%), चौथे स्थान पर वस्तु एवं सेवा कर तथा अन्य कर (GST - 15%), गैर-कर राजस्व (9%), केंद्रीय उत्पाद शुल्क (5%), सीमा शुल्क (4%) और गैर-ऋण पूंजीगत प्राप्तियां (2%)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92/200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केंद्रीय बजट 2026-27 में 'रुपया कहाँ जाता है' (Rupee Goes To) के अनुसार, करों व शुल्कों में राज्यों के हिस्से (22%) को छोड़कर, केंद्र सरकार का सबसे बड़ा एकल व्यय किस मद पर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रक्षा व्यय (Defense Expenditure)</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केंद्रीय क्षेत्र की योजनाएं (Central Sector Schemes)</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पुराने कर्जों पर ब्याज भुगतान (Interest Payments)</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खाद्य एवं उर्वरक सब्सिडी (Subsidies)</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913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93/200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पुराने कर्जों पर ब्याज भुगतान (Interest Payments)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रक्षा व्यय (Defense Expenditure)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केंद्रीय क्षेत्र की योजनाएं (Central Sector Schemes)</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खाद्य एवं उर्वरक सब्सिडी (Subsidies)</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बजट 2026-27 के आधिकारिक खर्च विनिर्देश ('रुपया कहाँ जाता है') के अनुसार, कुल सरकारी खर्च में सबसे बड़ा हिस्सा करों और शुल्कों में राज्यों का हस्तांतरण (22 पैसे) है। इसे अलग करने के बाद केंद्र सरकार का सबसे बड़ा एकल खर्च पुराने कर्जों पर किया जाने वाला 'ब्याज भुगतान' (Interest Payments) है, जो कुल बजट का 20% (20 पैसे) है। इसके बाद केंद्रीय क्षेत्र की योजनाएं (16%), केंद्र प्रायोजित योजनाएं (8%), रक्षा क्षेत्र (8%), वित्त आयोग व अन्य अंतरण (8%), सब्सिडी (6%), पेंशन (4%) और अन्य व्यय (8%)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913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93/200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केंद्रीय बजट 2026-27 में अर्थव्यवस्था के बुनियादी ढांचे के आधुनिकीकरण और दीर्घकालिक रोजगार सृजन के लिए कुल 'पूंजीगत व्यय' (Capital Expenditure - Capex) का परिव्यय कितना निर्धारित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₹10.1 लाख करोड़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₹11.1 लाख करोड़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₹12.2 लाख करोड़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₹15.0 लाख करोड़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514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94/200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₹12.2 लाख करोड़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₹10.1 लाख करोड़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₹11.1 लाख करोड़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₹15.0 लाख करोड़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देश में लॉजिस्टिक्स लागत घटाने, विनिर्माण को बढ़ावा देने और आर्थिक संवृद्धि को गति देने के उद्देश्य से केंद्रीय बजट 2026-27 में सार्वजनिक पूंजीगत व्यय (Capex Outlay) को बढ़ाकर ₹12.2 लाख करोड़ (GDP का लगभग 3.4%) करने का ऐतिहासिक लक्ष्य रखा गया है। यह बजट 2024-25 के ₹11.11 लाख करोड़ के परिव्यय से उल्लेखनीय वृद्धि को दर्शाता है। पूंजीगत व्यय का यह उच्च स्तर निजी निवेश (Private Capex) को आकर्षित करने (Crowd-in) और बुनियादी ढांचे के तीव्र विस्तार में महत्वपूर्ण भूमिका निभाएगा।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514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94/200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केंद्रीय बजट 2026-27 के क्षेत्रीय बजटीय आवंटन (Sectoral Allocations) के अनुसार, निम्नलिखित में से किस प्रमुख क्षेत्र को सर्वाधिक धनराशि आवंटित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रक्षा क्षेत्र (Defence)</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परिवहन क्षेत्र - सड़क एवं रेल अवसंरचना (Transport)</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ग्रामीण विकास (Rural Development)</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शिक्षा एवं कौशल विकास (Education)</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115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95/200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परिवहन क्षेत्र - सड़क एवं रेल अवसंरचना (Transport)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रक्षा क्षेत्र (Defence)</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ग्रामीण विकास (Rural Development)</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शिक्षा एवं कौशल विकास (Education)</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बजट 2026-27 में क्षेत्रीय बजटीय आवंटनों के तहत 'परिवहन क्षेत्र' (Transport - जिसमें सड़क परिवहन, राष्ट्रीय राजमार्ग और भारतीय रेलवे शामिल हैं) को सर्वाधिक ₹5,98,520 करोड़ का ऐतिहासिक आवंटन प्रदान किया गया है। यह राशि राष्ट्रीय रक्षा क्षेत्र (Defence - ₹5,94,585 करोड़) से भी अधिक है। यह अभूतपूर्व आवंटन देश में एक्सप्रेसवे, समर्पित फ्रेट कॉरिडोर, रेलवे के आधुनिकीकरण और मल्टी-मॉडल कनेक्टिविटी के विस्तार पर सरकार के सर्वोच्च रणनीतिक फोकस को प्रमाणित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115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95/200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केंद्रीय बजट 2026-27 में सूक्ष्म, लघु और मध्यम उद्यमों (MSMEs) को अपने व्यवसाय का पैमाना बढ़ाने (Scale-up) और जोखिम पूंजी उपलब्ध कराने के लिए किस विशेष फंड की स्थापना ₹10,000 करोड़ के कॉर्पस के साथ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MSME स्टार्टअप वेंचर फंड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SME ग्रोथ फंड (SME Growth Fund)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आत्मनिर्भर भारत विकास कोष</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उद्यम विस्तार निधि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96/200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SME ग्रोथ फंड (SME Growth Fund)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MSME स्टार्टअप वेंचर फंड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आत्मनिर्भर भारत विकास कोष</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उद्यम विस्तार निधि</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MSME क्षेत्र को पारंपरिक ऋणों के अतिरिक्त इक्विटी आधारित वित्तीय सहायता (Equity Support) प्रदान करने और होनहार छोटे व्यवसायों को मध्यम व बड़े उद्योगों में बदलने के लिए बजट 2026-27 में ₹10,000 करोड़ के कुल कॉर्पस के साथ 'SME ग्रोथ फंड' (SME Growth Fund) की स्थापना की घोषणा की गई है। यह फंड MSMEs को शेयर बाजार के SME प्लेटफॉर्म पर सूचीबद्ध होने, वैश्विक प्रतिस्पर्धा में टिकने और आधुनिक तकनीक अपनाने में उत्प्रेरक का कार्य करेगा।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96/200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टियर-II और टियर-III शहरों को क्षेत्रीय आर्थिक विकास और रोजगार के नए केंद्रों के रूप में विकसित करने के लिए बजट 2026-27 में 'चैलेंज मोड' के तहत ₹5,000 करोड़ के आवंटन के साथ किस पहल की घोषणा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स्मार्ट सिटीज 2.0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सिटी इकोनॉमिक रीजन्स (City Economic Regions - CER)</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अर्बन ग्रोथ नोड्स (UGN)</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अमृत नगर योजना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318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97/200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सिटी इकोनॉमिक रीजन्स (City Economic Regions - CER)</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स्मार्ट सिटीज 2.0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अर्बन ग्रोथ नोड्स (UGN)</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अमृत नगर योजना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महानगरों पर बढ़ते जनसांख्यिकीय दबाव को कम करने और छोटे शहरों की अप्रयुक्त आर्थिक क्षमता को अनलॉक करने के लिए बजट 2026-27 में 'सिटी इकोनॉमिक रीजन्स' (City Economic Regions - CER) पहल शुरू की गई है। इसके लिए राज्यों के बीच प्रतिस्पर्धी 'चैलेंज मोड' (Challenge Mode) के आधार पर ₹5,000 करोड़ का समर्पित कोष रखा गया है। इसके तहत चयनित टियर-2 और टियर-3 शहरों में विशेष औद्योगिक क्लस्टर, आधुनिक सार्वजनिक परिवहन और बेहतर जीवन-यापन अवसंरचना का विकास किया जाएगा।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318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97/200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बजट 2026-27 के रणनीतिक स्तंभ 'कर्तव्य 1' (Kartavya 1) के तहत किस विनिर्माण क्षेत्र में वैश्विक आपूर्ति श्रृंखला का हब बनने और घरेलू मूल्य संवर्धन के लिए ₹40,000 करोड़ की विशेष योजना की घोषणा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बायोफार्मास्यूटिकल्स</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दुर्लभ मृदा खनिज (Rare Earths)</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इलेक्ट्रॉनिक्स कंपोनेंट्स विनिर्माण (Electronics Components Manufacturing)</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कपड़ा एवं परिधान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919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98/200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इलेक्ट्रॉनिक्स कंपोनेंट्स विनिर्माण (Electronics Components Manufacturing)</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बायोफार्मास्यूटिकल्स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दुर्लभ मृदा खनिज (Rare Earths)</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कपड़ा एवं परिधान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बजट 2026-27 के 'कर्तव्य 1' (रणनीतिक विनिर्माण) के अंतर्गत 7 प्रमुख क्षेत्रों की पहचान की गई है। इनमें से भारत को इलेक्ट्रॉनिक्स असेंबली से आगे बढ़ाकर कोर कंपोनेंट मैन्युफैक्चरिंग का वैश्विक केंद्र बनाने के लिए 'इलेक्ट्रॉनिक्स कंपोनेंट्स क्षेत्र' हेतु ₹40,000 करोड़ की एक महत्वाकांक्षी प्रोत्साहन योजना घोषित की गई है। इसका मुख्य उद्देश्य सेमीकंडक्टर, डिस्प्ले, पीसीबी और पैसिव कंपोनेंट्स के घरेलू उत्पादन को बढ़ावा देकर आयात निर्भरता (विशेषकर चीन पर) को समाप्त करना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919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98/200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केंद्रीय बजट 2026-27 में पूर्वी और पश्चिमी औद्योगिक केंद्रों के बीच माल ढुलाई की लागत को कम करने और तेज कनेक्टिविटी देने के लिए किस नए 'समर्पित माल गलियारे' (Dedicated Freight Corridor) के विकास का विशेष उल्लेख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लुधियाना-कोलकाता फ्रेट कॉरिडोर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डानकुनी-सूरत फ्रेट कॉरिडोर (Dankuni-Surat Freight Corridor)</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दिल्ली-चेन्नई फ्रेट कॉरिडोर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मुंबई-कन्याकुमारी फ्रेट कॉरिडोर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520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99/200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डानकुनी-सूरत फ्रेट कॉरिडोर (Dankuni-Surat Freight Corridor)</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लुधियाना-कोलकाता फ्रेट कॉरिडोर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दिल्ली-चेन्नई फ्रेट कॉरिडोर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मुंबई-कन्याकुमारी फ्रेट कॉरिडोर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रेलवे लॉजिस्टिक्स को क्रांतिकारी रूप से सशक्त बनाने के लिए बजट 2026-27 में 'डानकुनी-सूरत फ्रेट कॉरिडोर' (Dankuni-Surat Freight Corridor) के विकास को प्राथमिकता दी गई है। यह कॉरिडोर पश्चिम बंगाल के औद्योगिक केंद्र डानकुनी (कोलकाता के पास) को गुजरात के कपड़ा और हीरा विनिर्माण केंद्र सूरत से जोड़ेगा। इससे पूर्वी भारत के खनिज व इस्पात समृद्ध क्षेत्रों और पश्चिमी भारत के बंदरगाहों व विनिर्माण हबों के बीच माल ढुलाई की गति 100 किमी/घंटा तक बढ़ेगी और लॉजिस्टिक्स लागत में भारी कमी आएगी।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520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99/200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बजट 2026-27 में शहरी स्थानीय निकायों (ULBs) को वित्तीय रूप से आत्मनिर्भर बनाने और 'म्युनिसिपल बांड' (Municipal Bonds) जारी करने के लिए प्रोत्साहित करने हेतु ₹1,000 करोड़ से अधिक के बांड निर्गमन पर कितनी प्रोत्साहन सब्सिडी की पेशकश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 करोड़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₹100 करोड़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₹150 करोड़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 करोड़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100/200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₹100 करोड़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 करोड़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₹150 करोड़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₹200 करोड़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शहरी स्थानीय निकायों (नगर निगमों) की बैंक ऋणों और राज्य अनुदानों पर अत्यधिक निर्भरता को समाप्त करने के लिए बजट 2026-27 में म्युनिसिपल बांड बाजार को गहरा करने का प्रावधान किया गया है। इसके तहत यदि कोई शहरी निकाय शहर के बुनियादी ढांचे (सीवरेज, जलापूर्ति, ठोस अपशिष्ट प्रबंधन) के लिए ₹1,000 करोड़ से अधिक का म्युनिसिपल बांड बाजार में सफलतापूर्वक जारी करता है, तो केंद्र सरकार उसे ₹100 करोड़ की प्रत्यक्ष प्रोत्साहन सब्सिडी (Incentive) प्रदान करेगी।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बजट 2026-27 में 'लखपति दीदी' और महिला स्वयं सहायता समूहों (SHGs) द्वारा निर्मित उत्पादों को सीधे टियर-I और टियर-II शहरों के उच्च-मांग वाले बाजारों से जोड़ने के लिए किस नाम से समर्पित रिटेल आउटलेट श्रृंखला स्थापित करने की घोषणा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पीएम-महिला बाजार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शी-मार्ट्स (SHE-Marts: Self-Help Entrepreneurs Marts)</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शक्ति-हाट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नारी उद्यम केंद्र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723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शी-मार्ट्स (SHE-Marts: Self-Help Entrepreneurs Marts)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पीएम-महिला बाजार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शक्ति-हाट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नारी उद्यम केंद्र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ग्रामीण महिला स्वयं सहायता समूहों (SHGs) की महिला उद्यमियों (लखपति दीदियों) द्वारा तैयार किए गए उच्च गुणवत्ता वाले हस्तशिल्प, हथकरघा, जैविक खाद्य पदार्थों और मसालों को आधुनिक शहरी बाजारों में बेचने के लिए बजट 2026-27 में 'शी-मार्ट्स' (SHE-Marts - Self-Help Entrepreneurs Marts) की स्थापना की घोषणा की गई है। यह पहल बिचौलियों को हटाकर महिला उत्पादकों को सीधे उपभोक्ता तक पहुंचाएगी, जिससे ग्रामीण महिलाओं की शुद्ध आय में उल्लेखनीय वृद्धि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723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101/200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आर्थिक समीक्षा (Economic Survey) 2025-26 के अनुसार, वित्तीय वर्ष 2024-25 में भारत ने विदेशों से व्यक्तिगत प्रेषण (Remittances) के रूप में कितनी रिकॉर्ड राशि प्राप्त की, जिससे वह विश्व का शीर्ष प्रेषण प्राप्तकर्ता देश बना रहा?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115.0 बिलियन अमेरिकी डॉलर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125.5 बिलियन अमेरिकी डॉलर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135.4 बिलियन अमेरिकी डॉलर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150.0 बिलियन अमेरिकी डॉलर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324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102/200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135.4 बिलियन अमेरिकी डॉलर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115.0 बिलियन अमेरिकी डॉलर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125.5 बिलियन अमेरिकी डॉलर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150.0 बिलियन अमेरिकी डॉलर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आर्थिक समीक्षा 2025-26 के नवीनतम आधिकारिक आंकड़ों के अनुसार, भारत ने वित्तीय वर्ष 2024-25 में 135.4 बिलियन अमेरिकी डॉलर (USD 135.4 Billion) का आवक प्रेषण (Remittance Inflow) प्राप्त किया। भारत पिछले कई वर्षों से लगातार विश्व में सर्वाधिक प्रेषण प्राप्त करने वाला देश बना हुआ है (वैश्विक प्रेषण का लगभग 15% हिस्सा)। भारतीय प्रवासियों द्वारा भेजी जाने वाली यह राशि देश के चालू खाता घाटे (CAD) को पाटने, विदेशी मुद्रा भंडार को मजबूती देने और घरेलू परिवारों की क्रय शक्ति बढ़ाने में अत्यंत महत्वपूर्ण भूमिका निभाती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324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102/200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आर्थिक समीक्षा 2025-26 के अनुसार, वैश्विक सेवा व्यापार में अपनी हिस्सेदारी 2005 के 2% से बढ़ाकर 2024 में 4.3% करते हुए भारत विश्व का कौन-सा सबसे बड़ा सेवा निर्यातक (Service Exporter) देश बन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5वां</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6वां</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7वां</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925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103/200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7वां</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आर्थिक समीक्षा 2025-26 यह रेखांकित करती है कि भारत का सेवा निर्यात क्षेत्र एक अद्वितीय वैश्विक सफलता की कहानी बन चुका है। वैश्विक वाणिज्यिक सेवा निर्यात में भारत की हिस्सेदारी 2005 के 2% से दोगुनी से अधिक होकर 2024 में 4.3% तक पहुंच गई है, जिससे भारत विश्व का '7वां सबसे बड़ा सेवा निर्यातक' देश बन गया है। भारत के GDP में सेवा निर्यात की औसत हिस्सेदारी भी बढ़कर 9.7% (FY23-FY25) हो गई है, जिसका मुख्य आधार सॉफ्टवेयर सेवाएं, बिजनेस प्रोसेस आउटसोर्सिंग (BPO), ग्लोबल कैपेबिलिटी सेंटर्स (GCCs) और पेशेवर परामर्श सेवाएं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925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103/200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आर्थिक समीक्षा 2025-26 के अनुसार, वैश्विक स्तर पर कुल बाह्य ऋण (Global External Debt) में भारत की हिस्सेदारी कितनी है, जो देश की मजबूत और सुरक्षित बाह्य स्थिति को दर्शाती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0.69%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2.25%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3.10%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104/200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0.69%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2.25%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3.10%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आर्थिक समीक्षा 2025-26 के बाह्य क्षेत्र विश्लेषण के अनुसार, भारत का कुल बाह्य ऋण वैश्विक बाह्य ऋण का मात्र 0.69% है। इसके अलावा, भारत का विदेशी मुद्रा भंडार देश के कुल विदेशी ऋण के 100% से अधिक को कवर करता है और 11 माह से अधिक के आयात बिल के लिए पर्याप्त है। अल्पकालिक ऋण का कुल विदेशी मुद्रा भंडार से अनुपात भी काफी कम है, जो यह साबित करता है कि वैश्विक भू-राजनीतिक उथल-पुथल के बावजूद भारत की बाहरी ऋण शोधन क्षमता (External Debt Sustainability) अत्यंत सुदृढ़ और सुरक्षित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104/200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औद्योगिक संक्रमण त्वरक (Industrial Transition Accelerator - ITA) की वैश्विक रिपोर्ट 'इंडिया इनसाइट्स ब्रीफिंग' के अनुसार, 'स्वच्छ ऊर्जा औद्योगिक परियोजना पाइपलाइन' के मामले में भारत विश्व में किस स्थान पर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प्रथम स्थान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दूसरा स्थान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तीसरा स्थान (चीन और जापान के बाद)</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पांचवां स्थान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127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105/200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तीसरा स्थान (चीन और जापान के बाद)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प्रथम स्थान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दूसरा स्थान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पांचवां स्थान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औद्योगिक संक्रमण त्वरक (ITA) की वैश्विक रिपोर्ट "इंडिया इनसाइट्स ब्रीफिंग" के अनुसार, भारत 65 बड़ी वाणिज्यिक स्वच्छ ऊर्जा औद्योगिक परियोजनाओं (Clean Energy Industrial Projects) की मजबूत पाइपलाइन के साथ वैश्विक स्तर पर चीन और जापान के बाद तीसरे स्थान पर है। इसमें ग्रीन हाइड्रोजन, इलेक्ट्रोलाइजर विनिर्माण, सौर पीवी मॉड्यूल, ग्रिड-स्केल बैटरी ऊर्जा भंडारण (BESS) और हरित इस्पात जैसी भारी उद्योगों को डीकार्बोनाइज करने वाली परियोजनाएं शामिल हैं, जो भारत के 2070 के नेट-जीरो लक्ष्य की दिशा में तेजी से प्रगति को दर्शाती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127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105/200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16वें वित्त आयोग (अध्यक्ष: डॉ. अरविंद पनगढ़िया) द्वारा वर्ष 2026 से 2031 की 5-वर्षीय अवधि के लिए स्थानीय निकायों (पंचायतों और नगर पालिकाओं) के वित्तीय सुदृढ़ीकरण हेतु कुल कितनी अनुदान राशि की ऐतिहासिक सिफारिश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₹55,50,000 करोड़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₹65,42,000 करोड़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₹77,91,493 करोड़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₹85,00,000 करोड़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729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106/200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₹77,91,493 करोड़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₹55,50,000 करोड़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₹65,42,000 करोड़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₹85,00,000 करोड़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16वें वित्त आयोग (16th Finance Commission) ने 2026-2031 की अवधि के लिए जमीनी स्तर पर सेवा वितरण (पेयजल, स्वच्छता, ठोस अपशिष्ट प्रबंधन) और स्थानीय निकायों की राजकोषीय क्षमता को अभूतपूर्व बढ़ावा देने के लिए कुल ₹77,91,493 करोड़ (लगभग ₹77.91 लाख करोड़) के स्थानीय निकाय अनुदान (Local Body Grants) की सिफारिश की है। यह अनुदान ग्रामीण स्थानीय निकायों (पंचायती राज संस्थाओं) और शहरी स्थानीय निकायों (नगर निगमों/पालिकाओं) के बीच उनके बुनियादी ढांचा विकास और वित्तीय जवाबदेही के आधार पर वितरित किया जाएगा।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729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106/200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'राजकोषीय संघवाद' (Fiscal Federalism) की मूलभूत अवधारणा निम्नलिखित में से किस सिद्धांत को परिभाषित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केंद्र सरकार द्वारा सभी कर लगाना और राज्यों को पूरी तरह केंद्र के अधीन रखना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संविधान के तहत केंद्र, राज्य और स्थानीय सरकारों के बीच कराधान की शक्तियों, राजस्व के बंटवारे और बजटीय जिम्मेदारियों का न्यायसंगत और संस्थागत विभाजन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निजी बैंकों और सरकार के बीच वित्तीय संबंध</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 और राज्यों के बीच चुनावी खर्च का बंटवारा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330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107/200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संविधान के तहत केंद्र, राज्य और स्थानीय सरकारों के बीच कराधान की शक्तियों, राजस्व के बंटवारे और बजटीय जिम्मेदारियों का न्यायसंगत और संस्थागत विभाजन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केंद्र सरकार द्वारा सभी कर लगाना और राज्यों को पूरी तरह केंद्र के अधीन रखना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निजी बैंकों और सरकार के बीच वित्तीय संबंध</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 और राज्यों के बीच चुनावी खर्च का बंटवारा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राजकोषीय संघवाद (Fiscal Federalism) सार्वजनिक वित्त का वह ढांचा है जो यह तय करता है कि एक बहु-स्तरीय संघीय शासन प्रणाली (केंद्र, राज्य और स्थानीय निकाय) में राजस्व जुटाने की शक्तियां (कर लगाने के अधिकार) और सार्वजनिक व्यय की जिम्मेदारियां (जैसे रक्षा, स्वास्थ्य, शिक्षा, पुलिस) विभिन्न स्तरों की सरकारों के बीच कैसे विभाजित और संतुलित की जाएं। भारतीय संविधान की 7वीं अनुसूची कराधान शक्तियों का विभाजन करती है, जबकि अनुच्छेद 280 (वित्त आयोग) केंद्र और राज्यों के बीच ऊर्ध्वाधर और क्षैतिज राजकोषीय असंतुलन को दूर करने का संवैधानिक तंत्र प्रदान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330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107/200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कौन-सा अनुच्छेद केंद्र और राज्यों के बीच करों की शुद्ध प्राप्तियों के बंटवारे और वित्तीय सिफारिशों के लिए प्रत्येक पांच वर्ष में 'वित्त आयोग' (Finance Commission) के गठन का प्रावधान करता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268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275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280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282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108/200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280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268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275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282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280 के तहत भारत के राष्ट्रपति को प्रत्येक पांच वर्ष की समाप्ति पर या आवश्यकतानुसार उससे पहले एक 'वित्त आयोग' का गठन करने का संवैधानिक दायित्व सौंपा गया है। अनुच्छेद 280(1) के अनुसार वित्त आयोग में एक अध्यक्ष और चार अन्य सदस्य होते हैं, जिनकी योग्यताएं संसद द्वारा पारित 'वित्त आयोग अधिनियम 1951' द्वारा निर्धारित की गई हैं। वित्त आयोग का मुख्य कार्य केंद्र और राज्यों के बीच विभाज्य कर पूल के वितरण (ऊर्ध्वाधर) और राज्यों के बीच उसके आवंटन (क्षैतिज) के सिद्धांत तय करना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108/200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स्वतंत्र भारत के पहले वित्त आयोग (First Finance Commission) का गठन वर्ष 1951 में किसकी अध्यक्षता में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 संथानम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 सी. नियोगी (K.C. Neogy)</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पी. वी. राजमन्नार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वाई. बी. चव्हाण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532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109/200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 सी. नियोगी (K.C. Neogy)</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 संथानम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पी. वी. राजमन्नार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वाई. बी. चव्हाण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स्वतंत्र भारत के प्रथम वित्त आयोग की स्थापना नवंबर 1951 में राष्ट्रपति द्वारा की गई थी और इसके अध्यक्ष श्री क्षितिश चंद्र नियोगी (K.C. Neogy) थे। इस प्रथम आयोग ने अपनी रिपोर्ट 1952 में प्रस्तुत की थी, जो 1952-57 की अवधि के लिए लागू हुई थी। प्रथम वित्त आयोग ने भारतीय राजकोषीय संघवाद की मजबूत नींव रखी और विभाज्य कर पूल में राज्यों की हिस्सेदारी तथा राज्यों को दिए जाने वाले सहायता अनुदान के बुनियादी सिद्धांतों का निर्धारण किया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532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109/200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संविधान के तहत गठित 'वित्त आयोग' (Finance Commission) की संस्थागत एवं कानूनी प्रकृति के संबंध में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नीति आयोग के अधीन कार्य करने वाला एक स्थायी कार्यकारी विभाग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एक अर्ध-न्यायिक (Quasi-Judicial), तदर्थ (Ad-hoc) संवैधानिक निकाय है जिसकी सिफारिशें सरकार पर केवल 'सलाहकार' (Advisory) प्रकृति की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सभी निर्णय संसद और न्यायपालिका पर कानूनी रूप से बाध्यकारी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राज्य सरकारों द्वारा नियुक्त किया जाने वाला एक वैधानिक बोर्ड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3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110/200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एक अर्ध-न्यायिक (Quasi-Judicial), तदर्थ (Ad-hoc) संवैधानिक निकाय है जिसकी सिफारिशें सरकार पर केवल 'सलाहकार' (Advisory) प्रकृति की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नीति आयोग के अधीन कार्य करने वाला एक स्थायी कार्यकारी विभाग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सभी निर्णय संसद और न्यायपालिका पर कानूनी रूप से बाध्यकारी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राज्य सरकारों द्वारा नियुक्त किया जाने वाला एक वैधानिक बोर्ड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वित्त आयोग एक स्थायी आयोग नहीं है बल्कि यह एक 'तदर्थ' (Ad-hoc) संवैधानिक निकाय है, जो राष्ट्रपति द्वारा गठित होता है और अपनी अंतिम रिपोर्ट सौंपने के बाद समाप्त हो जाता है। सिविल प्रक्रिया संहिता 1908 के तहत इसे गवाहों को बुलाने और दस्तावेज मंगाने के संबंध में 'दीवानी अदालत' जैसी अर्ध-न्यायिक (Quasi-Judicial) शक्तियां प्राप्त हैं। संविधान के अनुच्छेद 281 के अनुसार, वित्त आयोग की सिफारिशें सरकार के लिए केवल 'सलाहकारी' (Advisory) होती हैं, कानूनी रूप से बाध्यकारी नहीं; हालांकि एक सुदृढ़ लोकतांत्रिक परंपरा के रूप में केंद्र सरकार सामान्यतः इसकी कर हस्तांतरण सिफारिशों को स्वीकार कर 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3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110/200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वित्त आयोग के संदर्भ में 'ऊर्ध्वाधर हस्तांतरण' (Vertical Devolution) का क्या अर्थ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अमीर राज्यों से गरीब राज्यों को विवेकाधीन अनुदान देना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 सरकार और सभी राज्यों (एक सामूहिक इकाई के रूप में) के बीच केंद्रीय करों के विभाज्य पूल (Divisible Pool) की प्रतिशत हिस्सेदारी का निर्धारण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सरकारों द्वारा स्थानीय पंचायतों को बजट हस्तांतरित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सार्वजनिक उपक्रमों से सरकार को लाभांश का हस्तांतरण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735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111/200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केंद्र सरकार और सभी राज्यों (एक सामूहिक इकाई के रूप में) के बीच केंद्रीय करों के विभाज्य पूल (Divisible Pool) की प्रतिशत हिस्सेदारी का निर्धारण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अमीर राज्यों से गरीब राज्यों को विवेकाधीन अनुदान 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सरकारों द्वारा स्थानीय पंचायतों को बजट हस्तांतरित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सार्वजनिक उपक्रमों से सरकार को लाभांश का हस्तांतरण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ऊर्ध्वाधर हस्तांतरण (Vertical Devolution) का संबंध केंद्र सरकार के कुल विभाज्य कर पूल (Divisible Pool of Central Taxes) में से सभी राज्य सरकारों को सामूहिक रूप से दिए जाने वाले कुल प्रतिशत हिस्से के बंटवारे से है। उदाहरण के लिए, 14वें वित्त आयोग ने विभाज्य पूल का 42% राज्यों को देने की सिफारिश की थी, जिसे 15वें वित्त आयोग ने 41% निर्धारित किया। यह हस्तांतरण 'ऊर्ध्वाधर राजकोषीय असंतुलन' (Vertical Fiscal Imbalance) को दूर करता है, क्योंकि केंद्र के पास कर लगाने की अधिक शक्तियां हैं जबकि राज्यों के पास जन-कल्याण और विकास कार्यों का अधिक व्यय भार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735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111/200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वित्त आयोग द्वारा किए जाने वाले 'क्षैतिज हस्तांतरण' (Horizontal Devolution) का सटीक तात्पर्य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 और राज्यों के बीच रक्षा बजट का बंटवारा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ऊर्ध्वाधर हस्तांतरण के माध्यम से राज्यों के लिए तय किए गए कुल हिस्से को विभिन्न राज्यों के बीच जनसंख्या, आय दूरी, क्षेत्रफल और वन आवरण जैसे विशिष्ट वस्तुनिष्ठ मानदंडों के आधार पर आनुपातिक रूप से बांटना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पूर्वोत्तर राज्यों को विशेष पैकेज देना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स्थानीय निकायों द्वारा केंद्र सरकार को कर 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112/200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ऊर्ध्वाधर हस्तांतरण के माध्यम से राज्यों के लिए तय किए गए कुल हिस्से को विभिन्न राज्यों के बीच जनसंख्या, आय दूरी, क्षेत्रफल और वन आवरण जैसे विशिष्ट वस्तुनिष्ठ मानदंडों के आधार पर आनुपातिक रूप से बांटना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 और राज्यों के बीच रक्षा बजट का बंटवारा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पूर्वोत्तर राज्यों को विशेष पैकेज 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स्थानीय निकायों द्वारा केंद्र सरकार को कर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क्षैतिज हस्तांतरण (Horizontal Devolution) का तात्पर्य यह है कि जब ऊर्ध्वाधर हस्तांतरण के तहत सभी राज्यों का कुल हिस्सा (जैसे 41%) तय हो जाता है, तो उस 41% राशि को व्यक्तिगत रूप से प्रत्येक राज्य (जैसे राजस्थान, उत्तर प्रदेश, केरल आदि) के बीच किस फार्मूले के तहत बांटा जाएगा। वित्त आयोग विभिन्न राज्यों के बीच 'क्षैतिज राजकोषीय असंतुलन' (Horizontal Fiscal Imbalance - अमीर बनाम गरीब राज्य) को कम करने के लिए विभिन्न मानदंडों (जैसे आय की दूरी, 2011 की जनसंख्या, क्षेत्रफल, वन और पारिस्थितिकी, कर प्रयास आदि) को निश्चित भारांक (Weights) देकर क्षैतिज हस्तांतरण सूत्र तैयार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112/200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14वें वित्त आयोग (42%) की तुलना में 15वें वित्त आयोग (41%) द्वारा ऊर्ध्वाधर कर हस्तांतरण में 1% की कटौती किए जाने का मुख्य तकनीकी कारण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 सरकार के राजकोषीय घाटे को अचानक समाप्त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जम्मू और कश्मीर राज्य का दो नए केंद्र शासित प्रदेशों (जम्मू-कश्मीर तथा लद्दाख) में पुनर्गठन, जिनकी सुरक्षा और वित्तीय जरूरतों की प्रत्यक्ष जिम्मेदारी केंद्र सरकार के पास आ गई</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राज्यों द्वारा GST संग्रह में अत्यधिक वृद्धि</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ऋणों के भुगतान के लिए आपातकालीन बचत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937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113/200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जम्मू और कश्मीर राज्य का दो नए केंद्र शासित प्रदेशों (जम्मू-कश्मीर तथा लद्दाख) में पुनर्गठन, जिनकी सुरक्षा और वित्तीय जरूरतों की प्रत्यक्ष जिम्मेदारी केंद्र सरकार के पास आ गई</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 सरकार के राजकोषीय घाटे को अचानक समाप्त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राज्यों द्वारा GST संग्रह में अत्यधिक वृद्धि</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ऋणों के भुगतान के लिए आपातकालीन बचत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14वें वित्त आयोग (अध्यक्ष: डॉ. वाई. वी. रेड्डी) ने राज्यों की हिस्सेदारी को 32% से बढ़ाकर 42% करने की ऐतिहासिक सिफारिश की थी। 15वें वित्त आयोग (अध्यक्ष: एन. के. सिंह) ने 2021-26 की अवधि के लिए इसे 42% से घटाकर 41% कर दिया। यह 1% की कमी किसी राज्य के साथ भेदभाव नहीं थी बल्कि अगस्त 2019 में जम्मू-कश्मीर पुनर्गठन अधिनियम के बाद तत्कालीन जम्मू-कश्मीर राज्य के दो केंद्र शासित प्रदेशों (UT of J&amp;K और UT of Ladakh) में विभाजित होने के कारण किया गया एक तकनीकी समायोजन था। चूंकि केंद्र शासित प्रदेशों का वित्तीय पोषण केंद्र सरकार के हिस्से से होता है, इसलिए 1% हिस्सा केंद्र के पास रखा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937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113/200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15वें वित्त आयोग (15th Finance Commission) द्वारा राज्यों के बीच 'क्षैतिज हस्तांतरण' (Horizontal Devolution) के फार्मूले में किस मानदंड को सर्वाधिक भारांक (45%) प्रदान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2011 की जनसंख्या (Population 2011)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राज्य का भौगोलिक क्षेत्रफल (Area)</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आय दूरी (Income Distance)</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वन और पारिस्थितिकी (Forest and Ecology)</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538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114/200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आय दूरी (Income Distance)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2011 की जनसंख्या (Population 2011)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का भौगोलिक क्षेत्रफल (Area)</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वन और पारिस्थितिकी (Forest and Ecology)</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15वें वित्त आयोग ने राज्यों के बीच राजकोषीय समानता (Equity) और संतुलित क्षेत्रीय विकास सुनिश्चित करने के लिए 'आय दूरी' (Income Distance) को सर्वाधिक 45% भारांक प्रदान किया। 'आय दूरी' का अर्थ है किसी राज्य की प्रति व्यक्ति आय (GSDP per capita) और देश के शीर्ष तीन राज्यों (हरियाणा, गोवा आदि) की औसत प्रति व्यक्ति आय के बीच का अंतर। यह अंतर जितना अधिक होगा (अर्थात राज्य जितना गरीब होगा), उस राज्य को विभाज्य पूल से उतना ही अधिक वित्तीय हिस्सा प्राप्त होगा, ताकि वह बुनियादी सार्वजनिक सेवाओं का स्तर राष्ट्रीय औसत के बराबर ला सके।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538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114/200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15वें वित्त आयोग ने राज्यों के बीच कर हस्तांतरण के क्षैतिज फार्मूले में जनसंख्या के किस आधिकारिक आधार वर्ष के आंकड़ों का उपयोग 15% भारांक के साथ किया?</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1971 की जनगणना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1991 की जनगणना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2001 की जनगणना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2011 की जनगणना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140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115/200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2011 की जनगणना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1971 की जनगणना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1991 की जनगणना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2001 की जनगणना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14वें वित्त आयोग तक 1971 की जनसंख्या (17.5%) और 2011 की जनसंख्या (10%) दोनों का उपयोग किया जाता था। 15वें वित्त आयोग के संदर्भ की शर्तों (ToR) में केंद्र सरकार ने केवल '2011 की जनगणना' के नवीनतम जनसंख्या आंकड़ों का उपयोग करने का निर्देश दिया, जिसे आयोग ने 15% भारांक दिया। दक्षिण भारतीय राज्यों की इस चिंता को दूर करने के लिए कि जिन्होंने जनसंख्या नियंत्रण में बेहतर प्रदर्शन किया है उन्हें 2011 डेटा से नुकसान होगा, 15वें वित्त आयोग ने 12.5% भारांक के साथ 'जनसांख्यिकीय प्रदर्शन' (Demographic Performance - कम TFR वाले राज्यों को इनाम) का एक नया मानदंड जोड़ा।</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140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115/200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कौन-सा अनुच्छेद संसद को वित्त आयोग की सिफारिश पर आवश्यकता वाले राज्यों के राजस्व के पूरक के रूप में भारत की संचित निधि से 'सहायता अनुदान' (Grants-in-Aid) देने का अधिकार प्रदान करता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269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270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275 (1)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282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116/200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275 (1)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269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270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282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275(1) केंद्र द्वारा राज्यों को दिए जाने वाले वैधानिक सहायता अनुदान (Statutory Grants-in-Aid) का प्रावधान करता है। जब करों के सामान्य हस्तांतरण के बाद भी कुछ राज्यों के पास अपने गैर-योजनागत राजस्व खातों में घाटा (Post-Devolution Revenue Deficit) रह जाता है, तो वित्त आयोग अनुच्छेद 275 के तहत संचित निधि से विशिष्ट 'राजस्व घाटा अनुदान', 'स्थानीय निकाय अनुदान', 'आपदा प्रबंधन अनुदान' और 'राज्य-विशिष्ट अनुदान' देने की सिफारिश करता है, ताकि कमजोर राज्यों की वित्तीय स्थिरता बनी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116/200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किस अनुच्छेद के तहत केंद्र सरकार द्वारा लगाए जाने वाले 'उपकर' (Cess) और 'अधिभार' (Surcharge) की संपूर्ण आय विशेष रूप से केवल केंद्र के पास रहती है और इसे वित्त आयोग के 'विभाज्य पूल' में साझा नहीं किया जाता?</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268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270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271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280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342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117/200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271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268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270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280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270 के अनुसार सभी केंद्रीय कर विभाज्य पूल (Divisible Pool) का हिस्सा होते हैं और राज्यों के साथ बांटे जाते हैं। लेकिन अनुच्छेद 271 संसद को किसी विशिष्ट उद्देश्य (जैसे शिक्षा उपकर, सड़क उपकर, कृषि अवसंरचना उपकर) के लिए किसी भी कर पर 'उपकर' (Cess) या 'अधिभार' (Surcharge) लगाने की विशेष शक्ति देता है। अनुच्छेद 271 के तहत उपकर और अधिभार से प्राप्त 100% राजस्व केवल केंद्र सरकार की संचित निधि में रहता है और इसे वित्त आयोग के फार्मूले के तहत राज्यों के साथ बिल्कुल साझा नहीं किया जाता है, जो हाल के वर्षों में केंद्र-राज्य राजकोषीय तनाव का एक बड़ा मुद्दा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342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117/200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दोहरी जीएसटी प्रणाली के तहत 'एकीकृत वस्तु एवं सेवा कर' (Integrated GST - IGST) के संबंध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IGST उस राज्य सरकार द्वारा एकत्र किया जाता है जहां वस्तु का निर्माण हुआ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IGST केंद्र सरकार द्वारा वस्तुओं और सेवाओं की सभी अंतर-राज्यीय (Inter-State) आपूर्ति तथा विदेशों से होने वाले आयातों पर लगाया और एकत्र किया जाता है, जिसे बाद में केंद्र और गंतव्य (उपभोग) राज्य के बीच साझा किया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IGST का 100% राजस्व केंद्र सरकार स्थायी रूप से अपने पास रखती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अंतर-राज्यीय व्यापार पर IGST के अतिरिक्त SGST भी अलग से लगाया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943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118/200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IGST केंद्र सरकार द्वारा वस्तुओं और सेवाओं की सभी अंतर-राज्यीय (Inter-State) आपूर्ति तथा विदेशों से होने वाले आयातों पर लगाया और एकत्र किया जाता है, जिसे बाद में केंद्र और गंतव्य (उपभोग) राज्य के बीच साझा किया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IGST उस राज्य सरकार द्वारा एकत्र किया जाता है जहां वस्तु का निर्माण हुआ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IGST का 100% राजस्व केंद्र सरकार स्थायी रूप से अपने पास रखती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अंतर-राज्यीय व्यापार पर IGST के अतिरिक्त SGST भी अलग से लगाया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संविधान के अनुच्छेद 269A के तहत, जब वस्तु या सेवा एक राज्य से दूसरे राज्य में बेची जाती है (Inter-State Supply) या विदेश से भारत में आयात की जाती है, तो उस पर 'एकीकृत जीएसटी' (IGST) लागू होता है। IGST को केंद्र सरकार द्वारा उद्गृहीत और एकत्र (Levied and Collected) किया जाता है। चूंकि GST एक गंतव्य-आधारित उपभोग कर (Destination-based Consumption Tax) है, इसलिए एकत्र किए गए IGST में से इनपुट टैक्स क्रेडिट के समायोजन के बाद राज्य का हिस्सा उस 'गंतव्य राज्य' (Destination State) को हस्तांतरित कर दिया जाता है जहां उस वस्तु या सेवा का वास्तव में उपभोग हुआ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943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118/200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15वें वित्त आयोग ने पर्यावरण संरक्षण को बढ़ावा देने और पारिस्थितिक सेवाओं को मान्यता देने के लिए 'वन और पारिस्थितिकी' (Forest and Ecology) मानदंड को क्षैतिज हस्तांतरण फार्मूले में कितना भारांक दिया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544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119/200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10.0%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15वें वित्त आयोग ने राज्यों के बीच कर हस्तांतरण फार्मूले में 'वन और पारिस्थितिकी' (Forest and Ecology) को 10% का भारांक (Weightage) प्रदान किया है। इसकी गणना भारतीय वन सर्वेक्षण (FSI) की नवीनतम रिपोर्ट के आधार पर प्रत्येक राज्य के घने जंगलों (Dense Forest) और मध्यम घने जंगलों के क्षेत्रफल के आधार पर की जाती है। इसका मुख्य उद्देश्य उन राज्यों (विशेषकर पूर्वोत्तर, हिमालयी राज्यों, मध्य प्रदेश और छत्तीसगढ़) को वित्तीय रूप से पुरस्कृत और क्षतिपूर्ति करना है जो अपने वनों को संरक्षित रखकर पूरे देश को कार्बन अवशोषण, जैव विविधता और स्वच्छ पर्यावरण की पारिस्थितिक सेवाएं प्रदान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544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119/200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73वें और 74वें संशोधन के तहत, राज्यों में पंचायती राज संस्थाओं और नगर पालिकाओं की वित्तीय स्थिति की समीक्षा करने तथा राज्य करों के बंटवारे की सिफारिश करने के लिए 'राज्य वित्त आयोग' (State Finance Commission - SFC) का गठन किसके द्वारा किया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राष्ट्रपति द्वारा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संबंधित राज्य के राज्यपाल द्वारा (अनुच्छेद 243-I और 243-Y के तहत)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के मुख्यमंत्री द्वारा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विधानसभा के अध्यक्ष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120/200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संबंधित राज्य के राज्यपाल द्वारा (अनुच्छेद 243-I और 243-Y के तहत)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राष्ट्रपति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के मुख्यमंत्री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विधानसभा के अध्यक्ष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243-I (पंचायतों के लिए) और अनुच्छेद 243-Y (नगर पालिकाओं के लिए) के अनुसार, प्रत्येक राज्य का 'राज्यपाल' (Governor) संविधान (73वां एवं 74वां संशोधन) अधिनियम लागू होने के एक वर्ष के भीतर और उसके बाद प्रत्येक 5 वर्ष की समाप्ति पर एक 'राज्य वित्त आयोग' (State Finance Commission) का गठन करेगा। राज्य वित्त आयोग का मुख्य कार्य राज्य सरकार द्वारा लगाए गए करों, शुल्कों, पथकरों की शुद्ध प्राप्तियों का राज्य और स्थानीय निकायों के बीच वितरण, तथा पंचायतों व नगर पालिकाओं को वित्तीय रूप से सुदृढ़ बनाने के उपाय सुझाना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120/200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101वें संविधान संशोधन अधिनियम द्वारा शामिल किए गए अनुच्छेद 269A(5) के तहत, अंतर-राज्यीय व्यापार में "आपूर्ति का स्थान" (Place of Supply) निर्धारित करने के कानूनी सिद्धांत बनाने की अनन्य शक्ति किसके पास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जीएसटी परिषद (GST Council)</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 की संसद (Parliament of India)</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राज्य विधानसभाएं</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 का सर्वोच्च न्यायालय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747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121/200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 की संसद (Parliament of India)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जीएसटी परिषद (GST Council)</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विधानसभाएं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सर्वोच्च न्यायालय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269A(5) के अनुसार, केवल 'संसद' (Parliament of India) को कानून बनाकर यह सिद्धांत तैयार करने का विशेष अधिकार है कि माल या सेवाओं (या दोनों) की आपूर्ति कब अंतर-राज्यीय व्यापार (Inter-State Trade) के दौरान हुई मानी जाएगी और 'आपूर्ति का स्थान' (Place of Supply) क्या होगा। यह निर्धारण अत्यंत महत्वपूर्ण है क्योंकि इसी से तय होता है कि किसी लेन-देन पर CGST+SGST लगेगा या IGST, और किस गंतव्य राज्य को कर का राजस्व मिलेगा।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747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121/200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वस्तु एवं सेवा कर (GST) ढांचे के तहत किसी 'विशेष आर्थिक क्षेत्र' (SEZ) की इकाई या डेवलपर को की जाने वाली माल या सेवाओं की आपूर्ति को 'जीरो-रेटेड' (Zero-Rated Supply) क्यों माना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SEZ में निर्मित सामान पर घरेलू बाजार में कोई बिक्री कर नहीं लगता।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SEZ को विदेशी क्षेत्र के समकक्ष मानकर अंतरराष्ट्रीय स्तर पर भारतीय उत्पादों को प्रतिस्पर्धी बनाने के लिए आपूर्तिकर्ता को इनपुट टैक्स क्रेडिट (ITC) का पूर्ण रिफंड दिया जाता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SEZ के सभी व्यवसायों का पूरी तरह से राष्ट्रीयकरण कर दिया गया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क्योंकि SEZ में किसी भी प्रकार का वाणिज्यिक लेन-देन प्रतिबंधित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348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122/200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क्योंकि SEZ को विदेशी क्षेत्र के समकक्ष मानकर अंतरराष्ट्रीय स्तर पर भारतीय उत्पादों को प्रतिस्पर्धी बनाने के लिए आपूर्तिकर्ता को इनपुट टैक्स क्रेडिट (ITC) का पूर्ण रिफंड दिया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क्योंकि SEZ में निर्मित सामान पर घरेलू बाजार में कोई बिक्री कर नहीं लगता।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क्योंकि SEZ के सभी व्यवसायों का पूरी तरह से राष्ट्रीयकरण कर दिया गया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क्योंकि SEZ में किसी भी प्रकार का वाणिज्यिक लेन-देन प्रतिबंधित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IGST अधिनियम की धारा 16 के तहत, विशेष आर्थिक क्षेत्र (SEZ) को की जाने वाली आपूर्ति को भौतिक 'निर्यात' (Exports) के समान 'जीरो-रेटेड' (Zero-Rated) माना जाता है। इसका अर्थ यह नहीं है कि यह केवल कर-मुक्त (Exempted) है, बल्कि आपूर्तिकर्ता द्वारा उत्पादन में उपयोग किए गए कच्चे माल और सेवाओं पर चुकाए गए इनपुट टैक्स का पूर्ण रिफंड (Refund of unutilized ITC) दिया जाता है। इसका मुख्य उद्देश्य घरेलू लागत के बोझ को समाप्त कर भारतीय विनिर्माण को वैश्विक बाजार में मूल्य-प्रतिस्पर्धी बनाना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348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122/200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कौन-सा अनुच्छेद केंद्र और राज्यों दोनों को किसी भी 'सार्वजनिक उद्देश्य' के लिए 'विवेकाधीन अनुदान' (Discretionary Grants) देने की असाधारण शक्ति प्रदान करता है, भले ही वह उनकी विधायी शक्तियों के दायरे में न आता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275</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280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282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293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949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123/200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282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275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280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293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282 यह प्रावधान करता है कि संघ (केंद्र) या कोई राज्य किसी भी 'सार्वजनिक उद्देश्य' (Public Purpose) के लिए कोई भी अनुदान दे सकता है, भले ही वह विषय संसद या राज्य विधानमंडल की विधायी शक्तियों के अंतर्गत न आता हो। योजना आयोग के अस्तित्व के दौरान केंद्र सरकार द्वारा राज्यों को दिए जाने वाले अधिकांश विकासात्मक व योजनागत अनुदान इसी अनुच्छेद 282 के तहत 'विवेकाधीन अनुदान' के रूप में दिए जाते थे, जिसे वित्त आयोग की वैधानिक सिफारिशों (अनुच्छेद 275) से अलग रखा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949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123/200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हाल ही में प्रस्तावित GST 2.0 कर सुधारों के तहत, कर स्लैब को सरल बनाते हुए विलासिता (Luxury) और अहितकर/पाप (Sin/Demerit) वस्तुओं के लिए कौन-सी नई विशेष 'डिमेरिट दर' तय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124/200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40%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GST 2.0 सुधारों का मुख्य उद्देश्य जटिल बहु-स्तरीय दरों (5%, 12%, 18%, 28%) को तर्कसंगत और सरल बनाना है। नए ढांचे में तीन मुख्य दरें प्रस्तावित हैं: 1. 5% (मेरिट दर - आवश्यक वस्तुएं), 2. 18% (मानक दर - अधिकांश विनिर्मित वस्तुएं और सेवाएं), और 3. 40% (नई डिमेरिट दर)। यह 40% की उच्च डिमेरिट दर तंबाकू उत्पाद, सिगरेट, वातित पेय (Aerated Drinks), पान मसाला और लग्जरी कारों जैसी सामाजिक रूप से अहितकर और विलासिता की वस्तुओं पर लागू की गई है ताकि उपभोग को हतोत्साहित किया जा सके और राजस्व बना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124/200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2017 में GST लागू होने के बाद राज्यों को होने वाले संभावित राजस्व नुकसान की भरपाई के लिए 'जीएसटी (राज्यों को मुआवजा) अधिनियम, 2017' के तहत कितने वर्षों के लिए 'मुआवजा उपकर' (Compensation Cess) की व्यवस्था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3 वर्ष</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5 वर्ष (जुलाई 2017 से जून 2022 तक)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7 वर्ष</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10 वर्ष</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152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125/200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5 वर्ष (जुलाई 2017 से जून 2022 तक)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 वर्ष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 वर्ष</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 वर्ष</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 को अपने अप्रत्यक्ष कर लगाने के स्वायत्त अधिकारों को GST में समाहित करने के लिए सहमत करने हेतु संसद ने 5 वर्षों (1 जुलाई 2017 से 30 जून 2022) के लिए राज्यों को राजस्व में 14% वार्षिक वृद्धि की गारंटी दी थी। इस गारंटीकृत राजस्व में आने वाली किसी भी कमी की भरपाई के लिए विलासिता और अहितकर वस्तुओं पर 'जीएसटी मुआवजा उपकर' (GST Compensation Cess) लगाया गया था। हालांकि 5 वर्ष का वैधानिक मुआवजा काल जून 2022 में समाप्त हो गया, लेकिन महामारी के दौरान केंद्र द्वारा राज्यों को दिए गए बैक-टू-बैक ऋणों के मूलधन और ब्याज को चुकाने के लिए इस उपकर को मार्च 2026 तक बढ़ाया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152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125/200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'राजकोषीय उत्तरदायित्व और बजट प्रबंधन' (FRBM) अधिनियम, 2003 के ढांचे की व्यापक समीक्षा करने और राजकोषीय समेकन के नए रोडमैप की सिफारिश के लिए किस समिति का गठन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सी. रंगराजन समिति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एन. के. सिंह समिति (2016)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विजय केलकर समिति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वाई. वी. रेड्डी समिति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753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126/200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एन. के. सिंह समिति (2016)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सी. रंगराजन समिति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विजय केलकर समिति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वाई. वी. रेड्डी समिति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 सरकार ने मई 2016 में पूर्व सांसद एन. के. सिंह की अध्यक्षता में 5-सदस्यीय FRBM समीक्षा समिति का गठन किया था। समिति ने जनवरी 2017 में अपनी ऐतिहासिक रिपोर्ट सौंपी, जिसमें केवल 'राजकोषीय घाटे' पर ध्यान केंद्रित करने के बजाय 'सार्वजनिक ऋण-जीडीपी अनुपात' (Debt-to-GDP Ratio) को राजकोषीय विवेक का मुख्य लक्ष्य बनाने की सिफारिश की गई। समिति ने वर्ष 2023 तक सामान्य सरकारी ऋण को GDP के 60% (केंद्र के लिए 40% और राज्यों के लिए 20%) तक लाने तथा केंद्र के राजकोषीय घाटे को 2.5% पर सीमित करने का रोडमैप प्रस्तुत किया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753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126/200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279A के तहत स्थापित 'जीएसटी परिषद' (GST Council) में केंद्र सरकार और राज्य सरकारों के मतदान का वैधानिक भारांक (Voting Weightage) कितना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 50% और सभी राज्य मिलकर 50%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 सरकार का मत 1/3 (एक-तिहाई) और सभी राज्य सरकारों के संयुक्त मत 2/3 (दो-तिहाई)</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 सरकार का मत 2/3 और राज्यों का मत 1/3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28 राज्यों और केंद्र का 1-1 समान वोट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354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127/200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केंद्र सरकार का मत 1/3 (एक-तिहाई) और सभी राज्य सरकारों के संयुक्त मत 2/3 (दो-तिहाई)</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 50% और सभी राज्य मिलकर 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 सरकार का मत 2/3 और राज्यों का मत 1/3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28 राज्यों और केंद्र का 1-1 समान वोट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सहकारी संघवाद के उत्कृष्ट उदाहरण के रूप में GST परिषद में निर्णय लेने के लिए उपस्थित और मतदान करने वाले सदस्यों के कम से कम 75% (3/4) भारित बहुमत की आवश्यकता होती है। अनुच्छेद 279A(9) के अनुसार: 1. केंद्र सरकार के वोट का भारांक कुल डाले गए मतों का एक-तिहाई (1/3 या 33.33%) है। 2. सभी राज्य सरकारों के मतों का संयुक्त भारांक कुल डाले गए मतों का दो-तिहाई (2/3 या 66.67%) है। इस व्यवस्था के कारण न तो केंद्र अकेले अपनी मर्जी से कोई निर्णय थोप सकता है और न ही राज्य केंद्र की सहमति के बिना कोई निर्णय ले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354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127/200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1960 के दशक के मध्य में भारत में शुरू हुई 'हरित क्रांति' (Green Revolution) का सबसे महत्वपूर्ण और केंद्रीय तकनीकी घटक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जैविक खाद का अनिवार्य उपयोग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उच्च उपज देने वाली किस्मों के बीजों (HYV Seeds), रासायनिक उर्वरकों और सुनिश्चित सिंचाई का एकीकृत पैकेज</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वर्षा-आधारित शुष्क भूमि कृषि का विस्तार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100% कृषि ऋण माफी</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128/200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उच्च उपज देने वाली किस्मों के बीजों (HYV Seeds), रासायनिक उर्वरकों और सुनिश्चित सिंचाई का एकीकृत पैकेज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जैविक खाद का अनिवार्य उपयोग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वर्षा-आधारित शुष्क भूमि कृषि का विस्तार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100% कृषि ऋण माफी</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हरित क्रांति की शुरुआत 1966-67 में प्रो. एम. एस. स्वामीनाथन के नेतृत्व में नॉर्मन बोरलॉग द्वारा विकसित मैक्सिकन बौनी गेहूं की किस्मों के साथ हुई। इसका मूल आधार एक तकनीकी पैकेज था जिसमें तीन प्रमुख तत्व परस्पर जुड़े थे: 1. उच्च उपज देने वाली संकर किस्में (High Yielding Varieties - HYV बीज), 2. रासायनिक उर्वरकों और कीटनाशकों का सघन उपयोग, और 3. नलकूपों व नहरों के माध्यम से सुनिश्चित व नियंत्रित सिंचाई सुविधा। इसने भारत को खाद्यान्न आयात पर निर्भर 'शिप-टू-माउथ' स्थिति से निकालकर खाद्यान्न में आत्मनिर्भर और निर्यातक राष्ट्र बना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128/200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स्वतंत्रता के तुरंत बाद गठित अखिल भारतीय कांग्रेस समिति की 'जे. सी. कुमारप्पा समिति' (1949) ने मुख्य रूप से किस क्षेत्र में बुनियादी सुधारों की सिफारिश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बैंकिंग एवं मौद्रिक प्रणाली सुधार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व्यापक भूमि सुधार (Land Reforms) - बिचौलियों/जमींदारी का उन्मूलन एवं काश्तकारों को जमीन का मालिकाना हक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बड़े पैमाने पर सार्वजनिक उद्योगों का राष्ट्रीयकरण</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व्यापार में आयात प्रतिस्थापन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557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129/200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व्यापक भूमि सुधार (Land Reforms) - बिचौलियों/जमींदारी का उन्मूलन एवं काश्तकारों को जमीन का मालिकाना हक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बैंकिंग एवं मौद्रिक प्रणाली सुधार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बड़े पैमाने पर सार्वजनिक उद्योगों का राष्ट्रीयकरण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व्यापार में आयात प्रतिस्थापन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1949 में प्रसिद्ध गांधीवादी अर्थशास्त्री जे. सी. कुमारप्पा की अध्यक्षता में 'कांग्रेस कृषि सुधार समिति' (कुमारप्पा समिति) का गठन किया गया था। इस समिति ने स्वतंत्र भारत में कृषि के आधुनिकीकरण के लिए व्यापक 'भूमि सुधारों' का ऐतिहासिक खाका तैयार किया। समिति ने सिफारिश की कि: 1. बिचौलियों (जमींदारों, जागीरदारों) की व्यवस्था को तत्काल समाप्त किया जाए, 2. "भूमि जोतने वाले की होनी चाहिए" (Land to the Tiller) के सिद्धांत पर वास्तविक काश्तकारों को स्वामित्व अधिकार दिए जाएं, 3. अत्यधिक लगान पर रोक लगाई जाए, और 4. भूमि की अधिकतम सीमा (Ceiling on Land Holdings) तय कर अतिरिक्त जमीन भूमिहीन मजदूरों में बांटी जाए।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557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129/200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कृषि भूगोल और अर्थशास्त्र में किसी भूमि की 'फसल सघनता' (Cropping Intensity) ज्ञात करने का सही गणितीय सूत्र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(शुद्ध बोया गया क्षेत्र / सकल फसली क्षेत्र) × 100</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(सकल फसली क्षेत्र / शुद्ध बोया गया क्षेत्र) × 100 [ (Gross Cropped Area / Net Sown Area) × 100 ]</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(कुल खेती योग्य क्षेत्र / कुल भौगोलिक क्षेत्र) × 100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(सिंचित क्षेत्र / असिंचित क्षेत्र) × 100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130/200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(सकल फसली क्षेत्र / शुद्ध बोया गया क्षेत्र) × 100 [ (Gross Cropped Area / Net Sown Area) × 100 ]</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(शुद्ध बोया गया क्षेत्र / सकल फसली क्षेत्र) × 100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(कुल खेती योग्य क्षेत्र / कुल भौगोलिक क्षेत्र) × 100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(सिंचित क्षेत्र / असिंचित क्षेत्र) × 100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फसल सघनता (Cropping Intensity) यह मापती है कि एक कृषि वर्ष में एक ही शुद्ध कृषि भूमि का कितनी बार उपयोग किया गया है। इसका सूत्र है: फसल सघनता = (सकल फसली क्षेत्र / शुद्ध बोया गया क्षेत्र) × 100। यदि किसी किसान के पास 2 हेक्टेयर वास्तविक भूमि (Net Sown Area) है और वह खरीफ में 2 हेक्टेयर में धान तथा रबी में 2 हेक्टेयर में गेहूं बोता है, तो उसका सकल फसली क्षेत्र (Gross Cropped Area) 4 हेक्टेयर होगा। इस स्थिति में फसल सघनता = (4 / 2) × 100 = 200% होगी। बेहतर सिंचाई और अल्पकालिक बीजों की उपलब्धता से फसल सघनता बढ़ती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130/200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कृषि पद्धतियों में 'मिश्रित फसल' (Mixed Cropping) और 'अंतरफसल' (Intercropping) के बीच प्राथमिक कार्यात्मक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मिश्रित फसल में बीजों को बुवाई से पहले बिना किसी निश्चित पैटर्न के मिलाकर बोया जाता है, जबकि अंतरफसल में दो या अधिक फसलों को निश्चित पंक्ति अनुपात (Definite Row Pattern) में उगाया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मिश्रित फसल केवल व्यावसायिक फसलों के लिए होती है, जबकि अंतरफसल केवल दालों के लिए।</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अंतरफसल में फसलों को अलग-अलग वर्षों में उगाया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शब्द पूरी तरह पर्यायवाची हैं और इनमें कोई अंतर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759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131/200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मिश्रित फसल में बीजों को बुवाई से पहले बिना किसी निश्चित पैटर्न के मिलाकर बोया जाता है, जबकि अंतरफसल में दो या अधिक फसलों को निश्चित पंक्ति अनुपात (Definite Row Pattern) में उगाया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मिश्रित फसल केवल व्यावसायिक फसलों के लिए होती है, जबकि अंतरफसल केवल दालों के लिए।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अंतरफसल में फसलों को अलग-अलग वर्षों में उगाया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शब्द पूरी तरह पर्यायवाची हैं और इनमें कोई अंतर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'मिश्रित फसल' (Mixed Cropping) में जोखिम कम करने (फसल विफलता से बचाव) के उद्देश्य से दो या अधिक फसलों (जैसे गेहूं + चना या सरसों) के बीजों को आपस में मिलाकर एक ही खेत में बिना किसी पंक्तिबद्ध व्यवस्था के बेतरतीब ढंग से बो दिया जाता है। इसके विपरीत, 'अंतरफसल' (Intercropping) एक आधुनिक व वैज्ञानिक सघन कृषि तकनीक है, जिसमें दो या अधिक फसलों को एक साथ एक ही खेत में 'निश्चित पंक्ति विन्यास' (जैसे मुख्य फसल की 4 पंक्तियां, फिर दलहन की 2 पंक्तियां) में उगाया जाता है, ताकि सूर्य के प्रकाश, पोषक तत्वों और भूमि का अधिकतम व कुशल उपयोग हो सके।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759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131/200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वैश्विक कृषि उत्पादन में भारत निम्नलिखित में से किन कृषि उत्पादों का विश्व में सबसे बड़ा (Largest Producer) उत्पादक देश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चावल और गेहूं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दूध, कुल दालें और जूट (Milk, Total Pulses, and Jute)</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कपास और गन्ना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मक्का और सोयाबीन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132/200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दूध, कुल दालें और जूट (Milk, Total Pulses, and Jute)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चावल और गेहूं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कपास और गन्ना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मक्का और सोयाबीन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खाद्य एवं कृषि संगठन (FAO) के आंकड़ों के अनुसार, भारत विश्व में कुल दूध उत्पादन (वैश्विक हिस्सेदारी लगभग 24%), कुल दलहन (Pulses) और कच्चे जूट (Jute) का सबसे बड़ा उत्पादक देश है। इसके अलावा भारत दालों का सबसे बड़ा उपभोक्ता और आयातक भी है। वहीं चावल (धान), गेहूं, गन्ना, मूंगफली, कपास, फल और सब्जियों के उत्पादन में भारत विश्व में चीन के बाद 'दूसरे स्थान' पर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132/200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रसायन-मुक्त, पारिस्थितिक और लागत-प्रभावी 'जीरो बजट प्राकृतिक खेती' (Zero Budget Natural Farming - ZBNF) तकनीक को विकसित और लोकप्रिय बनाने का श्रेय किस कृषि विशेषज्ञ को दिया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 एम. एस. स्वामीनाथन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वर्गीज कुरियन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पद्मश्री सुभाष पालेकर (Subhash Palekar)</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बाबा आम्टे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961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133/200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पद्मश्री सुभाष पालेकर (Subhash Palekar)</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 एम. एस. स्वामीनाथन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वर्गीज कुरियन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बाबा आम्टे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'जीरो बजट प्राकृतिक खेती' (ZBNF) आंदोलन के जनक महाराष्ट्र के कृषि विशेषज्ञ पद्मश्री सुभाष पालेकर हैं। उन्होंने यह सिद्ध किया कि महंगे रासायनिक उर्वरकों, संकर बीजों और कीटनाशकों के बिना भी देसी गाय के गोबर-गोमूत्र और स्थानीय प्राकृतिक संसाधनों का उपयोग करके उच्च कृषि उत्पादकता प्राप्त की जा सकती है। "जीरो बजट" का अर्थ है कि फसल उत्पादन के लिए बाजार से कोई भी रासायनिक इनपुट खरीदने पर ₹1 भी खर्च नहीं करना पड़ता, जिससे किसान कर्ज के जाल से मुक्त होते हैं और मिट्टी की उर्वरता बनी रहती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961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133/200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जीरो बजट प्राकृतिक खेती (ZBNF) के 'चार मूलभूत स्तंभों' में से, मिट्टी में वायु संचार और जल वाष्प के अणुओं का इष्टतम संतुलन बनाए रखने की स्थिति को क्या कहा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बीजामृतम (Beejamrutham)</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जीवामृतम (Jeevamrutham)</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आच्छादन / मल्चिंग (Mulching)</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वाफसा (Waaphasa)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563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134/200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वाफसा (Waaphasa)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बीजामृतम (Beejamrutham)</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जीवामृतम (Jeevamrutham)</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आच्छादन / मल्चिंग (Mulching)</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सुभाष पालेकर की ZBNF पद्धति के 4 अनिवार्य स्तंभ हैं: 1. बीजामृतम (Beejamrutham): देसी गाय के गोबर, गोमूत्र, चूना और मिट्टी से बीजों का जैविक उपचार। 2. जीवामृतम (Jeevamrutham): गोबर, गोमूत्र, गुड़, बेसन और मेड़ की मिट्टी का किण्वित घोल जो मिट्टी में सूक्ष्मजीवों की संख्या लाखों गुना बढ़ाता है। 3. आच्छादन / मल्चिंग (Mulching): मिट्टी को फसल अवशेषों से ढकना ताकि नमी बनी रहे और खरपतवार न उगे। 4. वाफसा (Waaphasa): वह आदर्श मृदा अवस्था जहाँ मिट्टी के कणों के बीच 50% हवा और 50% जलवाष्प का संचार होता है; पालेकर के अनुसार पौधों की जड़ें सीधे पानी नहीं पीतीं बल्कि वाफसा की स्थिति में जलवाष्प ग्रहण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563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134/200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सरकार की ऐतिहासिक 'मृदा स्वास्थ्य कार्ड' (Soil Health Card - SHC) योजना का राष्ट्रीय शुभारंभ 19 फरवरी 2015 को किस स्थान से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सूरतगढ़, श्रीगंगानगर (राजस्थान)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करनाल (हरियाणा)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लुधियाना (पंजाब)</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भोपाल (मध्य प्रदेश)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164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135/200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सूरतगढ़, श्रीगंगानगर (राजस्थान)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करनाल (हरियाणा)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लुधियाना (पंजाब)</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भोपाल (मध्य प्रदेश)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'स्वस्थ धरा, खेत हरा' के प्रेरक नारे के साथ प्रधानमंत्री नरेंद्र मोदी ने 19 फरवरी 2015 को राजस्थान के श्रीगंगानगर जिले के सूरतगढ़ से 'मृदा स्वास्थ्य कार्ड' (Soil Health Card) योजना का राष्ट्रव्यापी शुभारंभ किया था। इस योजना का मुख्य उद्देश्य प्रत्येक 3 वर्ष में किसानों के खेतों की मिट्टी के नमूनों का वैज्ञानिक परीक्षण कर उन्हें एक कार्ड जारी करना है, जिसमें मिट्टी की पोषक स्थिति और फसलों के अनुसार रासायनिक व जैविक उर्वरकों के संतुलित उपयोग की सटीक सिफारिशें दर्ज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164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135/200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'मृदा स्वास्थ्य कार्ड' (Soil Health Card) रिपोर्ट में परीक्षण किए जाने वाले कुल 12 रासायनिक व भौतिक मापदंडों में से किन तत्वों को 'सूक्ष्म पोषक तत्व' (Micronutrients) के रूप में वर्गीकृत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नाइट्रोजन, फास्फोरस और पोटेशियम (NPK)</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जिंक (Zn), आयरन (Fe), कॉपर (Cu), मैंगनीज (Mn) और बोरॉन (B)</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सल्फर, कैल्शियम और मैग्नीशियम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मृदा pH और विद्युत चालकता (EC)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136/200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जिंक (Zn), आयरन (Fe), कॉपर (Cu), मैंगनीज (Mn) और बोरॉन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नाइट्रोजन, फास्फोरस और पोटेशियम (NPK)</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सल्फर, कैल्शियम और मैग्नीशियम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मृदा pH और विद्युत चालकता (EC)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मृदा स्वास्थ्य कार्ड कुल 12 मापदंडों की जांच करता है: 1. प्राथमिक वृहद पोषक तत्व (Primary Macronutrients - 3): नाइट्रोजन (N), फास्फोरस (P), पोटेशियम (K)। 2. द्वितीयक पोषक तत्व (Secondary Nutrient - 1): सल्फर (S)। 3. सूक्ष्म पोषक तत्व (Micronutrients - 5): जस्ता (Zinc - Zn), लोहा (Iron - Fe), तांबा (Copper - Cu), मैंगनीज (Manganese - Mn), और बोरॉन (Boron - B)। 4. भौतिक एवं जैविक पैरामीटर (Physical/Biological Parameters - 3): pH मान (अम्लीय/क्षारीयता), विद्युत चालकता (EC - लवणता), और जैविक कार्बन (Organic Carbon - OC)।</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136/200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कृषि विपणन सुधारों के तहत APMC मंडियों को एकीकृत करने वाले अखिल भारतीय इलेक्ट्रॉनिक ट्रेडिंग पोर्टल 'ई-नाम' (e-NAM) का कार्यान्वयन किस नोडल एजेंसी द्वारा किया जा रहा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भारतीय खाद्य निगम (FCI)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नाबार्ड (NABARD)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लघु कृषक कृषि व्यापार संघ (Small Farmers' Agribusiness Consortium - SFAC)</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कृषि लागत और मूल्य आयोग (CACP)</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366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137/200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लघु कृषक कृषि व्यापार संघ (Small Farmers' Agribusiness Consortium - SFAC)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खाद्य निगम (FCI)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नाबार्ड (NABARD)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 लागत और मूल्य आयोग (CACP)</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कृषि बाजार (e-NAM) का शुभारंभ 14 अप्रैल 2016 को प्रधानमंत्री द्वारा किया गया था। यह एक पैन-इंडिया इलेक्ट्रॉनिक ट्रेडिंग पोर्टल है जो कृषि उपज के लिए 'एक राष्ट्र, एक बाजार' बनाने के उद्देश्य से राज्यों की भौतिक APMC मंडियों को एक ऑनलाइन नेटवर्क से जोड़ता है। इस राष्ट्रीय पोर्टल का प्रबंधन और कार्यान्वयन केंद्रीय कृषि एवं किसान कल्याण मंत्रालय के तत्वावधान में 'लघु कृषक कृषि व्यापार संघ' (SFAC) द्वारा किया जाता है। e-NAM से पारदर्शी मूल्य खोज, ऑनलाइन बोली और सीधे किसानों के खातों में भुगतान संभव हुआ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366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137/200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कुपोषण दूर करने और खाद्य सुरक्षा को पोषण सुरक्षा में बदलने के लिए वर्ष 2014 में शुरू की गई 'प्रोटीन क्रांति' (Protein Revolution) का मुख्य संबंध किन कृषि क्षेत्रों 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पोल्ट्री और ब्रायलर चिकन उत्पादन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दलहन (पौधा-आधारित प्रोटीन) और दुग्ध उत्पादन (पशु-आधारित प्रोटीन) की उत्पादकता में तीव्र वृद्धि</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आनुवंशिक रूप से संशोधित (GM) सोयाबीन का निर्यात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समुद्री मत्स्य पालन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968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138/200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दलहन (पौधा-आधारित प्रोटीन) और दुग्ध उत्पादन (पशु-आधारित प्रोटीन) की उत्पादकता में तीव्र वृद्धि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पोल्ट्री और ब्रायलर चिकन उत्पादन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आनुवंशिक रूप से संशोधित (GM) सोयाबीन का निर्यात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समुद्री मत्स्य पालन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2014-15 के केंद्रीय बजट में देश में 'प्रोटीन क्रांति' (Protein Revolution) का आह्वान किया गया था। इसका प्राथमिक उद्देश्य देश में व्यापक रूप से फैली प्रोटीन की कमी और सूक्ष्म-पोषक तत्वों के कुपोषण को दूर करने के लिए दालों (Pulses - शाकाहारी प्रोटीन का मुख्य स्रोत) और डेयरी/दूध उत्पादन की उत्पादकता को मिशन मोड में बढ़ाना है। इसके लिए वैज्ञानिक तकनीकों, प्रमाणित बीजों और बेहतर मूल्य समर्थन के माध्यम से किसानों को दालों की खेती के लिए प्रोत्साहित किया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968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138/200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'प्रधानमंत्री कृषि सिंचाई योजना' (PMKSY) के चार प्रमुख घटकों में से सूक्ष्म सिंचाई (ड्रिप और स्प्रिंकलर) को बढ़ावा देने वाला "पर ड्रॉप मोर क्रॉप" (Per Drop More Crop - PDMC) घटक किस मंत्रालय द्वारा कार्यान्वित किया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 शक्ति मंत्रालय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ग्रामीण विकास मंत्रालय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कृषि एवं किसान कल्याण मंत्रालय (Ministry of Agriculture and Farmers Welfare)</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पर्यावरण, वन एवं जलवायु परिवर्तन मंत्रालय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569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139/200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कृषि एवं किसान कल्याण मंत्रालय (Ministry of Agriculture and Farmers Welfare)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शक्ति मंत्रालय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ग्रामीण विकास मंत्रालय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पर्यावरण, वन एवं जलवायु परिवर्तन मंत्रालय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प्रधानमंत्री कृषि सिंचाई योजना (PMKSY) वर्ष 2015 में "हर खेत को पानी" और "पर ड्रॉप मोर क्रॉप" के विजन के साथ शुरू की गई थी। यह 3 मंत्रालयों का संयुक्त कार्यक्रम है: 1. त्वरित सिंचाई लाभ कार्यक्रम (AIBP) और 'हर खेत को पानी' (सतही लघु सिंचाई) - जल शक्ति मंत्रालय। 2. वाटरशेड विकास (Watershed Development) - ग्रामीण विकास मंत्रालय। 3. 'पर ड्रॉप मोर क्रॉप' (Per Drop More Crop - PDMC) - कृषि एवं किसान कल्याण मंत्रालय द्वारा कार्यान्वित किया जाता है, जो खेत के स्तर पर जल उपयोग दक्षता बढ़ाने के लिए ड्रिप (Drip) और फव्वारा (Sprinkler) जैसी परिशुद्ध सूक्ष्म-सिंचाई प्रणालियों पर किसानों को भारी वित्तीय सब्सिडी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569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139/200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आत्मनिर्भर भारत अभियान के तहत स्थापित 'कृषि अवसंरचना कोष' (Agriculture Infrastructure Fund - AIF) के तहत फसल कटाई उपरांत बुनियादी ढांचे (कोल्ड स्टोरेज, वेयरहाउस आदि) के लिए ₹2 करोड़ तक के ऋण पर प्रति वर्ष कितनी 'ब्याज छूट' (Interest Subvention) प्रदान की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3% प्रति वर्ष (अधिकतम 7 वर्षों के लिए)</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140/200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3% प्रति वर्ष (अधिकतम 7 वर्षों के लिए)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 अवसंरचना कोष (AIF) को वर्ष 2020 में 10 वर्षों (2020-2032) की अवधि के लिए ₹1 लाख करोड़ के कुल वित्तपोषण कोष के साथ लॉन्च किया गया था। इसका उद्देश्य फसल कटाई के बाद होने वाले नुकसान को रोकने के लिए कोल्ड चेन, साइलो, प्राथमिक प्रसंस्करण केंद्र और पैक-हाउस जैसी बुनियादी संपत्तियां बनाना है। AIF के तहत बैंकों और वित्तीय संस्थानों द्वारा प्राथमिक कृषि साख समितियों (PACS), FPOs और कृषि उद्यमियों को दिए जाने वाले ₹2 करोड़ तक के सभी ऋणों पर 3% प्रति वर्ष की ब्याज छूट (Interest Subvention) दी जाती है तथा CGTMSE के तहत क्रेडिट गारंटी शुल्क का वहन भी सरकार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140/200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'प्रधानमंत्री किसान सम्मान निधि' (PM-KISAN) योजना की प्रशासनिक और वित्तीय प्रकृति के संबंध में कौन-सा कथन पूर्णतः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केंद्र और राज्यों के बीच 60:40 के अनुपात में वित्तपोषित एक केंद्र प्रायोजित योजना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100% भारत सरकार द्वारा वित्तपोषित एक 'केंद्रीय क्षेत्र की योजना' (Central Sector Scheme) है, जिसके तहत सभी भूमिधारक किसान परिवारों को ₹6,000 प्रति वर्ष की वित्तीय सहायता ₹2,000 की तीन समान किस्तों में सीधे बैंक खातों (DBT) में दी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योजना केवल 2 हेक्टेयर से कम भूमि वाले सीमांत किसानों तक ही सीमित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लाभ केवल नकद रूप में ग्राम पंचायत कार्यालय से प्राप्त किया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771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141/200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100% भारत सरकार द्वारा वित्तपोषित एक 'केंद्रीय क्षेत्र की योजना' (Central Sector Scheme) है, जिसके तहत सभी भूमिधारक किसान परिवारों को ₹6,000 प्रति वर्ष की वित्तीय सहायता ₹2,000 की तीन समान किस्तों में सीधे बैंक खातों (DBT) में दी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केंद्र और राज्यों के बीच 60:40 के अनुपात में वित्तपोषित एक केंद्र प्रायोजित योजना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योजना केवल 2 हेक्टेयर से कम भूमि वाले सीमांत किसानों तक ही सीमित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लाभ केवल नकद रूप में ग्राम पंचायत कार्यालय से प्राप्त किया जा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PM-KISAN योजना की शुरुआत 24 फरवरी 2019 को (1 दिसंबर 2018 से प्रभावी) की गई थी। यह शत-प्रतिशत केंद्र सरकार द्वारा वित्तपोषित एक 'केंद्रीय क्षेत्र की योजना' (Central Sector Scheme) है। प्रारंभ में यह केवल 2 हेक्टेयर तक भूमि वाले छोटे और सीमांत किसानों के लिए थी, लेकिन 1 जून 2019 से इसका विस्तार देश के 'सभी पात्र भूमिधारक किसान परिवारों' के लिए कर दिया गया (संस्थागत भूमिधारकों और आयकर दाताओं को छोड़कर)। इसके तहत प्रति वर्ष ₹6,000 की राशि ₹2,000 की तीन समान किस्तों (अप्रैल-जुलाई, अगस्त-नवंबर, दिसंबर-मार्च) में सीधे आधार-संबद्ध बैंक खातों में DBT द्वारा भेजी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771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141/200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सरकार द्वारा शुरू की गई 'पीएम-प्रणाम' (PM-PRANAM) योजना का प्राथमिक उद्देश्य निम्नलिखित में से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किसानों के सभी पुराने कृषि ऋणों को पूरी तरह माफ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रासायनिक उर्वरकों पर सरकारी सब्सिडी के भारी वित्तीय बोझ को कम करना और राज्यों द्वारा रासायनिक खादों के संतुलित उपयोग व वैकल्पिक उर्वरकों (जैसे नैनो यूरिया, जैविक खाद) को अपनाने को प्रोत्साहित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किसानों को मुफ्त ट्रैक्टर उपलब्ध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विदेशी रासायनिक उर्वरकों के आयात को दोगुना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372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142/200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रासायनिक उर्वरकों पर सरकारी सब्सिडी के भारी वित्तीय बोझ को कम करना और राज्यों द्वारा रासायनिक खादों के संतुलित उपयोग व वैकल्पिक उर्वरकों (जैसे नैनो यूरिया, जैविक खाद) को अपनाने को प्रोत्साहित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किसानों के सभी पुराने कृषि ऋणों को पूरी तरह माफ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किसानों को मुफ्त ट्रैक्टर उपलब्ध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विदेशी रासायनिक उर्वरकों के आयात को दोगुना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PM-PRANAM (Programme for Restoration, Awareness, Nourishment and Amelioration of Mother Earth) योजना को केंद्रीय बजट 2023-24 में मंजूरी दी गई थी। इस योजना का कोई अलग बजटीय आवंटन नहीं है; बल्कि जब कोई राज्य या केंद्र शासित प्रदेश अपने पिछले 3 वर्षों के औसत की तुलना में रासायनिक उर्वरकों (यूरिया, डीएपी, एमओपी) की खपत को कम करता है, तो केंद्र सरकार द्वारा बचाई गई उर्वरक सब्सिडी राशि का 50% हिस्सा उस राज्य को 'अनुदान' (Grant) के रूप में वापस दे दिया जाता है। राज्य इस अनुदान का उपयोग जैविक खेती, वैकल्पिक उर्वरक संयंत्र लगाने और किसानों को प्रोत्साहित करने में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372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142/200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सितंबर 2024 में केंद्रीय मंत्रिमंडल द्वारा ₹2,817 करोड़ के परिव्यय के साथ स्वीकृत 'डिजिटल कृषि मिशन' (Digital Agriculture Mission) के तहत निर्मित किए जा रहे 'एग्रीस्टैक' (AgriStack) का मुख्य आधार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कृषि ड्रोन का निर्माण करना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लगभग 11 करोड़ (110 मिलियन) किसानों की डिजिटल आईडी ('किसान आईडी') बनाना तथा भू-अभिलेखों व फसल बुवाई डेटा का एक राष्ट्रव्यापी डिजिटल सार्वजनिक बुनियादी ढांचा (DPI) तैयार करना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नई सिंचाई नहरों का निजीकरण करना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खाद्य कंपनियों को सीधे कृषि भूमि बेचना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974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143/200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लगभग 11 करोड़ (110 मिलियन) किसानों की डिजिटल आईडी ('किसान आईडी') बनाना तथा भू-अभिलेखों व फसल बुवाई डेटा का एक राष्ट्रव्यापी डिजिटल सार्वजनिक बुनियादी ढांचा (DPI) तैयार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कृषि ड्रोन का निर्माण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नई सिंचाई नहरों का निजीकरण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खाद्य कंपनियों को सीधे कृषि भूमि बेचना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डिजिटल कृषि मिशन (Digital Agriculture Mission) के तहत कृषि क्षेत्र के लिए एक मजबूत डिजिटल पब्लिक इंफ्रास्ट्रक्चर (DPI) तैयार किया जा रहा है, जिसके तीन मुख्य घटक हैं: 1. एग्रीस्टैक (AgriStack): इसमें प्रत्येक किसान को आधार जैसी विशिष्ट 'डिजिटल किसान रजिस्ट्री' (Farmer ID) दी जाएगी, जो उनके राज्य के डिजिटल भूमि रिकॉर्ड (Land Records) से लिंक होगी। 2. डिजिटल फसल सर्वेक्षण (Digital Crop Survey): सेटेलाइट और जीआईएस द्वारा वास्तविक बुवाई का सटीक डेटा। 3. कृषि निर्णय सहायता प्रणाली (Krishi-DSS)। इससे किसानों को फसल ऋण (KCC), PM-KISAN, फसल बीमा और आपदा मुआवजा बिना किसी कागजी कार्रवाई और बिचौलियों के तुरंत मिलेगा।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974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143/200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सितंबर 2023 में कृषि मंत्रालय द्वारा PM-KISAN योजना के तहत किसानों की समस्याओं के त्वरित और स्थानीय भाषा में समाधान के लिए लॉन्च किए गए पहले 'एआई चैटबॉट' (AI Chatbot) का क्या नाम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किसान-ई-मित्र (Kisan-e-Mitra)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एग्री-बॉट (Agri-Bot)</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पीएम-किसान साथी</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समाधान एआई</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144/200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किसान-ई-मित्र (Kisan-e-Mitra)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एग्री-बॉट (Agri-Bot)</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पीएम-किसान साथी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समाधान एआई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कृषि एवं किसान कल्याण मंत्रालय ने सितंबर 2023 में 'किसान-ई-मित्र' (Kisan-e-Mitra या PM-KISAN AI Chatbot) का शुभारंभ किया। यह भारत सरकार की किसी प्रमुख फ्लैगशिप कल्याणकारी योजना के साथ एकीकृत पहला जेनेरेटिव एआई चैटबॉट है। भाषिणी (Bhashini) प्लेटफॉर्म से संचालित यह चैटबॉट किसानों की स्थानीय भाषाओं (हिंदी, तमिल, उड़िया, बंगाली, अंग्रेजी आदि) में आवाज और टेक्स्ट के माध्यम से उनकी आवेदन स्थिति, किस्त भुगतान और पात्रता संबंधी प्रश्नों का 24x7 सटीक व तत्काल समाधान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144/200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केंद्रीय बजट 2025-26 में घोषित 'दलहन में आत्मनिर्भरता मिशन' (Mission for Aatmanirbharta in Pulses) के तहत वर्ष 2030-31 तक घरेलू दलहन उत्पादन को बढ़ाकर कितने लाख टन करने का महत्वाकांक्षी लक्ष्य रखा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250 लाख टन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300 लाख टन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350 लाख टन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450 लाख टन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176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145/200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350 लाख टन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250 लाख टन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300 लाख टन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450 लाख टन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दालों का सबसे बड़ा उत्पादक होने के बावजूद अपनी घरेलू मांग को पूरा करने के लिए प्रतिवर्ष 30-40 लाख टन दालों (विशेषकर तुअर/अरहर, उड़द और मसूर) का आयात करता है। आयात निर्भरता को पूरी तरह समाप्त करने के लिए बजट 2025-26 में 6-वर्षीय 'दलहन में आत्मनिर्भरता मिशन' शुरू किया गया। इसका लक्ष्य दलहन की खेती का रकबा बढ़ाकर 310 लाख हेक्टेयर करना और वर्ष 2030-31 तक कुल घरेलू दलहन उत्पादन को 350 लाख टन (35 मिलियन टन) तक पहुंचाना है, जिसमें प्रमाणित उच्च उपज बीजों का वितरण और मूल्य समर्थन सुनिश्चित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176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145/200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बजट में घोषित 'प्रधानमंत्री धन-धान्य कृषि योजना' (PMDDKY) का दृष्टिकोण क्या है और यह कितने जिलों को मॉडल जिले के रूप में लक्षित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50 उच्चतम कृषि उत्पादकता वाले जिले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100 कम उत्पादकता और खराब ऋण पहुंच वाले 'आकांक्षी जिले' (Aspirational Districts), जहाँ 11 मंत्रालयों की 36 योजनाओं का अभिसरण (Convergence) किया जाएगा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तटीय राज्यों के सभी जिले</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देश के सभी 700+ जिले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777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146/200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100 कम उत्पादकता और खराब ऋण पहुंच वाले 'आकांक्षी जिले' (Aspirational Districts), जहाँ 11 मंत्रालयों की 36 योजनाओं का अभिसरण (Convergence) किया जाएगा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50 उच्चतम कृषि उत्पादकता वाले जिले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तटीय राज्यों के सभी जिले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देश के सभी 700+ जिले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'प्रधानमंत्री धन-धान्य कृषि योजना' (PMDDKY) नीति आयोग के सफल आकांक्षी जिला कार्यक्रम के मॉडल पर आधारित है। यह योजना देश के 100 ऐसे पिछड़े और कम उत्पादक जिलों को लक्षित करती है जहां फसल उत्पादकता राज्य के औसत से कम है, सिंचाई कवरेज सीमित है और किसानों की संस्थागत बैंक ऋण तक पहुंच खराब है। इस योजना का सबसे अनूठा पहलू यह है कि इसमें कोई नया बजट बनाने के बजाय केंद्र सरकार के 11 मंत्रालयों की 36 मौजूदा योजनाओं (सिंचाई, बीज, मृदा, भंडारण, विपणन) को एक साथ जोड़कर (Convergence) इन 100 जिलों को उच्च-उत्पादक मॉडल कृषि जिलों में बदला जाएगा।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777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146/200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हाल ही में कृषि क्षेत्र में नवाचार, मूल्य संवर्धन और वर्ष 2030 तक $50 बिलियन के कृषि निर्यात लक्ष्य को प्राप्त करने के लिए 100 एग्री-फूड स्टार्टअप्स के समर्थन हेतु शुरू की गई पहल का क्या नाम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एग्री-उड़ान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पहल (BHARATI Initiative: Bharat Agri-Food, Agriculture Innovation)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स्टार्टअप-किसान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उन्नत कृषि अभियान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379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147/200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भारती पहल (BHARATI Initiative: Bharat Agri-Food, Agriculture Innovation)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एग्री-उड़ान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स्टार्टअप-किसान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उन्नत कृषि अभियान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पहल' (BHARATI Initiative) की शुरुआत भारत को वैश्विक एग्री-फूड और एग्रीटेक नवाचार का प्रमुख केंद्र बनाने के विजन के साथ की गई है। इसके पहले चरण (Inaugural Cohort) में 100 अग्रणी एग्री-फूड और एग्रीटेक स्टार्टअप्स को मेंटरशिप, तकनीकी सहायता और वेंचर फंडिंग उपलब्ध कराई जा रही है। इसका मुख्य उद्देश्य फसल कटाई के बाद मूल्य संवर्धन, स्मार्ट फार्मिंग, कोल्ड चेन लॉजिस्टिक्स और वैश्विक खाद्य मानकों को पूरा करके भारत के कुल कृषि निर्यात को वर्ष 2030 तक 50 बिलियन अमेरिकी डॉलर के पार ले जाना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379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147/200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स्वतंत्रता के बाद आचार्य विनोबा भावे द्वारा संचालित भूदान-ग्रामदान आंदोलन के तहत निजी भूमि स्वामित्व को पूरी तरह त्यागकर 'ग्रामदान' (Gramdan) व्यवस्था अपनाने वाला देश का पहला ऐतिहासिक गाँव कौन-सा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पोचमपल्ली (तेलंगाना)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मंगरोथ (हमीरपुर जिला, उत्तर प्रदेश - 1952)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सेवाग्राम (महाराष्ट्र)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बारदोली (गुजरात)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148/200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मंगरोथ (हमीरपुर जिला, उत्तर प्रदेश - 1952)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पोचमपल्ली (तेलंगाना)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सेवाग्राम (महाराष्ट्र)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बारदोली (गुजरात)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विनोबा भावे ने 18 अप्रैल 1951 को तेलंगाना के पोचमपल्ली गांव से 'भूदान आंदोलन' (व्यक्तिगत भूमि दान) की शुरुआत की थी। इसके बाद जब आंदोलन ने अधिक व्यापक रूप लिया, तो 24 मई 1952 को उत्तर प्रदेश के हमीरपुर जिले के 'मंगरोथ' (Mangroth) गाँव के सभी भूमि स्वामियों ने अपनी निजी जमीन का स्वामित्व त्यागकर पूरी 100% भूमि गांव की सामूहिक ग्राम सभा को दान कर दी। इस प्रकार मंगरोथ भारत का 'पहला ग्रामदान गाँव' बना, जहाँ भूमि का स्वामित्व व्यक्तिगत न होकर पूरे गाँव का सामूहिक स्वामित्व बन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148/200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'राष्ट्रीय सतत कृषि मिशन' (National Mission for Sustainable Agriculture - NMSA) के प्रमुख उप-मिशनों में निम्नलिखित में से कौन-सा एक शामिल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वर्षा सिंचित क्षेत्र विकास (Rainfed Area Development - RAD)</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ऑन-फार्म जल प्रबंधन (On-Farm Water Management - OFWM)</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मृदा स्वास्थ्य प्रबंधन (Soil Health Management - SHM)</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बड़े पैमाने पर विदेशी रासायनिक कीटनाशकों का आयात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581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149/200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बड़े पैमाने पर विदेशी रासायनिक कीटनाशकों का आयात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वर्षा सिंचित क्षेत्र विकास (Rainfed Area Development - RAD)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ऑन-फार्म जल प्रबंधन (On-Farm Water Management - OFWM)</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मृदा स्वास्थ्य प्रबंधन (Soil Health Management - SHM)</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जलवायु परिवर्तन पर राष्ट्रीय कार्ययोजना (NAPCC) के 8 मिशनों में से एक 'राष्ट्रीय सतत कृषि मिशन' (NMSA) है। इसके 4 प्रमुख उप-मिशन (Sub-missions) हैं: 1. वर्षा सिंचित क्षेत्र विकास (RAD) - एकीकृत कृषि प्रणाली (IFS) को बढ़ावा देना। 2. ऑन-फार्म जल प्रबंधन (OFWM) - खेत पर जल संरक्षण और सूक्ष्म सिंचाई। 3. मृदा स्वास्थ्य प्रबंधन (SHM) - मृदा परीक्षण, जैविक खाद और उर्वरकों का विवेकपूर्ण उपयोग। 4. जलवायु परिवर्तन और सतत कृषि: निगरानी, मॉडलिंग और नेटवर्किंग (CCSAMMN)। रासायनिक कीटनाशकों का आयात इसका घटक नहीं है, बल्कि यह पर्यावरण-अनुकूल प्राकृतिक व जैविक कृषि को बढ़ावा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581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149/200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कृषि में हाल के दशकों में हो रहे 'फसल विविधीकरण' (Crop Diversification) का सबसे प्रमुख और स्पष्ट रुझान किस दिशा में दिखाई दे रहा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उच्च मूल्य वाली बागवानी फसलों से पारंपरिक मोटे अनाज की ओर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पारंपरिक खाद्यान्न फसलों (जैसे धान और गेहूं) से उच्च मूल्य वाली बागवानी फसलों (फल, सब्जियां), फूलों, औषधीय पौधों और मसालों की ओर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प्रकार की नकद फसलों को बंद करके केवल चारे की खेती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विदेशी बीजों की खेती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150/200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पारंपरिक खाद्यान्न फसलों (जैसे धान और गेहूं) से उच्च मूल्य वाली बागवानी फसलों (फल, सब्जियां), फूलों, औषधीय पौधों और मसालों की ओर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उच्च मूल्य वाली बागवानी फसलों से पारंपरिक मोटे अनाज की ओर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प्रकार की नकद फसलों को बंद करके केवल चारे की खेती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विदेशी बीजों की खेती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कृषि में 'फसल विविधीकरण' (Crop Diversification) का प्राथमिक रुझान कम लाभप्रदता और अधिक पानी की खपत वाले पारंपरिक अनाजों (विशेषकर गेहूं और चावल के मोनोकल्चर चक्र) से हटकर उच्च मूल्य वाली फसलों (High-Value Crops) जैसे बागवानी (फल व सब्जियां), पुष्पकृषि (Floriculture), मसाले और तिलहन की ओर तेजी से बढ़ रहा है। इसका मुख्य कारण बढ़ता शहरीकरण, प्रति व्यक्ति आय में वृद्धि के साथ आहार में पोषण युक्त फलों-सब्जियों की बढ़ती घरेलू मांग, तथा कम रकबे में किसानों को मिलने वाला कहीं अधिक शुद्ध लाभ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150/200</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7वीं अनुसूची के विधायी शक्ति विभाजन के अनुसार, 'कृषि', 'सिंचाई' और 'जल आपूर्ति' मुख्य रूप से किस सूची के अंतर्गत आते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संघ सूची (Union List)</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सूची (State List - प्रविष्टि 14 एवं प्रविष्टि 17)</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समवर्ती सूची (Concurrent List)</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अवशिष्ट शक्तियां (Residuary Powers)</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783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151/200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राज्य सूची (State List - प्रविष्टि 14 एवं प्रविष्टि 17)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संघ सूची (Union List)</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समवर्ती सूची (Concurrent List)</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अवशिष्ट शक्तियां (Residuary Powers)</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7वीं अनुसूची के तहत कृषि और जल प्रबंधन मुख्य रूप से राज्यों का विषय हैं। राज्य सूची (List II) की 'प्रविष्टि 14' में कृषि (कृषि शिक्षा, अनुसंधान, कीट संरक्षण) शामिल है, जबकि 'प्रविष्टि 17' में जल (जल आपूर्ति, सिंचाई, नहरें, जल निकासी, तटबंध, जल भंडारण और जल शक्ति) शामिल है। केवल 'अंतर-राज्यीय नदियों और नदी घाटियों के नियमन एवं विकास' को संघ सूची की प्रविष्टि 56 में रखा गया है। अतः राज्यों के पास कृषि और सिंचाई नीतियों के क्रियान्वयन का प्राथमिक संवैधानिक अधिकार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783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151/200</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23 प्रमुख अनिवार्य कृषि फसलों के लिए 'न्यूनतम समर्थन मूल्य' (MSP) और गन्ने के लिए 'उचित एवं लाभकारी मूल्य' (FRP) की आधिकारिक सिफारिश कौन-सी विशेषज्ञ संस्था करती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नीति आयोग (NITI Aayog)</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कृषि लागत और मूल्य आयोग (Commission for Agricultural Costs and Prices - CACP)</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भारतीय खाद्य निगम (FCI)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नाबार्ड (NABARD)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152/200</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कृषि लागत और मूल्य आयोग (Commission for Agricultural Costs and Prices - CACP)</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नीति आयोग (NITI Aayog)</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खाद्य निगम (FCI)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नाबार्ड (NABARD)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के कृषि एवं किसान कल्याण मंत्रालय के तहत एक संबद्ध कार्यालय के रूप में कार्यरत 'कृषि लागत और मूल्य आयोग' (CACP - पूर्व में कृषि मूल्य आयोग, स्थापना 1965) प्रतिवर्ष 23 अनिवार्य फसलों (7 अनाज, 5 दालें, 7 तिलहन और 4 व्यावसायिक फसलें) के लिए MSP की सिफारिश करता है। CACP व्यापक उत्पादन लागत (A2+FL तथा C2 लागत), बाजार मांग व आपूर्ति, घरेलू व अंतरराष्ट्रीय मूल्य रुझान, अंतर-फसल मूल्य समता और समग्र अर्थव्यवस्था पर प्रभाव का वैज्ञानिक विश्लेषण करके MSP की सिफारिश करता है, जिस पर अंतिम निर्णय आर्थिक मामलों की मंत्रिमंडलीय समिति (CCEA) 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152/200</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'प्रधानमंत्री फसल बीमा योजना' (PMFBY) के तहत प्राकृतिक आपदाओं से सुरक्षा के लिए किसानों द्वारा देय अधिकतम प्रीमियम दरें (Farmer's Share of Premium) क्या निर्धारित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फसलों के लिए एक समान 5.0%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रबी फसलों के लिए 1.5%, सभी खरीफ खाद्य/तिलहन फसलों के लिए 2.0%, और वार्षिक वाणिज्यिक/बागवानी फसलों के लिए 5.0%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रबी के लिए 2.0% और खरीफ के लिए 1.5%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किसानों के लिए 100% प्रीमियम सब्सिडी (शून्य प्रीमियम)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986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153/200</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सभी रबी फसलों के लिए 1.5%, सभी खरीफ खाद्य/तिलहन फसलों के लिए 2.0%, और वार्षिक वाणिज्यिक/बागवानी फसलों के लिए 5.0%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फसलों के लिए एक समान 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रबी के लिए 2.0% और खरीफ के लिए 1.5%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किसानों के लिए 100% प्रीमियम सब्सिडी (शून्य प्रीमियम)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प्रधानमंत्री फसल बीमा योजना (PMFBY) को 2016 में शुरू किया गया था। इस योजना में किसानों के लिए प्रीमियम की दरें बेहद किफायती रखी गई हैं: 1. सभी खरीफ फसलों (खाद्यान्न और तिलहन) के लिए किसान द्वारा देय अधिकतम प्रीमियम बीमा राशि का मात्र 2.0% है। 2. सभी रबी फसलों के लिए मात्र 1.5% है। 3. वार्षिक वाणिज्यिक और बागवानी फसलों के लिए मात्र 5.0% है। वास्तविक बीमांकिक प्रीमियम दर (Actuarial Premium) और किसानों द्वारा दिए गए प्रीमियम के बीच का शेष भारी अंतर केंद्र और राज्य सरकारों द्वारा 50:50 (पूर्वोत्तर में 90:10) के अनुपात में सब्सिडी के रूप में वहन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986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153/200</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किसानों को उनकी अल्पकालिक उत्पादन ऋण और कार्यशील पूंजी की जरूरतों के लिए 'किसान क्रेडिट कार्ड' (KCC) योजना किस वर्ष और किस समिति की सिफारिश पर शुरू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1991, नरसिम्हम समिति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1998, आर. वी. गुप्ता समिति (नाबार्ड द्वारा मॉडल तैयार)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2004, प्रो. एम. एस. स्वामीनाथन आयोग</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2014, शांता कुमार समिति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587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154/200</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1998, आर. वी. गुप्ता समिति (नाबार्ड द्वारा मॉडल तैयार)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1991, नरसिम्हम समिति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2004, प्रो. एम. एस. स्वामीनाथन आयोग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2014, शांता कुमार समिति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किसानों को साहूकारों के चंगुल से बचाने और खाद, बीज, कीटनाशक खरीदने तथा घरेलू खर्चों के लिए समय पर व लचीला संस्थागत ऋण उपलब्ध कराने के उद्देश्य से अगस्त 1998 में तत्कालीन वित्त मंत्री यशवंत सिन्हा द्वारा KCC योजना शुरू की गई थी। इसका मॉडल नाबार्ड (NABARD) द्वारा 'आर. वी. गुप्ता समिति' की सिफारिशों के आधार पर तैयार किया गया था। वर्तमान में KCC के तहत किसानों को 7% की रियायती दर पर ₹3 लाख तक का ऋण मिलता है, और समय पर भुगतान करने वाले किसानों को 3% की अतिरिक्त ब्याज सबवेंशन (Prompt Repayment Incentive) मिलने से प्रभावी ब्याज दर मात्र 4% रह जाती है। अब इसका विस्तार पशुपालन और मत्स्य पालन के लिए भी कर दिया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587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154/200</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रिजर्व बैंक (RBI) के 'प्राथमिकता प्राप्त क्षेत्र ऋण' (Priority Sector Lending - PSL) दिशानिर्देशों के तहत, घरेलू वाणिज्यिक बैंकों को अपने कुल समायोजित शुद्ध बैंक ऋण (ANBC) का कितना प्रतिशत अनिवार्य रूप से सीधे 'कृषि क्षेत्र' को देना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कुल 40% PSL में से 18% (जिसमें छोटे और सीमांत किसानों के लिए 10% का अनिवार्य उप-लक्ष्य शामिल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कुल 25% में से 10%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कुल 50% में से 20%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188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155/200</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कुल 40% PSL में से 18% (जिसमें छोटे और सीमांत किसानों के लिए 10% का अनिवार्य उप-लक्ष्य शामिल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कुल 25% में से 10%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कुल 50% में से 20%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RBI के संशोधित PSL दिशानिर्देशों के अनुसार, सभी घरेलू अनुसूचित वाणिज्यिक बैंकों (विदेशी बैंकों सहित जिनके पास 20 या अधिक शाखाएं हैं) को अपने समायोजित शुद्ध बैंक ऋण (ANBC) या तुलन पत्र बाह्य एक्सपोजर के समतुल्य (CEOBE) का 40% अनिवार्य रूप से प्राथमिकता प्राप्त क्षेत्रों को आवंटित करना होता है। इस 40% के भीतर, अकेले 'कृषि क्षेत्र' के लिए 18% का अनिवार्य लक्ष्य निर्धारित है। इसके अतिरिक्त, कृषि के इस 18% हिस्से में से 'छोटे और सीमांत किसानों' (Small and Marginal Farmers - SMFs) को कम से कम 10% ऋण का प्रवाह सुनिश्चित करना एक अनिवार्य उप-लक्ष्य बनाया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188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155/200</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 व्यापार संगठन (WTO) के 'कृषि पर समझौते' (Agreement on Agriculture - AoA) के तहत, उन सरकारी कृषि सब्सिडियों को किस 'बॉक्स' में रखा जाता है जो व्यापार को प्रत्यक्ष रूप से विकृत (Trade-Distorting) करती हैं और जिन्हें कम करने की कानूनी बाध्यता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ग्रीन बॉक्स (Green Box)</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ब्लू बॉक्स (Blue Box)</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एम्बर बॉक्स (Amber Box)</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रेड बॉक्स (Red Box)</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156/200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एम्बर बॉक्स (Amber Box)</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ग्रीन बॉक्स (Green Box)</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 बॉक्स (Blue Box)</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रेड बॉक्स (Red Box)</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WTO के AoA के तहत कृषि सहायताओं को तीन प्रमुख बक्शों में बांटा गया है: 1. ग्रीन बॉक्स (Green Box): वे सब्सिडी जो व्यापार को विकृत नहीं करतीं (उदा. कृषि अनुसंधान, कीट नियंत्रण, बुनियादी ढांचा, आपदा राहत); इन पर कोई सीमा नहीं है। 2. ब्लू बॉक्स (Blue Box): उत्पादन को सीमित करने वाले कार्यक्रमों से जुड़ी प्रत्यक्ष सहायता। 3. एम्बर बॉक्स (Amber Box): वे सभी घरेलू समर्थन जो उत्पादन और व्यापार को सीधे विकृत करते हैं, जैसे न्यूनतम समर्थन मूल्य (MSP), इनपुट सब्सिडी (उर्वरक, बिजली, सिंचाई पर छूट)। WTO नियमों के अनुसार विकासशील देशों में एम्बर बॉक्स सब्सिडी कुल कृषि उत्पादन मूल्य के 10% (De Minimis सीमा) से अधिक नहीं होनी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156/200</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किसानों को उनकी तिलहन, दलहन और कोपरा फसलों का लाभकारी मूल्य दिलाने के लिए वर्ष 2018 में शुरू किए गए 'प्रधानमंत्री अन्नदाता आय संरक्षण अभियान' (PM-AASHA) के तीन मुख्य घटक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मूल्य समर्थन योजना (PSS), मूल्य न्यूनतम भुगतान योजना (PDPS), और निजी खरीद एवं स्टॉकिस्ट पायलट योजना (PPSS)</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ऋण माफी योजना, बीज वितरण योजना और निर्यात संवर्धन योजना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ड्रिप सिंचाई, सौर पंप और कोल्ड स्टोरेज योजना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फसल बीमा, किसान पेंशन और खाद सब्सिडी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391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157/200</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मूल्य समर्थन योजना (PSS), मूल्य न्यूनतम भुगतान योजना (PDPS), और निजी खरीद एवं स्टॉकिस्ट पायलट योजना (PPSS)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ऋण माफी योजना, बीज वितरण योजना और निर्यात संवर्धन योजना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ड्रिप सिंचाई, सौर पंप और कोल्ड स्टोरेज योजना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फसल बीमा, किसान पेंशन और खाद सब्सिडी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मंत्रिमंडल ने सितंबर 2018 में 'पीएम-आशा' (PM-AASHA) को मंजूरी दी थी। इसके तीन स्वतंत्र घटक हैं: 1. मूल्य समर्थन योजना (Price Support Scheme - PSS): जब बाजार भाव MSP से नीचे गिरते हैं, तो NAFED और FCI जैसी केंद्रीय नोडल एजेंसियां किसानों से दालों, तिलहनों और कोपरा की वास्तविक भौतिक खरीद करती हैं। 2. मूल्य न्यूनतम भुगतान योजना (Price Deficiency Payment Scheme - PDPS): इसमें सरकार कोई भौतिक फसल नहीं खरीदती, बल्कि किसान द्वारा पंजीकृत मंडी में बेची गई फसल के बाजार मूल्य और MSP के बीच के अंतर की नकद भरपाई (Deficiency) सीधे किसान के बैंक खाते में DBT द्वारा करती है (मध्य प्रदेश की भावांतर भुगतान योजना की तर्ज पर)। 3. निजी खरीद और स्टॉकिस्ट योजना (PPSS): निजी व्यापारियों को MSP पर खरीद के लिए पायलट आधार पर शामिल करना।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391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157/200</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'प्रति बूंद अधिक फसल' (Per Drop More Crop) के लक्ष्य को पूरा करने और राज्यों को सूक्ष्म सिंचाई प्रौद्योगिकियों के कवरेज का विस्तार करने के लिए ₹5,000 करोड़ के कॉर्पस के साथ 'सूक्ष्म सिंचाई कोष' (Micro Irrigation Fund - MIF) किस वित्तीय संस्थान के अधीन स्थापित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भारतीय रिजर्व बैंक (RBI)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राष्ट्रीय कृषि और ग्रामीण विकास बैंक (NABARD)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भारतीय लघु उद्योग विकास बैंक (SIDBI)</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भारतीय स्टेट बैंक (SBI)</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99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158/200</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राष्ट्रीय कृषि और ग्रामीण विकास बैंक (NABARD)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रिजर्व बैंक (RBI)</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लघु उद्योग विकास बैंक (SIDBI)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स्टेट बैंक (SBI)</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सूक्ष्म सिंचाई कोष (Micro Irrigation Fund - MIF) की स्थापना ₹5,000 करोड़ के प्रारंभिक कॉर्पस के साथ नाबार्ड (NABARD) के तहत की गई थी। इस विशेष कोष का मुख्य उद्देश्य राज्य सरकारों को रियायती ब्याज दर पर दीर्घकालिक ऋण उपलब्ध कराना है, ताकि राज्य सरकारें PMKSY-PDMC के तहत मिलने वाली केंद्रीय सब्सिडी के अतिरिक्त अपने स्वयं के बजटीय संसाधनों से किसानों को 'टॉप-अप सब्सिडी' प्रदान कर सकें और ड्रिप तथा स्प्रिंकलर सिंचाई को तेजी से अपना सकें।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99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158/200</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क्लस्टर दृष्टिकोण और भागीदारी गारंटी प्रणाली (PGS-India) के माध्यम से किसानों को बिना रसायनों के पारंपरिक खेती करने के लिए प्रोत्साहित करने वाली प्रमुख केंद्र प्रायोजित योजना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परंपरागत कृषि विकास योजना (PKVY)</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राष्ट्रीय खाद्य सुरक्षा मिशन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मृदा स्वास्थ्य मिशन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कृषि विस्तार सुधार योजना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593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159/200</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परंपरागत कृषि विकास योजना (PKVY)</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राष्ट्रीय खाद्य सुरक्षा मिशन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मृदा स्वास्थ्य मिशन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कृषि विस्तार सुधार योजना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परंपरागत कृषि विकास योजना (PKVY) को राष्ट्रीय सतत कृषि मिशन (NMSA) के तहत 2015 में लॉन्च किया गया था। यह योजना जैविक खेती (Organic Farming) को क्लस्टर आधार पर बढ़ावा देती है। इसके तहत किसान 20 से 50 हेक्टेयर (लगभग 50 एकड़) के क्लस्टर बनाते हैं। सरकार प्रति हेक्टेयर ₹50,000 की वित्तीय सहायता 3 वर्षों के लिए प्रदान करती है, जिसमें से ₹31,000 सीधे किसान को जैविक इनपुट (जीवामृत, वर्मीकम्पोस्ट आदि) खरीदने और तैयार करने के लिए DBT द्वारा दिए जाते हैं। इसके तहत प्रमाणन के लिए आसान 'भागीदारी गारंटी प्रणाली' (PGS-India) का उपयोग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593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159/200</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बजट 2018-19 में टमाटर, प्याज और आलू (TOP) के मौसमी मूल्य उतार-चढ़ाव को रोकने के लिए शुरू किए गए 'ऑपरेशन ग्रीन्स' (Operation Greens) का विस्तार आत्मनिर्भर भारत पैकेज के तहत किस सीमा तक कर दिया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5 प्रमुख मसालों तक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TOP से TOTAL तक - यानी सभी अधिसूचित जल्दी खराब होने वाले फलों और सब्जियों (All Perishable Fruits and Vegetables) तक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गेहूं और चावल के भंडारण तक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विदेशी सेब के आयात तक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160/200</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TOP से TOTAL तक - यानी सभी अधिसूचित जल्दी खराब होने वाले फलों और सब्जियों (All Perishable Fruits and Vegetables) तक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5 प्रमुख मसालों तक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गेहूं और चावल के भंडारण तक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विदेशी सेब के आयात तक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खाद्य प्रसंस्करण उद्योग मंत्रालय (MoFPI) द्वारा 'ऑपरेशन ग्रीन्स' की शुरुआत डेयरी क्षेत्र के 'ऑपरेशन फ्लड' की तर्ज पर की गई थी। प्रारंभ में यह केवल तीन मुख्य सब्जियों- टमाटर, प्याज और आलू (Tomato, Onion, Potato - TOP) की आपूर्ति श्रृंखला और मूल्य स्थिरीकरण के लिए थी। मई 2020 में आत्मनिर्भर भारत अभियान के तहत मूल्य गिरावट और लॉकडाउन के दौरान किसानों की मदद के लिए इसका दायरा बढ़ाकर 'TOP से TOTAL' कर दिया गया, जिसके तहत देश के सभी अधिसूचित जल्दी खराब होने वाले फलों (जैसे आम, केला, सेब, संतरा आदि) और सब्जियों के परिवहन व कोल्ड स्टोरेज पर 50% माल ढुलाई सब्सिडी दी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160/200</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भूमि जोतों के आकार, वितरण पैटर्न और काश्तकारी संरचना के सांख्यिकीय आंकड़े एकत्र करने के लिए 'कृषि जनगणना' (Agriculture Census) कितने वर्षों के अंतराल पर आयोजित की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प्रत्येक 2 वर्ष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प्रत्येक 5 वर्ष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प्रत्येक 10 वर्ष में (सामान्य जनसंख्या जनगणना के साथ)</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प्रति वर्ष</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796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161/200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प्रत्येक 5 वर्ष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प्रत्येक 2 वर्ष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प्रत्येक 10 वर्ष में (सामान्य जनसंख्या जनगणना के साथ)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प्रति वर्ष</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 एवं किसान कल्याण मंत्रालय द्वारा भारत में प्रत्येक 5 वर्ष के अंतराल पर 'कृषि जनगणना' (Agriculture Census) का आयोजन किया जाता है। भारत में पहली बार कृषि जनगणना का आयोजन 1970-71 के संदर्भ वर्ष के लिए किया गया था। यह जनगणना विश्व कृषि जनगणना कार्यक्रम (WCA) के दिशा-निर्देशों के अनुरूप संचालित होती है और यह भारत में विभिन्न श्रेणियों (सीमांत: &lt;1 हेक्टेयर, लघु: 1-2 हेक्टेयर, अर्ध-मध्यम: 2-4 हेक्टेयर, मध्यम: 4-10 हेक्टेयर, और बड़े: &gt;10 हेक्टेयर) की कृषि जोतों की संख्या, क्षेत्रफल, सिंचाई की स्थिति और भूमि उपयोग का सबसे प्रामाणिक डेटाबेस प्रदान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796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161/200</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पहली हरित क्रांति के पारिस्थितिक दुष्प्रभावों (भूजल दोहन, मिट्टी का क्षारीकरण) को दूर करते हुए पारिस्थितिक नुकसान के बिना उत्पादकता में निरंतर वृद्धि करने के लिए 'सदाबहार क्रांति' (Evergreen Revolution) का आह्वान किसने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 एम. एस. स्वामीनाथन (M.S. Swaminathan)</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 वर्गीज कुरियन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 नॉर्मन बोरलॉग</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 आर. एस. परोदा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397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162/200</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 एम. एस. स्वामीनाथन (M.S. Swaminathan)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वर्गीज कुरियन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नॉर्मन बोरलॉग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आर. एस. परोदा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हरित क्रांति के जनक प्रो. एम. एस. स्वामीनाथन ने 1990 के दशक में 'सदाबहार क्रांति' (Evergreen Revolution) की अवधारणा प्रस्तुत की। उन्होंने स्पष्ट किया कि पहली हरित क्रांति 'थकान के लक्षण' दिखा रही थी और उससे पर्यावरण व भूजल को भारी नुकसान पहुंचा था। सदाबहार क्रांति का तात्पर्य है "पारिस्थितिक और सामाजिक नुकसान पहुंचाए बिना उत्पादकता में निरंतर और दीर्घकालिक वृद्धि करना।" यह रासायनिक खेती के अंधाधुंध उपयोग के स्थान पर एकीकृत कीट प्रबंधन (IPM), एकीकृत पोषक तत्व प्रबंधन (INM), सूक्ष्म सिंचाई, जैविक खेती और परिशुद्ध कृषि तकनीकों के सम्मिश्रण पर बल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397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162/200</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'अनुबंध कृषि' (Contract Farming) की संस्थागत व्यवस्था को सबसे सटीक रूप से कौन-सा विकल्प परिभाषित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सरकार द्वारा किसानों की कृषि भूमि को स्थायी रूप से अधिग्रहित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 किसान (उत्पादक) और किसी प्रसंस्करण कंपनी/खरीदार (प्रायोजक) के बीच बुवाई से पूर्व ही फसल की मात्रा, गुणवत्ता, वितरण समय और पूर्व-निर्धारित खरीद मूल्य के लिए किया गया औपचारिक कानूनी समझौता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किसानों द्वारा अपनी जमीन बैंकों को ऋण के बदले गिरवी रखना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बिना किसी पूर्व गारंटी के केवल खुली नीलामी मंडी में फसल बेचना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998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163/200</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किसी किसान (उत्पादक) और किसी प्रसंस्करण कंपनी/खरीदार (प्रायोजक) के बीच बुवाई से पूर्व ही फसल की मात्रा, गुणवत्ता, वितरण समय और पूर्व-निर्धारित खरीद मूल्य के लिए किया गया औपचारिक कानूनी समझौता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सरकार द्वारा किसानों की कृषि भूमि को स्थायी रूप से अधिग्रहित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किसानों द्वारा अपनी जमीन बैंकों को ऋण के बदले गिरवी रखना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बिना किसी पूर्व गारंटी के केवल खुली नीलामी मंडी में फसल बेचना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अनुबंध कृषि (Contract Farming) एक ऐसी संस्थागत कृषि विपणन व्यवस्था है जिसमें एक खरीदार (जैसे खाद्य प्रसंस्करण कंपनी, निर्यातक या रिटेल चेन) और एक किसान या FPO के बीच फसल बोने से पहले ही एक समझौता होता है। प्रायोजक कंपनी किसान को गुणवत्तापूर्ण बीज, तकनीकी मार्गदर्शन और वित्तीय इनपुट उपलब्ध करा सकती है, और बदले में किसान पूर्व-निर्धारित गुणवत्ता और निश्चित कीमत पर फसल कंपनी को बेचने के लिए प्रतिबद्ध होता है। यह व्यवस्था किसान को बाजार में फसल पकने के समय होने वाले मूल्य जोखिम (Price Volatility) से सुरक्षा प्रदान करती है और कंपनी को सुनिश्चित कच्चे माल की आपूर्ति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998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163/200</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कपड़ा उद्योग की मूल्य श्रृंखला को मजबूत करने और उच्च गुणवत्ता वाले वस्त्रों के निर्माण के लिए बजट में घोषित 'कपास उत्पादकता मिशन' (Cotton Productivity Mission) का मुख्य फोकस किस पर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सामान्य छोटे रेशे वाली कपास का उत्पादन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अतिरिक्त लंबे रेशे (Extra Long Staple - ELS) वाली कपास का विकास तथा जलवायु-अनुकूल व कीट-प्रतिरोधी बीजों को बढ़ावा देना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सूती वस्त्र मिलों का राष्ट्रीयकरण</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कपास के निर्यात पर पूर्ण प्रतिबंध लगाना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164/200</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अतिरिक्त लंबे रेशे (Extra Long Staple - ELS) वाली कपास का विकास तथा जलवायु-अनुकूल व कीट-प्रतिरोधी बीजों को बढ़ावा देना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सामान्य छोटे रेशे वाली कपास का उत्पादन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सूती वस्त्र मिलों का राष्ट्रीयकरण</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कपास के निर्यात पर पूर्ण प्रतिबंध लगाना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विश्व में कपास का सबसे बड़ा उत्पादक और दूसरा सबसे बड़ा निर्यातक है, लेकिन प्रीमियम गुणवत्ता वाले धागे और वस्त्र बनाने के लिए आवश्यक 'अतिरिक्त लंबे रेशे' (Extra Long Staple - ELS Cotton) की घरेलू कमी के कारण भारत को प्रतिवर्ष भारी मात्रा में ELS कपास (जैसे मिस्र और अमेरिकी पिमा कॉटन) का आयात करना पड़ता है। केंद्रीय वस्त्र मंत्रालय और कृषि मंत्रालय द्वारा संयुक्त रूप से संचालित 5-वर्षीय 'कपास उत्पादकता मिशन' का मुख्य उद्देश्य ELS कपास के नए जलवायु-स्मार्ट बीजों का विकास, सघन रोपण प्रणाली (HDPS) और एकीकृत कीट प्रबंधन के माध्यम से कपास की उत्पादकता को वैश्विक औसत तक बढ़ाना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164/200</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वन अधिनियम, 1927 में वर्ष 2017 में किए गए ऐतिहासिक संशोधन के तहत, पुनर्गठित 'राष्ट्रीय बांस मिशन' (National Bamboo Mission) बांस को किस रूप में बढ़ावा देता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एक आरक्षित वन वृक्ष के रूप में जिसे काटना गैर-कानूनी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गैर-वन क्षेत्रों में उगाई जाने वाली एक कृषि उपज / घास ('हरा सोना' - Green Gold) के रूप में, जिसकी कटाई और परिवहन के लिए परमिट की आवश्यकता समाप्त कर किसानों की आय बढ़ाई जा सके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विदेशी चिड़ियाघरों के लिए सजावटी वनस्पति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एक औद्योगिक रसायन के रूप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200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165/200</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गैर-वन क्षेत्रों में उगाई जाने वाली एक कृषि उपज / घास ('हरा सोना' - Green Gold) के रूप में, जिसकी कटाई और परिवहन के लिए परमिट की आवश्यकता समाप्त कर किसानों की आय बढ़ाई जा सके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एक आरक्षित वन वृक्ष के रूप में जिसे काटना गैर-कानूनी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विदेशी चिड़ियाघरों के लिए सजावटी वनस्पति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एक औद्योगिक रसायन के रूप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नवंबर 2017 में केंद्र सरकार ने भारतीय वन अधिनियम 1927 की धारा 2(7) में ऐतिहासिक संशोधन करके गैर-वन क्षेत्रों (खेतों व निजी भूमि) में उगाए जाने वाले बांस को 'वृक्ष' (Tree) की कानूनी परिभाषा से बाहर कर दिया (क्योंकि वनस्पति विज्ञान के अनुसार बांस एक घास है)। इसके बाद पुनर्गठित 'राष्ट्रीय बांस मिशन' (NBM) शुरू किया गया। अब किसान अपनी निजी जमीन पर बेरोकटोक बांस उगा सकते हैं, काट सकते हैं और बिना ट्रांजिट पास के देश भर में बेच सकते हैं। बांस को 'हरा सोना' (Green Gold) मानकर फर्नीचर, हैंडीक्राफ्ट, निर्माण और बायो-एथेनॉल उद्योगों से जोड़कर किसानों की आय दोगुनी करने का प्रयास किया जा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200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165/200</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राज्यों के बीच प्रतिस्पर्धी संघवाद को बढ़ावा देने के लिए कृषि विपणन सुधारों (जैसे मॉडल APMC एक्ट, ई-ट्रेडिंग, भूमि पट्टा) को लागू करने की सीमा के आधार पर नीति आयोग द्वारा जारी किए जाने वाले सूचकांक का क्या नाम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कृषि प्रदर्शन सूचकांक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कृषि विपणन और किसान अनुकूल सुधार सूचकांक (Agricultural Marketing and Farmer Friendly Reforms Index - AMFFRI)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किसान कल्याण सूचकांक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ग्रामीण व्यापार सुगमता सूचकांक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802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166/200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कृषि विपणन और किसान अनुकूल सुधार सूचकांक (Agricultural Marketing and Farmer Friendly Reforms Index - AMFFRI)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राष्ट्रीय कृषि प्रदर्शन सूचकांक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किसान कल्याण सूचकांक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ग्रामीण व्यापार सुगमता सूचकांक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 आयोग ने राज्यों को अपनी कृषि विपणन नीतियों में सुधार करने के लिए प्रोत्साहित करने हेतु 'कृषि विपणन और किसान अनुकूल सुधार सूचकांक' (AMFFRI) विकसित किया है। यह सूचकांक राज्यों को 0 से 100 के पैमाने पर रैंक करता है (जहाँ 0 सर्वश्रेष्ठ प्रदर्शन को दर्शाता है)। यह 9 प्रमुख संकेतकों पर राज्यों का मूल्यांकन करता है, जैसे: ई-नाम पोर्टल का एकीकरण, मंडियों में निजी क्षेत्र की भागीदारी, एकल राज्यव्यापी ट्रेडिंग लाइसेंस, फलों व सब्जियों का APMC परिधि से गैर-विनियमन (Deregulated), भूमि पट्टेदारी कानूनों (Land Leasing Reforms) का उदारीकरण और वन उपज (विशेषकर लकड़ी व बांस) पर आवागमन प्रतिबंधों की समाप्ति।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802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166/200</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किस ऐतिहासिक औद्योगिक नीति को 'भारतीय उद्योग का मैग्ना कार्टा' (Magna Carta) या देश का 'आर्थिक संविधान' कहा जाता है, जिसने सार्वजनिक क्षेत्र को अर्थव्यवस्था की 'कमांडिंग हाइट्स' पर स्थापित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औद्योगिक नीति संकल्प 1948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औद्योगिक नीति संकल्प 1956 (Industrial Policy Resolution 1956)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औद्योगिक नीति वक्तव्य 1977</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नई औद्योगिक नीति 1991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403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167/200</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औद्योगिक नीति संकल्प 1956 (Industrial Policy Resolution 1956)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औद्योगिक नीति संकल्प 1948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औद्योगिक नीति वक्तव्य 1977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नई औद्योगिक नीति 1991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30 अप्रैल 1956 को संसद द्वारा अंगीकार किया गया 'औद्योगिक नीति संकल्प 1956' (IPR 1956) स्वतंत्र भारत के औद्योगिक इतिहास का सबसे महत्वपूर्ण दस्तावेज है, जिसे भारतीय उद्योग का 'आर्थिक संविधान' (Economic Constitution of India) कहा जाता है। इसने संसद द्वारा 1954 में घोषित 'समाज के समाजवादी प्रतिरूप' (Socialistic Pattern of Society) के लक्ष्य को साकार करने के लिए सार्वजनिक क्षेत्र (Public Sector) को अर्थव्यवस्था की 'कमांडिंग हाइट्स' (सर्वोच्च नियामक भूमिका) पर स्थापित किया। IPR 1956 ने उद्योगों को तीन स्पष्ट अनुसूचियों (अनुसूची A: 17 केवल सरकारी उद्योग, अनुसूची B: 12 मिश्रित उद्योग, और अनुसूची C: निजी क्षेत्र के उद्योग) में वर्गीकृत किया और लाइसेंस राज की नींव रखी।</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403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167/200</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प्रोफेसर पी. सी. महालनोबिस द्वारा तैयार किए गए 'द्वितीय पंचवर्षीय योजना' (1956-61) के संवृद्धि मॉडल का मुख्य सैद्धांतिक जोर किस पर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प्राथमिक कृषि और कुटीर उद्योगों का विकास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बुनियादी और भारी पूंजीगत वस्तु उद्योगों (Basic and Heavy Capital Goods Industries) की स्थापना के माध्यम से तीव्र औद्योगीकरण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उपभोक्ता वस्तुओं का खुला आयात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 क्षेत्र और बैंकिंग का उदारीकरण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168/200</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बुनियादी और भारी पूंजीगत वस्तु उद्योगों (Basic and Heavy Capital Goods Industries) की स्थापना के माध्यम से तीव्र औद्योगीकरण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प्राथमिक कृषि और कुटीर उद्योगों का विकास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उपभोक्ता वस्तुओं का खुला आयात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सेवा क्षेत्र और बैंकिंग का उदारीकरण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द्वितीय पंचवर्षीय योजना (1956-61) प्रसिद्ध सांख्यिकीविद् प्रो. प्रशांत चंद्र महालनोबिस द्वारा विकसित द्वि-क्षेत्रीय और चार-क्षेत्रीय विकास मॉडल (Mahalanobis Model) पर आधारित थी। महालनोबिस मॉडल का केंद्रीय तर्क यह था कि दीर्घकालिक आत्मनिर्भरता और तीव्र आर्थिक विकास के लिए देश को "मशीनें बनाने वाली मशीनें" (Capital Goods / Heavy Industry - जैसे इस्पात, भारी इंजीनियरिंग, कोयला, बिजली, रसायन) में भारी निवेश करना चाहिए। इसी योजना के तहत भिलाई, राउरकेला और दुर्गापुर में तीन विशाल सार्वजनिक इस्पात संयंत्रों की स्थापना विदेशी सहयोग से की गई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168/200</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'औद्योगिक उत्पादन सूचकांक' (IIP) के भीतर 'आठ कोर उद्योगों' (Eight Core Industries) का कुल भारांक लगभग कितना है और इनमें से किस उद्योग का भारांक सर्वाधिक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कुल भारांक 25.4% और शीर्ष उद्योग कोयला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कुल भारांक 40.27% है और इनमें सर्वाधिक भारांक 'पेट्रोलियम रिफाइनरी उत्पाद' (28.04%) का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कुल भारांक 50.5% है और शीर्ष उद्योग इस्पात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कुल भारांक 30.0% है और शीर्ष उद्योग बिजली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605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169/200</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कुल भारांक 40.27% है और इनमें सर्वाधिक भारांक 'पेट्रोलियम रिफाइनरी उत्पाद' (28.04%) का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कुल भारांक 25.4% और शीर्ष उद्योग कोयला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कुल भारांक 50.5% है और शीर्ष उद्योग इस्पात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कुल भारांक 30.0% है और शीर्ष उद्योग बिजली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औद्योगिक उत्पादन सूचकांक (Index of Industrial Production - IIP, आधार वर्ष 2011-12) में शामिल सभी औद्योगिक वस्तुओं के कुल भारांक का 40.27% हिस्सा 'आठ बुनियादी कोर उद्योग' (Eight Core Industries) बनाते हैं। आठ कोर उद्योगों के आंतरिक भारांक का आधिकारिक क्रम इस प्रकार है: 1. पेट्रोलियम रिफाइनरी उत्पाद (28.04% - सर्वाधिक), 2. बिजली (19.85%), 3. इस्पात (17.92%), 4. कोयला (10.33%), 5. कच्चा तेल (8.98%), 6. प्राकृतिक गैस (6.88%), 7. सीमेंट (5.37%), और 8. उर्वरक (2.63% - सबसे कम)। कोर सेक्टर का प्रदर्शन समग्र औद्योगिक गतिविधि का सबसे संवेदनशील संकेतक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605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169/200</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1991 में भारत में ऐतिहासिक संरचनात्मक आर्थिक सुधारों (LPG नीति) को लागू करने के लिए कौन-सा संकट तात्कालिक 'ट्रिगर' (Immediate Trigger) बना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गंभीर भुगतान संतुलन (BoP) संकट और विदेशी मुद्रा भंडार का मात्र 2-3 सप्ताह के आयात के स्तर तक सूख जाना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देश में भीषण अकाल और खाद्यान्न की भारी कमी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शेयर बाजार का पूर्ण रूप से ढह जाना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विश्व बैंक द्वारा भारत पर व्यापारिक प्रतिबंध लगाना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170/200</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गंभीर भुगतान संतुलन (BoP) संकट और विदेशी मुद्रा भंडार का मात्र 2-3 सप्ताह के आयात के स्तर तक सूख जाना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देश में भीषण अकाल और खाद्यान्न की भारी कमी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शेयर बाजार का पूर्ण रूप से ढह जाना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विश्व बैंक द्वारा भारत पर व्यापारिक प्रतिबंध लगाना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1990-91 में खाड़ी युद्ध के कारण तेल की कीमतों में भारी उछाल, निर्यात में गिरावट, राजकोषीय घाटे में वृद्धि और राजनीतिक अस्थिरता के कारण भारत एक अभूतपूर्व 'भुगतान संतुलन संकट' (Balance of Payments Crisis) में फंस गया था। जून 1991 तक भारत का विदेशी मुद्रा भंडार गिरकर मात्र $1.2 बिलियन (लगभग ₹2,500 करोड़) रह गया था, जो मुश्किल से 2 से 3 सप्ताह के अनिवार्य आयातों (पेट्रोलियम आदि) के भुगतान के लिए पर्याप्त था। भारत अपने विदेशी ऋणों की अदायगी में डिफ़ॉल्ट होने की कगार पर था और सरकार को बैंक ऑफ इंग्लैंड में सोना गिरवी रखकर आपातकालीन विदेशी मुद्रा जुटानी पड़ी थी। इसी संकट ने जुलाई 1991 में LPG सुधारों का मार्ग प्रशस्त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170/200</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1991 की नई औद्योगिक नीति (NIP 1991) के तहत 'उदारीकरण' (Liberalization) के हिस्से के रूप में लाइसेंस राज को समाप्त किए जाने के बाद, वर्तमान में कितने रणनीतिक उद्योगों को 'अनिवार्य औद्योगिक लाइसेंसिंग' के अंतर्गत रखा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 उद्योग</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 उद्योग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8 उद्योग</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18 उद्योग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808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171/200</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5 उद्योग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 उद्योग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 उद्योग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 उद्योग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24 जुलाई 1991 को घोषित नई औद्योगिक नीति ने दशकों पुराने 'लाइसेंस, परमिट और कोटा राज' को समाप्त करते हुए लगभग सभी उद्योगों को औद्योगिक लाइसेंसिंग से मुक्त कर दिया। वर्तमान में सुरक्षा, रणनीतिक और गंभीर पर्यावरणीय चिंताओं के कारण केवल '5 विशिष्ट उद्योग' अनिवार्य लाइसेंसिंग के अधीन हैं: 1. एयरोस्पेस और रक्षा उपकरण (Aerospace and Defense Equipment), 2. औद्योगिक विस्फोटक (Industrial Explosives), 3. विशिष्ट खतरनाक रसायन (Hazardous Chemicals), 4. सिगार, सिगरेट और तंबाकू के विनिर्मित विकल्प, तथा 5. इलेक्ट्रॉनिक एयरोस्पेस। इसके अलावा केवल दो क्षेत्र (परमाणु ऊर्जा और रेलवे संचालन) सार्वजनिक क्षेत्र के लिए आरक्षित रखे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808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171/200</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उदारीकरण के दौर में बड़े व्यापारिक घरानों के अनावश्यक विस्तार को रोकने वाले पुराने 'MRTP अधिनियम, 1969' को समाप्त करके बाजार में निष्पक्ष प्रतिस्पर्धा को बढ़ावा देने के लिए किस नए कानून को लागू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मुद्रा प्रबंधन अधिनियम (FEMA)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प्रतिस्पर्धा अधिनियम, 2002 (Competition Act, 2002) - जिसके तहत भारतीय प्रतिस्पर्धा आयोग (CCI) की स्थापना हुई</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आवश्यक वस्तु अधिनियम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कंपनी अधिनियम, 2013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172/200</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प्रतिस्पर्धा अधिनियम, 2002 (Competition Act, 2002) - जिसके तहत भारतीय प्रतिस्पर्धा आयोग (CCI) की स्थापना हुई</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मुद्रा प्रबंधन अधिनियम (FEMA)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आवश्यक वस्तु अधिनियम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कंपनी अधिनियम, 2013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1991 से पूर्व 'एकाधिकार एवं प्रतिबंधात्मक व्यापार व्यवहार अधिनियम, 1969' (MRTP Act) बड़ी कंपनियों के आकार और संपत्ति पर अंकुश लगाता था, जिससे भारतीय कंपनियां वैश्विक स्तर पर बड़े पैमाने की अर्थव्यवस्था (Economies of Scale) हासिल नहीं कर पाती थीं। राघवन समिति की सिफारिशों के आधार पर सरकार ने MRTP अधिनियम को निरस्त कर दिया और 'प्रतिस्पर्धा अधिनियम, 2002' (Competition Act, 2002) पारित किया। इसके तहत अक्टूबर 2003 में 'भारतीय प्रतिस्पर्धा आयोग' (Competition Commission of India - CCI) की स्थापना की गई। नया कानून कंपनियों के बड़े होने पर रोक नहीं लगाता, बल्कि प्रतिस्पर्धा-विरोधी समझौतों (Anti-competitive agreements), बाजार में अपनी मजबूत स्थिति के दुरुपयोग (Abuse of Dominant Position) और प्रतिस्पर्धा को नुकसान पहुंचाने वाले विलय व अधिग्रहण (Mergers &amp; Acquisitions) को नियंत्रित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172/200</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सार्वजनिक क्षेत्र के उपक्रमों (PSEs) के संदर्भ में 'विनिवेश' (Disinvestment) और 'रणनीतिक निजीकरण' (Strategic Privatization) के बीच तकनीकी अंतर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विनिवेश केवल 100% शेयर बेचने को कहते हैं, जबकि निजीकरण केवल 10% बेचने 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सामान्य विनिवेश में सरकार सार्वजनिक उपक्रम में अल्पमत हिस्सेदारी (Minority Stake, उदा. 5-10%) बेचती है लेकिन 51% या अधिक शेयर और प्रबंधन नियंत्रण अपने पास रखती है; जबकि 'निजीकरण' में सरकार 51% या अधिक शेयर बेचकर प्रबंधन नियंत्रण किसी निजी रणनीतिक भागीदार को सौंप देती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विनिवेश केवल घाटे में चल रही कंपनियों में होता है, जबकि निजीकरण केवल लाभ वाली कंपनियों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शब्द बिल्कुल समान हैं और इनमें कोई अंतर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010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173/200</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सामान्य विनिवेश में सरकार सार्वजनिक उपक्रम में अल्पमत हिस्सेदारी (Minority Stake, उदा. 5-10%) बेचती है लेकिन 51% या अधिक शेयर और प्रबंधन नियंत्रण अपने पास रखती है; जबकि 'निजीकरण' में सरकार 51% या अधिक शेयर बेचकर प्रबंधन नियंत्रण किसी निजी रणनीतिक भागीदार को सौंप देती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विनिवेश केवल 100% शेयर बेचने को कहते हैं, जबकि निजीकरण केवल 10% बेचने 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विनिवेश केवल घाटे में चल रही कंपनियों में होता है, जबकि निजीकरण केवल लाभ वाली कंपनियों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शब्द बिल्कुल समान हैं और इनमें कोई अंतर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'विनिवेश' (Disinvestment) एक व्यापक वित्तीय प्रक्रिया है जिसके तहत सरकार सार्वजनिक क्षेत्र के उद्यमों (CPSEs) में अपनी इक्विटी शेयरधारिता का कुछ हिस्सा बाजार में बेचकर गैर-ऋण पूंजीगत राजस्व जुटाती है। यदि सरकार शेयर बेचती है लेकिन 51% या अधिक हिस्सेदारी और प्रबंधन नियंत्रण अपने हाथ में बनाए रखती है (जैसे LIC का IPO या ONGC में OFS), तो वह उपक्रम सरकारी ही बना रहता है। लेकिन जब सरकार CPSE की 51% या उससे अधिक हिस्सेदारी बेच देती है और कंपनी का संपूर्ण मालिकाना हक तथा प्रबंधन नियंत्रण (Management Control) किसी निजी खरीदार को स्थायी रूप से स्थानांतरित कर देती है (जैसे एयर इंडिया का टाटा समूह को हस्तांतरण या भारत एल्युमिनियम - बाल्को की बिक्री), तो इसे 'रणनीतिक निजीकरण' (Strategic Privatization)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010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173/200</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विदेशी व्यापार और निवेश को सुगम बनाने के लिए कठोर एवं आपराधिक दंड वाले 'विदेशी मुद्रा विनियमन अधिनियम' (FERA, 1973) को वर्ष 1999 में किस उदार कानून द्वारा प्रतिस्थापित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धन शोधन निवारण अधिनियम (PMLA, 2002)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विदेशी अंशदान विनियमन अधिनियम (FCRA)</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विदेशी मुद्रा प्रबंधन अधिनियम (Foreign Exchange Management Act - FEMA, 1999)</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सीमा शुल्क अधिनियम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611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174/200</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विदेशी मुद्रा प्रबंधन अधिनियम (Foreign Exchange Management Act - FEMA, 1999)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धन शोधन निवारण अधिनियम (PMLA, 2002)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विदेशी अंशदान विनियमन अधिनियम (FCRA)</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 शुल्क अधिनियम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FERA (1973) एक अत्यंत कठोर कानून था जो विदेशी मुद्रा के संरक्षण को अपराध-नियंत्रण की दृष्टि से देखता था; इसमें विदेशी मुद्रा नियमों के उल्लंघन को 'गैर-जमानती आपराधिक अपराध' (Criminal Offense) माना जाता था और जांच एजेंसियों को बिना वारंट गिरफ्तारी की असीमित शक्तियां प्राप्त थीं। उदारीकरण के युग में विदेशी निवेशकों का विश्वास बढ़ाने और चालू खाते में रुपए की पूर्ण परिवर्तनीयता (Current Account Convertibility 1994) के बाद FERA को निरस्त कर 'विदेशी मुद्रा प्रबंधन अधिनियम, 1999' (FEMA, 1999) लागू किया गया। FEMA ने अपना दृष्टिकोण 'विनियमन/नियंत्रण' (Regulation) से बदलकर 'प्रबंधन/सुविधा' (Management) कर दिया और विदेशी मुद्रा उल्लंघनों को आपराधिक अपराध के स्थान पर 'दीवानी अपराध' (Civil Offense) में बदल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611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174/200</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 सरकार द्वारा केंद्रीय सार्वजनिक क्षेत्र के उद्यमों (CPSEs) को वैश्विक दिग्गज (Global Giants) बनने और वित्तीय निर्णय लेने में पूर्ण स्वायत्तता प्रदान करने के लिए 'महारत्न' (Maharatna) योजना किस वर्ष शुरू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1991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1997</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2010 (मई 2010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2014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213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175/200</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2010 (मई 2010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1991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1997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2014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ने सार्वजनिक क्षेत्र के उपक्रमों के वर्गीकरण और स्वायत्तता के लिए 1997 में 'नवरत्न' और 'मिनीरत्न' योजनाएं शुरू की थीं। इसके बाद बड़े लाभ कमाने वाले नवरत्न उपक्रमों को अपने परिचालन का वैश्विक विस्तार करने और घरेलू व अंतरराष्ट्रीय स्तर पर बड़े निवेश निर्णय लेने के लिए विशेष वित्तीय अधिकार देने हेतु मई 2010 में 'महारत्न' (Maharatna) श्रेणी की शुरुआत की गई। महारत्न कंपनी के निदेशक मंडल को सरकार की पूर्व अनुमति के बिना किसी एकल परियोजना में ₹5,000 करोड़ तक या अपनी कुल संपत्ति (Net Worth) के 15% तक (जो भी कम हो) के इक्विटी निवेश का पूर्ण स्वायत्त अधिकार प्राप्त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213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175/200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किसी केंद्रीय सार्वजनिक क्षेत्र के उद्यम (CPSE) को 'महारत्न' (Maharatna) का प्रतिष्ठित दर्जा प्राप्त करने के लिए निम्नलिखित में से कौन-सी एक अनिवार्य पूर्व-शर्त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कंपनी को पहले से 'नवरत्न' (Navratna) का आधिकारिक दर्जा प्राप्त होना चाहिए।</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सेबी (SEBI) के सार्वजनिक शेयरधारिता नियमों के तहत भारतीय स्टॉक एक्सचेंज में सूचीबद्ध होना चाहिए।</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पिछले 3 वर्षों के दौरान कंपनी का कोई भी अंतरराष्ट्रीय परिचालन या विदेशी उपस्थिति (Global Presence) नहीं होनी चाहिए।</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पिछले 3 वर्षों में कंपनी का औसत वार्षिक शुद्ध लाभ (Average Annual Net Profit) ₹5,000 करोड़ से अधिक होना चाहिए तथा औसत वार्षिक टर्नओवर ₹25,000 करोड़ से अधिक होना चाहिए।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176/200</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पिछले 3 वर्षों के दौरान कंपनी का कोई भी अंतरराष्ट्रीय परिचालन या विदेशी उपस्थिति (Global Presence) नहीं होनी चाहिए।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कंपनी को पहले से 'नवरत्न' (Navratna) का आधिकारिक दर्जा प्राप्त होना चाहिए।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सेबी (SEBI) के सार्वजनिक शेयरधारिता नियमों के तहत भारतीय स्टॉक एक्सचेंज में सूचीबद्ध होना चाहिए।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पिछले 3 वर्षों में कंपनी का औसत वार्षिक शुद्ध लाभ (Average Annual Net Profit) ₹5,000 करोड़ से अधिक होना चाहिए तथा औसत वार्षिक टर्नओवर ₹25,000 करोड़ से अधिक होना चाहिए।</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 उद्योग और सार्वजनिक उद्यम विभाग के अनुसार महारत्न का दर्जा प्राप्त करने के 6 प्रमुख मानदंड हैं: 1. कंपनी के पास पहले से 'नवरत्न' का दर्जा होना चाहिए। 2. भारतीय स्टॉक एक्सचेंज पर न्यूनतम निर्धारित सार्वजनिक शेयरधारिता के साथ सूचीबद्ध होना चाहिए। 3. पिछले 3 वर्षों के दौरान औसत वार्षिक टर्नओवर ₹25,000 करोड़ से अधिक हो। 4. पिछले 3 वर्षों का औसत वार्षिक नेटवर्थ ₹15,000 करोड़ से अधिक हो। 5. पिछले 3 वर्षों का औसत वार्षिक शुद्ध लाभ (कर पश्चात) ₹5,000 करोड़ से अधिक हो। 6. कंपनी की महत्वपूर्ण वैश्विक उपस्थिति या अंतरराष्ट्रीय परिचालन (Significant Global Presence / International Operations) होना अनिवार्य है। अतः विकल्प C गलत शर्त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176/200</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केंद्रीय वित्त मंत्रालय के अधीन कौन-सा नोडल विभाग केंद्र सरकार के सभी सार्वजनिक उद्यमों (CPSEs) में पूंजी प्रबंधन, शेयरधारिता और 'रणनीतिक विनिवेश' (Strategic Disinvestment) का प्रबंधन करता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आर्थिक मामलों का विभाग (Department of Economic Affairs - DEA)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निवेश और सार्वजनिक संपत्ति प्रबंधन विभाग (Department of Investment and Public Asset Management - DIPAM)</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सार्वजनिक उद्यम विभाग (DPE)</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राजस्व विभाग (Department of Revenue)</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415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177/200</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निवेश और सार्वजनिक संपत्ति प्रबंधन विभाग (Department of Investment and Public Asset Management - DIPAM)</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आर्थिक मामलों का विभाग (Department of Economic Affairs - DEA)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सार्वजनिक उद्यम विभाग (DPE)</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राजस्व विभाग (Department of Revenue)</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1999 में स्थापित 'विनिवेश विभाग' का नाम बदलकर अप्रैल 2016 में 'निवेश और सार्वजनिक संपत्ति प्रबंधन विभाग' (DIPAM) कर दिया गया था। DIPAM केंद्रीय वित्त मंत्रालय के अधीन 6 प्रमुख विभागों में से एक है। इसका मुख्य कार्य केंद्रीय सार्वजनिक क्षेत्र के उद्यमों (CPSEs) में भारत सरकार के सभी इक्विटी निवेशों का रणनीतिक प्रबंधन करना, लाभांश नीति का निर्धारण करना तथा सार्वजनिक उपक्रमों में सरकार की शेयरधारिता की बिक्री (OFS, IPO, रणनीतिक विनिवेश और परिसंपत्ति मुद्रीकरण) की पूरी प्रक्रिया का संचालन करना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415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177/200</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 जुलाई 2020 से प्रभावी MSME की नई समग्र वर्गीकरण परिभाषा (Composite Criteria) के अनुसार, 'मध्यम' (Medium) उद्यम के लिए संयंत्र/मशीनरी में अधिकतम निवेश और वार्षिक टर्नओवर की सीमाएं क्या निर्धारित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निवेश ₹10 करोड़ तक और टर्नओवर ₹50 करोड़ तक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निवेश ₹50 करोड़ तक और वार्षिक टर्नओवर ₹250 करोड़ तक (Investment up to ₹50 Crore and Turnover up to ₹250 Crore)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निवेश ₹100 करोड़ तक और टर्नओवर ₹500 करोड़ तक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निवेश ₹1 करोड़ तक और टर्नओवर ₹5 करोड़ तक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01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178/200</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निवेश ₹50 करोड़ तक और वार्षिक टर्नओवर ₹250 करोड़ तक (Investment up to ₹50 Crore and Turnover up to ₹250 Crore)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निवेश ₹10 करोड़ तक और टर्नओवर ₹50 करोड़ तक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निवेश ₹100 करोड़ तक और टर्नओवर ₹500 करोड़ तक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निवेश ₹1 करोड़ तक और टर्नओवर ₹5 करोड़ तक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आत्मनिर्भर भारत पैकेज के तहत 1 जुलाई 2020 से MSME की परिभाषा में ऐतिहासिक संशोधन किया गया, जिसमें विनिर्माण और सेवा क्षेत्र के बीच के पुराने भेद को पूरी तरह समाप्त कर दिया गया तथा निवेश और टर्नओवर का संयुक्त मानदंड (Composite Criteria) लागू किया गया: 1. सूक्ष्म उद्यम (Micro Enterprise): संयंत्र/मशीनरी में निवेश ₹1 करोड़ तक और वार्षिक टर्नओवर ₹5 करोड़ तक। 2. लघु उद्यम (Small Enterprise): निवेश ₹10 करोड़ तक और वार्षिक टर्नओवर ₹50 करोड़ तक। 3. मध्यम उद्यम (Medium Enterprise): निवेश ₹50 करोड़ तक और वार्षिक टर्नओवर ₹250 करोड़ तक। विशेष बात यह है कि टर्नओवर की गणना करते समय किसी भी वस्तु या सेवा के 'निर्यात मूल्य' (Exports) को कुल टर्नओवर से बाहर रखा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01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178/200</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सूक्ष्म, लघु और मध्यम उद्यमों (MSMEs) के पंजीकरण को पूरी तरह डिजिटल, कागज-रहित और आसान बनाने के लिए 1 जुलाई 2020 को किस आधिकारिक पोर्टल का शुभारंभ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ई-श्रम पोर्टल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उद्यम पंजीकरण पोर्टल (Udyam Registration Portal)</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समाधान पोर्टल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चैंपियंस पोर्टल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618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179/200</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उद्यम पंजीकरण पोर्टल (Udyam Registration Portal)</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ई-श्रम पोर्टल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समाधान पोर्टल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चैंपियंस पोर्टल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सूक्ष्म, लघु और मध्यम उद्यम मंत्रालय द्वारा 1 जुलाई 2020 को 'उद्यम पंजीकरण पोर्टल' (Udyam Registration Portal - udyamregistration.gov.in) लॉन्च किया गया था। यह भारत में MSME पंजीकरण का एकमात्र आधिकारिक सरकारी मंच है। यह प्रक्रिया पूरी तरह से ऑनलाइन, निःशुल्क, कागज-रहित (Paperless) और स्व-घोषणा (Self-declaration) पर आधारित है। यह पोर्टल आयकर विभाग (PAN) और GST नेटवर्क (GSTN) के साथ डिजिटल रूप से एकीकृत है, जिससे व्यवसायों का निवेश और टर्नओवर डेटा स्वतः सत्यापित हो जाता है और सफल पंजीकरण पर 19-अंकीय स्थायी 'उद्यम पंजीकरण संख्या' (Udyam Registration Number) और डिजिटल प्रमाण पत्र जारी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618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179/200</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सरकार की महत्वाकांक्षी 'उत्पादन-लिंक्ड प्रोत्साहन' (Production Linked Incentive - PLI) योजना का मूल कार्य तंत्र (Core Mechanism)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कंपनियों को उनके कर्मचारियों की कुल संख्या के आधार पर नकद वेतन अनुदान देना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आधार वर्ष की तुलना में भारत में निर्मित उत्पादों की 'वृद्धिशील बिक्री' (Incremental Sales) पर कंपनियों को 4% से 6% का प्रत्यक्ष नकद वित्तीय प्रोत्साहन प्रदान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प्रकार के कॉरपोरेट करों को 10 वर्षों के लिए शून्य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घाटे में चल रहे सार्वजनिक उपक्रमों को बेलआउट पैकेज 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180/200</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आधार वर्ष की तुलना में भारत में निर्मित उत्पादों की 'वृद्धिशील बिक्री' (Incremental Sales) पर कंपनियों को 4% से 6% का प्रत्यक्ष नकद वित्तीय प्रोत्साहन प्रदान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कंपनियों को उनके कर्मचारियों की कुल संख्या के आधार पर नकद वेतन अनुदान 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प्रकार के कॉरपोरेट करों को 10 वर्षों के लिए शून्य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घाटे में चल रहे सार्वजनिक उपक्रमों को बेलआउट पैकेज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PLI योजना की शुरुआत मार्च 2020 में भारत को वैश्विक विनिर्माण महाशक्ति बनाने, बड़े पैमाने की विनिर्माण इकाइयां स्थापित करने और आयात निर्भरता (विशेषकर चीन पर) को समाप्त करने के लिए की गई थी। वर्तमान में यह योजना 14 रणनीतिक क्षेत्रों (जैसे मोबाइल व इलेक्ट्रॉनिक्स, फार्मास्यूटिकल्स, ऑटोमोबाइल व ऑटो कंपोनेंट्स, मेडिकल डिवाइसेज, सोलर पीवी, टेक्सटाइल्स, उन्नत बैटरी सेल्स) में लागू है। PLI का मूल तंत्र यह है कि यदि कोई पात्र कंपनी भारत में नई उत्पादन क्षमता लगाती है और आधार वर्ष की तुलना में देश में बने उत्पादों की बिक्री में शुद्ध वृद्धि (Incremental Sales) दर्ज करती है, तो सरकार उस बढ़ी हुई बिक्री पर 4% से 6% तक का प्रत्यक्ष नकद प्रोत्साहन (Incentive) 5 वर्षों के लिए प्रदान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180/200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एक वैश्विक डिजाइन और विनिर्माण हब में बदलने तथा औद्योगिक निवेश को आकर्षित करने के उद्देश्य से 'मेक इन इंडिया' (Make in India) पहल का औपचारिक शुभारंभ कब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 अगस्त 2014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 सितंबर 2014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26 जनवरी 2015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 अक्टूबर 2015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820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181/200</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25 सितंबर 2014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 अगस्त 2014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26 जनवरी 2015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 अक्टूबर 2015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प्रधानमंत्री नरेंद्र मोदी द्वारा 25 सितंबर 2014 को विज्ञान भवन, नई दिल्ली से 'मेक इन इंडिया' (Make in India) पहल का राष्ट्रव्यापी शुभारंभ किया गया था। इस राष्ट्रीय कार्यक्रम का मुख्य उद्देश्य GDP में विनिर्माण क्षेत्र की हिस्सेदारी को 25% तक बढ़ाना, लाखों गुणवत्तापूर्ण रोजगार सृजित करना और घरेलू व विदेशी कंपनियों को भारत में निर्माण करने के लिए प्रेरित करना है। मेक इन इंडिया चार प्रमुख स्तंभों पर आधारित है: 1. नई प्रक्रियाएं (New Processes - व्यापार सुगमता / Ease of Doing Business), 2. नया बुनियादी ढांचा (New Infrastructure - औद्योगिक गलियारे, स्मार्ट सिटी), 3. नए क्षेत्र (27 चिन्हित विनिर्माण व सेवा क्षेत्र), और 4. नई सोच (New Mindset - सरकार नियामक न होकर उद्योग की सहयोगी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820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181/200</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अरविंद मायाराम समिति की आधिकारिक सिफारिशों के अनुसार, भारत में 'प्रत्यक्ष विदेशी निवेश' (FDI) और 'विदेशी पोर्टफोलियो निवेश' (FPI) के बीच तकनीकी सीमांकन किस आधार पर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FDI केवल सरकारी कंपनियों में होता है, जबकि FPI केवल निजी कंपनियों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 भारतीय असूचीबद्ध कंपनी में कोई भी विदेशी इक्विटी निवेश, या किसी सूचीबद्ध (Listed) कंपनी में 10% या उससे अधिक की इक्विटी हिस्सेदारी FDI कहलाती है (जो प्रबंधन में नियंत्रण देती है); जबकि 10% से कम की अल्पकालिक शेयर बाजार हिस्सेदारी FPI कहलाती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FPI केवल 20 वर्षों से अधिक के लिए होता है, जबकि FDI 1 वर्ष के लिए।</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के बीच कोई कानूनी अंतर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421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182/200</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किसी भारतीय असूचीबद्ध कंपनी में कोई भी विदेशी इक्विटी निवेश, या किसी सूचीबद्ध (Listed) कंपनी में 10% या उससे अधिक की इक्विटी हिस्सेदारी FDI कहलाती है (जो प्रबंधन में नियंत्रण देती है); जबकि 10% से कम की अल्पकालिक शेयर बाजार हिस्सेदारी FPI कहलाती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FDI केवल सरकारी कंपनियों में होता है, जबकि FPI केवल निजी कंपनियों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FPI केवल 20 वर्षों से अधिक के लिए होता है, जबकि FDI 1 वर्ष के लिए।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के बीच कोई कानूनी अंतर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वित्त मंत्रालय द्वारा गठित डॉ. अरविंद मायाराम समिति (2014) ने भारत में प्रत्यक्ष विदेशी निवेश (FDI) और विदेशी पोर्टफोलियो निवेश (FPI) की अंतरराष्ट्रीय स्तर पर मानकीकृत परिभाषा तय की: 1. प्रत्यक्ष विदेशी निवेश (FDI): जब कोई विदेशी निवेशक किसी भारतीय असूचीबद्ध (Unlisted) कंपनी में कोई भी इक्विटी खरीदता है, या किसी मान्यता प्राप्त स्टॉक एक्सचेंज में सूचीबद्ध कंपनी की 10% या उससे अधिक चुकता शेयर पूंजी (Paid-up Capital) में दीर्घकालिक रुचि और प्रबंधन नियंत्रण (Management Control) के साथ निवेश करता है। 2. विदेशी पोर्टफोलियो निवेश (FPI): जब कोई विदेशी संस्थागत निवेशक किसी सूचीबद्ध कंपनी की 10% से कम शेयरधारिता विशुद्ध वित्तीय लाभ और लाभांश कमाने के उद्देश्य से खरीदता है। FPI को 'हॉट मनी' (Hot Money) कहा जाता है क्योंकि यह बाजार की परिस्थितियों के अनुसार तेजी से देश में आ और जा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421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182/200</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वर्तमान प्रत्यक्ष विदेशी निवेश (FDI) नीति के तहत, भारत में 'रक्षा विनिर्माण' (Defense Manufacturing) क्षेत्र में बिना किसी पूर्व सरकारी अनुमोदन के 'स्वचालित मार्ग' (Automatic Route) के माध्यम से कितना प्रतिशत एफडीआई अनुमत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26%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49%</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74% (तथा आधुनिकतम प्रौद्योगिकी के मामलों में सरकारी अनुमोदन मार्ग से 100% तक)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100% पूर्णतः स्वचालित मार्ग 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022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183/200</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74% (तथा आधुनिकतम प्रौद्योगिकी के मामलों में सरकारी अनुमोदन मार्ग से 100% तक)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100% पूर्णतः स्वचालित मार्ग 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रक्षा विनिर्माण क्षेत्र में आत्मनिर्भरता (आत्मनिर्भर रक्षा) को बढ़ावा देने और आधुनिक विदेशी तकनीकों को आकर्षित करने के उद्देश्य से भारत सरकार ने रक्षा FDI नीति को अत्यधिक उदार बनाया है। सितंबर 2020 में संशोधित नियमों के अनुसार, रक्षा उत्पादन क्षेत्र में नई कंपनियों और परियोजनाओं के लिए 'स्वचालित मार्ग' (Automatic Route) के तहत 74% तक प्रत्यक्ष विदेशी निवेश (FDI) की अनुमति दी गई है, जिसके लिए किसी पूर्व सरकारी मंजूरी की आवश्यकता नहीं होती। इसके अतिरिक्त, 74% से अधिक और 100% तक FDI की अनुमति 'सरकारी मार्ग' (Government Approval Route) से उन मामलों में दी जा सकती है जहां विदेशी कंपनी देश में अत्याधुनिक और आधुनिकतम प्रौद्योगिकी (Modern Technology) लाने के लिए तैयार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022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183/200</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पुराने विशेष आर्थिक क्षेत्र (SEZ) कानून को अधिक लचीला बनाने, खाली पड़े औद्योगिक बुनियादी ढांचे का उपयोग करने और इन क्षेत्रों को घरेलू शुल्क क्षेत्र (DTA) के साथ एकीकृत करने के लिए सरकार द्वारा किस नए विधेयक का प्रस्ताव रखा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विकास विधेयक (VIKAS Bill)</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देश विधेयक - उद्यम और सेवा हब विकास विधेयक (DESH Bill: Development of Enterprise and Service Hubs Bill)</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हब विधेयक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निर्यात संवर्धन विधेयक 2025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184/200</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देश विधेयक - उद्यम और सेवा हब विकास विधेयक (DESH Bill: Development of Enterprise and Service Hubs Bill)</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विकास विधेयक (VIKAS Bill)</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हब विधेयक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निर्यात संवर्धन विधेयक 2025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2005 के SEZ अधिनियम की सबसे बड़ी कमी यह थी कि इसमें कंपनियों को केवल विदेशी निर्यात (Net Foreign Exchange Positive) पर ध्यान केंद्रित करना पड़ता था और घरेलू बाजार में माल बेचने पर भारी सीमा शुल्क देना पड़ता था, जिससे देश के कई SEZs में विशाल भूमि और अवसंरचना अप्रयुक्त रह गई थी। इसे बदलने के लिए बजट में 'DESH विधेयक' (Development of Enterprise and Service Hubs) प्रस्तावित किया गया। DESH बिल SEZs को 'विकास हब' (Development Hubs) में बदल देगा, जो कंपनियों को न केवल निर्यात करने बल्कि आसान कर दरों पर घरेलू भारतीय बाजार (DTA) में भी माल बेचने की अनुमति देगा, जिससे बड़े पैमाने पर विनिर्माण क्लस्टर बनेंगे।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184/200</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एक आकर्षक वैश्विक विनिर्माण गंतव्य बनाने के लिए, आयकर अधिनियम की किस धारा के तहत 1 अक्टूबर 2019 के बाद स्थापित होने वाली नई घरेलू विनिर्माण कंपनियों के लिए 'कॉर्पोरेट टैक्स' (Corporate Tax) की आधार दर को घटाकर अभूतपूर्व रूप से 15% कर दिया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धारा 80C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धारा 115BAA</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धारा 115BAB</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धारा 139A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225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185/200</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धारा 115BAB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 80C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 115BAA</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 139A</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विनिर्माण क्षेत्र में घरेलू और विदेशी निवेश को आकर्षित करने के लिए सितंबर 2019 में आयकर अधिनियम में एक ऐतिहासिक अध्यादेश के माध्यम से धारा 115BAB जोड़ी गई थी। इसके तहत यह प्रावधान किया गया कि 1 अक्टूबर 2019 को या उसके बाद निगमित होने वाली और 31 मार्च 2024 तक विनिर्माण उत्पादन शुरू करने वाली किसी भी नई घरेलू विनिर्माण कंपनी (New Manufacturing Company) को केवल 15% की रियायती आधार कॉर्पोरेट टैक्स दर (अधिभार और उपकर सहित प्रभावी दर 17.16%) का विकल्प दिया जाएगा (बशर्ते वे अन्य कोई कर छूट न लें)। यह दक्षिण-पूर्व एशिया (जैसे वियतनाम, थाईलैंड) की तुलना में भारत को अत्यधिक प्रतिस्पर्धी कर व्यवस्था प्रदान करता है। (मौजूदा कंपनियों के लिए धारा 115BAA के तहत आधार दर 22% की गई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225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185/200</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विनिर्माण और सेवा क्षेत्र की आर्थिक गतिविधियों के अग्रणी मासिक संकेतक के रूप में उपयोग किए जाने वाले 'परचेजिंग मैनेजर्स इंडेक्स' (Purchasing Managers' Index - PMI) में यदि सूचकांक का मान '45' दर्ज किया जाता है, तो यह किस आर्थिक स्थिति को प्रमाणित करता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पिछले महीने की तुलना में व्यावसायिक गतिविधि में तीव्र विस्तार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पिछले महीने की तुलना में संबंधित क्षेत्र की आर्थिक और व्यावसायिक गतिविधियों में संकुचन (Contraction / मंदी का रुझान)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व्यावसायिक गतिविधि में कोई बदलाव नहीं (यथास्थिति)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औद्योगिक उत्पादन में 45% की शुद्ध वार्षिक वृद्धि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826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186/200</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पिछले महीने की तुलना में संबंधित क्षेत्र की आर्थिक और व्यावसायिक गतिविधियों में संकुचन (Contraction / मंदी का रुझान)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पिछले महीने की तुलना में व्यावसायिक गतिविधि में तीव्र विस्तार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व्यावसायिक गतिविधि में कोई बदलाव नहीं (यथास्थिति)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औद्योगिक उत्पादन में 45% की शुद्ध वार्षिक वृद्धि</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परचेजिंग मैनेजर्स इंडेक्स (PMI) एसएंडपी ग्लोबल (S&amp;P Global) द्वारा मासिक आधार पर निजी कंपनियों के क्रय प्रबंधकों (Purchasing Managers) के सर्वेक्षण के आधार पर तैयार किया जाने वाला एक महत्वपूर्ण अग्रणी संकेतक (Leading Indicator) है। PMI का पैमाना 0 से 100 के बीच होता है। '50 का स्तर' विभाजन रेखा (Threshold Mark) है: 1. यदि PMI का मान 50 से अधिक है (जैसे 58), तो यह पिछले महीने की तुलना में उत्पादन, नए ऑर्डर और रोजगार में 'विस्तार' (Expansion) को दर्शाता है। 2. यदि PMI ठीक 50 है, तो यह 'कोई परिवर्तन नहीं' को दर्शाता है। 3. यदि PMI का मान 50 से नीचे गिर जाता है (जैसे 45), तो यह स्पष्ट रूप से संबंधित क्षेत्र में 'संकुचन' (Contraction) और आर्थिक सुस्ती का संकेत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826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186/200</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'स्टार्टअप इंडिया' (Startup India) पारिस्थितिकी तंत्र के तहत किसी निजी स्टार्टअप कंपनी को आधिकारिक रूप से 'यूनिकॉर्न' (Unicorn) का प्रतिष्ठित दर्जा कब प्राप्त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जब उसका वार्षिक शुद्ध लाभ ₹500 करोड़ को पार कर जाता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जब कंपनी का कुल बाजार मूल्यांकन (Valuation) 1 बिलियन अमेरिकी डॉलर ($1 Billion USD - लगभग ₹8,300+ करोड़) या उससे अधिक हो जाता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जब कंपनी बॉम्बे स्टॉक एक्सचेंज (BSE) के मुख्य बोर्ड पर सूचीबद्ध हो जाती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जब कंपनी के पास 50 से अधिक देशों में अंतरराष्ट्रीय पेटेंट पंजीकृत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427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187/200</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जब कंपनी का कुल बाजार मूल्यांकन (Valuation) 1 बिलियन अमेरिकी डॉलर ($1 Billion USD - लगभग ₹8,300+ करोड़) या उससे अधिक हो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जब उसका वार्षिक शुद्ध लाभ ₹500 करोड़ को पार कर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जब कंपनी बॉम्बे स्टॉक एक्सचेंज (BSE) के मुख्य बोर्ड पर सूचीबद्ध हो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जब कंपनी के पास 50 से अधिक देशों में अंतरराष्ट्रीय पेटेंट पंजीकृत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वेंचर कैपिटल और स्टार्टअप उद्योग में 'यूनिकॉर्न' (Unicorn) शब्द पहली बार 2013 में वेंचर कैपिटलिस्ट एलीन ली द्वारा उस दुर्लभ निजी स्वामित्व वाली स्टार्टअप कंपनी का वर्णन करने के लिए गढ़ा गया था जिसका मूल्यांकन (Valuation) 1 बिलियन अमेरिकी डॉलर ($1 Billion USD) से अधिक हो जाता है। भारत वर्तमान में अमेरिका और चीन के बाद विश्व का 'तीसरा सबसे बड़ा स्टार्टअप और यूनिकॉर्न हब' है। भारत में 110 से अधिक यूनिकॉर्न स्टार्टअप्स मौजूद हैं जो फिनटेक, ई-कॉमर्स, एडटेक, हेल्थटेक और SaaS जैसे अत्याधुनिक क्षेत्रों में कार्यरत हैं। यदि किसी स्टार्टअप का मूल्यांकन $10 बिलियन को पार कर जाता है, तो उसे 'डेकाकॉर्न' (Decacorn)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427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187/200</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MSME क्षेत्र के सूक्ष्म और लघु उद्यमियों की नकदी प्रवाह (Cash Flow) और बड़े खरीदारों द्वारा भुगतान में देरी (Delayed Payments) की समस्या को हल करने के लिए RBI द्वारा स्थापित 'TReDS' प्लेटफॉर्म का पूर्ण रूप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ट्रेड रिसिप्ट्स एंड एंटरप्राइज डेटा सिस्टम (Trade Receipts and Enterprise Data System)</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ट्रेड रिसीवेबल्स डिस्काउंटिंग सिस्टम (Trade Receivables Discounting System)</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टैरिफ रिडक्शन एंड एक्सपोर्ट डेवलपमेंट स्कीम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टेक्नोलॉजी रिसर्च एंड डेवलपमेंट सिस्टम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188/200</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ट्रेड रिसीवेबल्स डिस्काउंटिंग सिस्टम (Trade Receivables Discounting System)</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ट्रेड रिसिप्ट्स एंड एंटरप्राइज डेटा सिस्टम (Trade Receipts and Enterprise Data System)</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टैरिफ रिडक्शन एंड एक्सपोर्ट डेवलपमेंट स्कीम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टेक्नोलॉजी रिसर्च एंड डेवलपमेंट सिस्टम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रिजर्व बैंक (RBI) द्वारा भुगतान और निपटान प्रणाली अधिनियम 2007 के तहत 'ट्रेड रिसीवेबल्स डिस्काउंटिंग सिस्टम' (TReDS) की स्थापना की गई थी। TReDS एक संस्थागत ऑनलाइन इलेक्ट्रॉनिक नीलामी प्लेटफॉर्म (जैसे RXIL, M1xchange, Invoicemart) है। जब कोई MSME किसी बड़े कॉरपोरेट या सरकारी सार्वजनिक उपक्रम को माल की आपूर्ति करता है, तो उसे भुगतान के लिए 45 से 90 दिन का इंतजार नहीं करना पड़ता; बल्कि वह अपने बिक्री चालान/बिल (Trade Receivables) को TReDS पोर्टल पर अपलोड कर देता है, जहाँ कई बैंक और वित्तीय संस्थान प्रतिस्पर्धी ब्याज दरों पर तुरंत बोली लगाकर बिल को डिस्काउंट (भुगतान) कर देते हैं। इससे MSME को तुरंत नकदी मिल जाती है और बाद में बैंक कॉरपोरेट खरीदार से पैसा वसूलता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188/200</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सूक्ष्म और लघु उद्यमों को गैर-कॉर्पोरेट व्यवसाय ऋण प्रदान करने वाली 'प्रधानमंत्री मुद्रा योजना' (PMMY) के तहत बजट में 'तरुण' (Tarun) श्रेणी के ऋण की अधिकतम सीमा को ₹10 लाख से बढ़ाकर कितना कर दिया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₹15 लाख</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₹20 लाख ('तरुण प्लस' श्रेणी के तहत उन उद्यमियों के लिए जिन्होंने पूर्व ऋण सफलतापूर्वक चुकाया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₹25 लाख</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₹50 लाख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630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189/200</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₹20 लाख ('तरुण प्लस' श्रेणी के तहत उन उद्यमियों के लिए जिन्होंने पूर्व ऋण सफलतापूर्वक चुकाया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₹15 लाख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₹25 लाख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₹50 लाख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प्रधानमंत्री मुद्रा योजना (PMMY) की शुरुआत 8 अप्रैल 2015 को गैर-कृषि सूक्ष्म और लघु व्यवसायों को ₹10 लाख तक का संपार्श्विक-मुक्त (Collateral-free) संस्थागत ऋण देने के लिए की गई थी। मुद्रा ऋण तीन श्रेणियों में दिए जाते हैं: 1. 'शिशु' (Shishu) - ₹50,000 तक के ऋण। 2. 'किशोर' (Kishor) - ₹50,000 से अधिक और ₹5 लाख तक के ऋण। 3. 'तरुण' (Tarun) - ₹5 लाख से अधिक और ₹10 लाख तक के ऋण। हालिया केंद्रीय बजट में उद्यमिता को और अधिक बढ़ावा देने के लिए एक नई 'तरुण प्लस' (Tarun Plus) श्रेणी की घोषणा की गई, जिसके तहत जिन उद्यमियों ने पहले के तरुण ऋणों का समय पर और सफलतापूर्वक पुनर्भुगतान कर दिया है, उनके लिए अधिकतम ऋण सीमा ₹10 लाख से बढ़ाकर ₹20 लाख कर दी गई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630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189/200</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स्टार्टअप्स के लिए निवेश जुटाने में एक बड़ी कर बाधा माने जाने वाले और हाल ही में बजट में पूरी तरह समाप्त किए गए 'एंजेल टैक्स' (Angel Tax - आयकर अधिनियम की धारा 56(2)(viib)) का मूल स्वरूप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स्टार्टअप्स द्वारा विदेशी शेयर बाजार पर सूचीबद्ध होने पर लगने वाला कर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जब कोई गैर-सूचीबद्ध स्टार्टअप कंपनी किसी घरेलू निवेशक को अपने शेयरों के 'उचित बाजार मूल्य' (Fair Market Value - FMV) से अधिक प्रीमियम पर शेयर जारी करके पूंजी जुटाती थी, तो उस अतिरिक्त अधिमूल्य को कंपनी की 'अन्य स्रोतों से आय' मानकर उस पर लगभग 30% से अधिक का कर लगाया जाता था</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स्टार्टअप्स द्वारा कर्मचारियों को दिए जाने वाले वेतन पर लगने वाला कर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घाटे में चल रहे स्टार्टअप्स पर लगने वाला जुर्माना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190/200</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जब कोई गैर-सूचीबद्ध स्टार्टअप कंपनी किसी घरेलू निवेशक को अपने शेयरों के 'उचित बाजार मूल्य' (Fair Market Value - FMV) से अधिक प्रीमियम पर शेयर जारी करके पूंजी जुटाती थी, तो उस अतिरिक्त अधिमूल्य को कंपनी की 'अन्य स्रोतों से आय' मानकर उस पर लगभग 30% से अधिक का कर लगाया जाता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स्टार्टअप्स द्वारा विदेशी शेयर बाजार पर सूचीबद्ध होने पर लगने वाला 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स्टार्टअप्स द्वारा कर्मचारियों को दिए जाने वाले वेतन पर लगने वाला 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घाटे में चल रहे स्टार्टअप्स पर लगने वाला जुर्माना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2012 के केंद्रीय बजट में गैर-सूचीबद्ध कंपनियों के माध्यम से काले धन के शोधन (Money Laundering) को रोकने के उद्देश्य से आयकर अधिनियम में धारा 56(2)(viib) जोड़ी गई थी, जिसे लोकप्रिय रूप से 'एंजेल टैक्स' (Angel Tax) कहा गया। इस कानून का व्यावहारिक नुकसान यह हुआ कि जब कोई वास्तविक एंजेल निवेशक या वेंचर कैपिटलिस्ट किसी शुरुआती स्टार्टअप की भविष्य की नवाचार क्षमता को देखकर उसके बुक वैल्यू/उचित बाजार मूल्य (FMV) से अधिक प्रीमियम पर शेयर खरीदता था, तो आयकर विभाग उस अतिरिक्त निवेश राशि को 'अघोषित आय' मानकर उस पर 30.9% तक का भारी टैक्स नोटिस जारी कर देता था। स्टार्टअप समुदाय की लंबे समय से चली आ रही मांग को पूरा करते हुए और नवाचार को बढ़ावा देने के लिए सरकार ने बजट 2024-25 में एंजेल टैक्स को 'सभी प्रकार के निवेशकों' के लिए पूर्ण रूप से समाप्त (Abolished) कर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190/200</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सूक्ष्म, लघु और मध्यम उद्यम मंत्रालय द्वारा MSMEs के बीच वैश्विक विनिर्माण प्रतिस्पर्धा और पर्यावरण संरक्षण को बढ़ावा देने के लिए शुरू की गई 'ZED' प्रमाणन योजना का पूर्ण रूप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जोनल इकोनॉमिक डेवलपमेंट (Zonal Economic Development)</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जीरो डिफेक्ट जीरो इफेक्ट (Zero Defect Zero Effect)</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जीरो एमिशन डिक्लेरेशन (Zero Emission Declaration)</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जोनल एन्हांसमेंट एंड डायवर्सिफिकेशन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832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191/200</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जीरो डिफेक्ट जीरो इफेक्ट (Zero Defect Zero Effect)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जोनल इकोनॉमिक डेवलपमेंट (Zonal Economic Development)</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जीरो एमिशन डिक्लेरेशन (Zero Emission Declaration)</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जोनल एन्हांसमेंट एंड डायवर्सिफिकेशन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'जीरो डिफेक्ट जीरो इफेक्ट' (ZED Certification Scheme) का विजन प्रधानमंत्री नरेंद्र मोदी द्वारा 2014 के स्वतंत्रता दिवस भाषण में प्रस्तुत किया गया था। ZED प्रमाणन MSMEs को दोहरे मानकों पर प्रोत्साहित करता है: 1. 'जीरो डिफेक्ट' (Zero Defect): विनिर्मित उत्पादों में शून्य दोष हो, ताकि भारतीय उत्पाद अंतरराष्ट्रीय गुणवत्ता मानकों पर खरे उतरें और निर्यात में कोई माल अस्वीकृत न हो। 2. 'जीरो इफेक्ट' (Zero Effect): उत्पादन प्रक्रिया का पर्यावरण और पारिस्थितिकी तंत्र पर शून्य नकारात्मक प्रभाव (न्यूनतम प्रदूषण, अपशिष्ट में कमी, ऊर्जा दक्षता और प्राकृतिक संसाधनों का विवेकपूर्ण उपयोग) हो। इस योजना के तहत कांस्य (Bronze), रजत (Silver) और स्वर्ण (Gold) तीन स्तरों पर प्रमाणन दिया जाता है और सरकार MSMEs को 80% तक वित्तीय सब्सिडी प्रदान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832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191/200</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1991 के आर्थिक सुधारों के बाद किसी देश की अर्थव्यवस्था के वैश्विक अर्थव्यवस्था के साथ एकीकरण और उसके 'खुलेपन' (Openness of an Economy) को मापने का सबसे प्रामाणिक अंतरराष्ट्रीय पैमाना कौन-सा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देश के कुल विदेशी मुद्रा भंडार का भौतिक आकार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कुल अंतरराष्ट्रीय व्यापार (वस्तुओं व सेवाओं का कुल निर्यात + कुल आयात) का देश के सकल घरेलू उत्पाद (GDP) के अनुपात के रूप में प्रतिशत (Trade-to-GDP Ratio)</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देश में कार्यरत विदेशी बैंकों की कुल शाखाओं की संख्या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देश द्वारा अंतरराष्ट्रीय मुद्रा कोष (IMF) को दिए गए कुल ऋण का मूल्य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192/200</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कुल अंतरराष्ट्रीय व्यापार (वस्तुओं व सेवाओं का कुल निर्यात + कुल आयात) का देश के सकल घरेलू उत्पाद (GDP) के अनुपात के रूप में प्रतिशत (Trade-to-GDP Ratio)</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देश के कुल विदेशी मुद्रा भंडार का भौतिक आकार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देश में कार्यरत विदेशी बैंकों की कुल शाखाओं की संख्या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देश द्वारा अंतरराष्ट्रीय मुद्रा कोष (IMF) को दिए गए कुल ऋण का मूल्य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अर्थशास्त्र में किसी अर्थव्यवस्था के 'खुलेपन की डिग्री' (Degree of Openness) को मापने का सार्वभौमिक पैमाना 'व्यापार-जीडीपी अनुपात' (Trade-to-GDP Ratio) है। इसका सूत्र है: व्यापार खुलापन = [(कुल निर्यात + कुल आयात) / कुल GDP] × 100। वर्ष 1990-91 में भारत का ट्रेड-टू-जीडीपी अनुपात मात्र 15% के आसपास था, जो एक बंद और अंतर्मुखी (Inward-looking) अर्थव्यवस्था को दर्शाता था। 1991 के LPG सुधारों (प्रशुल्क दरों में भारी कटौती, कोटा प्रणाली की समाप्ति और विदेशी निवेश के उदारीकरण) के बाद वर्तमान में भारत का व्यापार-जीडीपी अनुपात बढ़कर लगभग 45% से 50% तक पहुंच चुका है, जो वैश्विक मूल्य श्रृंखलाओं और अंतरराष्ट्रीय व्यापार में भारत के गहरे एकीकरण का प्रत्यक्ष प्रमाण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192/200</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1980 के दशक के उत्तरार्ध में अर्थशास्त्री जॉन विलियमसन द्वारा प्रतिपादित 'वाशिंगटन सहमति' (Washington Consensus) की मूल विषयवस्तु क्या थी, जिसे 1991 के संकट के दौरान IMF और विश्व बैंक द्वारा भारत जैसे विकासशील देशों के लिए मानक आर्थिक सुधार पैकेज के रूप में अनुशंसित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पूर्ण समाजवादी अर्थव्यवस्था और सभी निजी संपत्तियों का राज्य द्वारा अधिग्रहण</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10 नव-उदारवादी (Neoliberal) बाजार-उन्मुख आर्थिक नीतियों का एक सेट - जिसमें राजकोषीय अनुशासन, सार्वजनिक व्यय का पुनर्गठन, कर सुधार, ब्याज दरों का उदारीकरण, प्रतिस्पर्धी विनिमय दर, व्यापार उदारीकरण, FDI को खोलना, निजीकरण, विनियमन (Deregulation) और संपत्ति के अधिकारों की सुरक्षा शामिल थी</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सैन्य गठबंधन और रक्षा संधियां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पर्यावरण संरक्षण के लिए सभी औद्योगिक गतिविधियों पर पूर्ण प्रतिबंध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035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193/200</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10 नव-उदारवादी (Neoliberal) बाजार-उन्मुख आर्थिक नीतियों का एक सेट - जिसमें राजकोषीय अनुशासन, सार्वजनिक व्यय का पुनर्गठन, कर सुधार, ब्याज दरों का उदारीकरण, प्रतिस्पर्धी विनिमय दर, व्यापार उदारीकरण, FDI को खोलना, निजीकरण, विनियमन (Deregulation) और संपत्ति के अधिकारों की सुरक्षा शामिल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पूर्ण समाजवादी अर्थव्यवस्था और सभी निजी संपत्तियों का राज्य द्वारा अधिग्रहण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सैन्य गठबंधन और रक्षा संधियां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पर्यावरण संरक्षण के लिए सभी औद्योगिक गतिविधियों पर पूर्ण प्रतिबंध</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'वाशिंगटन सहमति' (Washington Consensus) शब्द 1989 में ब्रिटिश अर्थशास्त्री जॉन विलियमसन ने गढ़ा था। यह वाशिंगटन डी.सी. में स्थित तीन प्रमुख अंतरराष्ट्रीय वित्तीय संस्थानों- अंतरराष्ट्रीय मुद्रा कोष (IMF), विश्व बैंक (World Bank) और अमेरिकी ट्रेजरी विभाग- द्वारा गंभीर वित्तीय व भुगतान संतुलन संकट से जूझ रहे लैटिन अमेरिकी और विकासशील देशों को संकट से उबारने के लिए दिए जाने वाले 10 प्रमुख नव-उदारवादी आर्थिक नीति नुस्खों (Policy Prescriptions) का समूह था। इन 10 सुधारों का मूल मंत्र 'उदारीकरण, निजीकरण और वैश्वीकरण' (LPG) था, जो राज्य-नियंत्रित अर्थव्यवस्था के स्थान पर स्वतंत्र बाजार तंत्र, निजी पूंजी और खुली अंतरराष्ट्रीय व्यापार प्रणाली की वकालत करता था। भारत के 1991 के आर्थिक सुधार इन्हीं सिद्धांतों के व्यावहारिक क्रियान्वयन का उदाहरण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035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193/200</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अर्थव्यवस्था में आर्थिक समीक्षा 2015-16 द्वारा रेखांकित 'ट्विन बैलेंस शीट समस्या' (Twin Balance Sheet Problem - TBS) का सटीक तकनीकी अर्थ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 सरकार और राज्य सरकारों दोनों का एक साथ अत्यधिक राजकोषीय घाटा होना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एक तरफ निजी कॉरपोरेट कंपनियों का अत्यधिक कर्ज में डूबा होना (Over-leveraged Corporate Balance Sheets) और दूसरी तरफ सार्वजनिक क्षेत्र के बैंकों की बैलेंस शीट का उनके द्वारा दिए गए फंसे हुए कर्जों (Non-Performing Assets - NPAs) के कारण गंभीर रूप से तनावग्रस्त हो जाना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देश के चालू खाता घाटे (CAD) और व्यापार घाटे दोनों का एक साथ बढ़ना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शेयर बाजार और बॉन्ड बाजार दोनों का एक साथ क्रैश होना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636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194/200</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एक तरफ निजी कॉरपोरेट कंपनियों का अत्यधिक कर्ज में डूबा होना (Over-leveraged Corporate Balance Sheets) और दूसरी तरफ सार्वजनिक क्षेत्र के बैंकों की बैलेंस शीट का उनके द्वारा दिए गए फंसे हुए कर्जों (Non-Performing Assets - NPAs) के कारण गंभीर रूप से तनावग्रस्त हो जाना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 सरकार और राज्य सरकारों दोनों का एक साथ अत्यधिक राजकोषीय घाटा होना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देश के चालू खाता घाटे (CAD) और व्यापार घाटे दोनों का एक साथ बढ़ना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शेयर बाजार और बॉन्ड बाजार दोनों का एक साथ क्रैश होना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'ट्विन बैलेंस शीट समस्या' (TBS Problem) 2008 के वैश्विक वित्तीय संकट के बाद भारतीय अर्थव्यवस्था में पैदा हुई एक गंभीर संरचनात्मक बाधा थी। इसका दोहरा स्वरूप यह था: 1. बुनियादी ढांचा, इस्पात, बिजली और रियल एस्टेट क्षेत्र की बड़ी 'निजी कॉरपोरेट कंपनियों' ने तेजी के दौर में भारी बैंक कर्ज ले लिया था, लेकिन परियोजनाओं में देरी और मंदी के कारण वे कर्ज और ब्याज चुकाने में असमर्थ हो गईं (Stressed Corporates)। 2. इसके परिणामस्वरूप दूसरी तरफ 'वाणिज्यिक बैंकों' (विशेषकर सार्वजनिक क्षेत्र के सरकारी बैंकों) का बहुत बड़ा कर्ज डूबंत ऋण यानी गैर-निष्पादित परिसंपत्तियों (NPAs) में बदल गया, जिससे बैंकों की पूंजी क्षीण हो गई और उन्होंने नए उत्पादक निवेशों के लिए कर्ज देना बंद कर दिया। सरकार ने इस दोहरे संकट को हल करने के लिए '4R रणनीति' (Recognition, Resolution through IBC 2016, Recapitalization of PSBs, and Reforms) अपनाई।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636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194/200</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औद्योगिक और आर्थिक परिदृश्य में 'सूर्योदय उद्योग' (Sunrise Industry) शब्द का प्रयोग किन क्षेत्रों के लिए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वे पारंपरिक उद्योग जो भारत के पूर्वी राज्यों (सूर्य की भूमि) में स्थापित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नए और तेजी से उभरते हुए उच्च-प्रौद्योगिकी क्षेत्र (Emerging Sectors) जो अभी अपनी प्रारंभिक विकास अवस्था में हैं लेकिन जिनमें नवाचार, वैश्विक प्रतिस्पर्धा और भविष्य में घातांकीय संवृद्धि (Exponential Growth) की अपार संभावनाएं हैं (जैसे ग्रीन हाइड्रोजन, इलेक्ट्रिक वाहन, सेमीकंडक्टर, आर्टिफिशियल इंटेलिजेंस, अंतरिक्ष तकनीक)।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सौर ऊर्जा से संचालित होने वाले पारंपरिक कपड़ा उद्योग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पुराने और बीमार उद्योग जो बंद होने की कगार पर हैं (Sunset Industries)</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237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195/200</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 नए और तेजी से उभरते हुए उच्च-प्रौद्योगिकी क्षेत्र (Emerging Sectors) जो अभी अपनी प्रारंभिक विकास अवस्था में हैं लेकिन जिनमें नवाचार, वैश्विक प्रतिस्पर्धा और भविष्य में घातांकीय संवृद्धि (Exponential Growth) की अपार संभावनाएं हैं (जैसे ग्रीन हाइड्रोजन, इलेक्ट्रिक वाहन, सेमीकंडक्टर, आर्टिफिशियल इंटेलिजेंस, अंतरिक्ष तकनीक)।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वे पारंपरिक उद्योग जो भारत के पूर्वी राज्यों (सूर्य की भूमि) में स्थापित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सौर ऊर्जा से संचालित होने वाले पारंपरिक कपड़ा उद्योग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 पुराने और बीमार उद्योग जो बंद होने की कगार पर हैं (Sunset Industries)</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अर्थशास्त्र में 'सूर्योदय उद्योग' (Sunrise Industry) एक ऐसा नवोन्मेषी और अत्याधुनिक क्षेत्र होता है जो अपनी प्रारंभिक अवस्था में होने के बावजूद तीव्र तकनीकी प्रगति, बदलती उपभोक्ता प्राथमिकताओं और वैश्विक संधारणीयता आवश्यकताओं के कारण भविष्य के आर्थिक विकास का मुख्य चालक बनने की क्षमता रखता है। इसके प्रमुख उदाहरण हैं: इलेक्ट्रिक मोबिलिटी (EV एवं एडवांस बैटरी), हरित हाइड्रोजन (Green Hydrogen), आर्टिफिशियल इंटेलिजेंस (AI) व क्वांटम कंप्यूटिंग, सेमीकंडक्टर फैब्रिकेशन, अंतरिक्ष प्रौद्योगिकी (SpaceTech), रिन्यूएबल एनर्जी और ड्रोन टेक्नोलॉजी। इसके विपरीत, पतनशील और अप्रचलित हो रहे पुराने उद्योगों को 'सूर्यास्त उद्योग' (Sunset Industry)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237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195/200</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नीति आयोग द्वारा विकसित ₹6 लाख करोड़ की 'राष्ट्रीय मुद्रीकरण पाइपलाइन' (National Monetization Pipeline - NMP, 2022-2025) का मूल मार्गदर्शक सिद्धांत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नई मुद्रा नोट छापकर राजकोषीय घाटे की भरपाई करना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 सरकार के स्वामित्व वाली मौजूदा 'ब्राउनफील्ड' (Brownfield) परिचालन बुनियादी ढांचा परिसंपत्तियों (जैसे सड़कें, रेलवे स्टेशन, गैस पाइपलाइन, ट्रांसमिशन लाइन) में अंतर्निहित मूल्य को अनलॉक करने के लिए एक निश्चित समयावधि हेतु निजी क्षेत्र को पट्टे (Lease / Concession) पर देना, जबकि परिसंपत्ति का 100% कानूनी स्वामित्व सरकार के पास ही बना रहेगा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सार्वजनिक संपत्तियों और सरकारी उपक्रमों की निजी कंपनियों को स्थायी बिक्री (निजीकरण) कर देना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डिजिटल क्रिप्टोकरेंसी जारी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196/200</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केंद्र सरकार के स्वामित्व वाली मौजूदा 'ब्राउनफील्ड' (Brownfield) परिचालन बुनियादी ढांचा परिसंपत्तियों (जैसे सड़कें, रेलवे स्टेशन, गैस पाइपलाइन, ट्रांसमिशन लाइन) में अंतर्निहित मूल्य को अनलॉक करने के लिए एक निश्चित समयावधि हेतु निजी क्षेत्र को पट्टे (Lease / Concession) पर देना, जबकि परिसंपत्ति का 100% कानूनी स्वामित्व सरकार के पास ही बना रहेगा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नई मुद्रा नोट छापकर राजकोषीय घाटे की भरपाई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सार्वजनिक संपत्तियों और सरकारी उपक्रमों की निजी कंपनियों को स्थायी बिक्री (निजीकरण) कर 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डिजिटल क्रिप्टोकरेंसी जारी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अगस्त 2021 में नीति आयोग द्वारा घोषित 'राष्ट्रीय मुद्रीकरण पाइपलाइन' (NMP) का कुल अनुमानित आकार ₹6 लाख करोड़ (4 वर्षों के लिए: FY 2022-2025) है। इसका मुख्य दर्शन "मुद्रीकरण और आधुनिकीकरण" (Monetize and Modernize) है। NMP का निजीकरण से स्पष्ट अंतर यह है कि इसमें सरकार अपनी किसी भी संपत्ति का स्थायी स्वामित्व नहीं बेचती; बल्कि पहले से बनी हुई चालू और राजस्व देने वाली सरकारी संपत्तियों (Brownfield Assets - जैसे राष्ट्रीय राजमार्ग, रेलवे स्टेशन, डेडिकेटेड फ्रेट कॉरिडोर, पावर ग्रिड लाइनें, हवाई अड्डे और गोदाम) के परिचालन और रखरखाव के अधिकार निजी ऑपरेटरों को 20 से 30 वर्षों के लिए लीज (पट्टे) या इनविट (InvITs) मॉडल के माध्यम से सौंपे जाते हैं। इससे मिलने वाली अग्रिम वित्तीय राशि का उपयोग सरकार 'राष्ट्रीय अवसंरचना पाइपलाइन' (NIP) के तहत नए ग्रीनफील्ड बुनियादी ढांचे (अस्पताल, स्कूल, नए एक्सप्रेसवे) के निर्माण में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196/200</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बजट में घोषित 'रोजगार-जुड़े प्रोत्साहन' (Employment Linked Incentive - ELI) योजना का मुख्य उद्देश्य औद्योगिक विनिर्माण क्षेत्र में किस संरचनात्मक चुनौती का समाधान करना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उद्योगों में मशीनों और रोबोटों द्वारा 100% स्वचालन (Automation) को अनिवार्य करना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संगठित क्षेत्र की कंपनियों को नए औपचारिक कर्मचारियों (विशेषकर पहली बार नौकरी पाने वाले युवाओं) को ईपीएफओ (EPFO) में पंजीकृत कर रोजगार देने के लिए नियोक्ता और कर्मचारी दोनों को प्रत्यक्ष वित्तीय सब्सिडी/प्रोत्साहन प्रदान करके 'जॉबलेस ग्रोथ' (Jobless Growth) की समस्या को दूर करना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छंटनी किए गए कर्मचारियों को पेंशन देना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कुशल श्रमिकों को भारत में काम करने की अनुमति 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439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197/200</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संगठित क्षेत्र की कंपनियों को नए औपचारिक कर्मचारियों (विशेषकर पहली बार नौकरी पाने वाले युवाओं) को ईपीएफओ (EPFO) में पंजीकृत कर रोजगार देने के लिए नियोक्ता और कर्मचारी दोनों को प्रत्यक्ष वित्तीय सब्सिडी/प्रोत्साहन प्रदान करके 'जॉबलेस ग्रोथ' (Jobless Growth) की समस्या को दूर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उद्योगों में मशीनों और रोबोटों द्वारा 100% स्वचालन (Automation) को अनिवार्य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छंटनी किए गए कर्मचारियों को पेंशन 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कुशल श्रमिकों को भारत में काम करने की अनुमति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आर्थिक संवृद्धि के बावजूद औपचारिक संगठित क्षेत्र में रोजगार सृजन की धीमी गति ('जॉबलेस ग्रोथ') से निपटने के लिए केंद्रीय बजट में ₹2 लाख करोड़ के कुल पैकेज के तहत 'रोजगार-जुड़े प्रोत्साहन' (ELI) योजना की घोषणा की गई है। इसके 3 प्रमुख भाग हैं: 1. स्कीम A (पहली बार काम करने वाले युवाओं के लिए): EPFO में पंजीकृत होने वाले पहली बार के कर्मचारियों को ₹15,000 तक की एक माह की वेतन सब्सिडी (3 किस्तों में)। 2. स्कीम B (विनिर्माण क्षेत्र में अतिरिक्त रोजगार सृजन): विनिर्माण क्षेत्र में अतिरिक्त कर्मचारियों को काम पर रखने पर नियोक्ता और कर्मचारी दोनों के EPFO योगदान के आधार पर पहले 4 वर्षों तक सरकार द्वारा प्रत्यक्ष प्रोत्साहन। 3. स्कीम C (नियोक्ताओं को समर्थन): ₹1 लाख तक के मासिक वेतन वाले अतिरिक्त कर्मचारियों को काम पर रखने पर सरकार नियोक्ताओं को 2 वर्षों तक प्रति माह ₹3,000 तक की EPFO अंशदान प्रतिपूर्ति प्रदान करेगी।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439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197/200</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वैश्विक विनिर्माण और अंतरराष्ट्रीय व्यापार के संदर्भ में 'चाइना प्लस वन' (China Plus One) रणनीति का क्या तात्पर्य है, जिससे भारतीय अर्थव्यवस्था को भारी लाभ मिलने की संभावना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चीन और भारत के बीच एक नया द्विपक्षीय मुक्त व्यापार समझौता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वैश्विक बहुराष्ट्रीय कंपनियों (MNCs) द्वारा आपूर्ति श्रृंखला के जोखिमों और भू-राजनीतिक निर्भरता को कम करने के लिए केवल चीन पर निर्भर रहने के बजाय भारत जैसे किसी अन्य वैकल्पिक देश में अपने विनिर्माण संयंत्रों और आपूर्ति अड्डों का विविधीकरण (Diversification) करना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चीनी कंपनियों को भारत में कृषि भूमि खरीदने की अनुमति देना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चीन के सभी आयातों को 100% शुल्क-मुक्त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04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198/200</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वैश्विक बहुराष्ट्रीय कंपनियों (MNCs) द्वारा आपूर्ति श्रृंखला के जोखिमों और भू-राजनीतिक निर्भरता को कम करने के लिए केवल चीन पर निर्भर रहने के बजाय भारत जैसे किसी अन्य वैकल्पिक देश में अपने विनिर्माण संयंत्रों और आपूर्ति अड्डों का विविधीकरण (Diversification)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चीन और भारत के बीच एक नया द्विपक्षीय मुक्त व्यापार समझौता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चीनी कंपनियों को भारत में कृषि भूमि खरीदने की अनुमति 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चीन के सभी आयातों को 100% शुल्क-मुक्त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'चाइना प्लस वन' (China Plus One) वैश्विक बहुराष्ट्रीय निगमों (MNCs) द्वारा अपनाई जा रही एक रणनीतिक वैश्विक आपूर्ति श्रृंखला नीति है। कोविड-19 महामारी के दौरान चीन में लगाए गए कड़े लॉकडाउन, अमेरिका-चीन व्यापार युद्ध, ताइवान तनाव और चीन में बढ़ती श्रम लागत के कारण पश्चिमी कंपनियों ने यह महसूस किया कि अपने संपूर्ण विनिर्माण के लिए केवल चीन पर निर्भर रहना अत्यधिक जोखिम भरा है। अतः अपनी आपूर्ति श्रृंखला को सुरक्षित और लचीला (Resilient Supply Chain) बनाने के लिए कंपनियां चीन में अपने मौजूदा संयंत्र बनाए रखते हुए किसी दूसरे वैकल्पिक एशियाई देश (जैसे भारत, वियतनाम, मैक्सिको) में नए बड़े विनिर्माण केंद्र स्थापित कर रही हैं। भारत सरकार ने अपनी PLI योजनाओं, 15% कॉर्पोरेट टैक्स दर और बुनियादी ढांचे के विकास के जरिए भारत को 'चाइना प्लस वन' का सबसे बड़ा वैश्विक लाभार्थी बनाने की रणनीति अपनाई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04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198/200</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अर्थव्यवस्था के समग्र सकल मूल्य वर्धन (GVA) में सेवा क्षेत्र (Tertiary / Service Sector) का वर्तमान योगदान लगभग कितना है, जो इसे देश के आर्थिक विकास का मुख्य इंजन बनाता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 से 25%</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35% से 40%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53% से 55%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70% से 75%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642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199/200</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53% से 55%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 से 25%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35% से 40%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70% से 75%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अर्थव्यवस्था के संरचनात्मक स्वरूप की सबसे विशिष्ट विशेषता यह है कि इसने पारंपरिक विकास चरण (कृषि से पहले उद्योग, फिर सेवा) को दरकिनार करते हुए सीधे 'सेवा-आधारित संवृद्धि' (Service-led Growth) हासिल की है। राष्ट्रीय सांख्यिकी कार्यालय (NSO) और आर्थिक समीक्षा 2025-26 के अनुसार, भारत के कुल सकल मूल्य वर्धन (GVA at Basic Prices) में 'सेवा क्षेत्र' (तृतीयक क्षेत्र - जिसमें व्यापार, होटल, परिवहन, संचार, वित्तीय सेवाएं, रियल एस्टेट, आईटी/बीपीओ और लोक प्रशासन शामिल हैं) का योगदान सर्वाधिक लगभग 53% से 55% के बीच रहता है। यह क्षेत्र देश के कुल सकल घरेलू उत्पाद (GDP) में आधे से अधिक का योगदान देता है, 9.7% GDP शेयर के साथ विशाल विदेशी मुद्रा अर्जित करता है और भारत को विश्व की सबसे तेजी से बढ़ती बड़ी अर्थव्यवस्था बनाए रखने में केंद्रीय भूमिका निभाता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642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199/200</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डिजिटल प्लेटफॉर्म्स (जैसे स्विगी, जोमैटो, ओला, उबर, अर्बन कंपनी) के विस्तार से तेजी से बढ़ रही 'गिग इकोनॉमी' (Gig Economy) के श्रमिकों के सामाजिक संरक्षण के लिए 'सामाजिक सुरक्षा संहिता, 2020' (Code on Social Security, 2020) में कौन-सा ऐतिहासिक विधिक प्रावधान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गिग और प्लेटफॉर्म श्रमिकों को सरकारी कर्मचारी का स्थायी दर्जा देना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कानून में पहली बार 'गिग वर्कर' और 'प्लेटफॉर्म वर्कर' को आधिकारिक रूप से परिभाषित करना तथा उनके लिए जीवन व विकलांगता बीमा, स्वास्थ्य व मातृत्व लाभ उपलब्ध कराने हेतु एक वैधानिक 'सामाजिक सुरक्षा कोष' (Social Security Fund) स्थापित करना, जिसमें ऑनलाइन एग्रीगेटर कंपनियों को अपने वार्षिक टर्नओवर का 1% से 2% योगदान देना होगा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गिग और फ्रीलांसिंग गतिविधियों पर पूर्ण कानूनी प्रतिबंध लगाना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गिग श्रमिकों के वेतन पर 50% प्रत्यक्ष आयकर लगाना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200/200</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कानून में पहली बार 'गिग वर्कर' और 'प्लेटफॉर्म वर्कर' को आधिकारिक रूप से परिभाषित करना तथा उनके लिए जीवन व विकलांगता बीमा, स्वास्थ्य व मातृत्व लाभ उपलब्ध कराने हेतु एक वैधानिक 'सामाजिक सुरक्षा कोष' (Social Security Fund) स्थापित करना, जिसमें ऑनलाइन एग्रीगेटर कंपनियों को अपने वार्षिक टर्नओवर का 1% से 2% योगदान देना होगा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गिग और प्लेटफॉर्म श्रमिकों को सरकारी कर्मचारी का स्थायी दर्जा 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गिग और फ्रीलांसिंग गतिविधियों पर पूर्ण कानूनी प्रतिबंध लगाना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गिग श्रमिकों के वेतन पर 50% प्रत्यक्ष आयकर लगाना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पारंपरिक रोजगार में काम के निश्चित घंटे और स्थायी नियुक्ति होती है, जबकि 'गिग इकोनॉमी' (Gig Economy) एक लचीली मुक्त बाजार प्रणाली है जहाँ स्वतंत्र पेशेवर, फ्रीलांसर और ऐप-आधारित डिलीवरी/कैब चालक किसी कंपनी के स्थायी कर्मचारी नहीं होते बल्कि अल्पकालिक कार्य (Gig / Per-task basis) के आधार पर भुगतान प्राप्त करते हैं। संसद द्वारा पारित 'सामाजिक सुरक्षा संहिता, 2020' (Code on Social Security, 2020) ने दुनिया में पहली बार गिग और प्लेटफॉर्म श्रमिकों को श्रम कानून के दायरे में मान्यता दी। संहिता की धारा 114 और 141 के तहत केंद्र सरकार को 'सामाजिक सुरक्षा बोर्ड' और एक समर्पित 'सामाजिक सुरक्षा कोष' (Social Security Fund) बनाने का अधिकार दिया गया है। इस कोष का वित्तपोषण ऑनलाइन एग्रीगेटर कंपनियों (जैसे जोमैटो, अमेजन आदि) द्वारा उनके वार्षिक टर्नओवर के 1% से 2% (कुल देय राशि के अधिकतम 5% के अधीन) के अनिवार्य अंशदान और सरकारी अनुदान से किया जाएगा, ताकि गिग श्रमिकों को स्वास्थ्य, दुर्घटना बीमा, वृद्धावस्था पेंशन और मातृत्व लाभ सुनिश्चित किए जा सकें।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200/200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