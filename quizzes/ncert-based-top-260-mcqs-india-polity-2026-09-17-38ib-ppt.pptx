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theme/theme1.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slides/slide285.xml" ContentType="application/vnd.openxmlformats-officedocument.presentationml.slide+xml"/>
  <Override PartName="/ppt/slides/slide286.xml" ContentType="application/vnd.openxmlformats-officedocument.presentationml.slide+xml"/>
  <Override PartName="/ppt/slides/slide287.xml" ContentType="application/vnd.openxmlformats-officedocument.presentationml.slide+xml"/>
  <Override PartName="/ppt/slides/slide288.xml" ContentType="application/vnd.openxmlformats-officedocument.presentationml.slide+xml"/>
  <Override PartName="/ppt/slides/slide289.xml" ContentType="application/vnd.openxmlformats-officedocument.presentationml.slide+xml"/>
  <Override PartName="/ppt/slides/slide290.xml" ContentType="application/vnd.openxmlformats-officedocument.presentationml.slide+xml"/>
  <Override PartName="/ppt/slides/slide291.xml" ContentType="application/vnd.openxmlformats-officedocument.presentationml.slide+xml"/>
  <Override PartName="/ppt/slides/slide292.xml" ContentType="application/vnd.openxmlformats-officedocument.presentationml.slide+xml"/>
  <Override PartName="/ppt/slides/slide293.xml" ContentType="application/vnd.openxmlformats-officedocument.presentationml.slide+xml"/>
  <Override PartName="/ppt/slides/slide294.xml" ContentType="application/vnd.openxmlformats-officedocument.presentationml.slide+xml"/>
  <Override PartName="/ppt/slides/slide295.xml" ContentType="application/vnd.openxmlformats-officedocument.presentationml.slide+xml"/>
  <Override PartName="/ppt/slides/slide296.xml" ContentType="application/vnd.openxmlformats-officedocument.presentationml.slide+xml"/>
  <Override PartName="/ppt/slides/slide297.xml" ContentType="application/vnd.openxmlformats-officedocument.presentationml.slide+xml"/>
  <Override PartName="/ppt/slides/slide298.xml" ContentType="application/vnd.openxmlformats-officedocument.presentationml.slide+xml"/>
  <Override PartName="/ppt/slides/slide299.xml" ContentType="application/vnd.openxmlformats-officedocument.presentationml.slide+xml"/>
  <Override PartName="/ppt/slides/slide300.xml" ContentType="application/vnd.openxmlformats-officedocument.presentationml.slide+xml"/>
  <Override PartName="/ppt/slides/slide301.xml" ContentType="application/vnd.openxmlformats-officedocument.presentationml.slide+xml"/>
  <Override PartName="/ppt/slides/slide302.xml" ContentType="application/vnd.openxmlformats-officedocument.presentationml.slide+xml"/>
  <Override PartName="/ppt/slides/slide303.xml" ContentType="application/vnd.openxmlformats-officedocument.presentationml.slide+xml"/>
  <Override PartName="/ppt/slides/slide304.xml" ContentType="application/vnd.openxmlformats-officedocument.presentationml.slide+xml"/>
  <Override PartName="/ppt/slides/slide305.xml" ContentType="application/vnd.openxmlformats-officedocument.presentationml.slide+xml"/>
  <Override PartName="/ppt/slides/slide306.xml" ContentType="application/vnd.openxmlformats-officedocument.presentationml.slide+xml"/>
  <Override PartName="/ppt/slides/slide307.xml" ContentType="application/vnd.openxmlformats-officedocument.presentationml.slide+xml"/>
  <Override PartName="/ppt/slides/slide308.xml" ContentType="application/vnd.openxmlformats-officedocument.presentationml.slide+xml"/>
  <Override PartName="/ppt/slides/slide309.xml" ContentType="application/vnd.openxmlformats-officedocument.presentationml.slide+xml"/>
  <Override PartName="/ppt/slides/slide310.xml" ContentType="application/vnd.openxmlformats-officedocument.presentationml.slide+xml"/>
  <Override PartName="/ppt/slides/slide311.xml" ContentType="application/vnd.openxmlformats-officedocument.presentationml.slide+xml"/>
  <Override PartName="/ppt/slides/slide312.xml" ContentType="application/vnd.openxmlformats-officedocument.presentationml.slide+xml"/>
  <Override PartName="/ppt/slides/slide313.xml" ContentType="application/vnd.openxmlformats-officedocument.presentationml.slide+xml"/>
  <Override PartName="/ppt/slides/slide314.xml" ContentType="application/vnd.openxmlformats-officedocument.presentationml.slide+xml"/>
  <Override PartName="/ppt/slides/slide315.xml" ContentType="application/vnd.openxmlformats-officedocument.presentationml.slide+xml"/>
  <Override PartName="/ppt/slides/slide316.xml" ContentType="application/vnd.openxmlformats-officedocument.presentationml.slide+xml"/>
  <Override PartName="/ppt/slides/slide317.xml" ContentType="application/vnd.openxmlformats-officedocument.presentationml.slide+xml"/>
  <Override PartName="/ppt/slides/slide318.xml" ContentType="application/vnd.openxmlformats-officedocument.presentationml.slide+xml"/>
  <Override PartName="/ppt/slides/slide319.xml" ContentType="application/vnd.openxmlformats-officedocument.presentationml.slide+xml"/>
  <Override PartName="/ppt/slides/slide320.xml" ContentType="application/vnd.openxmlformats-officedocument.presentationml.slide+xml"/>
  <Override PartName="/ppt/slides/slide321.xml" ContentType="application/vnd.openxmlformats-officedocument.presentationml.slide+xml"/>
  <Override PartName="/ppt/slides/slide322.xml" ContentType="application/vnd.openxmlformats-officedocument.presentationml.slide+xml"/>
  <Override PartName="/ppt/slides/slide323.xml" ContentType="application/vnd.openxmlformats-officedocument.presentationml.slide+xml"/>
  <Override PartName="/ppt/slides/slide324.xml" ContentType="application/vnd.openxmlformats-officedocument.presentationml.slide+xml"/>
  <Override PartName="/ppt/slides/slide325.xml" ContentType="application/vnd.openxmlformats-officedocument.presentationml.slide+xml"/>
  <Override PartName="/ppt/slides/slide326.xml" ContentType="application/vnd.openxmlformats-officedocument.presentationml.slide+xml"/>
  <Override PartName="/ppt/slides/slide327.xml" ContentType="application/vnd.openxmlformats-officedocument.presentationml.slide+xml"/>
  <Override PartName="/ppt/slides/slide328.xml" ContentType="application/vnd.openxmlformats-officedocument.presentationml.slide+xml"/>
  <Override PartName="/ppt/slides/slide329.xml" ContentType="application/vnd.openxmlformats-officedocument.presentationml.slide+xml"/>
  <Override PartName="/ppt/slides/slide330.xml" ContentType="application/vnd.openxmlformats-officedocument.presentationml.slide+xml"/>
  <Override PartName="/ppt/slides/slide331.xml" ContentType="application/vnd.openxmlformats-officedocument.presentationml.slide+xml"/>
  <Override PartName="/ppt/slides/slide332.xml" ContentType="application/vnd.openxmlformats-officedocument.presentationml.slide+xml"/>
  <Override PartName="/ppt/slides/slide333.xml" ContentType="application/vnd.openxmlformats-officedocument.presentationml.slide+xml"/>
  <Override PartName="/ppt/slides/slide334.xml" ContentType="application/vnd.openxmlformats-officedocument.presentationml.slide+xml"/>
  <Override PartName="/ppt/slides/slide335.xml" ContentType="application/vnd.openxmlformats-officedocument.presentationml.slide+xml"/>
  <Override PartName="/ppt/slides/slide336.xml" ContentType="application/vnd.openxmlformats-officedocument.presentationml.slide+xml"/>
  <Override PartName="/ppt/slides/slide337.xml" ContentType="application/vnd.openxmlformats-officedocument.presentationml.slide+xml"/>
  <Override PartName="/ppt/slides/slide338.xml" ContentType="application/vnd.openxmlformats-officedocument.presentationml.slide+xml"/>
  <Override PartName="/ppt/slides/slide339.xml" ContentType="application/vnd.openxmlformats-officedocument.presentationml.slide+xml"/>
  <Override PartName="/ppt/slides/slide340.xml" ContentType="application/vnd.openxmlformats-officedocument.presentationml.slide+xml"/>
  <Override PartName="/ppt/slides/slide341.xml" ContentType="application/vnd.openxmlformats-officedocument.presentationml.slide+xml"/>
  <Override PartName="/ppt/slides/slide342.xml" ContentType="application/vnd.openxmlformats-officedocument.presentationml.slide+xml"/>
  <Override PartName="/ppt/slides/slide343.xml" ContentType="application/vnd.openxmlformats-officedocument.presentationml.slide+xml"/>
  <Override PartName="/ppt/slides/slide344.xml" ContentType="application/vnd.openxmlformats-officedocument.presentationml.slide+xml"/>
  <Override PartName="/ppt/slides/slide345.xml" ContentType="application/vnd.openxmlformats-officedocument.presentationml.slide+xml"/>
  <Override PartName="/ppt/slides/slide346.xml" ContentType="application/vnd.openxmlformats-officedocument.presentationml.slide+xml"/>
  <Override PartName="/ppt/slides/slide347.xml" ContentType="application/vnd.openxmlformats-officedocument.presentationml.slide+xml"/>
  <Override PartName="/ppt/slides/slide348.xml" ContentType="application/vnd.openxmlformats-officedocument.presentationml.slide+xml"/>
  <Override PartName="/ppt/slides/slide349.xml" ContentType="application/vnd.openxmlformats-officedocument.presentationml.slide+xml"/>
  <Override PartName="/ppt/slides/slide350.xml" ContentType="application/vnd.openxmlformats-officedocument.presentationml.slide+xml"/>
  <Override PartName="/ppt/slides/slide351.xml" ContentType="application/vnd.openxmlformats-officedocument.presentationml.slide+xml"/>
  <Override PartName="/ppt/slides/slide352.xml" ContentType="application/vnd.openxmlformats-officedocument.presentationml.slide+xml"/>
  <Override PartName="/ppt/slides/slide353.xml" ContentType="application/vnd.openxmlformats-officedocument.presentationml.slide+xml"/>
  <Override PartName="/ppt/slides/slide354.xml" ContentType="application/vnd.openxmlformats-officedocument.presentationml.slide+xml"/>
  <Override PartName="/ppt/slides/slide355.xml" ContentType="application/vnd.openxmlformats-officedocument.presentationml.slide+xml"/>
  <Override PartName="/ppt/slides/slide356.xml" ContentType="application/vnd.openxmlformats-officedocument.presentationml.slide+xml"/>
  <Override PartName="/ppt/slides/slide357.xml" ContentType="application/vnd.openxmlformats-officedocument.presentationml.slide+xml"/>
  <Override PartName="/ppt/slides/slide358.xml" ContentType="application/vnd.openxmlformats-officedocument.presentationml.slide+xml"/>
  <Override PartName="/ppt/slides/slide359.xml" ContentType="application/vnd.openxmlformats-officedocument.presentationml.slide+xml"/>
  <Override PartName="/ppt/slides/slide360.xml" ContentType="application/vnd.openxmlformats-officedocument.presentationml.slide+xml"/>
  <Override PartName="/ppt/slides/slide361.xml" ContentType="application/vnd.openxmlformats-officedocument.presentationml.slide+xml"/>
  <Override PartName="/ppt/slides/slide362.xml" ContentType="application/vnd.openxmlformats-officedocument.presentationml.slide+xml"/>
  <Override PartName="/ppt/slides/slide363.xml" ContentType="application/vnd.openxmlformats-officedocument.presentationml.slide+xml"/>
  <Override PartName="/ppt/slides/slide364.xml" ContentType="application/vnd.openxmlformats-officedocument.presentationml.slide+xml"/>
  <Override PartName="/ppt/slides/slide365.xml" ContentType="application/vnd.openxmlformats-officedocument.presentationml.slide+xml"/>
  <Override PartName="/ppt/slides/slide366.xml" ContentType="application/vnd.openxmlformats-officedocument.presentationml.slide+xml"/>
  <Override PartName="/ppt/slides/slide367.xml" ContentType="application/vnd.openxmlformats-officedocument.presentationml.slide+xml"/>
  <Override PartName="/ppt/slides/slide368.xml" ContentType="application/vnd.openxmlformats-officedocument.presentationml.slide+xml"/>
  <Override PartName="/ppt/slides/slide369.xml" ContentType="application/vnd.openxmlformats-officedocument.presentationml.slide+xml"/>
  <Override PartName="/ppt/slides/slide370.xml" ContentType="application/vnd.openxmlformats-officedocument.presentationml.slide+xml"/>
  <Override PartName="/ppt/slides/slide371.xml" ContentType="application/vnd.openxmlformats-officedocument.presentationml.slide+xml"/>
  <Override PartName="/ppt/slides/slide372.xml" ContentType="application/vnd.openxmlformats-officedocument.presentationml.slide+xml"/>
  <Override PartName="/ppt/slides/slide373.xml" ContentType="application/vnd.openxmlformats-officedocument.presentationml.slide+xml"/>
  <Override PartName="/ppt/slides/slide374.xml" ContentType="application/vnd.openxmlformats-officedocument.presentationml.slide+xml"/>
  <Override PartName="/ppt/slides/slide375.xml" ContentType="application/vnd.openxmlformats-officedocument.presentationml.slide+xml"/>
  <Override PartName="/ppt/slides/slide376.xml" ContentType="application/vnd.openxmlformats-officedocument.presentationml.slide+xml"/>
  <Override PartName="/ppt/slides/slide377.xml" ContentType="application/vnd.openxmlformats-officedocument.presentationml.slide+xml"/>
  <Override PartName="/ppt/slides/slide378.xml" ContentType="application/vnd.openxmlformats-officedocument.presentationml.slide+xml"/>
  <Override PartName="/ppt/slides/slide379.xml" ContentType="application/vnd.openxmlformats-officedocument.presentationml.slide+xml"/>
  <Override PartName="/ppt/slides/slide380.xml" ContentType="application/vnd.openxmlformats-officedocument.presentationml.slide+xml"/>
  <Override PartName="/ppt/slides/slide381.xml" ContentType="application/vnd.openxmlformats-officedocument.presentationml.slide+xml"/>
  <Override PartName="/ppt/slides/slide382.xml" ContentType="application/vnd.openxmlformats-officedocument.presentationml.slide+xml"/>
  <Override PartName="/ppt/slides/slide383.xml" ContentType="application/vnd.openxmlformats-officedocument.presentationml.slide+xml"/>
  <Override PartName="/ppt/slides/slide384.xml" ContentType="application/vnd.openxmlformats-officedocument.presentationml.slide+xml"/>
  <Override PartName="/ppt/slides/slide385.xml" ContentType="application/vnd.openxmlformats-officedocument.presentationml.slide+xml"/>
  <Override PartName="/ppt/slides/slide386.xml" ContentType="application/vnd.openxmlformats-officedocument.presentationml.slide+xml"/>
  <Override PartName="/ppt/slides/slide387.xml" ContentType="application/vnd.openxmlformats-officedocument.presentationml.slide+xml"/>
  <Override PartName="/ppt/slides/slide388.xml" ContentType="application/vnd.openxmlformats-officedocument.presentationml.slide+xml"/>
  <Override PartName="/ppt/slides/slide389.xml" ContentType="application/vnd.openxmlformats-officedocument.presentationml.slide+xml"/>
  <Override PartName="/ppt/slides/slide390.xml" ContentType="application/vnd.openxmlformats-officedocument.presentationml.slide+xml"/>
  <Override PartName="/ppt/slides/slide391.xml" ContentType="application/vnd.openxmlformats-officedocument.presentationml.slide+xml"/>
  <Override PartName="/ppt/slides/slide392.xml" ContentType="application/vnd.openxmlformats-officedocument.presentationml.slide+xml"/>
  <Override PartName="/ppt/slides/slide393.xml" ContentType="application/vnd.openxmlformats-officedocument.presentationml.slide+xml"/>
  <Override PartName="/ppt/slides/slide394.xml" ContentType="application/vnd.openxmlformats-officedocument.presentationml.slide+xml"/>
  <Override PartName="/ppt/slides/slide395.xml" ContentType="application/vnd.openxmlformats-officedocument.presentationml.slide+xml"/>
  <Override PartName="/ppt/slides/slide396.xml" ContentType="application/vnd.openxmlformats-officedocument.presentationml.slide+xml"/>
  <Override PartName="/ppt/slides/slide397.xml" ContentType="application/vnd.openxmlformats-officedocument.presentationml.slide+xml"/>
  <Override PartName="/ppt/slides/slide398.xml" ContentType="application/vnd.openxmlformats-officedocument.presentationml.slide+xml"/>
  <Override PartName="/ppt/slides/slide399.xml" ContentType="application/vnd.openxmlformats-officedocument.presentationml.slide+xml"/>
  <Override PartName="/ppt/slides/slide400.xml" ContentType="application/vnd.openxmlformats-officedocument.presentationml.slide+xml"/>
  <Override PartName="/ppt/slides/slide401.xml" ContentType="application/vnd.openxmlformats-officedocument.presentationml.slide+xml"/>
  <Override PartName="/ppt/slides/slide402.xml" ContentType="application/vnd.openxmlformats-officedocument.presentationml.slide+xml"/>
  <Override PartName="/ppt/slides/slide403.xml" ContentType="application/vnd.openxmlformats-officedocument.presentationml.slide+xml"/>
  <Override PartName="/ppt/slides/slide404.xml" ContentType="application/vnd.openxmlformats-officedocument.presentationml.slide+xml"/>
  <Override PartName="/ppt/slides/slide405.xml" ContentType="application/vnd.openxmlformats-officedocument.presentationml.slide+xml"/>
  <Override PartName="/ppt/slides/slide406.xml" ContentType="application/vnd.openxmlformats-officedocument.presentationml.slide+xml"/>
  <Override PartName="/ppt/slides/slide407.xml" ContentType="application/vnd.openxmlformats-officedocument.presentationml.slide+xml"/>
  <Override PartName="/ppt/slides/slide408.xml" ContentType="application/vnd.openxmlformats-officedocument.presentationml.slide+xml"/>
  <Override PartName="/ppt/slides/slide409.xml" ContentType="application/vnd.openxmlformats-officedocument.presentationml.slide+xml"/>
  <Override PartName="/ppt/slides/slide410.xml" ContentType="application/vnd.openxmlformats-officedocument.presentationml.slide+xml"/>
  <Override PartName="/ppt/slides/slide411.xml" ContentType="application/vnd.openxmlformats-officedocument.presentationml.slide+xml"/>
  <Override PartName="/ppt/slides/slide412.xml" ContentType="application/vnd.openxmlformats-officedocument.presentationml.slide+xml"/>
  <Override PartName="/ppt/slides/slide413.xml" ContentType="application/vnd.openxmlformats-officedocument.presentationml.slide+xml"/>
  <Override PartName="/ppt/slides/slide414.xml" ContentType="application/vnd.openxmlformats-officedocument.presentationml.slide+xml"/>
  <Override PartName="/ppt/slides/slide415.xml" ContentType="application/vnd.openxmlformats-officedocument.presentationml.slide+xml"/>
  <Override PartName="/ppt/slides/slide416.xml" ContentType="application/vnd.openxmlformats-officedocument.presentationml.slide+xml"/>
  <Override PartName="/ppt/slides/slide417.xml" ContentType="application/vnd.openxmlformats-officedocument.presentationml.slide+xml"/>
  <Override PartName="/ppt/slides/slide418.xml" ContentType="application/vnd.openxmlformats-officedocument.presentationml.slide+xml"/>
  <Override PartName="/ppt/slides/slide419.xml" ContentType="application/vnd.openxmlformats-officedocument.presentationml.slide+xml"/>
  <Override PartName="/ppt/slides/slide420.xml" ContentType="application/vnd.openxmlformats-officedocument.presentationml.slide+xml"/>
  <Override PartName="/ppt/slides/slide421.xml" ContentType="application/vnd.openxmlformats-officedocument.presentationml.slide+xml"/>
  <Override PartName="/ppt/slides/slide422.xml" ContentType="application/vnd.openxmlformats-officedocument.presentationml.slide+xml"/>
  <Override PartName="/ppt/slides/slide423.xml" ContentType="application/vnd.openxmlformats-officedocument.presentationml.slide+xml"/>
  <Override PartName="/ppt/slides/slide424.xml" ContentType="application/vnd.openxmlformats-officedocument.presentationml.slide+xml"/>
  <Override PartName="/ppt/slides/slide425.xml" ContentType="application/vnd.openxmlformats-officedocument.presentationml.slide+xml"/>
  <Override PartName="/ppt/slides/slide426.xml" ContentType="application/vnd.openxmlformats-officedocument.presentationml.slide+xml"/>
  <Override PartName="/ppt/slides/slide427.xml" ContentType="application/vnd.openxmlformats-officedocument.presentationml.slide+xml"/>
  <Override PartName="/ppt/slides/slide428.xml" ContentType="application/vnd.openxmlformats-officedocument.presentationml.slide+xml"/>
  <Override PartName="/ppt/slides/slide429.xml" ContentType="application/vnd.openxmlformats-officedocument.presentationml.slide+xml"/>
  <Override PartName="/ppt/slides/slide430.xml" ContentType="application/vnd.openxmlformats-officedocument.presentationml.slide+xml"/>
  <Override PartName="/ppt/slides/slide431.xml" ContentType="application/vnd.openxmlformats-officedocument.presentationml.slide+xml"/>
  <Override PartName="/ppt/slides/slide432.xml" ContentType="application/vnd.openxmlformats-officedocument.presentationml.slide+xml"/>
  <Override PartName="/ppt/slides/slide433.xml" ContentType="application/vnd.openxmlformats-officedocument.presentationml.slide+xml"/>
  <Override PartName="/ppt/slides/slide434.xml" ContentType="application/vnd.openxmlformats-officedocument.presentationml.slide+xml"/>
  <Override PartName="/ppt/slides/slide435.xml" ContentType="application/vnd.openxmlformats-officedocument.presentationml.slide+xml"/>
  <Override PartName="/ppt/slides/slide436.xml" ContentType="application/vnd.openxmlformats-officedocument.presentationml.slide+xml"/>
  <Override PartName="/ppt/slides/slide437.xml" ContentType="application/vnd.openxmlformats-officedocument.presentationml.slide+xml"/>
  <Override PartName="/ppt/slides/slide438.xml" ContentType="application/vnd.openxmlformats-officedocument.presentationml.slide+xml"/>
  <Override PartName="/ppt/slides/slide439.xml" ContentType="application/vnd.openxmlformats-officedocument.presentationml.slide+xml"/>
  <Override PartName="/ppt/slides/slide440.xml" ContentType="application/vnd.openxmlformats-officedocument.presentationml.slide+xml"/>
  <Override PartName="/ppt/slides/slide441.xml" ContentType="application/vnd.openxmlformats-officedocument.presentationml.slide+xml"/>
  <Override PartName="/ppt/slides/slide442.xml" ContentType="application/vnd.openxmlformats-officedocument.presentationml.slide+xml"/>
  <Override PartName="/ppt/slides/slide443.xml" ContentType="application/vnd.openxmlformats-officedocument.presentationml.slide+xml"/>
  <Override PartName="/ppt/slides/slide444.xml" ContentType="application/vnd.openxmlformats-officedocument.presentationml.slide+xml"/>
  <Override PartName="/ppt/slides/slide445.xml" ContentType="application/vnd.openxmlformats-officedocument.presentationml.slide+xml"/>
  <Override PartName="/ppt/slides/slide446.xml" ContentType="application/vnd.openxmlformats-officedocument.presentationml.slide+xml"/>
  <Override PartName="/ppt/slides/slide447.xml" ContentType="application/vnd.openxmlformats-officedocument.presentationml.slide+xml"/>
  <Override PartName="/ppt/slides/slide448.xml" ContentType="application/vnd.openxmlformats-officedocument.presentationml.slide+xml"/>
  <Override PartName="/ppt/slides/slide449.xml" ContentType="application/vnd.openxmlformats-officedocument.presentationml.slide+xml"/>
  <Override PartName="/ppt/slides/slide450.xml" ContentType="application/vnd.openxmlformats-officedocument.presentationml.slide+xml"/>
  <Override PartName="/ppt/slides/slide451.xml" ContentType="application/vnd.openxmlformats-officedocument.presentationml.slide+xml"/>
  <Override PartName="/ppt/slides/slide452.xml" ContentType="application/vnd.openxmlformats-officedocument.presentationml.slide+xml"/>
  <Override PartName="/ppt/slides/slide453.xml" ContentType="application/vnd.openxmlformats-officedocument.presentationml.slide+xml"/>
  <Override PartName="/ppt/slides/slide454.xml" ContentType="application/vnd.openxmlformats-officedocument.presentationml.slide+xml"/>
  <Override PartName="/ppt/slides/slide455.xml" ContentType="application/vnd.openxmlformats-officedocument.presentationml.slide+xml"/>
  <Override PartName="/ppt/slides/slide456.xml" ContentType="application/vnd.openxmlformats-officedocument.presentationml.slide+xml"/>
  <Override PartName="/ppt/slides/slide457.xml" ContentType="application/vnd.openxmlformats-officedocument.presentationml.slide+xml"/>
  <Override PartName="/ppt/slides/slide458.xml" ContentType="application/vnd.openxmlformats-officedocument.presentationml.slide+xml"/>
  <Override PartName="/ppt/slides/slide459.xml" ContentType="application/vnd.openxmlformats-officedocument.presentationml.slide+xml"/>
  <Override PartName="/ppt/slides/slide460.xml" ContentType="application/vnd.openxmlformats-officedocument.presentationml.slide+xml"/>
  <Override PartName="/ppt/slides/slide461.xml" ContentType="application/vnd.openxmlformats-officedocument.presentationml.slide+xml"/>
  <Override PartName="/ppt/slides/slide462.xml" ContentType="application/vnd.openxmlformats-officedocument.presentationml.slide+xml"/>
  <Override PartName="/ppt/slides/slide463.xml" ContentType="application/vnd.openxmlformats-officedocument.presentationml.slide+xml"/>
  <Override PartName="/ppt/slides/slide464.xml" ContentType="application/vnd.openxmlformats-officedocument.presentationml.slide+xml"/>
  <Override PartName="/ppt/slides/slide465.xml" ContentType="application/vnd.openxmlformats-officedocument.presentationml.slide+xml"/>
  <Override PartName="/ppt/slides/slide466.xml" ContentType="application/vnd.openxmlformats-officedocument.presentationml.slide+xml"/>
  <Override PartName="/ppt/slides/slide467.xml" ContentType="application/vnd.openxmlformats-officedocument.presentationml.slide+xml"/>
  <Override PartName="/ppt/slides/slide468.xml" ContentType="application/vnd.openxmlformats-officedocument.presentationml.slide+xml"/>
  <Override PartName="/ppt/slides/slide469.xml" ContentType="application/vnd.openxmlformats-officedocument.presentationml.slide+xml"/>
  <Override PartName="/ppt/slides/slide470.xml" ContentType="application/vnd.openxmlformats-officedocument.presentationml.slide+xml"/>
  <Override PartName="/ppt/slides/slide471.xml" ContentType="application/vnd.openxmlformats-officedocument.presentationml.slide+xml"/>
  <Override PartName="/ppt/slides/slide472.xml" ContentType="application/vnd.openxmlformats-officedocument.presentationml.slide+xml"/>
  <Override PartName="/ppt/slides/slide473.xml" ContentType="application/vnd.openxmlformats-officedocument.presentationml.slide+xml"/>
  <Override PartName="/ppt/slides/slide474.xml" ContentType="application/vnd.openxmlformats-officedocument.presentationml.slide+xml"/>
  <Override PartName="/ppt/slides/slide475.xml" ContentType="application/vnd.openxmlformats-officedocument.presentationml.slide+xml"/>
  <Override PartName="/ppt/slides/slide476.xml" ContentType="application/vnd.openxmlformats-officedocument.presentationml.slide+xml"/>
  <Override PartName="/ppt/slides/slide477.xml" ContentType="application/vnd.openxmlformats-officedocument.presentationml.slide+xml"/>
  <Override PartName="/ppt/slides/slide478.xml" ContentType="application/vnd.openxmlformats-officedocument.presentationml.slide+xml"/>
  <Override PartName="/ppt/slides/slide479.xml" ContentType="application/vnd.openxmlformats-officedocument.presentationml.slide+xml"/>
  <Override PartName="/ppt/slides/slide480.xml" ContentType="application/vnd.openxmlformats-officedocument.presentationml.slide+xml"/>
  <Override PartName="/ppt/slides/slide481.xml" ContentType="application/vnd.openxmlformats-officedocument.presentationml.slide+xml"/>
  <Override PartName="/ppt/slides/slide482.xml" ContentType="application/vnd.openxmlformats-officedocument.presentationml.slide+xml"/>
  <Override PartName="/ppt/slides/slide483.xml" ContentType="application/vnd.openxmlformats-officedocument.presentationml.slide+xml"/>
  <Override PartName="/ppt/slides/slide484.xml" ContentType="application/vnd.openxmlformats-officedocument.presentationml.slide+xml"/>
  <Override PartName="/ppt/slides/slide485.xml" ContentType="application/vnd.openxmlformats-officedocument.presentationml.slide+xml"/>
  <Override PartName="/ppt/slides/slide486.xml" ContentType="application/vnd.openxmlformats-officedocument.presentationml.slide+xml"/>
  <Override PartName="/ppt/slides/slide487.xml" ContentType="application/vnd.openxmlformats-officedocument.presentationml.slide+xml"/>
  <Override PartName="/ppt/slides/slide488.xml" ContentType="application/vnd.openxmlformats-officedocument.presentationml.slide+xml"/>
  <Override PartName="/ppt/slides/slide489.xml" ContentType="application/vnd.openxmlformats-officedocument.presentationml.slide+xml"/>
  <Override PartName="/ppt/slides/slide490.xml" ContentType="application/vnd.openxmlformats-officedocument.presentationml.slide+xml"/>
  <Override PartName="/ppt/slides/slide491.xml" ContentType="application/vnd.openxmlformats-officedocument.presentationml.slide+xml"/>
  <Override PartName="/ppt/slides/slide492.xml" ContentType="application/vnd.openxmlformats-officedocument.presentationml.slide+xml"/>
  <Override PartName="/ppt/slides/slide493.xml" ContentType="application/vnd.openxmlformats-officedocument.presentationml.slide+xml"/>
  <Override PartName="/ppt/slides/slide494.xml" ContentType="application/vnd.openxmlformats-officedocument.presentationml.slide+xml"/>
  <Override PartName="/ppt/slides/slide495.xml" ContentType="application/vnd.openxmlformats-officedocument.presentationml.slide+xml"/>
  <Override PartName="/ppt/slides/slide496.xml" ContentType="application/vnd.openxmlformats-officedocument.presentationml.slide+xml"/>
  <Override PartName="/ppt/slides/slide497.xml" ContentType="application/vnd.openxmlformats-officedocument.presentationml.slide+xml"/>
  <Override PartName="/ppt/slides/slide498.xml" ContentType="application/vnd.openxmlformats-officedocument.presentationml.slide+xml"/>
  <Override PartName="/ppt/slides/slide499.xml" ContentType="application/vnd.openxmlformats-officedocument.presentationml.slide+xml"/>
  <Override PartName="/ppt/slides/slide500.xml" ContentType="application/vnd.openxmlformats-officedocument.presentationml.slide+xml"/>
  <Override PartName="/ppt/slides/slide501.xml" ContentType="application/vnd.openxmlformats-officedocument.presentationml.slide+xml"/>
  <Override PartName="/ppt/slides/slide502.xml" ContentType="application/vnd.openxmlformats-officedocument.presentationml.slide+xml"/>
  <Override PartName="/ppt/slides/slide503.xml" ContentType="application/vnd.openxmlformats-officedocument.presentationml.slide+xml"/>
  <Override PartName="/ppt/slides/slide504.xml" ContentType="application/vnd.openxmlformats-officedocument.presentationml.slide+xml"/>
  <Override PartName="/ppt/slides/slide505.xml" ContentType="application/vnd.openxmlformats-officedocument.presentationml.slide+xml"/>
  <Override PartName="/ppt/slides/slide506.xml" ContentType="application/vnd.openxmlformats-officedocument.presentationml.slide+xml"/>
  <Override PartName="/ppt/slides/slide507.xml" ContentType="application/vnd.openxmlformats-officedocument.presentationml.slide+xml"/>
  <Override PartName="/ppt/slides/slide508.xml" ContentType="application/vnd.openxmlformats-officedocument.presentationml.slide+xml"/>
  <Override PartName="/ppt/slides/slide509.xml" ContentType="application/vnd.openxmlformats-officedocument.presentationml.slide+xml"/>
  <Override PartName="/ppt/slides/slide510.xml" ContentType="application/vnd.openxmlformats-officedocument.presentationml.slide+xml"/>
  <Override PartName="/ppt/slides/slide511.xml" ContentType="application/vnd.openxmlformats-officedocument.presentationml.slide+xml"/>
  <Override PartName="/ppt/slides/slide512.xml" ContentType="application/vnd.openxmlformats-officedocument.presentationml.slide+xml"/>
  <Override PartName="/ppt/slides/slide513.xml" ContentType="application/vnd.openxmlformats-officedocument.presentationml.slide+xml"/>
  <Override PartName="/ppt/slides/slide514.xml" ContentType="application/vnd.openxmlformats-officedocument.presentationml.slide+xml"/>
  <Override PartName="/ppt/slides/slide515.xml" ContentType="application/vnd.openxmlformats-officedocument.presentationml.slide+xml"/>
  <Override PartName="/ppt/slides/slide516.xml" ContentType="application/vnd.openxmlformats-officedocument.presentationml.slide+xml"/>
  <Override PartName="/ppt/slides/slide517.xml" ContentType="application/vnd.openxmlformats-officedocument.presentationml.slide+xml"/>
  <Override PartName="/ppt/slides/slide518.xml" ContentType="application/vnd.openxmlformats-officedocument.presentationml.slide+xml"/>
  <Override PartName="/ppt/slides/slide519.xml" ContentType="application/vnd.openxmlformats-officedocument.presentationml.slide+xml"/>
  <Override PartName="/ppt/slides/slide520.xml" ContentType="application/vnd.openxmlformats-officedocument.presentationml.slide+xml"/>
</Types>
</file>

<file path=_rels/.rels><?xml version="1.0" encoding="UTF-8" standalone="yes"?><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p="http://schemas.openxmlformats.org/presentationml/2006/main" xmlns:r="http://schemas.openxmlformats.org/officeDocument/2006/relationships"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 id="381" r:id="rId127"/>
    <p:sldId id="382" r:id="rId128"/>
    <p:sldId id="383" r:id="rId129"/>
    <p:sldId id="384" r:id="rId130"/>
    <p:sldId id="385" r:id="rId131"/>
    <p:sldId id="386" r:id="rId132"/>
    <p:sldId id="387" r:id="rId133"/>
    <p:sldId id="388" r:id="rId134"/>
    <p:sldId id="389" r:id="rId135"/>
    <p:sldId id="390" r:id="rId136"/>
    <p:sldId id="391" r:id="rId137"/>
    <p:sldId id="392" r:id="rId138"/>
    <p:sldId id="393" r:id="rId139"/>
    <p:sldId id="394" r:id="rId140"/>
    <p:sldId id="395" r:id="rId141"/>
    <p:sldId id="396" r:id="rId142"/>
    <p:sldId id="397" r:id="rId143"/>
    <p:sldId id="398" r:id="rId144"/>
    <p:sldId id="399" r:id="rId145"/>
    <p:sldId id="400" r:id="rId146"/>
    <p:sldId id="401" r:id="rId147"/>
    <p:sldId id="402" r:id="rId148"/>
    <p:sldId id="403" r:id="rId149"/>
    <p:sldId id="404" r:id="rId150"/>
    <p:sldId id="405" r:id="rId151"/>
    <p:sldId id="406" r:id="rId152"/>
    <p:sldId id="407" r:id="rId153"/>
    <p:sldId id="408" r:id="rId154"/>
    <p:sldId id="409" r:id="rId155"/>
    <p:sldId id="410" r:id="rId156"/>
    <p:sldId id="411" r:id="rId157"/>
    <p:sldId id="412" r:id="rId158"/>
    <p:sldId id="413" r:id="rId159"/>
    <p:sldId id="414" r:id="rId160"/>
    <p:sldId id="415" r:id="rId161"/>
    <p:sldId id="416" r:id="rId162"/>
    <p:sldId id="417" r:id="rId163"/>
    <p:sldId id="418" r:id="rId164"/>
    <p:sldId id="419" r:id="rId165"/>
    <p:sldId id="420" r:id="rId166"/>
    <p:sldId id="421" r:id="rId167"/>
    <p:sldId id="422" r:id="rId168"/>
    <p:sldId id="423" r:id="rId169"/>
    <p:sldId id="424" r:id="rId170"/>
    <p:sldId id="425" r:id="rId171"/>
    <p:sldId id="426" r:id="rId172"/>
    <p:sldId id="427" r:id="rId173"/>
    <p:sldId id="428" r:id="rId174"/>
    <p:sldId id="429" r:id="rId175"/>
    <p:sldId id="430" r:id="rId176"/>
    <p:sldId id="431" r:id="rId177"/>
    <p:sldId id="432" r:id="rId178"/>
    <p:sldId id="433" r:id="rId179"/>
    <p:sldId id="434" r:id="rId180"/>
    <p:sldId id="435" r:id="rId181"/>
    <p:sldId id="436" r:id="rId182"/>
    <p:sldId id="437" r:id="rId183"/>
    <p:sldId id="438" r:id="rId184"/>
    <p:sldId id="439" r:id="rId185"/>
    <p:sldId id="440" r:id="rId186"/>
    <p:sldId id="441" r:id="rId187"/>
    <p:sldId id="442" r:id="rId188"/>
    <p:sldId id="443" r:id="rId189"/>
    <p:sldId id="444" r:id="rId190"/>
    <p:sldId id="445" r:id="rId191"/>
    <p:sldId id="446" r:id="rId192"/>
    <p:sldId id="447" r:id="rId193"/>
    <p:sldId id="448" r:id="rId194"/>
    <p:sldId id="449" r:id="rId195"/>
    <p:sldId id="450" r:id="rId196"/>
    <p:sldId id="451" r:id="rId197"/>
    <p:sldId id="452" r:id="rId198"/>
    <p:sldId id="453" r:id="rId199"/>
    <p:sldId id="454" r:id="rId200"/>
    <p:sldId id="455" r:id="rId201"/>
    <p:sldId id="456" r:id="rId202"/>
    <p:sldId id="457" r:id="rId203"/>
    <p:sldId id="458" r:id="rId204"/>
    <p:sldId id="459" r:id="rId205"/>
    <p:sldId id="460" r:id="rId206"/>
    <p:sldId id="461" r:id="rId207"/>
    <p:sldId id="462" r:id="rId208"/>
    <p:sldId id="463" r:id="rId209"/>
    <p:sldId id="464" r:id="rId210"/>
    <p:sldId id="465" r:id="rId211"/>
    <p:sldId id="466" r:id="rId212"/>
    <p:sldId id="467" r:id="rId213"/>
    <p:sldId id="468" r:id="rId214"/>
    <p:sldId id="469" r:id="rId215"/>
    <p:sldId id="470" r:id="rId216"/>
    <p:sldId id="471" r:id="rId217"/>
    <p:sldId id="472" r:id="rId218"/>
    <p:sldId id="473" r:id="rId219"/>
    <p:sldId id="474" r:id="rId220"/>
    <p:sldId id="475" r:id="rId221"/>
    <p:sldId id="476" r:id="rId222"/>
    <p:sldId id="477" r:id="rId223"/>
    <p:sldId id="478" r:id="rId224"/>
    <p:sldId id="479" r:id="rId225"/>
    <p:sldId id="480" r:id="rId226"/>
    <p:sldId id="481" r:id="rId227"/>
    <p:sldId id="482" r:id="rId228"/>
    <p:sldId id="483" r:id="rId229"/>
    <p:sldId id="484" r:id="rId230"/>
    <p:sldId id="485" r:id="rId231"/>
    <p:sldId id="486" r:id="rId232"/>
    <p:sldId id="487" r:id="rId233"/>
    <p:sldId id="488" r:id="rId234"/>
    <p:sldId id="489" r:id="rId235"/>
    <p:sldId id="490" r:id="rId236"/>
    <p:sldId id="491" r:id="rId237"/>
    <p:sldId id="492" r:id="rId238"/>
    <p:sldId id="493" r:id="rId239"/>
    <p:sldId id="494" r:id="rId240"/>
    <p:sldId id="495" r:id="rId241"/>
    <p:sldId id="496" r:id="rId242"/>
    <p:sldId id="497" r:id="rId243"/>
    <p:sldId id="498" r:id="rId244"/>
    <p:sldId id="499" r:id="rId245"/>
    <p:sldId id="500" r:id="rId246"/>
    <p:sldId id="501" r:id="rId247"/>
    <p:sldId id="502" r:id="rId248"/>
    <p:sldId id="503" r:id="rId249"/>
    <p:sldId id="504" r:id="rId250"/>
    <p:sldId id="505" r:id="rId251"/>
    <p:sldId id="506" r:id="rId252"/>
    <p:sldId id="507" r:id="rId253"/>
    <p:sldId id="508" r:id="rId254"/>
    <p:sldId id="509" r:id="rId255"/>
    <p:sldId id="510" r:id="rId256"/>
    <p:sldId id="511" r:id="rId257"/>
    <p:sldId id="512" r:id="rId258"/>
    <p:sldId id="513" r:id="rId259"/>
    <p:sldId id="514" r:id="rId260"/>
    <p:sldId id="515" r:id="rId261"/>
    <p:sldId id="516" r:id="rId262"/>
    <p:sldId id="517" r:id="rId263"/>
    <p:sldId id="518" r:id="rId264"/>
    <p:sldId id="519" r:id="rId265"/>
    <p:sldId id="520" r:id="rId266"/>
    <p:sldId id="521" r:id="rId267"/>
    <p:sldId id="522" r:id="rId268"/>
    <p:sldId id="523" r:id="rId269"/>
    <p:sldId id="524" r:id="rId270"/>
    <p:sldId id="525" r:id="rId271"/>
    <p:sldId id="526" r:id="rId272"/>
    <p:sldId id="527" r:id="rId273"/>
    <p:sldId id="528" r:id="rId274"/>
    <p:sldId id="529" r:id="rId275"/>
    <p:sldId id="530" r:id="rId276"/>
    <p:sldId id="531" r:id="rId277"/>
    <p:sldId id="532" r:id="rId278"/>
    <p:sldId id="533" r:id="rId279"/>
    <p:sldId id="534" r:id="rId280"/>
    <p:sldId id="535" r:id="rId281"/>
    <p:sldId id="536" r:id="rId282"/>
    <p:sldId id="537" r:id="rId283"/>
    <p:sldId id="538" r:id="rId284"/>
    <p:sldId id="539" r:id="rId285"/>
    <p:sldId id="540" r:id="rId286"/>
    <p:sldId id="541" r:id="rId287"/>
    <p:sldId id="542" r:id="rId288"/>
    <p:sldId id="543" r:id="rId289"/>
    <p:sldId id="544" r:id="rId290"/>
    <p:sldId id="545" r:id="rId291"/>
    <p:sldId id="546" r:id="rId292"/>
    <p:sldId id="547" r:id="rId293"/>
    <p:sldId id="548" r:id="rId294"/>
    <p:sldId id="549" r:id="rId295"/>
    <p:sldId id="550" r:id="rId296"/>
    <p:sldId id="551" r:id="rId297"/>
    <p:sldId id="552" r:id="rId298"/>
    <p:sldId id="553" r:id="rId299"/>
    <p:sldId id="554" r:id="rId300"/>
    <p:sldId id="555" r:id="rId301"/>
    <p:sldId id="556" r:id="rId302"/>
    <p:sldId id="557" r:id="rId303"/>
    <p:sldId id="558" r:id="rId304"/>
    <p:sldId id="559" r:id="rId305"/>
    <p:sldId id="560" r:id="rId306"/>
    <p:sldId id="561" r:id="rId307"/>
    <p:sldId id="562" r:id="rId308"/>
    <p:sldId id="563" r:id="rId309"/>
    <p:sldId id="564" r:id="rId310"/>
    <p:sldId id="565" r:id="rId311"/>
    <p:sldId id="566" r:id="rId312"/>
    <p:sldId id="567" r:id="rId313"/>
    <p:sldId id="568" r:id="rId314"/>
    <p:sldId id="569" r:id="rId315"/>
    <p:sldId id="570" r:id="rId316"/>
    <p:sldId id="571" r:id="rId317"/>
    <p:sldId id="572" r:id="rId318"/>
    <p:sldId id="573" r:id="rId319"/>
    <p:sldId id="574" r:id="rId320"/>
    <p:sldId id="575" r:id="rId321"/>
    <p:sldId id="576" r:id="rId322"/>
    <p:sldId id="577" r:id="rId323"/>
    <p:sldId id="578" r:id="rId324"/>
    <p:sldId id="579" r:id="rId325"/>
    <p:sldId id="580" r:id="rId326"/>
    <p:sldId id="581" r:id="rId327"/>
    <p:sldId id="582" r:id="rId328"/>
    <p:sldId id="583" r:id="rId329"/>
    <p:sldId id="584" r:id="rId330"/>
    <p:sldId id="585" r:id="rId331"/>
    <p:sldId id="586" r:id="rId332"/>
    <p:sldId id="587" r:id="rId333"/>
    <p:sldId id="588" r:id="rId334"/>
    <p:sldId id="589" r:id="rId335"/>
    <p:sldId id="590" r:id="rId336"/>
    <p:sldId id="591" r:id="rId337"/>
    <p:sldId id="592" r:id="rId338"/>
    <p:sldId id="593" r:id="rId339"/>
    <p:sldId id="594" r:id="rId340"/>
    <p:sldId id="595" r:id="rId341"/>
    <p:sldId id="596" r:id="rId342"/>
    <p:sldId id="597" r:id="rId343"/>
    <p:sldId id="598" r:id="rId344"/>
    <p:sldId id="599" r:id="rId345"/>
    <p:sldId id="600" r:id="rId346"/>
    <p:sldId id="601" r:id="rId347"/>
    <p:sldId id="602" r:id="rId348"/>
    <p:sldId id="603" r:id="rId349"/>
    <p:sldId id="604" r:id="rId350"/>
    <p:sldId id="605" r:id="rId351"/>
    <p:sldId id="606" r:id="rId352"/>
    <p:sldId id="607" r:id="rId353"/>
    <p:sldId id="608" r:id="rId354"/>
    <p:sldId id="609" r:id="rId355"/>
    <p:sldId id="610" r:id="rId356"/>
    <p:sldId id="611" r:id="rId357"/>
    <p:sldId id="612" r:id="rId358"/>
    <p:sldId id="613" r:id="rId359"/>
    <p:sldId id="614" r:id="rId360"/>
    <p:sldId id="615" r:id="rId361"/>
    <p:sldId id="616" r:id="rId362"/>
    <p:sldId id="617" r:id="rId363"/>
    <p:sldId id="618" r:id="rId364"/>
    <p:sldId id="619" r:id="rId365"/>
    <p:sldId id="620" r:id="rId366"/>
    <p:sldId id="621" r:id="rId367"/>
    <p:sldId id="622" r:id="rId368"/>
    <p:sldId id="623" r:id="rId369"/>
    <p:sldId id="624" r:id="rId370"/>
    <p:sldId id="625" r:id="rId371"/>
    <p:sldId id="626" r:id="rId372"/>
    <p:sldId id="627" r:id="rId373"/>
    <p:sldId id="628" r:id="rId374"/>
    <p:sldId id="629" r:id="rId375"/>
    <p:sldId id="630" r:id="rId376"/>
    <p:sldId id="631" r:id="rId377"/>
    <p:sldId id="632" r:id="rId378"/>
    <p:sldId id="633" r:id="rId379"/>
    <p:sldId id="634" r:id="rId380"/>
    <p:sldId id="635" r:id="rId381"/>
    <p:sldId id="636" r:id="rId382"/>
    <p:sldId id="637" r:id="rId383"/>
    <p:sldId id="638" r:id="rId384"/>
    <p:sldId id="639" r:id="rId385"/>
    <p:sldId id="640" r:id="rId386"/>
    <p:sldId id="641" r:id="rId387"/>
    <p:sldId id="642" r:id="rId388"/>
    <p:sldId id="643" r:id="rId389"/>
    <p:sldId id="644" r:id="rId390"/>
    <p:sldId id="645" r:id="rId391"/>
    <p:sldId id="646" r:id="rId392"/>
    <p:sldId id="647" r:id="rId393"/>
    <p:sldId id="648" r:id="rId394"/>
    <p:sldId id="649" r:id="rId395"/>
    <p:sldId id="650" r:id="rId396"/>
    <p:sldId id="651" r:id="rId397"/>
    <p:sldId id="652" r:id="rId398"/>
    <p:sldId id="653" r:id="rId399"/>
    <p:sldId id="654" r:id="rId400"/>
    <p:sldId id="655" r:id="rId401"/>
    <p:sldId id="656" r:id="rId402"/>
    <p:sldId id="657" r:id="rId403"/>
    <p:sldId id="658" r:id="rId404"/>
    <p:sldId id="659" r:id="rId405"/>
    <p:sldId id="660" r:id="rId406"/>
    <p:sldId id="661" r:id="rId407"/>
    <p:sldId id="662" r:id="rId408"/>
    <p:sldId id="663" r:id="rId409"/>
    <p:sldId id="664" r:id="rId410"/>
    <p:sldId id="665" r:id="rId411"/>
    <p:sldId id="666" r:id="rId412"/>
    <p:sldId id="667" r:id="rId413"/>
    <p:sldId id="668" r:id="rId414"/>
    <p:sldId id="669" r:id="rId415"/>
    <p:sldId id="670" r:id="rId416"/>
    <p:sldId id="671" r:id="rId417"/>
    <p:sldId id="672" r:id="rId418"/>
    <p:sldId id="673" r:id="rId419"/>
    <p:sldId id="674" r:id="rId420"/>
    <p:sldId id="675" r:id="rId421"/>
    <p:sldId id="676" r:id="rId422"/>
    <p:sldId id="677" r:id="rId423"/>
    <p:sldId id="678" r:id="rId424"/>
    <p:sldId id="679" r:id="rId425"/>
    <p:sldId id="680" r:id="rId426"/>
    <p:sldId id="681" r:id="rId427"/>
    <p:sldId id="682" r:id="rId428"/>
    <p:sldId id="683" r:id="rId429"/>
    <p:sldId id="684" r:id="rId430"/>
    <p:sldId id="685" r:id="rId431"/>
    <p:sldId id="686" r:id="rId432"/>
    <p:sldId id="687" r:id="rId433"/>
    <p:sldId id="688" r:id="rId434"/>
    <p:sldId id="689" r:id="rId435"/>
    <p:sldId id="690" r:id="rId436"/>
    <p:sldId id="691" r:id="rId437"/>
    <p:sldId id="692" r:id="rId438"/>
    <p:sldId id="693" r:id="rId439"/>
    <p:sldId id="694" r:id="rId440"/>
    <p:sldId id="695" r:id="rId441"/>
    <p:sldId id="696" r:id="rId442"/>
    <p:sldId id="697" r:id="rId443"/>
    <p:sldId id="698" r:id="rId444"/>
    <p:sldId id="699" r:id="rId445"/>
    <p:sldId id="700" r:id="rId446"/>
    <p:sldId id="701" r:id="rId447"/>
    <p:sldId id="702" r:id="rId448"/>
    <p:sldId id="703" r:id="rId449"/>
    <p:sldId id="704" r:id="rId450"/>
    <p:sldId id="705" r:id="rId451"/>
    <p:sldId id="706" r:id="rId452"/>
    <p:sldId id="707" r:id="rId453"/>
    <p:sldId id="708" r:id="rId454"/>
    <p:sldId id="709" r:id="rId455"/>
    <p:sldId id="710" r:id="rId456"/>
    <p:sldId id="711" r:id="rId457"/>
    <p:sldId id="712" r:id="rId458"/>
    <p:sldId id="713" r:id="rId459"/>
    <p:sldId id="714" r:id="rId460"/>
    <p:sldId id="715" r:id="rId461"/>
    <p:sldId id="716" r:id="rId462"/>
    <p:sldId id="717" r:id="rId463"/>
    <p:sldId id="718" r:id="rId464"/>
    <p:sldId id="719" r:id="rId465"/>
    <p:sldId id="720" r:id="rId466"/>
    <p:sldId id="721" r:id="rId467"/>
    <p:sldId id="722" r:id="rId468"/>
    <p:sldId id="723" r:id="rId469"/>
    <p:sldId id="724" r:id="rId470"/>
    <p:sldId id="725" r:id="rId471"/>
    <p:sldId id="726" r:id="rId472"/>
    <p:sldId id="727" r:id="rId473"/>
    <p:sldId id="728" r:id="rId474"/>
    <p:sldId id="729" r:id="rId475"/>
    <p:sldId id="730" r:id="rId476"/>
    <p:sldId id="731" r:id="rId477"/>
    <p:sldId id="732" r:id="rId478"/>
    <p:sldId id="733" r:id="rId479"/>
    <p:sldId id="734" r:id="rId480"/>
    <p:sldId id="735" r:id="rId481"/>
    <p:sldId id="736" r:id="rId482"/>
    <p:sldId id="737" r:id="rId483"/>
    <p:sldId id="738" r:id="rId484"/>
    <p:sldId id="739" r:id="rId485"/>
    <p:sldId id="740" r:id="rId486"/>
    <p:sldId id="741" r:id="rId487"/>
    <p:sldId id="742" r:id="rId488"/>
    <p:sldId id="743" r:id="rId489"/>
    <p:sldId id="744" r:id="rId490"/>
    <p:sldId id="745" r:id="rId491"/>
    <p:sldId id="746" r:id="rId492"/>
    <p:sldId id="747" r:id="rId493"/>
    <p:sldId id="748" r:id="rId494"/>
    <p:sldId id="749" r:id="rId495"/>
    <p:sldId id="750" r:id="rId496"/>
    <p:sldId id="751" r:id="rId497"/>
    <p:sldId id="752" r:id="rId498"/>
    <p:sldId id="753" r:id="rId499"/>
    <p:sldId id="754" r:id="rId500"/>
    <p:sldId id="755" r:id="rId501"/>
    <p:sldId id="756" r:id="rId502"/>
    <p:sldId id="757" r:id="rId503"/>
    <p:sldId id="758" r:id="rId504"/>
    <p:sldId id="759" r:id="rId505"/>
    <p:sldId id="760" r:id="rId506"/>
    <p:sldId id="761" r:id="rId507"/>
    <p:sldId id="762" r:id="rId508"/>
    <p:sldId id="763" r:id="rId509"/>
    <p:sldId id="764" r:id="rId510"/>
    <p:sldId id="765" r:id="rId511"/>
    <p:sldId id="766" r:id="rId512"/>
    <p:sldId id="767" r:id="rId513"/>
    <p:sldId id="768" r:id="rId514"/>
    <p:sldId id="769" r:id="rId515"/>
    <p:sldId id="770" r:id="rId516"/>
    <p:sldId id="771" r:id="rId517"/>
    <p:sldId id="772" r:id="rId518"/>
    <p:sldId id="773" r:id="rId519"/>
    <p:sldId id="774" r:id="rId520"/>
    <p:sldId id="775" r:id="rId521"/>
  </p:sldIdLst>
  <p:sldSz cx="12192000" cy="6858000" type="screen16x9"/>
  <p:notesSz cx="6858000" cy="9144000"/>
  <p:defaultTextStyle/>
</p:presentation>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slide" Target="slides/slide112.xml"/><Relationship Id="rId114" Type="http://schemas.openxmlformats.org/officeDocument/2006/relationships/slide" Target="slides/slide113.xml"/><Relationship Id="rId115" Type="http://schemas.openxmlformats.org/officeDocument/2006/relationships/slide" Target="slides/slide114.xml"/><Relationship Id="rId116" Type="http://schemas.openxmlformats.org/officeDocument/2006/relationships/slide" Target="slides/slide115.xml"/><Relationship Id="rId117" Type="http://schemas.openxmlformats.org/officeDocument/2006/relationships/slide" Target="slides/slide116.xml"/><Relationship Id="rId118" Type="http://schemas.openxmlformats.org/officeDocument/2006/relationships/slide" Target="slides/slide117.xml"/><Relationship Id="rId119" Type="http://schemas.openxmlformats.org/officeDocument/2006/relationships/slide" Target="slides/slide118.xml"/><Relationship Id="rId120" Type="http://schemas.openxmlformats.org/officeDocument/2006/relationships/slide" Target="slides/slide119.xml"/><Relationship Id="rId121" Type="http://schemas.openxmlformats.org/officeDocument/2006/relationships/slide" Target="slides/slide120.xml"/><Relationship Id="rId122" Type="http://schemas.openxmlformats.org/officeDocument/2006/relationships/slide" Target="slides/slide121.xml"/><Relationship Id="rId123" Type="http://schemas.openxmlformats.org/officeDocument/2006/relationships/slide" Target="slides/slide122.xml"/><Relationship Id="rId124" Type="http://schemas.openxmlformats.org/officeDocument/2006/relationships/slide" Target="slides/slide123.xml"/><Relationship Id="rId125" Type="http://schemas.openxmlformats.org/officeDocument/2006/relationships/slide" Target="slides/slide124.xml"/><Relationship Id="rId126" Type="http://schemas.openxmlformats.org/officeDocument/2006/relationships/slide" Target="slides/slide125.xml"/><Relationship Id="rId127" Type="http://schemas.openxmlformats.org/officeDocument/2006/relationships/slide" Target="slides/slide126.xml"/><Relationship Id="rId128" Type="http://schemas.openxmlformats.org/officeDocument/2006/relationships/slide" Target="slides/slide127.xml"/><Relationship Id="rId129" Type="http://schemas.openxmlformats.org/officeDocument/2006/relationships/slide" Target="slides/slide128.xml"/><Relationship Id="rId130" Type="http://schemas.openxmlformats.org/officeDocument/2006/relationships/slide" Target="slides/slide129.xml"/><Relationship Id="rId131" Type="http://schemas.openxmlformats.org/officeDocument/2006/relationships/slide" Target="slides/slide130.xml"/><Relationship Id="rId132" Type="http://schemas.openxmlformats.org/officeDocument/2006/relationships/slide" Target="slides/slide131.xml"/><Relationship Id="rId133" Type="http://schemas.openxmlformats.org/officeDocument/2006/relationships/slide" Target="slides/slide132.xml"/><Relationship Id="rId134" Type="http://schemas.openxmlformats.org/officeDocument/2006/relationships/slide" Target="slides/slide133.xml"/><Relationship Id="rId135" Type="http://schemas.openxmlformats.org/officeDocument/2006/relationships/slide" Target="slides/slide134.xml"/><Relationship Id="rId136" Type="http://schemas.openxmlformats.org/officeDocument/2006/relationships/slide" Target="slides/slide135.xml"/><Relationship Id="rId137" Type="http://schemas.openxmlformats.org/officeDocument/2006/relationships/slide" Target="slides/slide136.xml"/><Relationship Id="rId138" Type="http://schemas.openxmlformats.org/officeDocument/2006/relationships/slide" Target="slides/slide137.xml"/><Relationship Id="rId139" Type="http://schemas.openxmlformats.org/officeDocument/2006/relationships/slide" Target="slides/slide138.xml"/><Relationship Id="rId140" Type="http://schemas.openxmlformats.org/officeDocument/2006/relationships/slide" Target="slides/slide139.xml"/><Relationship Id="rId141" Type="http://schemas.openxmlformats.org/officeDocument/2006/relationships/slide" Target="slides/slide140.xml"/><Relationship Id="rId142" Type="http://schemas.openxmlformats.org/officeDocument/2006/relationships/slide" Target="slides/slide141.xml"/><Relationship Id="rId143" Type="http://schemas.openxmlformats.org/officeDocument/2006/relationships/slide" Target="slides/slide142.xml"/><Relationship Id="rId144" Type="http://schemas.openxmlformats.org/officeDocument/2006/relationships/slide" Target="slides/slide143.xml"/><Relationship Id="rId145" Type="http://schemas.openxmlformats.org/officeDocument/2006/relationships/slide" Target="slides/slide144.xml"/><Relationship Id="rId146" Type="http://schemas.openxmlformats.org/officeDocument/2006/relationships/slide" Target="slides/slide145.xml"/><Relationship Id="rId147" Type="http://schemas.openxmlformats.org/officeDocument/2006/relationships/slide" Target="slides/slide146.xml"/><Relationship Id="rId148" Type="http://schemas.openxmlformats.org/officeDocument/2006/relationships/slide" Target="slides/slide147.xml"/><Relationship Id="rId149" Type="http://schemas.openxmlformats.org/officeDocument/2006/relationships/slide" Target="slides/slide148.xml"/><Relationship Id="rId150" Type="http://schemas.openxmlformats.org/officeDocument/2006/relationships/slide" Target="slides/slide149.xml"/><Relationship Id="rId151" Type="http://schemas.openxmlformats.org/officeDocument/2006/relationships/slide" Target="slides/slide150.xml"/><Relationship Id="rId152" Type="http://schemas.openxmlformats.org/officeDocument/2006/relationships/slide" Target="slides/slide151.xml"/><Relationship Id="rId153" Type="http://schemas.openxmlformats.org/officeDocument/2006/relationships/slide" Target="slides/slide152.xml"/><Relationship Id="rId154" Type="http://schemas.openxmlformats.org/officeDocument/2006/relationships/slide" Target="slides/slide153.xml"/><Relationship Id="rId155" Type="http://schemas.openxmlformats.org/officeDocument/2006/relationships/slide" Target="slides/slide154.xml"/><Relationship Id="rId156" Type="http://schemas.openxmlformats.org/officeDocument/2006/relationships/slide" Target="slides/slide155.xml"/><Relationship Id="rId157" Type="http://schemas.openxmlformats.org/officeDocument/2006/relationships/slide" Target="slides/slide156.xml"/><Relationship Id="rId158" Type="http://schemas.openxmlformats.org/officeDocument/2006/relationships/slide" Target="slides/slide157.xml"/><Relationship Id="rId159" Type="http://schemas.openxmlformats.org/officeDocument/2006/relationships/slide" Target="slides/slide158.xml"/><Relationship Id="rId160" Type="http://schemas.openxmlformats.org/officeDocument/2006/relationships/slide" Target="slides/slide159.xml"/><Relationship Id="rId161" Type="http://schemas.openxmlformats.org/officeDocument/2006/relationships/slide" Target="slides/slide160.xml"/><Relationship Id="rId162" Type="http://schemas.openxmlformats.org/officeDocument/2006/relationships/slide" Target="slides/slide161.xml"/><Relationship Id="rId163" Type="http://schemas.openxmlformats.org/officeDocument/2006/relationships/slide" Target="slides/slide162.xml"/><Relationship Id="rId164" Type="http://schemas.openxmlformats.org/officeDocument/2006/relationships/slide" Target="slides/slide163.xml"/><Relationship Id="rId165" Type="http://schemas.openxmlformats.org/officeDocument/2006/relationships/slide" Target="slides/slide164.xml"/><Relationship Id="rId166" Type="http://schemas.openxmlformats.org/officeDocument/2006/relationships/slide" Target="slides/slide165.xml"/><Relationship Id="rId167" Type="http://schemas.openxmlformats.org/officeDocument/2006/relationships/slide" Target="slides/slide166.xml"/><Relationship Id="rId168" Type="http://schemas.openxmlformats.org/officeDocument/2006/relationships/slide" Target="slides/slide167.xml"/><Relationship Id="rId169" Type="http://schemas.openxmlformats.org/officeDocument/2006/relationships/slide" Target="slides/slide168.xml"/><Relationship Id="rId170" Type="http://schemas.openxmlformats.org/officeDocument/2006/relationships/slide" Target="slides/slide169.xml"/><Relationship Id="rId171" Type="http://schemas.openxmlformats.org/officeDocument/2006/relationships/slide" Target="slides/slide170.xml"/><Relationship Id="rId172" Type="http://schemas.openxmlformats.org/officeDocument/2006/relationships/slide" Target="slides/slide171.xml"/><Relationship Id="rId173" Type="http://schemas.openxmlformats.org/officeDocument/2006/relationships/slide" Target="slides/slide172.xml"/><Relationship Id="rId174" Type="http://schemas.openxmlformats.org/officeDocument/2006/relationships/slide" Target="slides/slide173.xml"/><Relationship Id="rId175" Type="http://schemas.openxmlformats.org/officeDocument/2006/relationships/slide" Target="slides/slide174.xml"/><Relationship Id="rId176" Type="http://schemas.openxmlformats.org/officeDocument/2006/relationships/slide" Target="slides/slide175.xml"/><Relationship Id="rId177" Type="http://schemas.openxmlformats.org/officeDocument/2006/relationships/slide" Target="slides/slide176.xml"/><Relationship Id="rId178" Type="http://schemas.openxmlformats.org/officeDocument/2006/relationships/slide" Target="slides/slide177.xml"/><Relationship Id="rId179" Type="http://schemas.openxmlformats.org/officeDocument/2006/relationships/slide" Target="slides/slide178.xml"/><Relationship Id="rId180" Type="http://schemas.openxmlformats.org/officeDocument/2006/relationships/slide" Target="slides/slide179.xml"/><Relationship Id="rId181" Type="http://schemas.openxmlformats.org/officeDocument/2006/relationships/slide" Target="slides/slide180.xml"/><Relationship Id="rId182" Type="http://schemas.openxmlformats.org/officeDocument/2006/relationships/slide" Target="slides/slide181.xml"/><Relationship Id="rId183" Type="http://schemas.openxmlformats.org/officeDocument/2006/relationships/slide" Target="slides/slide182.xml"/><Relationship Id="rId184" Type="http://schemas.openxmlformats.org/officeDocument/2006/relationships/slide" Target="slides/slide183.xml"/><Relationship Id="rId185" Type="http://schemas.openxmlformats.org/officeDocument/2006/relationships/slide" Target="slides/slide184.xml"/><Relationship Id="rId186" Type="http://schemas.openxmlformats.org/officeDocument/2006/relationships/slide" Target="slides/slide185.xml"/><Relationship Id="rId187" Type="http://schemas.openxmlformats.org/officeDocument/2006/relationships/slide" Target="slides/slide186.xml"/><Relationship Id="rId188" Type="http://schemas.openxmlformats.org/officeDocument/2006/relationships/slide" Target="slides/slide187.xml"/><Relationship Id="rId189" Type="http://schemas.openxmlformats.org/officeDocument/2006/relationships/slide" Target="slides/slide188.xml"/><Relationship Id="rId190" Type="http://schemas.openxmlformats.org/officeDocument/2006/relationships/slide" Target="slides/slide189.xml"/><Relationship Id="rId191" Type="http://schemas.openxmlformats.org/officeDocument/2006/relationships/slide" Target="slides/slide190.xml"/><Relationship Id="rId192" Type="http://schemas.openxmlformats.org/officeDocument/2006/relationships/slide" Target="slides/slide191.xml"/><Relationship Id="rId193" Type="http://schemas.openxmlformats.org/officeDocument/2006/relationships/slide" Target="slides/slide192.xml"/><Relationship Id="rId194" Type="http://schemas.openxmlformats.org/officeDocument/2006/relationships/slide" Target="slides/slide193.xml"/><Relationship Id="rId195" Type="http://schemas.openxmlformats.org/officeDocument/2006/relationships/slide" Target="slides/slide194.xml"/><Relationship Id="rId196" Type="http://schemas.openxmlformats.org/officeDocument/2006/relationships/slide" Target="slides/slide195.xml"/><Relationship Id="rId197" Type="http://schemas.openxmlformats.org/officeDocument/2006/relationships/slide" Target="slides/slide196.xml"/><Relationship Id="rId198" Type="http://schemas.openxmlformats.org/officeDocument/2006/relationships/slide" Target="slides/slide197.xml"/><Relationship Id="rId199" Type="http://schemas.openxmlformats.org/officeDocument/2006/relationships/slide" Target="slides/slide198.xml"/><Relationship Id="rId200" Type="http://schemas.openxmlformats.org/officeDocument/2006/relationships/slide" Target="slides/slide199.xml"/><Relationship Id="rId201" Type="http://schemas.openxmlformats.org/officeDocument/2006/relationships/slide" Target="slides/slide200.xml"/><Relationship Id="rId202" Type="http://schemas.openxmlformats.org/officeDocument/2006/relationships/slide" Target="slides/slide201.xml"/><Relationship Id="rId203" Type="http://schemas.openxmlformats.org/officeDocument/2006/relationships/slide" Target="slides/slide202.xml"/><Relationship Id="rId204" Type="http://schemas.openxmlformats.org/officeDocument/2006/relationships/slide" Target="slides/slide203.xml"/><Relationship Id="rId205" Type="http://schemas.openxmlformats.org/officeDocument/2006/relationships/slide" Target="slides/slide204.xml"/><Relationship Id="rId206" Type="http://schemas.openxmlformats.org/officeDocument/2006/relationships/slide" Target="slides/slide205.xml"/><Relationship Id="rId207" Type="http://schemas.openxmlformats.org/officeDocument/2006/relationships/slide" Target="slides/slide206.xml"/><Relationship Id="rId208" Type="http://schemas.openxmlformats.org/officeDocument/2006/relationships/slide" Target="slides/slide207.xml"/><Relationship Id="rId209" Type="http://schemas.openxmlformats.org/officeDocument/2006/relationships/slide" Target="slides/slide208.xml"/><Relationship Id="rId210" Type="http://schemas.openxmlformats.org/officeDocument/2006/relationships/slide" Target="slides/slide209.xml"/><Relationship Id="rId211" Type="http://schemas.openxmlformats.org/officeDocument/2006/relationships/slide" Target="slides/slide210.xml"/><Relationship Id="rId212" Type="http://schemas.openxmlformats.org/officeDocument/2006/relationships/slide" Target="slides/slide211.xml"/><Relationship Id="rId213" Type="http://schemas.openxmlformats.org/officeDocument/2006/relationships/slide" Target="slides/slide212.xml"/><Relationship Id="rId214" Type="http://schemas.openxmlformats.org/officeDocument/2006/relationships/slide" Target="slides/slide213.xml"/><Relationship Id="rId215" Type="http://schemas.openxmlformats.org/officeDocument/2006/relationships/slide" Target="slides/slide214.xml"/><Relationship Id="rId216" Type="http://schemas.openxmlformats.org/officeDocument/2006/relationships/slide" Target="slides/slide215.xml"/><Relationship Id="rId217" Type="http://schemas.openxmlformats.org/officeDocument/2006/relationships/slide" Target="slides/slide216.xml"/><Relationship Id="rId218" Type="http://schemas.openxmlformats.org/officeDocument/2006/relationships/slide" Target="slides/slide217.xml"/><Relationship Id="rId219" Type="http://schemas.openxmlformats.org/officeDocument/2006/relationships/slide" Target="slides/slide218.xml"/><Relationship Id="rId220" Type="http://schemas.openxmlformats.org/officeDocument/2006/relationships/slide" Target="slides/slide219.xml"/><Relationship Id="rId221" Type="http://schemas.openxmlformats.org/officeDocument/2006/relationships/slide" Target="slides/slide220.xml"/><Relationship Id="rId222" Type="http://schemas.openxmlformats.org/officeDocument/2006/relationships/slide" Target="slides/slide221.xml"/><Relationship Id="rId223" Type="http://schemas.openxmlformats.org/officeDocument/2006/relationships/slide" Target="slides/slide222.xml"/><Relationship Id="rId224" Type="http://schemas.openxmlformats.org/officeDocument/2006/relationships/slide" Target="slides/slide223.xml"/><Relationship Id="rId225" Type="http://schemas.openxmlformats.org/officeDocument/2006/relationships/slide" Target="slides/slide224.xml"/><Relationship Id="rId226" Type="http://schemas.openxmlformats.org/officeDocument/2006/relationships/slide" Target="slides/slide225.xml"/><Relationship Id="rId227" Type="http://schemas.openxmlformats.org/officeDocument/2006/relationships/slide" Target="slides/slide226.xml"/><Relationship Id="rId228" Type="http://schemas.openxmlformats.org/officeDocument/2006/relationships/slide" Target="slides/slide227.xml"/><Relationship Id="rId229" Type="http://schemas.openxmlformats.org/officeDocument/2006/relationships/slide" Target="slides/slide228.xml"/><Relationship Id="rId230" Type="http://schemas.openxmlformats.org/officeDocument/2006/relationships/slide" Target="slides/slide229.xml"/><Relationship Id="rId231" Type="http://schemas.openxmlformats.org/officeDocument/2006/relationships/slide" Target="slides/slide230.xml"/><Relationship Id="rId232" Type="http://schemas.openxmlformats.org/officeDocument/2006/relationships/slide" Target="slides/slide231.xml"/><Relationship Id="rId233" Type="http://schemas.openxmlformats.org/officeDocument/2006/relationships/slide" Target="slides/slide232.xml"/><Relationship Id="rId234" Type="http://schemas.openxmlformats.org/officeDocument/2006/relationships/slide" Target="slides/slide233.xml"/><Relationship Id="rId235" Type="http://schemas.openxmlformats.org/officeDocument/2006/relationships/slide" Target="slides/slide234.xml"/><Relationship Id="rId236" Type="http://schemas.openxmlformats.org/officeDocument/2006/relationships/slide" Target="slides/slide235.xml"/><Relationship Id="rId237" Type="http://schemas.openxmlformats.org/officeDocument/2006/relationships/slide" Target="slides/slide236.xml"/><Relationship Id="rId238" Type="http://schemas.openxmlformats.org/officeDocument/2006/relationships/slide" Target="slides/slide237.xml"/><Relationship Id="rId239" Type="http://schemas.openxmlformats.org/officeDocument/2006/relationships/slide" Target="slides/slide238.xml"/><Relationship Id="rId240" Type="http://schemas.openxmlformats.org/officeDocument/2006/relationships/slide" Target="slides/slide239.xml"/><Relationship Id="rId241" Type="http://schemas.openxmlformats.org/officeDocument/2006/relationships/slide" Target="slides/slide240.xml"/><Relationship Id="rId242" Type="http://schemas.openxmlformats.org/officeDocument/2006/relationships/slide" Target="slides/slide241.xml"/><Relationship Id="rId243" Type="http://schemas.openxmlformats.org/officeDocument/2006/relationships/slide" Target="slides/slide242.xml"/><Relationship Id="rId244" Type="http://schemas.openxmlformats.org/officeDocument/2006/relationships/slide" Target="slides/slide243.xml"/><Relationship Id="rId245" Type="http://schemas.openxmlformats.org/officeDocument/2006/relationships/slide" Target="slides/slide244.xml"/><Relationship Id="rId246" Type="http://schemas.openxmlformats.org/officeDocument/2006/relationships/slide" Target="slides/slide245.xml"/><Relationship Id="rId247" Type="http://schemas.openxmlformats.org/officeDocument/2006/relationships/slide" Target="slides/slide246.xml"/><Relationship Id="rId248" Type="http://schemas.openxmlformats.org/officeDocument/2006/relationships/slide" Target="slides/slide247.xml"/><Relationship Id="rId249" Type="http://schemas.openxmlformats.org/officeDocument/2006/relationships/slide" Target="slides/slide248.xml"/><Relationship Id="rId250" Type="http://schemas.openxmlformats.org/officeDocument/2006/relationships/slide" Target="slides/slide249.xml"/><Relationship Id="rId251" Type="http://schemas.openxmlformats.org/officeDocument/2006/relationships/slide" Target="slides/slide250.xml"/><Relationship Id="rId252" Type="http://schemas.openxmlformats.org/officeDocument/2006/relationships/slide" Target="slides/slide251.xml"/><Relationship Id="rId253" Type="http://schemas.openxmlformats.org/officeDocument/2006/relationships/slide" Target="slides/slide252.xml"/><Relationship Id="rId254" Type="http://schemas.openxmlformats.org/officeDocument/2006/relationships/slide" Target="slides/slide253.xml"/><Relationship Id="rId255" Type="http://schemas.openxmlformats.org/officeDocument/2006/relationships/slide" Target="slides/slide254.xml"/><Relationship Id="rId256" Type="http://schemas.openxmlformats.org/officeDocument/2006/relationships/slide" Target="slides/slide255.xml"/><Relationship Id="rId257" Type="http://schemas.openxmlformats.org/officeDocument/2006/relationships/slide" Target="slides/slide256.xml"/><Relationship Id="rId258" Type="http://schemas.openxmlformats.org/officeDocument/2006/relationships/slide" Target="slides/slide257.xml"/><Relationship Id="rId259" Type="http://schemas.openxmlformats.org/officeDocument/2006/relationships/slide" Target="slides/slide258.xml"/><Relationship Id="rId260" Type="http://schemas.openxmlformats.org/officeDocument/2006/relationships/slide" Target="slides/slide259.xml"/><Relationship Id="rId261" Type="http://schemas.openxmlformats.org/officeDocument/2006/relationships/slide" Target="slides/slide260.xml"/><Relationship Id="rId262" Type="http://schemas.openxmlformats.org/officeDocument/2006/relationships/slide" Target="slides/slide261.xml"/><Relationship Id="rId263" Type="http://schemas.openxmlformats.org/officeDocument/2006/relationships/slide" Target="slides/slide262.xml"/><Relationship Id="rId264" Type="http://schemas.openxmlformats.org/officeDocument/2006/relationships/slide" Target="slides/slide263.xml"/><Relationship Id="rId265" Type="http://schemas.openxmlformats.org/officeDocument/2006/relationships/slide" Target="slides/slide264.xml"/><Relationship Id="rId266" Type="http://schemas.openxmlformats.org/officeDocument/2006/relationships/slide" Target="slides/slide265.xml"/><Relationship Id="rId267" Type="http://schemas.openxmlformats.org/officeDocument/2006/relationships/slide" Target="slides/slide266.xml"/><Relationship Id="rId268" Type="http://schemas.openxmlformats.org/officeDocument/2006/relationships/slide" Target="slides/slide267.xml"/><Relationship Id="rId269" Type="http://schemas.openxmlformats.org/officeDocument/2006/relationships/slide" Target="slides/slide268.xml"/><Relationship Id="rId270" Type="http://schemas.openxmlformats.org/officeDocument/2006/relationships/slide" Target="slides/slide269.xml"/><Relationship Id="rId271" Type="http://schemas.openxmlformats.org/officeDocument/2006/relationships/slide" Target="slides/slide270.xml"/><Relationship Id="rId272" Type="http://schemas.openxmlformats.org/officeDocument/2006/relationships/slide" Target="slides/slide271.xml"/><Relationship Id="rId273" Type="http://schemas.openxmlformats.org/officeDocument/2006/relationships/slide" Target="slides/slide272.xml"/><Relationship Id="rId274" Type="http://schemas.openxmlformats.org/officeDocument/2006/relationships/slide" Target="slides/slide273.xml"/><Relationship Id="rId275" Type="http://schemas.openxmlformats.org/officeDocument/2006/relationships/slide" Target="slides/slide274.xml"/><Relationship Id="rId276" Type="http://schemas.openxmlformats.org/officeDocument/2006/relationships/slide" Target="slides/slide275.xml"/><Relationship Id="rId277" Type="http://schemas.openxmlformats.org/officeDocument/2006/relationships/slide" Target="slides/slide276.xml"/><Relationship Id="rId278" Type="http://schemas.openxmlformats.org/officeDocument/2006/relationships/slide" Target="slides/slide277.xml"/><Relationship Id="rId279" Type="http://schemas.openxmlformats.org/officeDocument/2006/relationships/slide" Target="slides/slide278.xml"/><Relationship Id="rId280" Type="http://schemas.openxmlformats.org/officeDocument/2006/relationships/slide" Target="slides/slide279.xml"/><Relationship Id="rId281" Type="http://schemas.openxmlformats.org/officeDocument/2006/relationships/slide" Target="slides/slide280.xml"/><Relationship Id="rId282" Type="http://schemas.openxmlformats.org/officeDocument/2006/relationships/slide" Target="slides/slide281.xml"/><Relationship Id="rId283" Type="http://schemas.openxmlformats.org/officeDocument/2006/relationships/slide" Target="slides/slide282.xml"/><Relationship Id="rId284" Type="http://schemas.openxmlformats.org/officeDocument/2006/relationships/slide" Target="slides/slide283.xml"/><Relationship Id="rId285" Type="http://schemas.openxmlformats.org/officeDocument/2006/relationships/slide" Target="slides/slide284.xml"/><Relationship Id="rId286" Type="http://schemas.openxmlformats.org/officeDocument/2006/relationships/slide" Target="slides/slide285.xml"/><Relationship Id="rId287" Type="http://schemas.openxmlformats.org/officeDocument/2006/relationships/slide" Target="slides/slide286.xml"/><Relationship Id="rId288" Type="http://schemas.openxmlformats.org/officeDocument/2006/relationships/slide" Target="slides/slide287.xml"/><Relationship Id="rId289" Type="http://schemas.openxmlformats.org/officeDocument/2006/relationships/slide" Target="slides/slide288.xml"/><Relationship Id="rId290" Type="http://schemas.openxmlformats.org/officeDocument/2006/relationships/slide" Target="slides/slide289.xml"/><Relationship Id="rId291" Type="http://schemas.openxmlformats.org/officeDocument/2006/relationships/slide" Target="slides/slide290.xml"/><Relationship Id="rId292" Type="http://schemas.openxmlformats.org/officeDocument/2006/relationships/slide" Target="slides/slide291.xml"/><Relationship Id="rId293" Type="http://schemas.openxmlformats.org/officeDocument/2006/relationships/slide" Target="slides/slide292.xml"/><Relationship Id="rId294" Type="http://schemas.openxmlformats.org/officeDocument/2006/relationships/slide" Target="slides/slide293.xml"/><Relationship Id="rId295" Type="http://schemas.openxmlformats.org/officeDocument/2006/relationships/slide" Target="slides/slide294.xml"/><Relationship Id="rId296" Type="http://schemas.openxmlformats.org/officeDocument/2006/relationships/slide" Target="slides/slide295.xml"/><Relationship Id="rId297" Type="http://schemas.openxmlformats.org/officeDocument/2006/relationships/slide" Target="slides/slide296.xml"/><Relationship Id="rId298" Type="http://schemas.openxmlformats.org/officeDocument/2006/relationships/slide" Target="slides/slide297.xml"/><Relationship Id="rId299" Type="http://schemas.openxmlformats.org/officeDocument/2006/relationships/slide" Target="slides/slide298.xml"/><Relationship Id="rId300" Type="http://schemas.openxmlformats.org/officeDocument/2006/relationships/slide" Target="slides/slide299.xml"/><Relationship Id="rId301" Type="http://schemas.openxmlformats.org/officeDocument/2006/relationships/slide" Target="slides/slide300.xml"/><Relationship Id="rId302" Type="http://schemas.openxmlformats.org/officeDocument/2006/relationships/slide" Target="slides/slide301.xml"/><Relationship Id="rId303" Type="http://schemas.openxmlformats.org/officeDocument/2006/relationships/slide" Target="slides/slide302.xml"/><Relationship Id="rId304" Type="http://schemas.openxmlformats.org/officeDocument/2006/relationships/slide" Target="slides/slide303.xml"/><Relationship Id="rId305" Type="http://schemas.openxmlformats.org/officeDocument/2006/relationships/slide" Target="slides/slide304.xml"/><Relationship Id="rId306" Type="http://schemas.openxmlformats.org/officeDocument/2006/relationships/slide" Target="slides/slide305.xml"/><Relationship Id="rId307" Type="http://schemas.openxmlformats.org/officeDocument/2006/relationships/slide" Target="slides/slide306.xml"/><Relationship Id="rId308" Type="http://schemas.openxmlformats.org/officeDocument/2006/relationships/slide" Target="slides/slide307.xml"/><Relationship Id="rId309" Type="http://schemas.openxmlformats.org/officeDocument/2006/relationships/slide" Target="slides/slide308.xml"/><Relationship Id="rId310" Type="http://schemas.openxmlformats.org/officeDocument/2006/relationships/slide" Target="slides/slide309.xml"/><Relationship Id="rId311" Type="http://schemas.openxmlformats.org/officeDocument/2006/relationships/slide" Target="slides/slide310.xml"/><Relationship Id="rId312" Type="http://schemas.openxmlformats.org/officeDocument/2006/relationships/slide" Target="slides/slide311.xml"/><Relationship Id="rId313" Type="http://schemas.openxmlformats.org/officeDocument/2006/relationships/slide" Target="slides/slide312.xml"/><Relationship Id="rId314" Type="http://schemas.openxmlformats.org/officeDocument/2006/relationships/slide" Target="slides/slide313.xml"/><Relationship Id="rId315" Type="http://schemas.openxmlformats.org/officeDocument/2006/relationships/slide" Target="slides/slide314.xml"/><Relationship Id="rId316" Type="http://schemas.openxmlformats.org/officeDocument/2006/relationships/slide" Target="slides/slide315.xml"/><Relationship Id="rId317" Type="http://schemas.openxmlformats.org/officeDocument/2006/relationships/slide" Target="slides/slide316.xml"/><Relationship Id="rId318" Type="http://schemas.openxmlformats.org/officeDocument/2006/relationships/slide" Target="slides/slide317.xml"/><Relationship Id="rId319" Type="http://schemas.openxmlformats.org/officeDocument/2006/relationships/slide" Target="slides/slide318.xml"/><Relationship Id="rId320" Type="http://schemas.openxmlformats.org/officeDocument/2006/relationships/slide" Target="slides/slide319.xml"/><Relationship Id="rId321" Type="http://schemas.openxmlformats.org/officeDocument/2006/relationships/slide" Target="slides/slide320.xml"/><Relationship Id="rId322" Type="http://schemas.openxmlformats.org/officeDocument/2006/relationships/slide" Target="slides/slide321.xml"/><Relationship Id="rId323" Type="http://schemas.openxmlformats.org/officeDocument/2006/relationships/slide" Target="slides/slide322.xml"/><Relationship Id="rId324" Type="http://schemas.openxmlformats.org/officeDocument/2006/relationships/slide" Target="slides/slide323.xml"/><Relationship Id="rId325" Type="http://schemas.openxmlformats.org/officeDocument/2006/relationships/slide" Target="slides/slide324.xml"/><Relationship Id="rId326" Type="http://schemas.openxmlformats.org/officeDocument/2006/relationships/slide" Target="slides/slide325.xml"/><Relationship Id="rId327" Type="http://schemas.openxmlformats.org/officeDocument/2006/relationships/slide" Target="slides/slide326.xml"/><Relationship Id="rId328" Type="http://schemas.openxmlformats.org/officeDocument/2006/relationships/slide" Target="slides/slide327.xml"/><Relationship Id="rId329" Type="http://schemas.openxmlformats.org/officeDocument/2006/relationships/slide" Target="slides/slide328.xml"/><Relationship Id="rId330" Type="http://schemas.openxmlformats.org/officeDocument/2006/relationships/slide" Target="slides/slide329.xml"/><Relationship Id="rId331" Type="http://schemas.openxmlformats.org/officeDocument/2006/relationships/slide" Target="slides/slide330.xml"/><Relationship Id="rId332" Type="http://schemas.openxmlformats.org/officeDocument/2006/relationships/slide" Target="slides/slide331.xml"/><Relationship Id="rId333" Type="http://schemas.openxmlformats.org/officeDocument/2006/relationships/slide" Target="slides/slide332.xml"/><Relationship Id="rId334" Type="http://schemas.openxmlformats.org/officeDocument/2006/relationships/slide" Target="slides/slide333.xml"/><Relationship Id="rId335" Type="http://schemas.openxmlformats.org/officeDocument/2006/relationships/slide" Target="slides/slide334.xml"/><Relationship Id="rId336" Type="http://schemas.openxmlformats.org/officeDocument/2006/relationships/slide" Target="slides/slide335.xml"/><Relationship Id="rId337" Type="http://schemas.openxmlformats.org/officeDocument/2006/relationships/slide" Target="slides/slide336.xml"/><Relationship Id="rId338" Type="http://schemas.openxmlformats.org/officeDocument/2006/relationships/slide" Target="slides/slide337.xml"/><Relationship Id="rId339" Type="http://schemas.openxmlformats.org/officeDocument/2006/relationships/slide" Target="slides/slide338.xml"/><Relationship Id="rId340" Type="http://schemas.openxmlformats.org/officeDocument/2006/relationships/slide" Target="slides/slide339.xml"/><Relationship Id="rId341" Type="http://schemas.openxmlformats.org/officeDocument/2006/relationships/slide" Target="slides/slide340.xml"/><Relationship Id="rId342" Type="http://schemas.openxmlformats.org/officeDocument/2006/relationships/slide" Target="slides/slide341.xml"/><Relationship Id="rId343" Type="http://schemas.openxmlformats.org/officeDocument/2006/relationships/slide" Target="slides/slide342.xml"/><Relationship Id="rId344" Type="http://schemas.openxmlformats.org/officeDocument/2006/relationships/slide" Target="slides/slide343.xml"/><Relationship Id="rId345" Type="http://schemas.openxmlformats.org/officeDocument/2006/relationships/slide" Target="slides/slide344.xml"/><Relationship Id="rId346" Type="http://schemas.openxmlformats.org/officeDocument/2006/relationships/slide" Target="slides/slide345.xml"/><Relationship Id="rId347" Type="http://schemas.openxmlformats.org/officeDocument/2006/relationships/slide" Target="slides/slide346.xml"/><Relationship Id="rId348" Type="http://schemas.openxmlformats.org/officeDocument/2006/relationships/slide" Target="slides/slide347.xml"/><Relationship Id="rId349" Type="http://schemas.openxmlformats.org/officeDocument/2006/relationships/slide" Target="slides/slide348.xml"/><Relationship Id="rId350" Type="http://schemas.openxmlformats.org/officeDocument/2006/relationships/slide" Target="slides/slide349.xml"/><Relationship Id="rId351" Type="http://schemas.openxmlformats.org/officeDocument/2006/relationships/slide" Target="slides/slide350.xml"/><Relationship Id="rId352" Type="http://schemas.openxmlformats.org/officeDocument/2006/relationships/slide" Target="slides/slide351.xml"/><Relationship Id="rId353" Type="http://schemas.openxmlformats.org/officeDocument/2006/relationships/slide" Target="slides/slide352.xml"/><Relationship Id="rId354" Type="http://schemas.openxmlformats.org/officeDocument/2006/relationships/slide" Target="slides/slide353.xml"/><Relationship Id="rId355" Type="http://schemas.openxmlformats.org/officeDocument/2006/relationships/slide" Target="slides/slide354.xml"/><Relationship Id="rId356" Type="http://schemas.openxmlformats.org/officeDocument/2006/relationships/slide" Target="slides/slide355.xml"/><Relationship Id="rId357" Type="http://schemas.openxmlformats.org/officeDocument/2006/relationships/slide" Target="slides/slide356.xml"/><Relationship Id="rId358" Type="http://schemas.openxmlformats.org/officeDocument/2006/relationships/slide" Target="slides/slide357.xml"/><Relationship Id="rId359" Type="http://schemas.openxmlformats.org/officeDocument/2006/relationships/slide" Target="slides/slide358.xml"/><Relationship Id="rId360" Type="http://schemas.openxmlformats.org/officeDocument/2006/relationships/slide" Target="slides/slide359.xml"/><Relationship Id="rId361" Type="http://schemas.openxmlformats.org/officeDocument/2006/relationships/slide" Target="slides/slide360.xml"/><Relationship Id="rId362" Type="http://schemas.openxmlformats.org/officeDocument/2006/relationships/slide" Target="slides/slide361.xml"/><Relationship Id="rId363" Type="http://schemas.openxmlformats.org/officeDocument/2006/relationships/slide" Target="slides/slide362.xml"/><Relationship Id="rId364" Type="http://schemas.openxmlformats.org/officeDocument/2006/relationships/slide" Target="slides/slide363.xml"/><Relationship Id="rId365" Type="http://schemas.openxmlformats.org/officeDocument/2006/relationships/slide" Target="slides/slide364.xml"/><Relationship Id="rId366" Type="http://schemas.openxmlformats.org/officeDocument/2006/relationships/slide" Target="slides/slide365.xml"/><Relationship Id="rId367" Type="http://schemas.openxmlformats.org/officeDocument/2006/relationships/slide" Target="slides/slide366.xml"/><Relationship Id="rId368" Type="http://schemas.openxmlformats.org/officeDocument/2006/relationships/slide" Target="slides/slide367.xml"/><Relationship Id="rId369" Type="http://schemas.openxmlformats.org/officeDocument/2006/relationships/slide" Target="slides/slide368.xml"/><Relationship Id="rId370" Type="http://schemas.openxmlformats.org/officeDocument/2006/relationships/slide" Target="slides/slide369.xml"/><Relationship Id="rId371" Type="http://schemas.openxmlformats.org/officeDocument/2006/relationships/slide" Target="slides/slide370.xml"/><Relationship Id="rId372" Type="http://schemas.openxmlformats.org/officeDocument/2006/relationships/slide" Target="slides/slide371.xml"/><Relationship Id="rId373" Type="http://schemas.openxmlformats.org/officeDocument/2006/relationships/slide" Target="slides/slide372.xml"/><Relationship Id="rId374" Type="http://schemas.openxmlformats.org/officeDocument/2006/relationships/slide" Target="slides/slide373.xml"/><Relationship Id="rId375" Type="http://schemas.openxmlformats.org/officeDocument/2006/relationships/slide" Target="slides/slide374.xml"/><Relationship Id="rId376" Type="http://schemas.openxmlformats.org/officeDocument/2006/relationships/slide" Target="slides/slide375.xml"/><Relationship Id="rId377" Type="http://schemas.openxmlformats.org/officeDocument/2006/relationships/slide" Target="slides/slide376.xml"/><Relationship Id="rId378" Type="http://schemas.openxmlformats.org/officeDocument/2006/relationships/slide" Target="slides/slide377.xml"/><Relationship Id="rId379" Type="http://schemas.openxmlformats.org/officeDocument/2006/relationships/slide" Target="slides/slide378.xml"/><Relationship Id="rId380" Type="http://schemas.openxmlformats.org/officeDocument/2006/relationships/slide" Target="slides/slide379.xml"/><Relationship Id="rId381" Type="http://schemas.openxmlformats.org/officeDocument/2006/relationships/slide" Target="slides/slide380.xml"/><Relationship Id="rId382" Type="http://schemas.openxmlformats.org/officeDocument/2006/relationships/slide" Target="slides/slide381.xml"/><Relationship Id="rId383" Type="http://schemas.openxmlformats.org/officeDocument/2006/relationships/slide" Target="slides/slide382.xml"/><Relationship Id="rId384" Type="http://schemas.openxmlformats.org/officeDocument/2006/relationships/slide" Target="slides/slide383.xml"/><Relationship Id="rId385" Type="http://schemas.openxmlformats.org/officeDocument/2006/relationships/slide" Target="slides/slide384.xml"/><Relationship Id="rId386" Type="http://schemas.openxmlformats.org/officeDocument/2006/relationships/slide" Target="slides/slide385.xml"/><Relationship Id="rId387" Type="http://schemas.openxmlformats.org/officeDocument/2006/relationships/slide" Target="slides/slide386.xml"/><Relationship Id="rId388" Type="http://schemas.openxmlformats.org/officeDocument/2006/relationships/slide" Target="slides/slide387.xml"/><Relationship Id="rId389" Type="http://schemas.openxmlformats.org/officeDocument/2006/relationships/slide" Target="slides/slide388.xml"/><Relationship Id="rId390" Type="http://schemas.openxmlformats.org/officeDocument/2006/relationships/slide" Target="slides/slide389.xml"/><Relationship Id="rId391" Type="http://schemas.openxmlformats.org/officeDocument/2006/relationships/slide" Target="slides/slide390.xml"/><Relationship Id="rId392" Type="http://schemas.openxmlformats.org/officeDocument/2006/relationships/slide" Target="slides/slide391.xml"/><Relationship Id="rId393" Type="http://schemas.openxmlformats.org/officeDocument/2006/relationships/slide" Target="slides/slide392.xml"/><Relationship Id="rId394" Type="http://schemas.openxmlformats.org/officeDocument/2006/relationships/slide" Target="slides/slide393.xml"/><Relationship Id="rId395" Type="http://schemas.openxmlformats.org/officeDocument/2006/relationships/slide" Target="slides/slide394.xml"/><Relationship Id="rId396" Type="http://schemas.openxmlformats.org/officeDocument/2006/relationships/slide" Target="slides/slide395.xml"/><Relationship Id="rId397" Type="http://schemas.openxmlformats.org/officeDocument/2006/relationships/slide" Target="slides/slide396.xml"/><Relationship Id="rId398" Type="http://schemas.openxmlformats.org/officeDocument/2006/relationships/slide" Target="slides/slide397.xml"/><Relationship Id="rId399" Type="http://schemas.openxmlformats.org/officeDocument/2006/relationships/slide" Target="slides/slide398.xml"/><Relationship Id="rId400" Type="http://schemas.openxmlformats.org/officeDocument/2006/relationships/slide" Target="slides/slide399.xml"/><Relationship Id="rId401" Type="http://schemas.openxmlformats.org/officeDocument/2006/relationships/slide" Target="slides/slide400.xml"/><Relationship Id="rId402" Type="http://schemas.openxmlformats.org/officeDocument/2006/relationships/slide" Target="slides/slide401.xml"/><Relationship Id="rId403" Type="http://schemas.openxmlformats.org/officeDocument/2006/relationships/slide" Target="slides/slide402.xml"/><Relationship Id="rId404" Type="http://schemas.openxmlformats.org/officeDocument/2006/relationships/slide" Target="slides/slide403.xml"/><Relationship Id="rId405" Type="http://schemas.openxmlformats.org/officeDocument/2006/relationships/slide" Target="slides/slide404.xml"/><Relationship Id="rId406" Type="http://schemas.openxmlformats.org/officeDocument/2006/relationships/slide" Target="slides/slide405.xml"/><Relationship Id="rId407" Type="http://schemas.openxmlformats.org/officeDocument/2006/relationships/slide" Target="slides/slide406.xml"/><Relationship Id="rId408" Type="http://schemas.openxmlformats.org/officeDocument/2006/relationships/slide" Target="slides/slide407.xml"/><Relationship Id="rId409" Type="http://schemas.openxmlformats.org/officeDocument/2006/relationships/slide" Target="slides/slide408.xml"/><Relationship Id="rId410" Type="http://schemas.openxmlformats.org/officeDocument/2006/relationships/slide" Target="slides/slide409.xml"/><Relationship Id="rId411" Type="http://schemas.openxmlformats.org/officeDocument/2006/relationships/slide" Target="slides/slide410.xml"/><Relationship Id="rId412" Type="http://schemas.openxmlformats.org/officeDocument/2006/relationships/slide" Target="slides/slide411.xml"/><Relationship Id="rId413" Type="http://schemas.openxmlformats.org/officeDocument/2006/relationships/slide" Target="slides/slide412.xml"/><Relationship Id="rId414" Type="http://schemas.openxmlformats.org/officeDocument/2006/relationships/slide" Target="slides/slide413.xml"/><Relationship Id="rId415" Type="http://schemas.openxmlformats.org/officeDocument/2006/relationships/slide" Target="slides/slide414.xml"/><Relationship Id="rId416" Type="http://schemas.openxmlformats.org/officeDocument/2006/relationships/slide" Target="slides/slide415.xml"/><Relationship Id="rId417" Type="http://schemas.openxmlformats.org/officeDocument/2006/relationships/slide" Target="slides/slide416.xml"/><Relationship Id="rId418" Type="http://schemas.openxmlformats.org/officeDocument/2006/relationships/slide" Target="slides/slide417.xml"/><Relationship Id="rId419" Type="http://schemas.openxmlformats.org/officeDocument/2006/relationships/slide" Target="slides/slide418.xml"/><Relationship Id="rId420" Type="http://schemas.openxmlformats.org/officeDocument/2006/relationships/slide" Target="slides/slide419.xml"/><Relationship Id="rId421" Type="http://schemas.openxmlformats.org/officeDocument/2006/relationships/slide" Target="slides/slide420.xml"/><Relationship Id="rId422" Type="http://schemas.openxmlformats.org/officeDocument/2006/relationships/slide" Target="slides/slide421.xml"/><Relationship Id="rId423" Type="http://schemas.openxmlformats.org/officeDocument/2006/relationships/slide" Target="slides/slide422.xml"/><Relationship Id="rId424" Type="http://schemas.openxmlformats.org/officeDocument/2006/relationships/slide" Target="slides/slide423.xml"/><Relationship Id="rId425" Type="http://schemas.openxmlformats.org/officeDocument/2006/relationships/slide" Target="slides/slide424.xml"/><Relationship Id="rId426" Type="http://schemas.openxmlformats.org/officeDocument/2006/relationships/slide" Target="slides/slide425.xml"/><Relationship Id="rId427" Type="http://schemas.openxmlformats.org/officeDocument/2006/relationships/slide" Target="slides/slide426.xml"/><Relationship Id="rId428" Type="http://schemas.openxmlformats.org/officeDocument/2006/relationships/slide" Target="slides/slide427.xml"/><Relationship Id="rId429" Type="http://schemas.openxmlformats.org/officeDocument/2006/relationships/slide" Target="slides/slide428.xml"/><Relationship Id="rId430" Type="http://schemas.openxmlformats.org/officeDocument/2006/relationships/slide" Target="slides/slide429.xml"/><Relationship Id="rId431" Type="http://schemas.openxmlformats.org/officeDocument/2006/relationships/slide" Target="slides/slide430.xml"/><Relationship Id="rId432" Type="http://schemas.openxmlformats.org/officeDocument/2006/relationships/slide" Target="slides/slide431.xml"/><Relationship Id="rId433" Type="http://schemas.openxmlformats.org/officeDocument/2006/relationships/slide" Target="slides/slide432.xml"/><Relationship Id="rId434" Type="http://schemas.openxmlformats.org/officeDocument/2006/relationships/slide" Target="slides/slide433.xml"/><Relationship Id="rId435" Type="http://schemas.openxmlformats.org/officeDocument/2006/relationships/slide" Target="slides/slide434.xml"/><Relationship Id="rId436" Type="http://schemas.openxmlformats.org/officeDocument/2006/relationships/slide" Target="slides/slide435.xml"/><Relationship Id="rId437" Type="http://schemas.openxmlformats.org/officeDocument/2006/relationships/slide" Target="slides/slide436.xml"/><Relationship Id="rId438" Type="http://schemas.openxmlformats.org/officeDocument/2006/relationships/slide" Target="slides/slide437.xml"/><Relationship Id="rId439" Type="http://schemas.openxmlformats.org/officeDocument/2006/relationships/slide" Target="slides/slide438.xml"/><Relationship Id="rId440" Type="http://schemas.openxmlformats.org/officeDocument/2006/relationships/slide" Target="slides/slide439.xml"/><Relationship Id="rId441" Type="http://schemas.openxmlformats.org/officeDocument/2006/relationships/slide" Target="slides/slide440.xml"/><Relationship Id="rId442" Type="http://schemas.openxmlformats.org/officeDocument/2006/relationships/slide" Target="slides/slide441.xml"/><Relationship Id="rId443" Type="http://schemas.openxmlformats.org/officeDocument/2006/relationships/slide" Target="slides/slide442.xml"/><Relationship Id="rId444" Type="http://schemas.openxmlformats.org/officeDocument/2006/relationships/slide" Target="slides/slide443.xml"/><Relationship Id="rId445" Type="http://schemas.openxmlformats.org/officeDocument/2006/relationships/slide" Target="slides/slide444.xml"/><Relationship Id="rId446" Type="http://schemas.openxmlformats.org/officeDocument/2006/relationships/slide" Target="slides/slide445.xml"/><Relationship Id="rId447" Type="http://schemas.openxmlformats.org/officeDocument/2006/relationships/slide" Target="slides/slide446.xml"/><Relationship Id="rId448" Type="http://schemas.openxmlformats.org/officeDocument/2006/relationships/slide" Target="slides/slide447.xml"/><Relationship Id="rId449" Type="http://schemas.openxmlformats.org/officeDocument/2006/relationships/slide" Target="slides/slide448.xml"/><Relationship Id="rId450" Type="http://schemas.openxmlformats.org/officeDocument/2006/relationships/slide" Target="slides/slide449.xml"/><Relationship Id="rId451" Type="http://schemas.openxmlformats.org/officeDocument/2006/relationships/slide" Target="slides/slide450.xml"/><Relationship Id="rId452" Type="http://schemas.openxmlformats.org/officeDocument/2006/relationships/slide" Target="slides/slide451.xml"/><Relationship Id="rId453" Type="http://schemas.openxmlformats.org/officeDocument/2006/relationships/slide" Target="slides/slide452.xml"/><Relationship Id="rId454" Type="http://schemas.openxmlformats.org/officeDocument/2006/relationships/slide" Target="slides/slide453.xml"/><Relationship Id="rId455" Type="http://schemas.openxmlformats.org/officeDocument/2006/relationships/slide" Target="slides/slide454.xml"/><Relationship Id="rId456" Type="http://schemas.openxmlformats.org/officeDocument/2006/relationships/slide" Target="slides/slide455.xml"/><Relationship Id="rId457" Type="http://schemas.openxmlformats.org/officeDocument/2006/relationships/slide" Target="slides/slide456.xml"/><Relationship Id="rId458" Type="http://schemas.openxmlformats.org/officeDocument/2006/relationships/slide" Target="slides/slide457.xml"/><Relationship Id="rId459" Type="http://schemas.openxmlformats.org/officeDocument/2006/relationships/slide" Target="slides/slide458.xml"/><Relationship Id="rId460" Type="http://schemas.openxmlformats.org/officeDocument/2006/relationships/slide" Target="slides/slide459.xml"/><Relationship Id="rId461" Type="http://schemas.openxmlformats.org/officeDocument/2006/relationships/slide" Target="slides/slide460.xml"/><Relationship Id="rId462" Type="http://schemas.openxmlformats.org/officeDocument/2006/relationships/slide" Target="slides/slide461.xml"/><Relationship Id="rId463" Type="http://schemas.openxmlformats.org/officeDocument/2006/relationships/slide" Target="slides/slide462.xml"/><Relationship Id="rId464" Type="http://schemas.openxmlformats.org/officeDocument/2006/relationships/slide" Target="slides/slide463.xml"/><Relationship Id="rId465" Type="http://schemas.openxmlformats.org/officeDocument/2006/relationships/slide" Target="slides/slide464.xml"/><Relationship Id="rId466" Type="http://schemas.openxmlformats.org/officeDocument/2006/relationships/slide" Target="slides/slide465.xml"/><Relationship Id="rId467" Type="http://schemas.openxmlformats.org/officeDocument/2006/relationships/slide" Target="slides/slide466.xml"/><Relationship Id="rId468" Type="http://schemas.openxmlformats.org/officeDocument/2006/relationships/slide" Target="slides/slide467.xml"/><Relationship Id="rId469" Type="http://schemas.openxmlformats.org/officeDocument/2006/relationships/slide" Target="slides/slide468.xml"/><Relationship Id="rId470" Type="http://schemas.openxmlformats.org/officeDocument/2006/relationships/slide" Target="slides/slide469.xml"/><Relationship Id="rId471" Type="http://schemas.openxmlformats.org/officeDocument/2006/relationships/slide" Target="slides/slide470.xml"/><Relationship Id="rId472" Type="http://schemas.openxmlformats.org/officeDocument/2006/relationships/slide" Target="slides/slide471.xml"/><Relationship Id="rId473" Type="http://schemas.openxmlformats.org/officeDocument/2006/relationships/slide" Target="slides/slide472.xml"/><Relationship Id="rId474" Type="http://schemas.openxmlformats.org/officeDocument/2006/relationships/slide" Target="slides/slide473.xml"/><Relationship Id="rId475" Type="http://schemas.openxmlformats.org/officeDocument/2006/relationships/slide" Target="slides/slide474.xml"/><Relationship Id="rId476" Type="http://schemas.openxmlformats.org/officeDocument/2006/relationships/slide" Target="slides/slide475.xml"/><Relationship Id="rId477" Type="http://schemas.openxmlformats.org/officeDocument/2006/relationships/slide" Target="slides/slide476.xml"/><Relationship Id="rId478" Type="http://schemas.openxmlformats.org/officeDocument/2006/relationships/slide" Target="slides/slide477.xml"/><Relationship Id="rId479" Type="http://schemas.openxmlformats.org/officeDocument/2006/relationships/slide" Target="slides/slide478.xml"/><Relationship Id="rId480" Type="http://schemas.openxmlformats.org/officeDocument/2006/relationships/slide" Target="slides/slide479.xml"/><Relationship Id="rId481" Type="http://schemas.openxmlformats.org/officeDocument/2006/relationships/slide" Target="slides/slide480.xml"/><Relationship Id="rId482" Type="http://schemas.openxmlformats.org/officeDocument/2006/relationships/slide" Target="slides/slide481.xml"/><Relationship Id="rId483" Type="http://schemas.openxmlformats.org/officeDocument/2006/relationships/slide" Target="slides/slide482.xml"/><Relationship Id="rId484" Type="http://schemas.openxmlformats.org/officeDocument/2006/relationships/slide" Target="slides/slide483.xml"/><Relationship Id="rId485" Type="http://schemas.openxmlformats.org/officeDocument/2006/relationships/slide" Target="slides/slide484.xml"/><Relationship Id="rId486" Type="http://schemas.openxmlformats.org/officeDocument/2006/relationships/slide" Target="slides/slide485.xml"/><Relationship Id="rId487" Type="http://schemas.openxmlformats.org/officeDocument/2006/relationships/slide" Target="slides/slide486.xml"/><Relationship Id="rId488" Type="http://schemas.openxmlformats.org/officeDocument/2006/relationships/slide" Target="slides/slide487.xml"/><Relationship Id="rId489" Type="http://schemas.openxmlformats.org/officeDocument/2006/relationships/slide" Target="slides/slide488.xml"/><Relationship Id="rId490" Type="http://schemas.openxmlformats.org/officeDocument/2006/relationships/slide" Target="slides/slide489.xml"/><Relationship Id="rId491" Type="http://schemas.openxmlformats.org/officeDocument/2006/relationships/slide" Target="slides/slide490.xml"/><Relationship Id="rId492" Type="http://schemas.openxmlformats.org/officeDocument/2006/relationships/slide" Target="slides/slide491.xml"/><Relationship Id="rId493" Type="http://schemas.openxmlformats.org/officeDocument/2006/relationships/slide" Target="slides/slide492.xml"/><Relationship Id="rId494" Type="http://schemas.openxmlformats.org/officeDocument/2006/relationships/slide" Target="slides/slide493.xml"/><Relationship Id="rId495" Type="http://schemas.openxmlformats.org/officeDocument/2006/relationships/slide" Target="slides/slide494.xml"/><Relationship Id="rId496" Type="http://schemas.openxmlformats.org/officeDocument/2006/relationships/slide" Target="slides/slide495.xml"/><Relationship Id="rId497" Type="http://schemas.openxmlformats.org/officeDocument/2006/relationships/slide" Target="slides/slide496.xml"/><Relationship Id="rId498" Type="http://schemas.openxmlformats.org/officeDocument/2006/relationships/slide" Target="slides/slide497.xml"/><Relationship Id="rId499" Type="http://schemas.openxmlformats.org/officeDocument/2006/relationships/slide" Target="slides/slide498.xml"/><Relationship Id="rId500" Type="http://schemas.openxmlformats.org/officeDocument/2006/relationships/slide" Target="slides/slide499.xml"/><Relationship Id="rId501" Type="http://schemas.openxmlformats.org/officeDocument/2006/relationships/slide" Target="slides/slide500.xml"/><Relationship Id="rId502" Type="http://schemas.openxmlformats.org/officeDocument/2006/relationships/slide" Target="slides/slide501.xml"/><Relationship Id="rId503" Type="http://schemas.openxmlformats.org/officeDocument/2006/relationships/slide" Target="slides/slide502.xml"/><Relationship Id="rId504" Type="http://schemas.openxmlformats.org/officeDocument/2006/relationships/slide" Target="slides/slide503.xml"/><Relationship Id="rId505" Type="http://schemas.openxmlformats.org/officeDocument/2006/relationships/slide" Target="slides/slide504.xml"/><Relationship Id="rId506" Type="http://schemas.openxmlformats.org/officeDocument/2006/relationships/slide" Target="slides/slide505.xml"/><Relationship Id="rId507" Type="http://schemas.openxmlformats.org/officeDocument/2006/relationships/slide" Target="slides/slide506.xml"/><Relationship Id="rId508" Type="http://schemas.openxmlformats.org/officeDocument/2006/relationships/slide" Target="slides/slide507.xml"/><Relationship Id="rId509" Type="http://schemas.openxmlformats.org/officeDocument/2006/relationships/slide" Target="slides/slide508.xml"/><Relationship Id="rId510" Type="http://schemas.openxmlformats.org/officeDocument/2006/relationships/slide" Target="slides/slide509.xml"/><Relationship Id="rId511" Type="http://schemas.openxmlformats.org/officeDocument/2006/relationships/slide" Target="slides/slide510.xml"/><Relationship Id="rId512" Type="http://schemas.openxmlformats.org/officeDocument/2006/relationships/slide" Target="slides/slide511.xml"/><Relationship Id="rId513" Type="http://schemas.openxmlformats.org/officeDocument/2006/relationships/slide" Target="slides/slide512.xml"/><Relationship Id="rId514" Type="http://schemas.openxmlformats.org/officeDocument/2006/relationships/slide" Target="slides/slide513.xml"/><Relationship Id="rId515" Type="http://schemas.openxmlformats.org/officeDocument/2006/relationships/slide" Target="slides/slide514.xml"/><Relationship Id="rId516" Type="http://schemas.openxmlformats.org/officeDocument/2006/relationships/slide" Target="slides/slide515.xml"/><Relationship Id="rId517" Type="http://schemas.openxmlformats.org/officeDocument/2006/relationships/slide" Target="slides/slide516.xml"/><Relationship Id="rId518" Type="http://schemas.openxmlformats.org/officeDocument/2006/relationships/slide" Target="slides/slide517.xml"/><Relationship Id="rId519" Type="http://schemas.openxmlformats.org/officeDocument/2006/relationships/slide" Target="slides/slide518.xml"/><Relationship Id="rId520" Type="http://schemas.openxmlformats.org/officeDocument/2006/relationships/slide" Target="slides/slide519.xml"/><Relationship Id="rId521" Type="http://schemas.openxmlformats.org/officeDocument/2006/relationships/slide" Target="slides/slide520.xml"/></Relationship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p="http://schemas.openxmlformats.org/presentationml/2006/main" xmlns:r="http://schemas.openxmlformats.org/officeDocument/2006/relationships"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p:bodyStyle/>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0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0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0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0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0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0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0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0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0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0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1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1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1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1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1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1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1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1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1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1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2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2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2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2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2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2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2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2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2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2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3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3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3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3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3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3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3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3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3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3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4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4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4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4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4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4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4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4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4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4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5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5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5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5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5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5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5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5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5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5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6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6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6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6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6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6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6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6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6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6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7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7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7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7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7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7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7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7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7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7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8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8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8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8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8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8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8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8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8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8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9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9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9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9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9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9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9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9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9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9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0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0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0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0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0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0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0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0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0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0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1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1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1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1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1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1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1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1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1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1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2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2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2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2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2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2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2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2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2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2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3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3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3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3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3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3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3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3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3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3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4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4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4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4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4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4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4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4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4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4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5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5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5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5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5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5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5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5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5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5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6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6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6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6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6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6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6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6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6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6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7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7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7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7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7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7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7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7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7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7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8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8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8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8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8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8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8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8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8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8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9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9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9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9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9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9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9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9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9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9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0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0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0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0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0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0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0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0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0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0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1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1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1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1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1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1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1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1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1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1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2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संविधान की आवश्यकता एवं लोकतांत्रिक स्वरूप के संदर्भ में निम्नलिखित कथनों पर विचार कीजिए: A. जिन देशों के पास अपना लिखित संविधान होता है, वे अनिवार्य रूप से लोकतांत्रिक देश ही होते हैं। B. संविधान किसी भी समाज के मूलभूत राजनीतिक एवं सामाजिक स्वरूप का निर्धारण करता है। C. संविधान उन आदर्शों को सूत्रबद्ध करता है जिनके आधार पर नागरिक अपने देश को अपनी आकांक्षाओं के अनुसार रच सकते हैं। D. भारतीय राष्ट्रीय कांग्रेस ने पहली बार 1934 में संविधान सभा के गठन की मांग को अपनी अधिकृत नीति में शामिल किया था।</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624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1/260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B, C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किसी देश के पास संविधान होने का यह अनिवार्य अर्थ नहीं है कि वह देश लोकतांत्रिक ही होगा; उदाहरण के लिए चीन और वेनेजुएला जैसे देशों में संविधान मौजूद है किंतु वे वास्तविक लोकतांत्रिक व्यवस्था नहीं हैं, इसलिए कथन A असत्य है। संविधान समाज के बुनियादी राजनीतिक ढांचे, शक्ति के स्रोतों और नागरिकों के अधिकारों को तय कर समाज के मूल स्वरूप को तय करता है। यह उन राष्ट्रीय आदर्शों व मूल्यों को लिपिबद्ध करता है जिनके आधार पर नागरिक अपने सपनों के राष्ट्र का निर्माण करते हैं। भारत में औपचारिक रूप से संविधान सभा की मांग को भारतीय राष्ट्रीय कांग्रेस ने 1934 में पहली बार अपनी आधिकारिक नीति में स्थान दिया था, जिसकी परिणति कैबिनेट मिशन योजना के तहत दिसंबर 1946 में संविधान सभा के गठन के रूप में हुई। अतः कथन B, C और D पूर्णतः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624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1/260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भारतीय संविधान सभा के ऐतिहासिक घटनाक्रमों एवं प्रमुख दायित्वों का सही मिलान कीजिए: सूची-I: सूची-I: A. संविधान सभा की प्रथम बैठक B. संविधान सभा की अंतिम बैठक C. संविधान का मूल हस्तलेखन D. संविधान की आत्मा (डॉ. अंबेडकर के अनुसार) सूची-II: 1. संवैधानिक उपचारों का अधिकार (अनुच्छेद 32) 2. 9 दिसंबर 1946 3. प्रेम बिहारी नारायण रायजादा 4. 24 जनवरी 1950</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C-3, D-1</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B-2, C-1, D-3</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B-3, C-4, D-1</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B-4, C-2, D-1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249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2/260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B-4, C-3, D-1</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B-2, C-1,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B-3, C-4, D-1</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B-4, C-2, D-1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भारतीय संविधान सभा की प्रथम औपचारिक बैठक 9 दिसंबर 1946 को काउंसिल चैंबर (संसद भवन) के पुस्तकालय भवन में हुई थी जिसमें डॉ. सच्चिदानंद सिन्हा को अस्थायी अध्यक्ष चुना गया था। संविधान सभा की अंतिम बैठक 24 जनवरी 1950 को संपन्न हुई जिसमें सदस्यों द्वारा संविधान की प्रतियों पर अंतिम हस्ताक्षर किए गए तथा डॉ. राजेंद्र प्रसाद को भारत का प्रथम राष्ट्रपति चुना गया। भारत के मूल संविधान को इटैलिक सुलेखन (कैलीग्राफी) शैली में हस्तलिखित करने का ऐतिहासिक कार्य प्रेम बिहारी नारायण रायजादा द्वारा किया गया था। डॉ. भीमराव अंबेडकर ने संविधान के भाग-3 में उल्लिखित अनुच्छेद 32 (संवैधानिक उपचारों का अधिकार) को 'संविधान का हृदय और आत्मा' कहा था क्योंकि इसके बिना अन्य मूल अधिकार अर्थहीन हो जाते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249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2/260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भारतीय संविधान के अंतर्गत सरकार के अंगों एवं संघवाद की अवधारणा के संबंध में निम्नलिखित कथनों पर विचार कीजिए: A. संघवाद का मूल अर्थ देश में दो या दो से अधिक स्तरों पर सरकारों का अस्तित्व होना है। B. विधायिका जनता द्वारा प्रत्यक्ष अथवा अप्रत्यक्ष रूप से निर्वाचित जनप्रतिनिधियों का निकाय है जो विधि निर्माण करती है। C. कार्यपालिका ऐसे व्यक्तियों का समूह है जो संसद द्वारा पारित कानूनों को लागू करने और शासन चलाने का कार्य करती है। D. संविधान के अनुसार न्यायपालिका, विधायिका और कार्यपालिका के साथ-साथ स्थानीय नगरपालिका को भी सरकार का चौथा स्वतंत्र अंग माना गया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3874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3/260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संघवाद एक संस्थागत राजनीतिक ढांचा है जिसमें शासन की शक्तियां केंद्र और राज्यों (तथा भारत में स्थानीय निकायों) के बीच विभाजित होती हैं, अतः एक से अधिक स्तर पर सरकार का होना संघवाद की प्राथमिक पहचान है। लोकतंत्र में विधायिका का मुख्य कार्य जनभावनाओं के अनुरूप कानूनों का निर्माण करना है तथा इसमें जनता के चुने हुए प्रतिनिधि बैठते हैं। कार्यपालिका का दायित्व संसद द्वारा निर्मित कानूनों और नीतियों को धरातल पर क्रियान्वित करना होता है। संविधान के तहत सरकार के केवल तीन ही पारंपरिक अंग मान्य हैं-विधायिका, कार्यपालिका और न्यायपालिका; नगरपालिका स्थानीय स्वशासन की एक संस्था है, न कि सरकार का कोई पृथक स्वतंत्र चौथा अंग। अतः कथन D असत्य है तथा कथन A, B और C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3874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3/260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26 जनवरी 1950 को संविधान लागू होने के समय नागरिकों को कितने मौलिक अधिकार प्रदान किए गए थे तथा इनमें से किसे बाद में हटाया गया?</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6 मौलिक अधिकार; शिक्षा के अधिकार को संशोधित किया गया</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7 मौलिक अधिकार; 44वें संविधान संशोधन 1978 द्वारा संपत्ति के अधिकार को मूल अधिकार से हटाया गया</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7 मौलिक अधिकार; 42वें संविधान संशोधन 1976 द्वारा संपत्ति के अधिकार को समाप्त किया गया</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8 मौलिक अधिकार; काम पाने के अधिकार को मूल अधिकारों से हटाया गया</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8499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4/260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7 मौलिक अधिकार; 44वें संविधान संशोधन 1978 द्वारा संपत्ति के अधिकार को मूल अधिकार से हटाया गया</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6 मौलिक अधिकार; शिक्षा के अधिकार को संशोधित किया गया</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7 मौलिक अधिकार; 42वें संविधान संशोधन 1976 द्वारा संपत्ति के अधिकार को समाप्त किया गया</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8 मौलिक अधिकार; काम पाने के अधिकार को मूल अधिकारों से हटाया गया</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मूल संविधान के भाग-3 में भारतीय नागरिकों को कुल 7 मौलिक अधिकार दिए गए थे-समानता का अधिकार, स्वतंत्रता का अधिकार, शोषण के विरुद्ध अधिकार, धार्मिक स्वतंत्रता का अधिकार, संस्कृति व शिक्षा संबंधी अधिकार, संपत्ति का अधिकार (अनुच्छेद 31 व 19(1)(f)), तथा संवैधानिक उपचारों का अधिकार। मोरारजी देसाई के नेतृत्व वाली जनता पार्टी सरकार के कार्यकाल में 44वें संविधान संशोधन अधिनियम, 1978 द्वारा संपत्ति के अधिकार को मौलिक अधिकारों की सूची से बाहर कर दिया गया। वर्तमान में संपत्ति का अधिकार केवल एक विधिक/कानूनी अधिकार है जिसे संविधान के भाग-12 के अंतर्गत अनुच्छेद 300A (300क) में रखा गया है। अतः अब नागरिकों के पास कुल 6 मौलिक अधिकार शेष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8499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4/260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भारतीय संविधान में धर्मनिरपेक्षता (पंथनिरपेक्षता) के स्वरूप और अमेरिकी मॉडल के संदर्भ में निम्नलिखित कथनों पर विचार कीजिए: A. भारतीय संविधान का अनुच्छेद 25 प्रत्येक व्यक्ति को अंतःकरण की और धर्म को अबाध रूप से मानने, आचरण करने और प्रचार करने की स्वतंत्रता देता है। B. अमेरिकी धर्मनिरपेक्षता में राज्य और धर्म के बीच पूर्ण पृथक्करण है, जहाँ राज्य धर्म के मामले में कोई हस्तक्षेप नहीं कर सकता। C. भारतीय धर्मनिरपेक्षता में राज्य को समाज सुधार और समानता सुनिश्चित करने के लिए धार्मिक कुरीतियों में हस्तक्षेप करने का अधिकार है। D. 'पंथनिरपेक्ष' शब्द भारतीय संविधान की मूल प्रस्तावना में 26 जनवरी 1950 से ही स्पष्ट रूप से शामिल था।</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3123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5/260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भारतीय संविधान का अनुच्छेद 25 धार्मिक स्वतंत्रता की गारंटी देता है किंतु यह अधिकार निरपेक्ष नहीं है बल्कि लोक व्यवस्था, सदाचार और स्वास्थ्य के अधीन है। अमेरिकी संविधान के प्रथम संशोधन के तहत राज्य और धर्म के बीच एक सख्त दीवार (पारस्परिक निषेध) खड़ी की गई है, जहाँ न तो राज्य धर्म में दखल दे सकता है और न ही धर्म राज्य के मामलों में। इसके विपरीत, भारतीय धर्मनिरपेक्षता सैद्धांतिक दूरी के सिद्धांत पर कार्य करती है, जहाँ राज्य छुआछूत, सती प्रथा, बाल विवाह जैसी सामाजिक बुराइयों को मिटाने के लिए धर्म में विधायी हस्तक्षेप कर सकता है। 'पंथनिरपेक्ष' (Secular) शब्द मूल प्रस्तावना में नहीं था, बल्कि इसे 42वें संविधान संशोधन अधिनियम, 1976 द्वारा 'समाजवादी' और 'अखंडता' शब्दों के साथ प्रस्तावना में जोड़ा गया था, इसलिए कथन D असत्य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3123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5/260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भारतीय संसद की संरचना एवं सदनों के कार्यप्रणाली के संदर्भ में निम्नलिखित कथनों पर विचार कीजिए: A. भारतीय संसद राष्ट्रपति, राज्यसभा और लोकसभा से मिलकर बनती है। B. उपराष्ट्रपति राज्यसभा के पदेन सभापति होते हैं और वे राज्यसभा के निर्वाचित सदस्य नहीं होते। C. लोकसभा का अध्यक्ष राष्ट्रपति द्वारा अपने विवेक से सीधे नियुक्त किया जाता है। D. 104वें संविधान संशोधन अधिनियम, 2019 द्वारा लोकसभा में आंग्ल-भारतीय समुदाय के 2 सदस्यों के मनोनयन का प्रावधान समाप्त कर दिया गया है।</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D</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7748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6/260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संविधान के अनुच्छेद 79 के अनुसार भारतीय संघ की संसद में राष्ट्रपति तथा दो सदन (राज्यसभा और लोकसभा) शामिल होते हैं। अनुच्छेद 89(1) के तहत भारत का उपराष्ट्रपति राज्यसभा का पदेन सभापति होता है, जिसका निर्वाचन संसद के दोनों सदनों के सदस्यों द्वारा होता है, वे राज्यसभा के सदस्य नहीं होते। लोकसभा अध्यक्ष का चयन राष्ट्रपति नहीं करता, बल्कि लोकसभा के नव-निर्वाचित सदस्य अपने में से ही बहुमत द्वारा अध्यक्ष एवं उपाध्यक्ष का चुनाव करते हैं, इसलिए कथन C पूरी तरह असत्य है। 104वें संविधान संशोधन अधिनियम, 2019 द्वारा लोकसभा और राज्य विधानसभाओं में आंग्ल-भारतीय समुदाय के लिए सीटों के आरक्षण को 25 जनवरी 2020 से निष्प्रभावी कर दिया गया है। अतः कथन A, B और D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7748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6/260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कानून के शासन (Rule of Law) तथा 'घरेलू हिंसा से महिलाओं का संरक्षण अधिनियम' के संदर्भ में सही तथ्य कौन-सा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कानून का शासन केवल सामान्य नागरिकों पर लागू होता है, उच्च सरकारी अधिकारियों पर नहीं</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घरेलू हिंसा कानून केवल वैवाहिक रिश्ते में वर्तमान में साथ रह रही महिलाओं पर लागू होता है</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घरेलू हिंसा से महिलाओं का संरक्षण अधिनियम 2005 में पारित हुआ तथा यह 2006 में लागू हुआ</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घरेलू हिंसा अधिनियम के तहत केवल शारीरिक चोट पहुँचाना ही हिंसा के दायरे में आता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2373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7/260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घरेलू हिंसा से महिलाओं का संरक्षण अधिनियम 2005 में पारित हुआ तथा यह 2006 में लागू हुआ</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कानून का शासन केवल सामान्य नागरिकों पर लागू होता है, उच्च सरकारी अधिकारियों पर नहीं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घरेलू हिंसा कानून केवल वैवाहिक रिश्ते में वर्तमान में साथ रह रही महिलाओं पर लागू होता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घरेलू हिंसा अधिनियम के तहत केवल शारीरिक चोट पहुँचाना ही हिंसा के दायरे में आता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कानून के शासन का सार यह है कि देश का कानून सभी नागरिकों, चाहे वह देश का राष्ट्रपति हो, प्रधानमंत्री हो या एक सामान्य श्रमिक, सभी पर समान रूप से लागू होता है और कानून से ऊपर कोई नहीं है। घरेलू हिंसा से महिलाओं का संरक्षण अधिनियम वर्ष 2005 में संसद द्वारा पारित किया गया था और राष्ट्रपति की सहमति के बाद यह 26 अक्टूबर 2006 से पूरे देश में प्रभावी हुआ। इस अधिनियम की सबसे क्रांतिकारी बात यह है कि इसमें न केवल शारीरिक हिंसा, बल्कि मानसिक, भावनात्मक, आर्थिक और मौखिक प्रताड़ना को भी घरेलू हिंसा माना गया है। इसके अलावा, इसमें ऐसी महिलाएँ भी शामिल हैं जो साझा गृहस्थी में हिंसक पुरुष के साथ 'रहती हैं' या पूर्व में कभी 'रह चुकी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2373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7/260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की स्वतंत्र न्यायपालिका और उसके क्षेत्राधिकार के संदर्भ में निम्नलिखित कथनों पर विचार कीजिए: A. संविधान की अंतिम व्याख्या करने और कानूनों की संवैधानिकता जाँचने का अधिकार न्यायपालिका के पास है। B. किसी नागरिक के मौलिक अधिकारों का हनन होने पर वह सीधे उच्च न्यायालय अथवा सर्वोच्च न्यायालय जाने का अधिकार रखता है। C. सर्वोच्च न्यायालय ने सुभाष कुमार बनाम बिहार राज्य (1991) मामले में अनुच्छेद 21 के तहत प्रदूषण मुक्त जल और वायु को जीवन का अधिकार माना। D. न्यायपालिका को विधायिका और कार्यपालिका के प्रत्यक्ष नियंत्रण में रखा गया है ताकि न्यायिक जवाबदेही सुनिश्चित हो सके।</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6998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8/260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भारतीय संविधान में शक्तियों के पृथक्करण के सिद्धांत के तहत एक स्वतंत्र और निष्पक्ष न्यायपालिका की स्थापना की गई है। अनुच्छेद 13, 32 और 226 के तहत न्यायालय को न्यायिक समीक्षा (Judicial Review) का अधिकार है, जिसके माध्यम से वह संविधान का उल्लंघन करने वाले किसी भी कानून को शून्य घोषित कर सकती है। मूल अधिकारों के उल्लंघन पर अनुच्छेद 32 के तहत सीधे सर्वोच्च न्यायालय और अनुच्छेद 226 के तहत सीधे उच्च न्यायालय में रिट याचिका दायर की जा सकती है। 1991 के सुभाष कुमार वाद में शीर्ष अदालत ने स्पष्ट किया कि अनुच्छेद 21 में गरिमापूर्ण जीवन जीने के अधिकार में प्रदूषण मुक्त वातावरण का अधिकार भी अंतर्निहित है। भारतीय संविधान में न्यायपालिका को कार्यपालिका व विधायिका के दबाव से पूरी तरह स्वतंत्र रखा गया है, अतः कथन D असत्य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6998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8/260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भारत के सर्वोच्च न्यायालय और उच्च न्यायालयों के ऐतिहासिक गठन के संदर्भ में निम्नलिखित कथनों पर विचार कीजिए: A. भारत के वर्तमान सर्वोच्च न्यायालय की स्थापना 26 जनवरी 1950 को हुई थी। B. वर्तमान इमारत में आने से पूर्व सर्वोच्च न्यायालय 1958 तक संसद भवन के भीतर 'चैंबर ऑफ प्रिंसेज' में संचालित होता था। C. भारत में सर्वप्रथम उच्च न्यायालयों की स्थापना 1862 में कलकत्ता, बंबई और मद्रास में की गई थी। D. दिल्ली उच्च न्यायालय का गठन 1964 में किया गया था और वर्तमान में देश में कुल 28 उच्च न्यायालय हैं।</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1622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9/260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स्वतंत्र भारत के सर्वोच्च न्यायालय का उद्घाटन 28 जनवरी 1950 को हुआ था और इसकी संवैधानिक स्थापना 26 जनवरी 1950 को मानी जाती है। यह अपने पूर्ववर्ती 'फेडरल कोर्ट ऑफ इंडिया' (1937-1949) की भांति 1958 तक संसद भवन के चैंबर ऑफ प्रिंसेज में ही बैठता था, जिसके बाद इसे वर्तमान तिलक मार्ग स्थित भवन में स्थानांतरित किया गया। भारत में उच्च न्यायालय अधिनियम, 1861 के तहत 1862 में कलकत्ता, बंबई और मद्रास में पहले तीन उच्च न्यायालय स्थापित किए गए। दिल्ली उच्च न्यायालय की स्थापना वर्ष 1966 में हुई थी (1964 में नहीं) और वर्तमान में देश भर में कुल 25 उच्च न्यायालय कार्यरत हैं (28 नहीं), इसलिए कथन D असत्य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1622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9/260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जनहित याचिका (PIL) और भारतीय कानूनी व्यवस्था के संदर्भ में निम्नलिखित कथनों पर विचार कीजिए: A. भारत में जनहित याचिका की शुरुआत 1980 के दशक में न्यायमूर्ति पी.एन. भगवती और न्यायमूर्ति वी.आर. कृष्णा अय्यर के प्रयासों से हुई। B. पीपुल्स यूनियन फॉर सिविल लिबर्टीज (PUCL) की याचिका पर सर्वोच्च न्यायालय ने अनुच्छेद 21 के तहत भोजन के अधिकार को जीवन का अधिकार माना, जिससे मिड-डे मील की शुरुआत हुई। C. सर्वोच्च न्यायालय ने ओल्गा टेलिस बनाम बंबई नगर निगम (1985) वाद में निर्णय दिया कि अनुच्छेद 21 के जीवन के अधिकार में आजीविका का अधिकार भी शामिल है। D. जनहित याचिका केवल और केवल सर्वोच्च न्यायालय में ही दाखिल की जा सकती है, उच्च न्यायालयों में नहीं।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6247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10/260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1980 के दशक में न्याय तक आम जनता और वंचित वर्गों की पहुँच सुनिश्चित करने के लिए 'लोकस स्टैंडाई' (Locus Standi) के पारंपरिक नियम को शिथिल करते हुए पीआईएल की अवधारणा विकसित की गई, जिसमें पी.एन. भगवती और वी.आर. कृष्णा अय्यर की केंद्रीय भूमिका रही। 2001 में PUCL की जनहित याचिका के फैसले के बाद ही सरकारी और सहायता प्राप्त स्कूलों में बच्चों को पका हुआ दोपहर का भोजन (मिड-डे मील) अनिवार्य किया गया। 1985 के प्रसिद्ध ओल्गा टेलिस मामले में फुटपाथ और झोपड़पट्टी वासियों के संदर्भ में न्यायालय ने माना कि आजीविका के साधन छीने जाने से व्यक्ति का जीवन ही खतरे में पड़ जाता है, अतः आजीविका अनुच्छेद 21 का अभिन्न अंग है। जनहित याचिका संविधान के अनुच्छेद 32 के तहत सुप्रीम कोर्ट और अनुच्छेद 226 के तहत हाई कोर्ट दोनों में दाखिल की जा सकती है, अतः कथन D असत्य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6247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10/260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आपराधिक न्याय प्रणाली, पुलिस जांच एवं 'डी.के. बसु दिशा-निर्देश' के संबंध में निम्नलिखित कथनों पर विचार कीजिए: A. संविधान के अनुच्छेद 22 और आपराधिक कानून के तहत गिरफ्तार व्यक्ति को 24 घंटे के भीतर निकटतम मजिस्ट्रेट के समक्ष पेश करना अनिवार्य है। B. पुलिस हिरासत में आरोपी द्वारा दिया गया इकबालिया बयान अदालत में उसके विरुद्ध ठोस सबूत के रूप में मान्य होता है। C. 15 वर्ष से कम आयु के बालक और किसी भी महिला को केवल पूछताछ के लिए थाने में नहीं बुलाया जा सकता। D. सर्वोच्च न्यायालय के 'डी.के. बसु दिशा-निर्देश' के अनुसार गिरफ्तारी के समय अरेस्ट मेमो तैयार करना और उस पर गवाह व गिरफ्तार व्यक्ति के हस्ताक्षर होना अनिवार्य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0872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11/260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C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अनुच्छेद 22(2) और दंड प्रक्रिया संहिता (CrPC) के तहत किसी भी गिरफ्तार व्यक्ति को यात्रा का समय छोड़कर 24 घंटे के अंदर मजिस्ट्रेट के समक्ष पेश करना अनिवार्य मौलिक अधिकार है। भारतीय साक्ष्य अधिनियम की धारा 25 और 26 के अनुसार पुलिस हिरासत में दिया गया कोई भी बयान अदालत में मान्य सबूत नहीं होता ताकि पुलिसिया प्रताड़ना और दबाव से बचा जा सके, इसलिए कथन B असत्य है। CrPC की धारा 160 के तहत 15 वर्ष से कम उम्र के बच्चों और महिलाओं को पूछताछ के लिए उनके निवास स्थान पर ही जाना होगा, थाने नहीं बुलाया जा सकता। डी.के. बसु बनाम पश्चिम बंगाल राज्य (1997) मामले में सुप्रीम कोर्ट ने पुलिस के लिए गिरफ्तारी, हिरासत और पूछताछ के कड़े नियम बनाए, जिसमें स्पष्ट नामपट्टिका, मेमो तैयार करना और परिजनों को सूचित करना अनिवार्य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0872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11/260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आपराधिक न्याय प्रणाली से जुड़ी प्रमुख विधिक शब्दावली और उनके अर्थ का सही मिलान कीजिए: सूची-I: सूची-I: A. संज्ञेय अपराध (Cognizable Offence) B. प्रथम सूचना रिपोर्ट (FIR) C. जिरह (Cross-Examination) D. निष्पक्ष सुनवाई (Fair Trial) सूची-II: 1. अदालत में गवाह के बयानों की विपक्ष के वकील द्वारा सत्यता परखना 2. ऐसा अपराध जिसमें पुलिस को बिना वारंट किसी को गिरफ्तार करने का अधिकार हो 3. खुली अदालत में आरोपी को वकील और सबूत पेश करने का पूर्ण अवसर देना 4. संज्ञेय अपराध की सूचना मिलने पर पुलिस द्वारा लिखित रूप में दर्ज पहला विवरण</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C-1, D-3</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B-2, C-3, D-1</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B-3, C-4, D-1</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B-4, C-2, D-3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5497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12/260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B-4, C-1,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B-2, C-3, D-1</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B-3, C-4, D-1</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B-4, C-2, D-3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संज्ञेय अपराध वे गंभीर अपराध (जैसे हत्या, डकैती, बलात्कार आदि) होते हैं जिनमें पुलिस अधिकारी बिना मजिस्ट्रेट के वारंट के तुरंत आरोपी को गिरफ्तार कर सकता है और जांच प्रारंभ कर सकता है। दंड प्रक्रिया संहिता की धारा 154 के तहत संज्ञेय अपराध की सूचना मिलने पर थाना प्रभारी को तुरंत एफआईआर दर्ज करनी होती है, जिसकी एक प्रति शिकायतकर्ता को निःशुल्क पाने का कानूनी हक है। मुकदमे की सुनवाई के दौरान जब विरोधी पक्ष का वकील किसी गवाह से सवाल-जवाब कर उसके बयान की विश्वसनीयता और तथ्यों की परीक्षा करता है, तो उसे विधिक भाषा में जिरह कहा जाता है। संविधान के अनुच्छेद 21 के तहत निष्पक्ष सुनवाई आरोपी का अधिकार है, जिसमें खुली अदालत, अभियोजन के सबूतों की जानकारी और आत्मरक्षा का अवसर प्रदान किया जाता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5497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12/260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सामाजिक हाशियाकरण (Marginalisation) एवं सच्चर समिति की रिपोर्ट के संदर्भ में निम्नलिखित कथनों पर विचार कीजिए: A. हाशियाकरण का संबंध केवल आर्थिक निर्धनता से है, इसका सामाजिक व सांस्कृतिक पूर्वाग्रहों से कोई संबंध नहीं है। B. वर्ष 2005 में केंद्र सरकार ने न्यायमूर्ति राजिंदर सच्चर की अध्यक्षता में मुस्लिम समुदाय की स्थिति पर उच्च स्तरीय समिति गठित की थी। C. सच्चर समिति ने पाया कि भारत में मुस्लिम समुदाय की सामाजिक, आर्थिक व शैक्षणिक स्थिति अनुसूचित जाति व जनजाति के समकक्ष है। D. 'घेटोआइजेशन' (Ghettoisation) उस प्रक्रिया को कहते हैं जिसमें किसी विशिष्ट समुदाय के लोग सामाजिक असुरक्षा के कारण एक ही इलाके में सिमट कर रहने लगते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0121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13/260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B, C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हाशियाकरण एक बहुआयामी अवधारणा है जो न केवल आर्थिक अभाव और संसाधनों की कमी से जुड़ी है, बल्कि सामाजिक बहिष्कार, सांस्कृतिक पूर्वाग्रह, शक्तिहीनता और हीनतर स्थिति का परिणाम भी होती है, इसलिए कथन A असत्य है। वर्ष 2005 में प्रधानमंत्री मनमोहन सिंह द्वारा गठित जस्टिस राजिंदर सच्चर समिति ने व्यापक सर्वेक्षण के बाद यह चौंकाने वाला निष्कर्ष दिया कि शिक्षा, सरकारी नौकरियों और बुनियादी सुविधाओं के मामले में भारतीय मुसलमानों का पिछड़ापन कई पैमानों पर दलितों (SC/ST) के समान या उससे भी बदतर है। घेटोआइजेशन (इलाकाबंदी) अक्सर सांप्रदायिक तनाव, भेदभाव और असुरक्षा की भावना के कारण होता है, जहाँ कोई अल्पसंख्यक या वंचित समुदाय अपनी सुरक्षा के लिए केवल अपने ही समुदाय के लोगों वाली बस्तियों में रहने को विवश हो जाता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0121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13/260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अनुसूचित जाति एवं अनुसूचित जनजाति (अत्याचार निवारण) अधिनियम, 1989 के संदर्भ में निम्नलिखित कथनों पर विचार कीजिए: A. यह अधिनियम 1970 और 80 के दशक में दलित व आदिवासी समुदायों द्वारा आत्मसम्मान और भूमि अधिकारों के संघर्ष के दबाव में पारित हुआ। B. इस अधिनियम में किसी SC/ST व्यक्ति को अखाद्य या गंदा पदार्थ पीने-खाने पर विवश करने को दंडनीय अपराध बनाया गया है। C. इस कानून के तहत किसी दलित या आदिवासी की जमीन पर जबरन कब्जा करना या बेदखल करना एक गंभीर संज्ञेय अपराध है। D. यह कानून केवल शारीरिक हिंसा पर लागू होता है, जातिगत अपमान या महिलाओं की लज्जा भंग करने के कृत्यों पर नहीं।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4746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14/260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1980 के दशक में बढ़ते जातिगत अत्याचारों और दलित पैंथर्स जैसे संगठनों के उभार के बाद संसद ने 1989 का ऐतिहासिक कानून बनाया। इस कानून की धारा 3 में अपमानजनक और अमानवीय कृत्यों की विस्तृत सूची दी गई है, जिसमें अखाद्य पदार्थ खिलाना, मुंह पर कालिख पोतना, नग्न घुमाना आदि शामिल हैं। ऐतिहासिक रूप से आदिवासियों और दलितों की पारंपरिक जमीन को गैर-दलितों द्वारा हड़पने की प्रवृत्ति को रोकने के लिए इस अधिनियम में भूमि बेदखली को गैर-जमानती अपराध घोषित किया गया है। यह कानून शारीरिक हिंसा के साथ-साथ नैतिक, मानसिक अपमान, जातिसूचक गाली-गलौज और SC/ST महिलाओं के साथ छेड़छाड़ व मर्यादा हनन पर अत्यंत कठोर दंड का प्रावधान करता है, अतः कथन D असत्य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4746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14/260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15</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सिर पर मैला ढोने (Manual Scavenging) की अमानवीय प्रथा को समाप्त करने के लिए भारत सरकार द्वारा 1993 में कौन-सा विशिष्ट अधिनियम पारित किया गया था?</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नागरिक अधिकार संरक्षण अधिनियम, 1993</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एम्प्लॉयमेंट ऑफ मैनुअल स्केवेंजर्स एंड कंस्ट्रक्शन ऑफ ड्राई लैट्रीन्स (प्रॉहिबिशन) एक्ट, 1993</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अस्पृश्यता निवारण एवं पुनर्वास अधिनियम, 1993</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राष्ट्रीय सफाई कर्मचारी आयोग विधिक अधिनियम, 1993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9371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15/260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एम्प्लॉयमेंट ऑफ मैनुअल स्केवेंजर्स एंड कंस्ट्रक्शन ऑफ ड्राई लैट्रीन्स (प्रॉहिबिशन) एक्ट, 1993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नागरिक अधिकार संरक्षण अधिनियम, 1993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अस्पृश्यता निवारण एवं पुनर्वास अधिनियम, 1993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राष्ट्रीय सफाई कर्मचारी आयोग विधिक अधिनियम, 1993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अमानवीय परिस्थितियों में हाथों और सिर पर मानव मल उठाने की कुप्रथा को समाप्त करने और सूखे शौचालयों के निर्माण पर पूर्ण प्रतिबंध लगाने के लिए संसद ने 1993 में 'The Employment of Manual Scavengers and Construction of Dry Latrines (Prohibition) Act, 1993' पारित किया। इसके बावजूद जब यह प्रथा पूरी तरह समाप्त नहीं हुई, तो सर्वोच्च न्यायालय के निर्देशों और सामाजिक आंदोलनों के बाद संसद ने इसे और कठोर बनाते हुए 2013 में 'हाथ से मैला उठाने वाले कर्मियों के नियोजन का प्रतिषेध और उनका पुनर्वास अधिनियम, 2013' पारित किया। यह कानून संविधान के अनुच्छेद 17 (अस्पृश्यता का अंत) और अनुच्छेद 21 (गरिमापूर्ण जीवन का अधिकार) को व्यावहारिक रूप से लागू करने के उद्देश्य से बनाया गया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9371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15/260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16</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औद्योगिक सुरक्षा, भोपाल गैस त्रासदी एवं पर्यावरण संरक्षण कानून के संदर्भ में निम्नलिखित कथनों पर विचार कीजिए: A. दिसंबर 1984 में यूनियन कार्बाइड कारखाने से अत्यधिक विषैली 'मिथाइल आइसोसाइनेट' (MIC) गैस के रिसाव के कारण भोपाल गैस त्रासदी हुई थी। B. भोपाल गैस त्रासदी के समय भारत में पर्यावरण और जनसुरक्षा के लिए आधुनिक और कड़े सुरक्षा मानकों वाले कानूनों का अभाव था। C. इस त्रासदी के बाद संसद ने पर्यावरण की रक्षा और सुधार के लिए 'पर्यावरण (संरक्षण) अधिनियम, 1986' पारित किया। D. भारतीय संविधान का अनुच्छेद 21 केवल व्यक्ति के जीवित रहने की गारंटी देता है, इसमें स्वच्छ पर्यावरण का अधिकार शामिल नहीं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3996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16/260</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2-3 दिसंबर 1984 की रात भोपाल स्थित अमेरिकी बहुराष्ट्रीय कंपनी यूनियन कार्बाइड के कीटनाशक संयंत्र से 40 टन से अधिक 'मिथाइल आइसोसाइनेट' (MIC) का रिसाव हुआ, जिसमें हजारों निर्दोष लोग मारे गए और लाखों आजीवन बीमारियों के शिकार हुए। उस समय भारत में उद्योगपतियों को सुरक्षा मानकों की अनदेखी करने की छूट मिली हुई थी और श्रम व पर्यावरण नियम बेहद लचर थे। इस भीषण त्रासदी की पृष्ठभूमि में 1986 में संसद ने एक व्यापक 'पर्यावरण (संरक्षण) अधिनियम, 1986' बनाया। सर्वोच्च न्यायालय ने एमसी मेहता बनाम भारत संघ तथा अन्य अनेक मामलों में स्पष्ट व्याख्या की है कि प्रदूषण मुक्त जल, स्वच्छ वायु और स्वच्छ पर्यावरण का अधिकार अनुच्छेद 21 के मूल अधिकार का ही अभिन्न हिस्सा है, इसलिए कथन D असत्य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3996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16/260</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17</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शोषण के विरुद्ध मौलिक अधिकार (अनुच्छेद 23 व 24) के संवैधानिक प्रावधानों के संबंध में निम्नलिखित कथनों पर विचार कीजिए: A. अनुच्छेद 23 मानव दुर्व्यापार (Human Trafficking), बेगार तथा किसी भी प्रकार के जबरन श्रम को प्रतिबंधित करता है। B. अनुच्छेद 23 राज्य को सार्वजनिक प्रयोजनों के लिए अनिवार्य सामाजिक या सैन्य सेवा लगाने से नहीं रोकता, बशर्ते उसमें धर्म, जाति या वर्ग का भेद न हो। C. अनुच्छेद 24 के अनुसार 14 वर्ष से कम आयु के किसी भी बालक को कारखानों, खानों या अन्य जोखिम भरे कार्यों में लगाना दंडनीय अपराध है। D. संविधान में बाल श्रम को पूर्णतः जायज ठहराया गया है यदि परिवार की आर्थिक स्थिति बेहद कमजोर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8620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17/260</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संविधान के अनुच्छेद 23 द्वारा नागरिकों और गैर-नागरिकों दोनों को राज्य तथा निजी व्यक्तियों के विरुद्ध शोषण से संरक्षण प्राप्त है; इसके तहत बंधुआ मजदूरी और मानव अंगों या स्त्रियों-बच्चों की खरीद-फरोख्त गैर-कानूनी है। अनुच्छेद 23(2) यह छूट देता है कि राष्ट्रहित में सरकार बिना किसी भेदभाव के अनिवार्य नागरिक या सैन्य सेवा अधिरोपित कर सकती है। अनुच्छेद 24 स्पष्ट शब्दों में 14 वर्ष से कम आयु के बच्चों के खतरनाक उद्योगों (जैसे पटाखा, कांच, कालीन उद्योग या खदानों) में नियोजन पर पूर्ण प्रतिबंध लगाता है। गरीबी या पारिवारिक परिस्थिति के आधार पर बाल श्रम को किसी भी रूप में संवैधानिक छूट प्राप्त नहीं है; 2016 के बाल श्रम संशोधन कानून ने इसे और कड़ा बना दिया है, अतः कथन D असत्य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8620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17/260</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18</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भारतीय संविधान के निर्माण की ऐतिहासिक पृष्ठभूमि एवं दर्शन के संदर्भ में निम्नलिखित कथनों पर विचार कीजिए: A. वर्ष 1928 में मोतीलाल नेहरू और कांग्रेस के 8 अन्य नेताओं ने भारत के लिए एक भावी संविधान का प्रारूप तैयार किया था। B. 1931 के कराची अधिवेशन में पारित प्रस्ताव में स्वतंत्र भारत के संविधान में सार्वभौमिक वयस्क मताधिकार, स्वतंत्रता और समानता की रूपरेखा रखी गई थी। C. संविधान सभा के सभी सदस्य केवल भारतीय राष्ट्रीय कांग्रेस पार्टी के ही निर्वाचित सदस्य थे। D. महात्मा गांधी भारतीय संविधान सभा के औपचारिक सदस्य नहीं थे, यद्यपि उनके विचार कई सदस्यों के माध्यम से परिलक्षित हुए।</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3245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18/260</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1928 की 'नेहरू रिपोर्ट' भारतीयों द्वारा अपने संविधान निर्माण का पहला बड़ा प्रयास थी, जिसमें मौलिक अधिकारों, वयस्क मताधिकार और अल्पसंख्यकों के अधिकारों की स्पष्ट मांग की गई थी। मार्च 1931 में सरदार वल्लभभाई पटेल की अध्यक्षता में हुए कराची कांग्रेस अधिवेशन में मूल अधिकारों और आर्थिक नीति पर ऐतिहासिक प्रस्ताव पारित किया गया जिसने भविष्य के संविधान की दिशा तय की। संविधान सभा में कांग्रेस का भारी बहुमत अवश्य था, किंतु इसमें डॉ. भीमराव अंबेडकर, श्यामा प्रसाद मुखर्जी, हृदयनाथ कुंजरू जैसे अनेक गैर-कांग्रेसी दिग्गज भी शामिल थे, अतः कथन C असत्य है। महात्मा गांधी ने स्वतंत्रता आंदोलन का सर्वोच्च नेतृत्व किया किंतु वे स्वयं संविधान सभा के सदस्य नहीं बने; फिर भी गांधीवादी सिद्धांतों (ग्राम पंचायत, मद्यनिषेध, कुटीर उद्योग) को नीति-निदेशक तत्वों में प्रमुखता से स्थान मिला।</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3245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18/260</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19</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संविधान निर्माण प्रक्रिया में प्रमुख नेताओं और उनके दायित्वों का सही मिलान कीजिए: सूची-I: सूची-I: A. डॉ. राजेंद्र प्रसाद B. डॉ. भीमराव अंबेडकर C. सरदार वल्लभभाई पटेल D. मौलाना अबुल कलाम आजाद सूची-II: 1. प्रारूप समिति (Drafting Committee) के अध्यक्ष 2. संविधान सभा के स्थायी अध्यक्ष 3. स्वतंत्र भारत के प्रथम शिक्षा मंत्री एवं हिंदू-मुस्लिम एकता के समर्थक 4. प्रांतीय संविधान समिति एवं मौलिक अधिकार-अल्पसंख्यक समिति के अध्यक्ष</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C-1, D-3</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B-1, C-2, D-3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7870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19/260</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B-1, C-4,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C-3,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B-4, C-1,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B-1, C-2, D-3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11 दिसंबर 1946 को डॉ. राजेंद्र प्रसाद को सर्वसम्मति से संविधान सभा का स्थायी अध्यक्ष निर्वाचित किया गया और वे ही स्वतंत्र भारत के प्रथम राष्ट्रपति बने। 29 अगस्त 1947 को गठित 7 सदस्यीय प्रारूप समिति का अध्यक्ष डॉ. भीमराव अंबेडकर को बनाया गया जिन्होंने संविधान का ढांचा तैयार किया और उन्हें 'संविधान का जनक' कहा जाता है। सरदार वल्लभभाई पटेल संविधान सभा की अत्यंत महत्वपूर्ण 'प्रांतीय संविधान समिति' तथा 'मौलिक अधिकारों एवं अल्पसंख्यकों से संबंधित परामर्श समिति' के अध्यक्ष थे और उन्होंने देशी रियासतों के एकीकरण में लौह पुरुष की भूमिका निभाई। मौलाना अबुल कलाम आजाद प्रख्यात शिक्षाविद, अरबी के विद्वान व विभाजन के कट्टर विरोधी थे, जो स्वतंत्र भारत के पहले शिक्षा मंत्री बने।</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7870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19/260</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20</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42वें संविधान संशोधन अधिनियम, 1976 द्वारा भारतीय संविधान की उद्देशिका (Preamble) में निम्नलिखित में से कौन-से तीन शब्द जोड़े गए थे?</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समाजवादी, लोकतांत्रिक, गणराज्य</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संप्रभुता, पंथनिरपेक्ष, बंधुत्व</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समाजवादी, पंथनिरपेक्ष, अखंडता</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स्वतंत्रता, समानता, न्याय</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2495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20/260</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समाजवादी, पंथनिरपेक्ष, अखंडता</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समाजवादी, लोकतांत्रिक, गणराज्य</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संप्रभुता, पंथनिरपेक्ष, बंधुत्व</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स्वतंत्रता, समानता, न्याय</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भारतीय संविधान की उद्देशिका (प्रस्तावना) में अब तक केवल एक बार 42वें संविधान संशोधन अधिनियम, 1976 द्वारा संशोधन किया गया है। इस संशोधन के माध्यम से प्रस्तावना के प्रथम पैरा में 'प्रभुत्वसंपन्न लोकतंत्रात्मक गणराज्य' के स्थान पर 'संपूर्ण प्रभुत्वसंपन्न समाजवादी पंथनिरपेक्ष लोकतंत्रात्मक गणराज्य' शब्द स्थापित किए गए तथा छठे पैरा में 'राष्ट्र की एकता' के स्थान पर 'राष्ट्र की एकता और अखंडता' शब्द जोड़े गए। इस प्रकार जोड़े गए तीन शब्द 'समाजवादी' (Socialist), 'पंथनिरपेक्ष' (Secular) और 'अखंडता' (Integrity) हैं। यह संशोधन स्वर्ण सिंह समिति की सिफारिशों के आधार पर किया गया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2495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20/260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में चुनाव प्रणाली, वयस्क मताधिकार एवं निर्वाचन क्षेत्रों के आरक्षण के संबंध में निम्नलिखित कथनों पर विचार कीजिए: A. भारत में लोकसभा एवं राज्य विधानसभा चुनावों के लिए 'फर्स्ट-पास्ट-द-पोस्ट' (सर्वाधिक मत से जीत) प्रणाली अपनाई गई है। B. 61वें संविधान संशोधन अधिनियम, 1988 द्वारा मतदान करने की न्यूनतम आयु को 21 वर्ष से घटाकर 18 वर्ष किया गया। C. लोकसभा के 543 निर्वाचन क्षेत्रों में अनुसूचित जातियों (SC) और अनुसूचित जनजातियों (ST) के लिए सीटें आरक्षित हैं। D. आरक्षित निर्वाचन क्षेत्र में केवल उसी आरक्षित वर्ग के मतदाता ही वोट डाल सकते हैं, सामान्य वर्ग के मतदाता नहीं।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7119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21/260</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 में लोकसभा और विधानसभा चुनावों में FPTP प्रणाली लागू है, जिसमें जिस प्रत्याशी को अन्य सभी प्रत्याशियों से एक भी मत अधिक मिलता है, उसे विजयी घोषित कर दिया जाता है। राजीव गांधी सरकार के समय 61वें संविधान संशोधन अधिनियम, 1988 (प्रभावी मार्च 1989) द्वारा अनुच्छेद 326 में संशोधन कर मतदान की आयु 21 से घटाकर 18 वर्ष की गई। वर्तमान में लोकसभा की 543 सीटों में से 84 सीटें अनुसूचित जातियों और 47 सीटें अनुसूचित जनजातियों के लिए आरक्षित हैं। आरक्षित निर्वाचन क्षेत्र की विशेषता यह होती है कि उम्मीदवार तो केवल आरक्षित वर्ग का ही होगा, किंतु मतदान उस क्षेत्र के सभी पंजीकृत वयस्क नागरिक करते हैं (पृथक निर्वाचक मंडल नहीं बल्कि संयुक्त निर्वाचक मंडल है), अतः कथन D असत्य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7119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21/260</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22</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के निर्वाचन आयोग (Election Commission) की स्वायत्तता और शक्तियों के संदर्भ में निम्नलिखित कथनों पर विचार कीजिए: A. संविधान के अनुच्छेद 324 के तहत संसद, राज्य विधानमंडलों, राष्ट्रपति एवं उपराष्ट्रपति के चुनावों का अधीक्षण, निर्देशन और नियंत्रण चुनाव आयोग में निहित है। B. मुख्य चुनाव आयुक्त की नियुक्ति राष्ट्रपति द्वारा की जाती है और वह अपने कार्यों के लिए प्रधानमंत्री के प्रति सीधे उत्तरदायी होता है। C. चुनाव की घोषणा से लेकर नतीजों की घोषणा तक चुनाव आयोग आदर्श आचार संहिता लागू करता है और उल्लंघन पर कार्रवाई कर सकता है। D. चुनाव ड्यूटी पर तैनात प्रशासनिक और पुलिस अधिकारी उस दौरान सरकार के नहीं बल्कि चुनाव आयोग के नियंत्रण में कार्य करते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1744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22/260</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C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अनुच्छेद 324 एक स्वतंत्र संवैधानिक संस्था के रूप में निर्वाचन आयोग की स्थापना करता है। मुख्य चुनाव आयुक्त (CEC) की नियुक्ति राष्ट्रपति द्वारा की जाती है, किंतु नियुक्ति के पश्चात वह कार्यपालिका या मंत्रिपरिषद के प्रति उत्तरदायी नहीं होता; उसे अपने पद की सुरक्षा प्राप्त है और उसे केवल उसी प्रक्रिया (महाभियोग जैसी) से हटाया जा सकता है जिससे सुप्रीम कोर्ट के जज को हटाया जाता है, इसलिए कथन B असत्य है। चुनाव की अधिसूचना जारी होने के साथ ही आयोग आदर्श आचार संहिता (Model Code of Conduct) लागू करता है। चुनाव के दौरान सरकारी मशीनरी के दुरुपयोग को रोकने के लिए आयोग अधिकारियों के स्थानांतरण का आदेश दे सकता है तथा सभी प्रतिनियुक्त कर्मचारी पूरी तरह आयोग के अधीक्षण में काम करते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1744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22/260</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23</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द्वितीय पिछड़ा वर्ग आयोग (मंडल आयोग) एवं आरक्षण नीति के संदर्भ में निम्नलिखित कथनों पर विचार कीजिए: A. वर्ष 1979 में मोरारजी देसाई की जनता पार्टी सरकार ने बी.पी. मंडल की अध्यक्षता में दूसरा पिछड़ा वर्ग आयोग गठित किया था। B. मंडल आयोग ने सामाजिक और शैक्षणिक रूप से पिछड़े वर्गों (OBC) के लिए सरकारी नौकरियों में 27% आरक्षण की सिफारिश की थी। C. वी.पी. सिंह के नेतृत्व वाली राष्ट्रीय मोर्चा सरकार ने अगस्त 1990 में मंडल आयोग की सिफारिशों को लागू करने की घोषणा की। D. सर्वोच्च न्यायालय ने इंदिरा साहनी बनाम भारत संघ (1992) वाद में 27% आरक्षण को असंवैधानिक घोषित कर पूर्णतः रद्द कर दिया था।</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6369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23/260</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प्रथम पिछड़ा वर्ग आयोग 1953 में काका कालेलकर की अध्यक्षता में बना था, जबकि 1979 में बिन्देश्वरी प्रसाद मंडल की अध्यक्षता में दूसरा पिछड़ा वर्ग आयोग बना। 1980 में प्रस्तुत अपनी रिपोर्ट में आयोग ने अन्य पिछड़ा वर्ग (OBC) की आबादी लगभग 52% मानते हुए केंद्र सरकार की नौकरियों में 27% आरक्षण की संस्तुति की। प्रधानमंत्री विश्वनाथ प्रताप सिंह ने 1990 में इसे लागू करने का ऐतिहासिक निर्णय लिया जिससे देशव्यापी आंदोलन हुए। इस निर्णय को सुप्रीम कोर्ट में चुनौती दी गई, जहाँ 9 जजों की संविधान पीठ ने 'इंदिरा साहनी वाद (1992)' में सरकार के 27% आरक्षण को वैध ठहराया, हालांकि कुल आरक्षण पर 50% की सीमा लगाई और संपन्न तबके (क्रीमी लेयर) को बाहर करने का निर्देश दिया, अतः कथन D असत्य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6369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23/260</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24</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की संसदीय शासन प्रणाली में राष्ट्रपति और प्रधानमंत्री की संवैधानिक स्थिति के संबंध में निम्नलिखित कथनों पर विचार कीजिए: A. राष्ट्रपति भारत का राष्ट्राध्यक्ष (Head of State) और कार्यपालिका का औपचारिक संवैधानिक प्रमुख होता है। B. प्रधानमंत्री सरकार का वास्तविक प्रमुख (Head of Government) होता है और कार्यपालिका की वास्तविक शक्तियों का प्रयोग करता है। C. संविधान के अनुच्छेद 74 के अनुसार राष्ट्रपति अपने कार्यों का निर्वहन मंत्रिपरिषद की सलाह के अनुसार करता है। D. राष्ट्रपति किसी भी सामान्य विधेयक पर अपनी सहमति देने के लिए बाध्य है, वह उसे पुनर्विचार के लिए नहीं लौटा सकता।</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0994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24/260</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 में ब्रिटेन के समान संसदीय लोकतंत्र अपनाया गया है जहाँ राष्ट्रपति राज्य का औपचारिक अध्यक्ष होता है और समस्त संघीय कार्यपालिका कार्य राष्ट्रपति के नाम से किए जाते हैं। वास्तविक राजनीतिक सत्ता जनता द्वारा चुने गए प्रधानमंत्री और उसकी मंत्रिपरिषद में निहित होती है। 42वें और 44वें संविधान संशोधन के बाद अनुच्छेद 74(1) में यह स्पष्ट है कि राष्ट्रपति मंत्रिपरिषद की सलाह मानने को बाध्य है, हालांकि 44वें संशोधन ने राष्ट्रपति को यह अधिकार दिया कि वह सलाह को एक बार पुनर्विचार के लिए भेज सकता है। अनुच्छेद 111 के तहत राष्ट्रपति धन विधेयक को छोड़कर किसी भी सामान्य विधेयक को संसद के पास पुनर्विचार के लिए लौटा सकता है (निलंबनकारी वीटो); अतः कथन D असत्य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0994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24/260</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25</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यदि किसी सामान्य विधेयक पर संसद के दोनों सदनों (लोकसभा एवं राज्यसभा) में गतिरोध उत्पन्न हो जाए, तो संविधान के अनुच्छेद 108 के तहत संयुक्त बैठक (Joint Sitting) के संदर्भ में कौन-सा कथन सत्य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संयुक्त बैठक राष्ट्रपति द्वारा बुलाई जाती है और इसकी अध्यक्षता उपराष्ट्रपति (राज्यसभा के सभापति) करते हैं</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संयुक्त बैठक राष्ट्रपति द्वारा आहूत की जाती है और इसकी अध्यक्षता लोकसभा का अध्यक्ष करता है</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धन विधेयक और संविधान संशोधन विधेयक दोनों पर भी संयुक्त बैठक बुलाई जा सकती है</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संयुक्त बैठक की अध्यक्षता प्रधानमंत्री द्वारा की जाती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5618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25/260</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संयुक्त बैठक राष्ट्रपति द्वारा आहूत की जाती है और इसकी अध्यक्षता लोकसभा का अध्यक्ष करता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संयुक्त बैठक राष्ट्रपति द्वारा बुलाई जाती है और इसकी अध्यक्षता उपराष्ट्रपति (राज्यसभा के सभापति) करते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धन विधेयक और संविधान संशोधन विधेयक दोनों पर भी संयुक्त बैठक बुलाई जा सकती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संयुक्त बैठक की अध्यक्षता प्रधानमंत्री द्वारा की जाती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भारतीय संविधान के अनुच्छेद 108 के तहत जब किसी साधारण विधेयक पर दोनों सदनों के बीच असहमति हो जाए, तो राष्ट्रपति दोनों सदनों की संयुक्त बैठक बुला सकता है। संविधान के अनुच्छेद 118(4) के तहत इस संयुक्त बैठक की अध्यक्षता लोकसभा अध्यक्ष (Speaker) द्वारा की जाती है; उनकी अनुपस्थिति में लोकसभा उपाध्यक्ष और उनकी भी अनुपस्थिति में राज्यसभा के उपसभापति अध्यक्षता करते हैं (उपराष्ट्रपति कभी भी संयुक्त बैठक की अध्यक्षता नहीं करते क्योंकि वे किसी सदन के सदस्य नहीं होते)। अत्यंत महत्वपूर्ण तथ्य यह है कि धन विधेयक (अनुच्छेद 109-110) और संविधान संशोधन विधेयक (अनुच्छेद 368) के मामले में संयुक्त बैठक का कोई प्रावधान नहीं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5618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25/260</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26</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भारतीय न्यायपालिका की एकीकृत संरचना एवं सर्वोच्च न्यायालय की शक्तियों के संदर्भ में निम्नलिखित कथनों पर विचार कीजिए: A. भारत में अमेरिका की तरह संघ और राज्यों के लिए पृथक-पृथक न्यायपालिका न होकर एकल एकीकृत न्यायपालिका है। B. सर्वोच्च न्यायालय द्वारा घोषित कानून और दिए गए निर्णय भारत के राज्यक्षेत्र के सभी न्यायालयों पर बाध्यकारी होते हैं। C. सर्वोच्च न्यायालय के न्यायाधीशों को केवल संसद के दोनों सदनों द्वारा विशेष बहुमत से पारित महाभियोग प्रस्ताव पर ही राष्ट्रपति द्वारा हटाया जा सकता है। D. सर्वोच्च न्यायालय के किसी भी न्यायाधीश का तबादला देश के किसी भी उच्च न्यायालय में सामान्य न्यायाधीश के रूप में किया जा सकता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20243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26/260</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 का न्यायिक ढांचा शीर्ष पर सर्वोच्च न्यायालय, उसके नीचे राज्य उच्च न्यायालय और सबसे नीचे अधीनस्थ न्यायालयों के रूप में एकीकृत रूप में पिरामिडनुमा है। संविधान के अनुच्छेद 141 के अनुसार उच्चतम न्यायालय द्वारा घोषित विधि भारत के सभी न्यायालयों पर बाध्यकारी होती है। अनुच्छेद 124(4) के तहत सुप्रीम कोर्ट के जज को केवल 'साबित कदाचार या असमर्थता' के आधार पर संसद के प्रत्येक सदन की कुल सदस्य संख्या के बहुमत तथा उपस्थित व मतदान करने वाले दो-तिहाई सदस्यों के विशेष बहुमत द्वारा ही हटाया जा सकता है। सर्वोच्च न्यायालय देश की सर्वोच्च अपीलीय अदालत है, इसके न्यायाधीशों का तबादला निचली अदालतों में नहीं किया जा सकता; राष्ट्रपति केवल उच्च न्यायालय के न्यायाधीशों का तबादला एक हाईकोर्ट से दूसरे हाईकोर्ट में कर सकता है (अनुच्छेद 222), अतः कथन D असत्य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20243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26/260</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27</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मौलिक अधिकारों के दायरे एवं प्रतिबंधों के संबंध में निम्नलिखित कथनों पर विचार कीजिए: A. संविधान में प्रदत्त मौलिक अधिकार निरंकुश या असीमित नहीं हैं, राज्य उन पर युक्तियुक्त निर्बंधन लगा सकता है। B. अनुच्छेद 19(1)(a) के तहत वाक् एवं अभिव्यक्ति की स्वतंत्रता पर देश की संप्रभुता, अखंडता, सुरक्षा व लोक व्यवस्था के आधार पर पाबंदी लगाई जा सकती है। C. 44वें संविधान संशोधन के बाद अनुच्छेद 20 और 21 के तहत प्राप्त मूल अधिकारों को राष्ट्रीय आपातकाल (अनुच्छेद 352) में भी निलंबित नहीं किया जा सकता। D. मौलिक अधिकारों का उल्लंघन होने पर केवल पीड़ित व्यक्ति ही अदालत जा सकता है, कोई अन्य व्यक्ति या संस्था कभी नहीं।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24868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27/260</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भारतीय संविधान में मूल अधिकार नागरिकों को मिले हैं किंतु वे असीमित नहीं हैं; संविधान का अनुच्छेद 19(2) भाषण और अभिव्यक्ति की स्वतंत्रता पर भारत की संप्रभुता, सुरक्षा, विदेशी राज्यों से मित्रवत संबंध, लोक व्यवस्था, शिष्टाचार तथा न्यायालय की अवमानना जैसे आधारों पर युक्तियुक्त प्रतिबंध लगाने की अनुमति देता है। 44वें संविधान संशोधन 1978 द्वारा अनुच्छेद 359 में यह ऐतिहासिक संशोधन किया गया कि आपातकाल के दौरान भी अनुच्छेद 20 (अपराधों के लिए दोषसिद्धि के संबंध में संरक्षण) और अनुच्छेद 21 (प्राण एवं दैहिक स्वतंत्रता) को निलंबित नहीं किया जा सकता। जनहित याचिका (PIL) के आगमन के बाद यह नियम समाप्त हो गया है कि केवल पीड़ित ही अदालत जाएगा; अब पीड़ित की ओर से कोई भी सजग नागरिक या संस्था न्यायालय जा सकती है, अतः कथन D असत्य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24868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27/260</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28</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भारतीय संविधान के स्रोतों और विभिन्न देशों के संविधानों से ग्रहण की गई विशेषताओं का सही मिलान कीजिए: सूची-I (संवैधानिक विशेषता): सूची-I: A. राज्य के नीति-निदेशक तत्त्व (DPSP) B. मौलिक अधिकार एवं न्यायिक समीक्षा C. संसदीय शासन प्रणाली एवं कानून का शासन D. अवशिष्ट शक्तियां केंद्र के पास होना सूची-II: 1. संयुक्त राज्य अमेरिका 2. आयरलैंड 3. कनाडा 4. ब्रिटेन</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C-1, D-3</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C-4, D-2</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29493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28/260</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B-1, C-4,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C-3,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B-4, C-1,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B-1, C-4, D-2</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भारतीय संविधान निर्माताओं ने दुनिया भर के बेहतरीन संविधानों से उपयोगी तत्वों को ग्रहण कर भारतीय परिस्थितियों के अनुरूप ढाला। राज्य के नीति-निदेशक तत्वों की अवधारणा आयरलैंड के संविधान (1937) से ली गई है जिसका उल्लेख भाग-4 (अनुच्छेद 36-51) में है। मौलिक अधिकार (बिल ऑफ राइट्स), न्यायपालिका की स्वतंत्रता और न्यायिक पुनरावलोकन की शक्ति अमेरिका के संविधान से प्रेरित है। संसदीय प्रणाली, विधि का शासन, द्विसदनीय व्यवस्था और एकल नागरिकता ब्रिटेन की वेस्टमिंस्टर प्रणाली से ली गई है। एक सशक्त केंद्र के साथ संघीय व्यवस्था और अवशिष्ट शक्तियों (Residuary Powers) को केंद्र के पास रखने का सिद्धांत कनाडा के संविधान से ग्रहण किया गया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29493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28/260</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29</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राष्ट्रीय मानवाधिकार आयोग (NHRC) के संबंध में निम्नलिखित में से कौन-सा कथन सत्य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इसका गठन मानवाधिकार संरक्षण अधिनियम के तहत 1993 में एक संवैधानिक संस्था के रूप में हुआ</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इसका अध्यक्ष केवल भारत का वर्तमान सेवारत मुख्य न्यायाधीश ही हो सकता है</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यह एक वैधानिक निकाय है जिसकी स्थापना 1993 में हुई और यह मानवाधिकार उल्लंघन की स्वप्रेरणा (Suo Motu) से जांच कर सकता है</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आयोग के पास दोषियों को सीधे जेल भेजने और दंडित करने का न्यायिक अधिकार प्राप्त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34117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29/260</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यह एक वैधानिक निकाय है जिसकी स्थापना 1993 में हुई और यह मानवाधिकार उल्लंघन की स्वप्रेरणा (Suo Motu) से जांच कर सकता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इसका गठन मानवाधिकार संरक्षण अधिनियम के तहत 1993 में एक संवैधानिक संस्था के रूप में हुआ</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इसका अध्यक्ष केवल भारत का वर्तमान सेवारत मुख्य न्यायाधीश ही हो सकता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आयोग के पास दोषियों को सीधे जेल भेजने और दंडित करने का न्यायिक अधिकार प्राप्त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राष्ट्रीय मानवाधिकार आयोग (NHRC) एक वैधानिक (संसद के कानून द्वारा स्थापित) निकाय है जिसकी स्थापना 12 अक्टूबर 1993 को 'मानवाधिकार संरक्षण अधिनियम, 1993' के तहत की गई थी (यह संवैधानिक निकाय नहीं है)। 2019 के संशोधन के बाद सुप्रीम कोर्ट का कोई भी सेवानिवृत्त मुख्य न्यायाधीश या अन्य सेवानिवृत्त न्यायाधीश इसका अध्यक्ष बन सकता है। आयोग मानवाधिकार हनन की घटनाओं पर किसी पीड़ित की शिकायत पर या समाचार पत्रों के आधार पर स्वतः संज्ञान (Suo Motu) लेकर जांच कर सकता है। ध्यान रहे कि NHRC केवल एक सिफारिशी निकाय है; इसके पास सिविल कोर्ट जैसी जांच शक्तियां तो हैं किंतु यह किसी व्यक्ति को सीधे सजा या आर्थिक दंड नहीं दे सकता, यह सरकार या संबंधित अदालत को कार्रवाई की संस्तुति करता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34117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29/260</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30</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संविधान सभा के ऐतिहासिक 'उद्देश्य प्रस्ताव' (Objectives Resolution) के संदर्भ में निम्नलिखित कथनों पर विचार कीजिए: A. 13 दिसंबर 1946 को पंडित जवाहरलाल नेहरू ने संविधान सभा में ऐतिहासिक उद्देश्य प्रस्ताव प्रस्तुत किया था। B. इस प्रस्ताव में घोषित किया गया कि स्वतंत्र भारत और उसके संविधान की समस्त शक्तियों व प्राधिकार का स्रोत भारत की जनता है। C. इस प्रस्ताव में अल्पसंख्यकों, पिछड़ी जातियों और कबायली (जनजातीय) इलाकों के लिए पर्याप्त सुरक्षा उपायों की गारंटी दी गई थी। D. 22 जनवरी 1947 को संविधान सभा ने इस उद्देश्य प्रस्ताव को सर्वसम्मति से स्वीकार कर लिया, जो आगे चलकर संविधान की उद्देशिका बना।</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38742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30/260</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13 दिसंबर 1946 को संविधान सभा की पहली बैठक के कुछ ही दिनों बाद जवाहरलाल नेहरू ने उद्देश्य प्रस्ताव पेश किया, जिसने हमारे संविधान के दार्शनिक आधार और मूल्यों को तय किया। इसमें भारत को एक स्वतंत्र, संप्रभु गणराज्य घोषित करते हुए सभी नागरिकों को सामाजिक, आर्थिक और राजनीतिक न्याय, विचार, अभिव्यक्ति, विश्वास व उपासना की स्वतंत्रता की गारंटी दी गई। इसमें यह साफ रेखांकित किया गया कि प्रभुसत्ता का मूल स्रोत भारत की जनता है और हाशिए पर खड़े कमजोर वर्गों, आदिवासियों और अल्पसंख्यकों के अधिकारों को सुरक्षित किया जाएगा। संविधान सभा द्वारा 22 जनवरी 1947 को इसे सर्वसम्मति से पारित किया गया और यही उद्देश्य प्रस्ताव संशोधित होकर हमारे संविधान की वर्तमान प्रस्तावना (Preamble) का मूल आधार बना। अतः सभी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38742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30/260</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में चुनाव आचार संहिता (Model Code of Conduct) और चुनाव प्रक्रिया के संदर्भ में निम्नलिखित कथनों पर विचार कीजिए: A. मतदान की तारीख से पूर्व किसी मंत्री द्वारा अपने क्षेत्र में नई रेलगाड़ी या विकास परियोजना की घोषणा करना आचार संहिता का उल्लंघन है। B. किसी प्रत्याशी द्वारा यह चुनावी वादा करना कि 'जीतने के बाद वह क्षेत्र में अस्पताल बनवाएगा', आचार संहिता का उल्लंघन माना जाता है। C. मतदाताओं को प्रभावित करने के लिए धार्मिक स्थलों पर ले जाकर शपथ दिलाना अथवा उपहार/कंबल बांटना भ्रष्ट चुनावी आचरण है। D. किसी सांसद या विधायक की मृत्यु या त्यागपत्र से रिक्त हुई सीट को भरने के लिए होने वाले चुनाव को 'उपचुनाव' (By-election) कहते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43367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31/260</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C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आदर्श आचार संहिता के नियमों के अनुसार चुनाव की घोषणा होते ही सत्तारूढ़ दल या मंत्री किसी भी नई योजना, परियोजना, वित्तीय अनुदान या शिलान्यास की घोषणा नहीं कर सकते जिससे मतदाताओं को लुभाया जा सके, अतः कथन A सत्य है। किसी उम्मीदवार द्वारा अपने चुनावी घोषणापत्र में यह कहना कि निर्वाचित होने पर वह जनहित के कार्य (जैसे स्कूल, सड़क, अस्पताल) कराएगा, एक सामान्य लोकतांत्रिक चुनावी वादा है और यह आचार संहिता का उल्लंघन नहीं है, इसलिए कथन B असत्य है। मतदाताओं को रिश्वत देना, शराब/कंबल बांटना या जाति/धर्म के नाम पर शपथ दिलाना जन प्रतिनिधित्व अधिनियम, 1951 के तहत भ्रष्ट आचरण और अपराध है। सदन का कार्यकाल पूरा होने से पहले किसी सीट के रिक्त होने पर कराया जाने वाला चुनाव उपचुनाव कहलाता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43367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31/260</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32</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भारत में मतदाता सूची (Voter List) एवं मताधिकार के नियमों के संबंध में निम्नलिखित कथनों पर विचार कीजिए: A. भारत में 18 वर्ष की आयु प्राप्त प्रत्येक नागरिक को, बिना किसी भेदभाव के, मतदान करने का अधिकार प्राप्त है। B. लोकसभा अथवा विधानसभा चुनाव में प्रत्याशी बनने के लिए न्यूनतम आयु 25 वर्ष निर्धारित है। C. राज्यसभा अथवा विधान परिषद की सदस्यता के लिए उम्मीदवार की न्यूनतम आयु 30 वर्ष होना अनिवार्य है। D. मतदाता सूची का पूर्ण नवीकरण सामान्यतः प्रति तीन वर्ष के अंतराल पर किया जाना अनिवार्य है।</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47992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32/260</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भारतीय संविधान का अनुच्छेद 326 सार्वभौमिक वयस्क मताधिकार की गारंटी देता है, जिसके तहत 18 वर्ष के प्रत्येक नागरिक को धर्म, जाति, लिंग के आधार पर भेदभाव के बिना वोट का अधिकार है। संविधान के अनुच्छेद 84 और 173 के अनुसार लोकसभा और विधानसभा का चुनाव लड़ने के लिए न्यूनतम आयु 25 वर्ष तय की गई है। वहीं राज्यसभा तथा राज्यों की विधान परिषदों की सदस्यता के लिए न्यूनतम आयु सीमा 30 वर्ष निर्धारित है। मतदाता सूची को प्रत्येक चुनाव से पहले अद्यतन (Revise) किया जाता है ताकि नए पात्र मतदाताओं के नाम जोड़े जा सकें और मृतकों के नाम हटाए जा सकें, किंतु इसका पूर्ण नवीकरण सामान्यतः प्रति 5 वर्ष में होता है (3 वर्ष में नहीं), अतः कथन D असत्य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47992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32/260</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33</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भारत में संसद एवं चुनाव संबंधी प्रमुख आयु सीमाओं का सही मिलान कीजिए: सूची-I: सूची-I: A. मताधिकार प्राप्त करने की न्यूनतम आयु B. लोकसभा एवं विधानसभा का चुनाव लड़ने की न्यूनतम आयु C. राज्यसभा एवं विधान परिषद का सदस्य बनने की न्यूनतम आयु D. राष्ट्रपति एवं उपराष्ट्रपति पद के प्रत्याशी की न्यूनतम आयु सूची-II: 1. 25 वर्ष 2. 18 वर्ष 3. 35 वर्ष 4. 30 वर्ष</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C-4, D-3</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C-1, D-3</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C-4, D-2</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52616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33/260</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B-1, C-4,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C-4,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B-4, C-1,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B-1, C-4, D-2</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61वें संविधान संशोधन 1988 के लागू होने के बाद भारत में वयस्क मताधिकार की आयु 21 वर्ष से घटाकर 18 वर्ष कर दी गई। लोकसभा और राज्य विधानसभाओं के लिए जनप्रतिनिधि बनने की न्यूनतम आयु सीमा 25 वर्ष निर्धारित है। संसद के उच्च सदन (राज्यसभा) और राज्यों के उच्च सदन (विधान परिषद) में अधिक परिपक्व प्रतिनिधित्व के लिए न्यूनतम आयु 30 वर्ष रखी गई है। भारत के राष्ट्रपति और उपराष्ट्रपति पद की संवैधानिक गरिमा और उत्तरदायित्व को देखते हुए संविधान के अनुच्छेद 58 और 66 के तहत न्यूनतम आयु 35 वर्ष तय की गई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52616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33/260</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34</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के प्रधानमंत्री और केंद्रीय मंत्रिपरिषद की कार्यप्रणाली के संदर्भ में निम्नलिखित कथनों पर विचार कीजिए: A. प्रधानमंत्री की नियुक्ति राष्ट्रपति द्वारा की जाती है और अन्य मंत्रियों की नियुक्ति प्रधानमंत्री की सलाह पर राष्ट्रपति करता है। B. कोई भी व्यक्ति जो संसद के किसी भी सदन का सदस्य नहीं है, वह भी 6 माह के लिए मंत्री बन सकता है। C. संविधान में प्रधानमंत्री का निश्चित कार्यकाल 5 वर्ष सुनिश्चित किया गया है और उसे समय से पूर्व नहीं हटाया जा सकता। D. मंत्रिपरिषद सामूहिक रूप से लोकसभा के प्रति उत्तरदायी होती है और लोकसभा में अविश्वास प्रस्ताव पारित होने पर पूरी सरकार गिर जाती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57241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34/260</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संविधान के अनुच्छेद 75(1) के अनुसार लोकसभा में बहुमत प्राप्त दल के नेता को राष्ट्रपति प्रधानमंत्री नियुक्त करता है तथा अन्य मंत्रियों की नियुक्ति प्रधानमंत्री की संस्तुति पर होती है। अनुच्छेद 75(5) यह छूट देता है कि कोई भी गैर-सांसद व्यक्ति मंत्री बन सकता है, किंतु उसे 6 महीने के भीतर संसद के किसी भी सदन की सदस्यता प्राप्त करनी होगी अन्यथा उसका मंत्री पद समाप्त हो जाएगा। संविधान में प्रधानमंत्री का कोई निश्चित कार्यकाल निर्धारित नहीं है; वह राष्ट्रपति के 'प्रसादपर्यंत' (Pleasure) और जब तक लोकसभा में विश्वास मत प्राप्त है, तब तक पद पर रहता है, अतः कथन C असत्य है। अनुच्छेद 75(3) के तहत मंत्रिपरिषद सामूहिक रूप से लोकसभा के प्रति उत्तरदायी होती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57241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34/260</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35</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यदि भारत के राष्ट्रपति का पद अचानक रिक्त हो जाए और उस समय उपराष्ट्रपति का पद भी रिक्त हो तथा मुख्य न्यायाधीश (CJI) भी उपलब्ध न हों, तो राष्ट्रपति का कार्यभार कौन संभालेगा?</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लोकसभा का अध्यक्ष (Speaker)</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भारत का अटॉर्नी जनरल</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सर्वोच्च न्यायालय का वरिष्ठतम उपलब्ध न्यायाधीश</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राज्यसभा का उपसभापति</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61866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35/260</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सर्वोच्च न्यायालय का वरिष्ठतम उपलब्ध न्यायाधीश</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लोकसभा का अध्यक्ष (Speaker)</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भारत का अटॉर्नी जनरल</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राज्यसभा का उपसभापति</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राष्ट्रपति उत्तराधिकार अधिनियम, 1969 (President (Discharge of Functions) Act, 1969) के अनुसार, यदि राष्ट्रपति और उपराष्ट्रपति दोनों के पद एक साथ रिक्त हो जाएं, तो भारत के मुख्य न्यायाधीश (CJI) कार्यवाहक राष्ट्रपति के रूप में शपथ लेते हैं। यदि मुख्य न्यायाधीश भी अनुपस्थित या उपलब्ध न हों, तो सर्वोच्च न्यायालय के वरिष्ठतम उपलब्ध न्यायाधीश को कार्यवाहक राष्ट्रपति का पदभार ग्रहण करने का कानूनी अधिकार प्राप्त है। भारत के इतिहास में वर्ष 1969 में राष्ट्रपति डॉ. जाकिर हुसैन के निधन और उपराष्ट्रपति वी.वी. गिरि के इस्तीफे के बाद तत्कालीन मुख्य न्यायाधीश न्यायमूर्ति मोहम्मद हिदायतुल्ला ने कार्यवाहक राष्ट्रपति का कार्यभार संभाला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61866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35/260</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36</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सर्वोच्च न्यायालय और उच्च न्यायालय के न्यायाधीशों को पद से हटाने (महाभियोग जैसी प्रक्रिया) के संबंध में निम्नलिखित कथनों पर विचार कीजिए: A. न्यायाधीशों को केवल दो आधारों-'कदाचार' (Misbehavior) या 'असमर्थता' (Incapacity) पर ही हटाया जा सकता है। B. हटाने का प्रस्ताव संसद के प्रत्येक सदन द्वारा अपनी कुल सदस्य संख्या के बहुमत तथा उपस्थित व मतदान करने वाले सदस्यों के कम से कम दो-तिहाई बहुमत से पारित होना चाहिए। C. अब तक स्वतंत्र भारत के इतिहास में सर्वोच्च न्यायालय के तीन न्यायाधीशों को संसद द्वारा महाभियोग प्रस्ताव पारित कर सफलतापूर्वक हटाया जा चुका है। D. न्यायाधीशों के आचरण पर संसद में सामान्यतः कोई चर्चा नहीं हो सकती, जब तक कि उन्हें हटाने का प्रस्ताव विचाराधीन न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66491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36/260</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संविधान के अनुच्छेद 124(4) और 217 के अनुसार किसी भी न्यायाधीश को हटाने की प्रक्रिया अत्यंत जटिल है ताकि न्यायिक स्वतंत्रता सुरक्षित रहे; इसके आधार केवल साबित कदाचार या असमर्थता हो सकते हैं। प्रस्ताव को संसद के दोनों सदनों में अलग-अलग कुल सदस्य संख्या के बहुमत और उपस्थित व मतदान करने वाले दो-तिहाई सदस्यों के विशेष बहुमत से उसी सत्र में पारित होना अनिवार्य है। भारत के इतिहास में आज तक किसी भी न्यायाधीश को संसद द्वारा महाभियोग प्रस्ताव पूर्ण पारित करके नहीं हटाया गया है (जस्टिस वी. रामास्वामी और दीपक मिश्रा के खिलाफ प्रक्रिया पूरी नहीं हो सकी थी), अतः कथन C असत्य है। अनुच्छेद 121 के तहत संसद में न्यायाधीशों के न्यायिक आचरण पर बहस प्रतिबंधित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66491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36/260</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37</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भारतीय संविधान के अंतर्गत 'समानता का अधिकार' (Right to Equality) के संदर्भ में निम्नलिखित कथनों पर विचार कीजिए: A. अनुच्छेद 14 राज्य को भारत के राज्यक्षेत्र में किसी व्यक्ति को 'विधि के समक्ष समता' और 'विधियों के समान संरक्षण' से वंचित करने से रोकता है। B. 'विधि के समक्ष समता' ब्रिटिश परंपरा से ली गई नकारात्मक अवधारणा है, जबकि 'विधियों का समान संरक्षण' अमेरिकी संविधान से प्रेरित सकारात्मक अवधारणा है। C. अनुच्छेद 15 राज्य को केवल धर्म, मूलवंश, जाति, लिंग या जन्मस्थान के आधार पर किसी नागरिक के विरुद्ध विभेद करने से रोकता है। D. अनुच्छेद 18 के तहत राज्य किसी भी भारतीय नागरिक को सैन्य अथवा शैक्षणिक उपाधियों के अतिरिक्त कोई अन्य उपाधि प्रदान नहीं कर सकता।</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71115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37/260</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अनुच्छेद 14 में दोहरी अवधारणा है: 'विधि के समक्ष समता' (Equality before Law) का अर्थ है कानून की नजर में सभी बराबर हैं (ब्रिटिश स्रोत), जबकि 'विधियों का समान संरक्षण' (Equal Protection of the Laws) का अर्थ है समान परिस्थिति वाले व्यक्तियों के साथ समान व्यवहार किया जाना चाहिए (अमेरिकी स्रोत)। अनुच्छेद 15(1) में 'केवल' (only) शब्द महत्वपूर्ण है, जो स्पष्ट करता है कि धर्म, जाति, लिंग आदि के आधार पर भेदभाव निषिद्ध है, किंतु सामाजिक-शैक्षणिक रूप से पिछड़े वर्गों, महिलाओं और बच्चों के लिए विशेष प्रावधान किए जा सकते हैं। अनुच्छेद 18 सामाजिक समानता स्थापित करने के लिए औपनिवेशिक काल की रायबहादुर, सर, नाइटहुड जैसी उपाधियों का अंत करता है; केवल सैन्य और शैक्षणिक उपाधियाँ ही अनुमन्य हैं। अतः सभी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71115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37/260</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38</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लोकतांत्रिक शासन में सत्ता के बँटवारे (Power Sharing) के प्रकारों के संदर्भ में निम्नलिखित कथनों पर विचार कीजिए: A. विधायिका, कार्यपालिका और न्यायपालिका के बीच सत्ता का बँटवारा 'क्षैतिज बँटवारा' (Horizontal Sharing) कहलाता है। B. केंद्र सरकार, राज्य सरकार और स्थानीय निकायों के बीच सत्ता का बँटवारा 'ऊर्ध्वाधर बँटवारा' (Vertical Sharing) कहलाता है। C. क्षैतिज बँटवारे में शासन के विभिन्न अंग एक ही स्तर पर रहकर अपनी शक्तियों का उपयोग करते हैं और एक-दूसरे पर नियंत्रण रखते हैं। D. लोकतंत्र में दबाव समूह और राजनीतिक दल सत्ता के बँटवारे में कोई भूमिका नहीं निभाते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75740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38/260</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लोकतंत्र में सत्ता के विभाजन के दो प्रमुख रूप होते हैं: पहला, क्षैतिज वितरण (Horizontal Division), जिसमें सरकार के तीनों अंग (विधायिका, कार्यपालिका, न्यायपालिका) समान धरातल पर स्थित होते हैं और नियंत्रण एवं संतुलन (Checks and Balances) की प्रणाली स्थापित करते हैं। दूसरा, ऊर्ध्वाधर वितरण (Vertical Division), जिसमें सत्ता उच्च स्तर (केंद्र) से मध्यम (राज्य) और निम्न स्तर (स्थानीय पंचायतें/नगरपालिका) की ओर सोपानात्मक रूप से विभाजित होती है। लोकतंत्र में राजनीतिक दल, दबाव समूह और सामाजिक आंदोलन भी नीतियों पर प्रभाव डालकर सत्ता के बँटवारे और निर्णय प्रक्रिया में अत्यंत सक्रिय और निर्णायक भूमिका निभाते हैं, अतः कथन D असत्य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75740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38/260</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39</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संविधान की सातवीं अनुसूची में उल्लिखित विधायी सूचियों और उनसे संबंधित विषयों का सही मिलान कीजिए: सूची-I (विषय): सूची-I: A. प्रतिरक्षा, बैंकिंग और विदेशी मामले B. पुलिस, कृषि और सार्वजनिक स्वास्थ्य C. शिक्षा, वन और मजदूर संघ D. साइबर कानून और अंतरिक्ष अनुसंधान सूची-II: 1. राज्य सूची (State List) 2. संघ सूची (Union List) 3. अवशिष्ट शक्तियां (Residuary Powers) 4. समवर्ती सूची (Concurrent List)</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C-1, D-3</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C-4, D-2</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80365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39/260</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B-1, C-4,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C-3,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B-4, C-1,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B-1, C-4, D-2</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सातवीं अनुसूची के अनुच्छेद 246 के तहत विषयों का त्रिस्तरीय विभाजन है: संघ सूची में राष्ट्रीय महत्व के विषय (जैसे रक्षा, विदेश मामले, बैंकिंग, संचार, मुद्रा) शामिल हैं जिन पर केवल संसद कानून बना सकती है। राज्य सूची में स्थानीय और प्रांतीय महत्व के विषय (जैसे पुलिस, लोक व्यवस्था, कृषि, जेल, स्वच्छता, स्थानीय शासन) शामिल हैं। समवर्ती सूची में वे विषय हैं जिन पर केंद्र और राज्य दोनों कानून बना सकते हैं (जैसे शिक्षा, वन, विवाह, मजदूर संघ, सिविल प्रक्रिया); टकराव की स्थिति में केंद्र का कानून मान्य होता है (अनुच्छेद 254)। वे नए विषय जो संविधान निर्माण के समय अस्तित्व में नहीं थे (जैसे साइबर कानून, ई-कॉमर्स), अनुच्छेद 248 के तहत संसद की अवशिष्ट शक्तियों में आते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80365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39/260</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40</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भारतीय संघीय व्यवस्था (Federal System) की विशेषताओं के संदर्भ में निम्नलिखित कथनों पर विचार कीजिए: A. भारतीय संविधान में भारत को 'राज्यों का संघ' (Union of States) कहा गया है, न कि 'फेडरेशन'। B. केंद्र और राज्यों के बीच किसी संवैधानिक या विधिक विवाद की स्थिति में सर्वोच्च न्यायालय के पास आरंभिक (मूल) क्षेत्राधिकार है। C. संविधान के किसी संघीय प्रावधान में संशोधन के लिए संसद के दोनों सदनों में विशेष बहुमत के साथ-साथ कम से कम आधे राज्यों के विधानमंडलों की सहमति अनिवार्य है। D. राज्य सरकारों को अपनी स्वायत्तता और अस्तित्व बनाए रखने के लिए केंद्र सरकार की दया पर निर्भर रहना पड़ता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84990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40/260</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अनुच्छेद 1(1) के अनुसार "भारत अर्थात् इंडिया, राज्यों का संघ होगा"; डॉ. अंबेडकर ने स्पष्ट किया था कि भारत किसी राज्यों के समझौते का परिणाम नहीं है और न ही किसी राज्य को संघ से अलग होने का अधिकार है। अनुच्छेद 131 के तहत केंद्र-राज्य या अंतर-राज्यीय विवादों का निपटारा सर्वोच्च न्यायालय का अनन्य प्रारंभिक क्षेत्राधिकार है। अनुच्छेद 368(2) के तहत संघीय ढांचे से जुड़े प्रावधानों (जैसे सातवीं अनुसूची, राष्ट्रपति निर्वाचन, न्यायपालिका) में संशोधन के लिए संसद के विशेष बहुमत के अतिरिक्त कम से कम 50% राज्यों की मंजूरी जरूरी है। भारतीय संघ में राज्यों को संविधान से ही अपनी शक्तियाँ प्राप्त होती हैं, वे केंद्र के प्रशासनिक एजेंट या केंद्र की दया पर आश्रित नहीं हैं, अतः कथन D असत्य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84990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40/260</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73वें और 74वें संविधान संशोधन अधिनियम (1992) द्वारा स्थानीय स्वशासन के संदर्भ में निम्नलिखित कथनों पर विचार कीजिए: A. स्थानीय स्वशासी निकायों के चुनाव प्रत्येक 5 वर्ष में नियमित रूप से कराना एक संवैधानिक बाध्यता है। B. पंचायती राज संस्थाओं और शहरी नगरपालिकाओं में सभी स्तरों पर महिलाओं के लिए न्यूनतम एक-तिहाई (33%) सीटें आरक्षित हैं। C. प्रत्येक राज्य में स्थानीय निकायों के निष्पक्ष चुनाव कराने के लिए 'राज्य निर्वाचन आयोग' (State Election Commission) का गठन किया गया है। D. संविधान में यह अनिवार्य नियम बनाया गया है कि देश के सभी राज्यों में पंचायतों की सत्ता और वित्तीय भागीदारी पूरी तरह एक समान होगी।</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89614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41/260</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73वें और 74वें संशोधन ने स्थानीय शासन को संविधान के भाग-9 व 9क और 11वीं व 12वीं अनुसूची के माध्यम से संवैधानिक दर्जा दिया। अनुच्छेद 243E के तहत यदि कोई पंचायत समय पूर्व भंग होती है, तो 6 माह के भीतर चुनाव कराना अनिवार्य है। अनुच्छेद 243D के तहत महिलाओं के लिए न्यूनतम 33% आरक्षण अनिवार्य है (कई राज्यों जैसे बिहार, राजस्थान, मध्य प्रदेश ने इसे बढ़ाकर 50% कर दिया है)। अनुच्छेद 243K के तहत स्वतंत्र राज्य चुनाव आयुक्त की नियुक्ति राज्यपाल द्वारा की जाती है। 11वीं अनुसूची के 29 विषयों और 12वीं अनुसूची के 18 विषयों में से कितने विषय और कितनी वित्तीय शक्तियाँ पंचायतों को हस्तांतरित की जाएँगी, इसका फैसला संबंधित राज्य के विधानमंडल पर छोड़ा गया है, इसलिए सभी राज्यों में यह भागीदारी एक समान नहीं है, अतः कथन D असत्य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89614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41/260</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42</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2001 और 2011 की भारतीय जनगणना के आंकड़ों के आधार पर लिंगानुपात (Sex Ratio) और बाल लिंगानुपात (0-6 वर्ष) की सही प्रवृत्ति क्या रही?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लिंगानुपात में गिरावट आई (943 से 933), जबकि बाल लिंगानुपात में वृद्धि दर्ज की गई</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लिंगानुपात में वृद्धि दर्ज की गई (933 से बढ़कर 943), जबकि बाल लिंगानुपात में गिरावट आई (927 से घटकर 919)</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दोनों संकेतकों (लिंगानुपात और बाल लिंगानुपात) में उल्लेखनीय वृद्धि दर्ज की गई</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दोनों संकेतकों में तीव्र गिरावट देखी गई</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94239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42/260</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लिंगानुपात में वृद्धि दर्ज की गई (933 से बढ़कर 943), जबकि बाल लिंगानुपात में गिरावट आई (927 से घटकर 919)</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लिंगानुपात में गिरावट आई (943 से 933), जबकि बाल लिंगानुपात में वृद्धि दर्ज की गई</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दोनों संकेतकों (लिंगानुपात और बाल लिंगानुपात) में उल्लेखनीय वृद्धि दर्ज की गई</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दोनों संकेतकों में तीव्र गिरावट देखी गई</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जनगणना 2001 में भारत का कुल लिंगानुपात 933 महिलाएँ प्रति 1000 पुरुष था, जो जनगणना 2011 में 10 अंक सुधरकर 943 हो गया। इसके विपरीत, 0 से 6 वर्ष के आयु वर्ग में बाल लिंगानुपात (Child Sex Ratio) 2001 में 927 था, जो 2011 में घटकर 919 पर आ गया, जो कन्या भ्रूण हत्या और समाज में गहरी लैंगिक असमानता की चिंताजनक प्रवृत्ति को दर्शाता है। लिंगानुपात समाज में महिलाओं की स्थिति और स्वास्थ्य सुरक्षा का एक अत्यंत संवेदनशील सामाजिक संकेतक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94239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42/260</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43</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महात्मा गांधी के धर्म और राजनीति संबंधी विचारों एवं भारतीय धर्मनिरपेक्षता के संदर्भ में निम्नलिखित कथनों पर विचार कीजिए: A. महात्मा गांधी के अनुसार धर्म को राजनीति से कभी अलग नहीं किया जा सकता; राजनीति धर्म द्वारा निर्देशित होनी चाहिए। B. गांधीजी का धर्म से तात्पर्य किसी रूढ़िवादी हिंदू या इस्लाम संप्रदाय से न होकर उन सार्वभौमिक नैतिक मूल्यों से था जो सभी धर्मों में मौजूद हैं। C. भारतीय संविधान सभी नागरिकों को अपनी पसंद का धर्म मानने, आचरण करने और उसका प्रचार करने की स्वतंत्रता देता है। D. भारतीय संविधान राज्य को किसी भी परिस्थिति में धार्मिक मामलों में कोई भी सुधारात्मक कदम उठाने की अनुमति नहीं देता।</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98864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43/260</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महात्मा गांधी का दृढ़ विश्वास था कि धर्मविहीन राजनीति एक मृत्यु-जाल है जो आत्मा का हनन करती है। गांधीजी के लिए धर्म का अर्थ किसी कर्मकांड, संकीर्ण मत या सांप्रदायिकता से नहीं था, बल्कि सत्य, अहिंसा, न्याय और करुणा जैसे नैतिक मूल्यों से था जो सभी धर्मों का सार हैं। भारतीय संविधान की प्रस्तावना और अनुच्छेद 25-28 सभी व्यक्तियों को धार्मिक स्वतंत्रता प्रदान करते हैं। किंतु भारतीय मॉडल पश्चिमी मॉडल से अलग है; हमारे यहाँ राज्य धार्मिक असमानताओं को दूर करने और मानवीय गरिमा की रक्षा के लिए धर्म में विधायी हस्तक्षेप कर सकता है (जैसे अस्पृश्यता निषेध, मंदिरों को सभी वर्गों के लिए खोलना, सती प्रथा पर रोक), अतः कथन D असत्य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98864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43/260</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44</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दक्षिण अमेरिकी देश बोलीविया में बहुराष्ट्रीय कंपनी द्वारा जल आपूर्ति के निजीकरण और पानी की दरों में चार गुना वृद्धि के विरुद्ध चले ऐतिहासिक जन-आंदोलन का नेतृत्व किस संगठन ने किया था?</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बामसेफ (BAMCEF)</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फेडेकोर (FEDECOR)</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सेवेन पार्टी अलायंस (SPA)</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एमनेस्टी इंटरनेशनल (Amnesty International)</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03489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44/260</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फेडेकोर (FEDECOR)</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बामसेफ (BAMCEF)</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सेवेन पार्टी अलायंस (SPA)</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एमनेस्टी इंटरनेशनल (Amnesty International)</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वर्ष 2000 में दक्षिण अमेरिकी देश बोलीविया की सरकार ने विश्व बैंक के दबाव में कोचबंबा शहर की नगर निगम जल आपूर्ति का अधिकार एक विदेशी बहुराष्ट्रीय कंपनी को बेच दिया। कंपनी ने तुरंत पानी की दरों में बेतहाशा वृद्धि कर दी जिससे सामान्य नागरिकों का मासिक बजट बिगड़ गया। इसके विरोध में 'फेडेकोर' (FEDECOR - Coalition of Professionals, Workers and Farmers) नामक संगठन के बैनर तले इंजीनियरों, पर्यावरणविदों, श्रमिकों और किसानों ने मिलकर एक विशाल जन-आंदोलन (Water War) चलाया। भारी जन-दबाव और हड़ताल के बाद सरकार को अनुबंध रद्द कर जल आपूर्ति पुनः नगरपालिका को सौंपनी पड़ी।</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03489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44/260</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वर्ष 2006 में नेपाल में लोकतंत्र की पुनर्स्थापना के लिए चले ऐतिहासिक जन-आंदोलन के संदर्भ में निम्नलिखित कथनों पर विचार कीजिए: A. नेपाल के राजा ज्ञानेंद्र ने फरवरी 2005 में निर्वाचित सरकार को बर्खास्त कर पूर्ण राजशाही शासन स्थापित कर लिया था। B. संसद के सभी बड़े राजनीतिक दलों ने मिलकर 'सप्तदलीय गठबंधन' (Seven Party Alliance - SPA) का गठन किया। C. इस जन-आंदोलन में माओवादी बागियों और आम नागरिकों ने अभूतपूर्व रूप से भाग लिया और काठमांडू की घेराबंदी की। D. राजा द्वारा जनता की मांगें स्वीकार किए जाने के बाद राजा ज्ञानेंद्र को ही आजीवन अंतरिम प्रधानमंत्री नियुक्त किया गया।</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08113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45/260</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2001 के राजदरबार हत्याकांड के बाद नेपाल के नए राजा बने ज्ञानेंद्र ने लोकतांत्रिक संस्थाओं को कमजोर करते हुए फरवरी 2005 में तत्कालीन प्रधानमंत्री को बर्खास्त कर समस्त कार्यकारी शक्तियां अपने हाथ में ले लीं। अप्रैल 2006 में संसद की 7 प्रमुख पार्टियों ने 'सेवेन पार्टी अलायंस' (SPA) बनाया और राजा के खिलाफ अनिश्चितकालीन बंद का आह्वान किया। इस आंदोलन में माओवादियों, श्रमिक संगठनों और लाखों नागरिकों ने भागीदारी की। 24 अप्रैल 2006 को राजा को संसद बहाल करने पर विवश होना पड़ा और इस गठबंधन ने वयोवृद्ध लोकतांत्रिक नेता गिरिजा प्रसाद कोइराला को अंतरिम सरकार का प्रधानमंत्री चुना (राजा ज्ञानेंद्र को नहीं), अतः कथन D असत्य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08113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45/260</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46</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में राजनीतिक दलों (Political Parties) और दबाव समूहों (Pressure Groups) के अंतर के संदर्भ में निम्नलिखित कथनों पर विचार कीजिए: A. राजनीतिक दल चुनाव लड़कर सीधे सरकारी सत्ता पर नियंत्रण या उसमें हिस्सेदारी हासिल करने का लक्ष्य रखते हैं। B. दबाव समूह चुनाव में सीधे भाग नहीं लेते बल्कि बाहर रहकर सरकार की नीतियों को अपने सदस्यों के हित में प्रभावित करते हैं। C. राजनीतिक दलों का दायरा व्यापक और सर्व-समावेशी होता है, जबकि दबाव समूह प्रायः अपने विशेष संवर्ग के हितों तक केंद्रित होते हैं। D. भारतीय संविधान में दबाव समूहों को राजनीतिक दलों की तुलना में श्रेष्ठ और अंतिम विधायी संस्था माना गया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12738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46/260</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राजनीतिक दल लोकतांत्रिक प्रणाली के अनिवार्य अंग हैं जिनका प्राथमिक उद्देश्य चुनाव लड़ना, बहुमत प्राप्त कर सरकार बनाना या विपक्ष में बैठकर सरकार पर अंकुश रखना होता है। इसके विपरीत, दबाव समूह (जैसे फिक्की, सीटू, बीकेयू) न तो चुनाव लड़ते हैं और न ही सत्ता पर काबिज होना चाहते हैं; वे केवल लॉबिंग, धरना, ज्ञापन और जनमत निर्माण द्वारा अपने व्यावसायिक, सामाजिक या आर्थिक हितों की रक्षा हेतु सरकारी नीतियों को प्रभावित करते हैं। भारतीय संविधान में संप्रभुता जनता और उसकी निर्वाचित संसद में निहित है; दबाव समूह गैर-संवैधानिक नागरिक संगठन हैं, वे विधायी संस्था नहीं हैं, अतः कथन D असत्य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12738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46/260</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47</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के निर्वाचन आयोग द्वारा किसी राजनीतिक दल को 'राष्ट्रीय दल' (National Party) के रूप में मान्यता देने के मापदंडों के संदर्भ में निम्नलिखित कथनों पर विचार कीजिए: A. उस दल ने लोकसभा चुनाव में कुल पड़े वैध मतों का अथवा चार या अधिक राज्यों के विधानसभा चुनाव में कम से कम 6% मत प्राप्त किए हों और लोकसभा में कम से कम 4 सीटें जीती हों। B. यदि कोई दल कम से कम 3 विभिन्न राज्यों को मिलाकर लोकसभा की कुल सीटों की कम से कम 2% सीटें (11 सीटें) जीतता है। C. यदि कोई दल कम से कम चार राज्यों में 'राज्य स्तरीय दल' (State Party) के रूप में मान्यता प्राप्त हो। D. राष्ट्रीय दल की मान्यता के लिए यह अनिवार्य शर्त है कि दल का अध्यक्ष केवल पूर्व केंद्रीय मंत्री ही होना चाहिए।</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17363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47/260</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चुनाव चिन्ह (आरक्षण और आवंटन) आदेश, 1968 के अनुसार किसी पंजीकृत दल को राष्ट्रीय दल का दर्जा तभी मिलता है जब वह निर्धारित तीन शर्तों में से कोई एक पूरी करे: (1) लोकसभा या चार राज्यों की विधानसभा चुनाव में न्यूनतम 6% वैध मत + 4 लोकसभा सीटें, (2) न्यूनतम 3 राज्यों से लोकसभा की कुल सीटों की 2% (वर्तमान में 11 सीटें), या (3) कम से कम 4 राज्यों में राज्य स्तरीय दल (State Party) के रूप में मान्यता प्राप्त होना। दल के आंतरिक नेतृत्व या अध्यक्ष के लिए पूर्व मंत्री होने जैसी कोई हास्यास्पद या गैर-संवैधानिक शर्त नहीं है; अतः कथन D असत्य है और कथन A, B, C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17363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47/260</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48</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में चुनावी और राजनीतिक दलों के स्तर पर किए गए सुधारों के संबंध में निम्नलिखित कथनों पर विचार कीजिए: A. संसद ने 52वें संविधान संशोधन अधिनियम, 1985 द्वारा संविधान में 10वीं अनुसूची जोड़कर 'दल-बदल विरोधी कानून' बनाया। B. 91वें संविधान संशोधन अधिनियम, 2003 द्वारा दल-बदल कानून को और कड़ा किया गया तथा किसी दल के 1/3 सदस्यों के विलय की छूट को समाप्त कर दिया गया। C. उच्चतम न्यायालय के 2002-2003 के आदेशानुसार प्रत्येक उम्मीदवार को अपनी संपत्ति, देनदारियों और आपराधिक मामलों का शपथ पत्र (Affidavit) देना अनिवार्य है। D. भारत में राजनीतिक दलों के आंतरिक सांगठनिक पदों पर महिलाओं के लिए 50% अनिवार्य कानूनी आरक्षण लागू कर दिया गया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21988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48/260</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'आया राम, गया राम' की दल-बदल की राजनीति को रोकने के लिए राजीव गांधी सरकार ने 52वें संशोधन से 10वीं अनुसूची जोड़ी। 91वें संशोधन (2003) ने पूर्व के 1/3 विभाजन के प्रावधान को समाप्त कर कम से कम 2/3 सदस्यों के विलय को ही दल-बदल से छूट प्रदान की। एसोसिएशन फॉर डेमोक्रेटिक रिफॉर्म्स (ADR) मामले में सुप्रीम कोर्ट के ऐतिहासिक फैसले के बाद सभी उम्मीदवारों के लिए आपराधिक पृष्ठभूमि, शैक्षिक योग्यता और संपत्ति का सार्वजनिक शपथ पत्र देना अनिवार्य कर दिया गया। यद्यपि राजनीतिक दलों में महिलाओं के आंतरिक प्रतिनिधित्व की सिफारिशें विधि आयोग और चुनाव आयोग ने की हैं, किंतु राजनीतिक दलों के पदों में महिलाओं के लिए 50% अनिवार्य कानूनी आरक्षण का कोई अधिनियम पारित नहीं हुआ है, अतः कथन D असत्य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21988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48/260</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49</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लोकतांत्रिक शासन व्यवस्थाओं के वास्तविक मूल्यांकन के संदर्भ में निम्नलिखित में से कौन-सा निष्कर्ष सर्वाधिक सही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लोकतंत्र ने दुनिया भर से सभी आर्थिक असमानताओं और गरीबी को पूरी तरह समाप्त कर दिया है</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लोकतंत्र राजनीतिक गैर-बराबरी को समाप्त करने में सफल रहा है, किंतु आर्थिक असमानताएँ अब भी चुनौती बनी हुई हैं</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लोकतंत्र केवल बहुसंख्यक समुदाय के हितों की पूर्ति करने वाली शासन प्रणाली है</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लोकतंत्र में नागरिकों के बीच कभी भी सामाजिक टकराव या मतभेद उत्पन्न नहीं होते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26612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49/260</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लोकतंत्र राजनीतिक गैर-बराबरी को समाप्त करने में सफल रहा है, किंतु आर्थिक असमानताएँ अब भी चुनौती बनी हुई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लोकतंत्र ने दुनिया भर से सभी आर्थिक असमानताओं और गरीबी को पूरी तरह समाप्त कर दिया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लोकतंत्र केवल बहुसंख्यक समुदाय के हितों की पूर्ति करने वाली शासन प्रणाली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लोकतंत्र में नागरिकों के बीच कभी भी सामाजिक टकराव या मतभेद उत्पन्न नहीं होते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लोकतांत्रिक व्यवस्था की सबसे बड़ी ऐतिहासिक सफलता यह है कि इसने 'एक व्यक्ति, एक वोट, एक मोल' के सिद्धांत के आधार पर राजनीतिक समानता स्थापित कर दी है और सामंती विशेषाधिकारों को समाप्त किया है। किंतु यथार्थवादी मूल्यांकन यह बताता है कि लोकतंत्र अपने आप में कोई जादुई छड़ी नहीं है; अमीर और गरीब के बीच की आर्थिक खाई, शिक्षा व स्वास्थ्य की असमानताएँ और सामाजिक टकराव लोकतांत्रिक देशों में भी विद्यमान हैं। लोकतंत्र का अर्थ कभी भी बहुसंख्यकों की तानाशाही नहीं होता; एक स्वस्थ लोकतंत्र में बहुमत को हमेशा अल्पमत की भावनाओं और अधिकारों का सम्मान करना होता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26612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49/260</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50</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राजनीतिक सिद्धांत (Political Theory) के अंतर्गत 'स्वतंत्रता' (Liberty/Freedom) की अवधारणा के संबंध में निम्नलिखित कथनों पर विचार कीजिए: A. स्वतंत्रता का एक आयाम व्यक्ति पर बाहरी प्रतिबंधों और नियंत्रणों का अभाव होना है (नकारात्मक स्वतंत्रता)। B. स्वतंत्रता का दूसरा सकारात्मक आयाम ऐसी अनुकूल परिस्थितियों का निर्माण है जिनमें व्यक्ति अपनी रचनात्मक क्षमताओं का विकास कर सके। C. जॉन स्टुअर्ट मिल ने अपनी पुस्तक 'ऑन लिबर्टी' में व्यक्ति के कार्यों को 'स्व-संबंधी' (Self-regarding) और 'पर-संबंधी' (Other-regarding) में बाँटा। D. आधुनिक उदारवाद कल्याणकारी राज्य की भूमिका को पूरी तरह खारिज करता है और किसी भी प्रकार के सामाजिक-आर्थिक नियमन का विरोध करता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31237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50/260</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राजनीति विज्ञान में स्वतंत्रता के दो पहलू माने जाते हैं: नकारात्मक स्वतंत्रता का अर्थ है व्यक्ति के निजी जीवन में राज्य या समाज का कोई अनुचित हस्तक्षेप न होना (Absence of constraints)। सकारात्मक स्वतंत्रता का अर्थ है व्यक्ति की अंतर्निहित प्रतिभा, आत्म-विकास और शिक्षा के लिए आवश्यक अवसरों की उपस्थिति। जे.एस. मिल ने अपने प्रसिद्ध 'हानि सिद्धांत' (Harm Principle) में प्रतिपादित किया कि यदि किसी व्यक्ति का कार्य दूसरों को नुकसान पहुँचाता है (पर-संबंधी कार्य), तभी राज्य उसकी स्वतंत्रता को सीमित कर सकता है; अपने शरीर और मस्तिष्क पर व्यक्ति स्वयं संप्रभु है। पारंपरिक अहस्तक्षेपवादी उदारवाद से इतर आधुनिक उदारवाद लोक-कल्याणकारी राज्य, प्रगतिशील कराधान और सामाजिक सुरक्षा की आवश्यकता को स्वीकार करता है, अतः कथन D असत्य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31237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50/260</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51</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"तुम जो कहते हो मैं उसका समर्थन नहीं करता, लेकिन मैं मरते दम तक तुम्हारे कहने के अधिकार का बचाव करूँगा" - वाक् एवं अभिव्यक्ति की स्वतंत्रता पर यह प्रसिद्ध कथन किस महान दार्शनिक का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जॉन स्टुअर्ट मिल</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वाल्टेयर (Voltaire)</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ज्यां जैक रूसो</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थॉमस हॉब्स</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35862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51/260</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वाल्टेयर (Voltaire)</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जॉन स्टुअर्ट मिल</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ज्यां जैक रूसो</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थॉमस हॉब्स</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यह कालजयी उद्धरण फ्रांसीसी प्रबोधनकालीन दार्शनिक वाल्टेयर (Voltaire, 1694-1778) के विचारों का सार प्रस्तुत करता है। यह कथन लोकतंत्र में असहमति, विचार-विमर्श और वाक्-अभिव्यक्ति की स्वतंत्रता (Freedom of Speech and Expression) का मूल आधार है। इसका मर्म यह है कि एक सभ्य और सहिष्णु समाज में किसी व्यक्ति के विचारों से घोर असहमति होने के बावजूद उसके बोलने और अपने विचार रखने के नैसर्गिक अधिकार का सम्मान किया जाना चाहिए। भारतीय संविधान के अनुच्छेद 19(1)(a) में निहित अभिव्यक्ति की स्वतंत्रता इसी लोकतांत्रिक मूल्य पर आधारित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35862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51/260</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52</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'समानता' (Equality) की अवधारणा, प्रकारों एवं ऐतिहासिक संघर्षों के संदर्भ में निम्नलिखित कथनों पर विचार कीजिए: A. 1789 की फ्रांसीसी क्रांति में सामंतवाद और राजशाही के विरुद्ध 'स्वतंत्रता, समानता और बंधुत्व' का ऐतिहासिक नारा दिया गया था। B. 'प्राकृतिक असमानताएँ' वे होती हैं जो लोगों की विभिन्न क्षमताओं, प्रतिभा और जन्मजात विशेषताओं के कारण पैदा होती हैं। C. 'समाजजनित असमानताएँ' वे होती हैं जो समाज में अवसरों की विषमता, विशेषाधिकारों और एक वर्ग द्वारा दूसरे के शोषण से उत्पन्न होती हैं। D. समानता के आदर्श का अर्थ यह है कि समाज में कार्य का कोई विभाजन नहीं होना चाहिए और सभी व्यक्तियों को एक समान वेतन मिलना चाहिए।</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40487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52/260</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18वीं सदी की फ्रांसीसी क्रांति ने विशेषाधिकार प्राप्त कुलीन वर्ग के विरुद्ध समानता के सिद्धांत को वैश्विक राजनीति के केंद्र में ला खड़ा किया। राजनीतिक सिद्धांतों में असमानता के दो रूप मान्य हैं: प्राकृतिक असमानता (शारीरिक बनावट, जन्मजात प्रतिभा का अंतर) जिसे पूरी तरह खत्म नहीं किया जा सकता; और समाजजनित असमानता (जाति, वर्ग, लिंग, नस्ल के आधार पर अवसरों से वंचित करना) जिसे समाप्त करना सामाजिक न्याय का मूल उद्देश्य है। समानता का अर्थ सभी लोगों को एक समान बनाना या कार्य-विभाजन को नष्ट करना नहीं है; इसका अर्थ यह है कि किसी भी व्यक्ति के साथ उसके जन्म या पहचान के आधार पर भेदभाव न हो और सभी को अपनी क्षमता का विकास करने के समान अवसर (Equality of Opportunity) मिलें, अतः कथन D असत्य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40487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52/260</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53</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आर्थिक विषमताओं और समाजवाद के दृष्टिकोण के संदर्भ में निम्नलिखित कथनों पर विचार कीजिए: A. कार्ल मार्क्स 19वीं सदी का प्रमुख विचारक था जिसने तर्क दिया कि गहरी खाईनुमा असमानताओं का मूल कारण उत्पादन के साधनों पर निजी स्वामित्व है। B. मार्क्स के अनुसार आर्थिक संसाधनों पर नियंत्रण रखने वाला पूंजीपति वर्ग राजनीतिक सत्ता और राज्य की नीतियों को भी अपने हित में संचालित करता है। C. समाजवाद का प्राथमिक लक्ष्य समाज में वर्तमान असमानताओं को न्यूनतम करना और संसाधनों का न्यायपूर्ण सार्वजनिक वितरण सुनिश्चित करना है। D. कार्ल मार्क्स ने निजी संपत्ति को समाज के नैतिक और आर्थिक विकास के लिए सबसे अनिवार्य तत्व माना था।</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45112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53/260</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वैज्ञानिक समाजवाद के जनक कार्ल मार्क्स (1818-1883) ने स्पष्ट किया कि जब तक भूमि, कारखानों और खदानों जैसे उत्पादन के प्राथमिक साधनों पर मुट्ठी भर पूंजीपतियों का निजी अधिकार रहेगा, तब तक श्रमिक वर्ग का शोषण और आर्थिक असमानता खत्म नहीं हो सकती। मार्क्स ने राज्य को शासक वर्ग के हितों की रक्षा करने वाली समिति बताया जो पूंजीवादी व्यवस्था को कानूनी संरक्षण देती है। लोकतांत्रिक समाजवाद का लक्ष्य कल्याणकारी राज्य और योजनाबद्ध अर्थव्यवस्था के जरिए आर्थिक असमानताओं को पाटना है। मार्क्स निजी संपत्ति के उन्मूलन (Abolition of private property) के पक्षधर थे, न कि उसके समर्थक, इसलिए कथन D असत्य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45112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53/260</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54</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भारत के प्रमुख समाजवादी चिंतक डॉ. राममनोहर लोहिया ने समाज में व्याप्त असमानताओं और अन्याय के विरुद्ध एक साथ संघर्ष करने के लिए कौन-सा ऐतिहासिक सिद्धांत प्रस्तुत किया था?</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चौखंभा राज सिद्धांत</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संपूर्ण क्रांति का आह्वान</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सप्तक्रांति (सात क्रांतियाँ) का सिद्धांत</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सर्वोदय का विचार</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49736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54/260</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सप्तक्रांति (सात क्रांतियाँ) का सिद्धांत</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चौखंभा राज सिद्धांत</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संपूर्ण क्रांति का आह्वान</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सर्वोदय का विचार</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डॉ. राममनोहर लोहिया (1910-1967) भारत के प्रखर समाजवादी विचारक और स्वतंत्रता सेनानी थे। उन्होंने समाजवाद को भारतीय संदर्भों में ढालते हुए 'सप्तक्रांति' (Seven Revolutions) का सिद्धांत दिया। इस सिद्धांत के तहत सात प्रकार के अन्यायों के विरुद्ध एक साथ लड़ने का आह्वान किया गया: (1) नर-नारी की समानता के लिए क्रांति, (2) चमड़ी के रंग पर आधारित असमानता के खिलाफ, (3) जातिगत असमानता और पिछड़े वर्गों के उत्थान के लिए, (4) विदेशी गुलामी और उपनिवेशवाद के विरुद्ध, (5) निजी पूंजी की विषमताओं और आर्थिक शोषण के विरुद्ध, (6) निजी जीवन पर राज्य के अतिक्रमण के खिलाफ नागरिक स्वतंत्रता के लिए, और (7) हथियारों के त्याग और सत्याग्रह के पक्ष में क्रांति।</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49736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54/260</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नारीवाद (Feminism) और लैंगिक न्याय की अवधारणा के संदर्भ में निम्नलिखित कथनों पर विचार कीजिए: A. नारीवाद स्त्री और पुरुष के समान अधिकारों, स्वतंत्रता और अवसरों की वकालत करने वाला राजनीतिक और सामाजिक सिद्धांत है। B. नारीवादी विचारक जैविक विभेद (Sex - प्राकृतिक लिंग) और सामाजिक विभेद (Gender - समाज द्वारा गढ़ी गई लैंगिक भूमिकाएँ) के बीच स्पष्ट अंतर करते हैं। C. 'पितृसत्ता' (Patriarchy) से आशय एक ऐसी सामाजिक व सांस्कृतिक व्यवस्था से है जिसमें पुरुषों को महिलाओं की तुलना में अधिक शक्ति, नियंत्रण और महत्व प्राप्त होता है। D. नारीवाद का मुख्य लक्ष्य समाज से पुरुषों का पूर्ण बहिष्कार कर मातृसत्तात्मक तानाशाही स्थापित करना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54361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55/260</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नारीवाद का मूल दर्शन यह है कि समाज में स्त्रियों की अधीनता और दोयम दर्जे की स्थिति कोई प्राकृतिक नियम नहीं है बल्कि मानव-निर्मित व्यवस्था है। यह दर्शन लिंग (Sex - जैविक भिन्नता जैसे नर और मादा) और जेंडर (Gender - समाज द्वारा तय की गई रूढ़िवादी भूमिकाएं कि महिलाएँ कोमल, घरेलू होंगी और पुरुष कठोर, आक्रामक होंगे) में अंतर स्पष्ट करता है। पितृसत्ता वह संरचनात्मक व्यवस्था है जो परिवार से लेकर राज्य तक पुरुषों के वर्चस्व और महिलाओं के श्रम व शरीर पर नियंत्रण को बनाए रखती है। नारीवाद का उद्देश्य पुरुषों से घृणा करना या तानाशाही स्थापित करना नहीं, बल्कि स्त्री-पुरुष के बीच समानता, न्याय और सम्मानजनक साझेदारी की स्थापना करना है, अतः कथन D असत्य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54361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55/260</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56</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'सकारात्मक कार्रवाई' (Affirmative Action) और समानता के सिद्धांतों के संदर्भ में निम्नलिखित कथनों पर विचार कीजिए: A. केवल कानून के समक्ष औपचारिक समानता घोषित कर देना ही ऐतिहासिक रूप से वंचित वर्गों के लिए पर्याप्त नहीं होता। B. सकारात्मक कार्रवाई का उद्देश्य अतीत के संचयी भेदभाव और अन्याय के दुष्प्रभावों को दूर कर वंचित वर्गों को समान स्तर पर लाना है। C. भारत में शिक्षा और नौकरियों में आरक्षण की नीति सकारात्मक कार्रवाई का एक प्रमुख संवैधानिक उदाहरण है। D. बैंकों द्वारा वरिष्ठ नागरिकों को सावधि जमा पर सामान्य से अधिक ब्याज दर देना विधि के समक्ष समानता का खुला उल्लंघन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58986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56/260</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सकारात्मक कार्रवाई (संरक्षणात्मक विभेद) इस यथार्थवादी समझ पर टिकी है कि यदि दो असमान व्यक्तियों के साथ पूरी तरह समान व्यवहार किया जाए, तो परिणाम सदैव घोर अन्यायपूर्ण ही होंगे। सदियों से हाशिए पर धकेले गए समूहों (जैसे भारत में SC, ST, OBC) को समाज की मुख्यधारा में लाने के लिए राज्य विशेष रियायतें, छात्रवृत्तियां और आरक्षण प्रदान करता है, जिसे संविधान का अनुच्छेद 15(4) व 16(4) संरक्षण देता है। समाज में विशेष आवश्यकताओं वाले वर्गों (जैसे वरिष्ठ नागरिक, दिव्यांग, बच्चे) को दी जाने वाली विशेष सहायता 'तर्कसंगत वर्गीकरण' (Reasonable Classification) के तहत न्यायोचित होती है, यह समानता का उल्लंघन नहीं बल्कि वास्तविक समानता की प्राप्ति का प्रयास है, अतः कथन D असत्य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58986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56/260</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57</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प्रसिद्ध अमेरिकी राजनीतिक दार्शनिक जॉन रॉल्स (John Rawls) ने अपनी कृति 'ए थ्योरी ऑफ जस्टिस' (1971) में न्यायपूर्ण और निष्पक्ष समाज के निर्माण के लिए कौन-सी प्रसिद्ध संकल्पना प्रस्तुत की थी?</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वर्ग संघर्ष का सिद्धांत</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अज्ञानता का आवरण (Veil of Ignorance)</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सामान्य इच्छा का सिद्धांत (General Will)</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अधिकतम व्यक्तियों का अधिकतम सुख</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63611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57/260</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अज्ञानता का आवरण (Veil of Ignorance)</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वर्ग संघर्ष का सिद्धांत</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सामान्य इच्छा का सिद्धांत (General Will)</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अधिकतम व्यक्तियों का अधिकतम सुख</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20वीं सदी के महानतम राजनीतिक दार्शनिक जॉन रॉल्स ने निष्पक्षता के रूप में न्याय (Justice as Fairness) का प्रतिपादन किया। इसके लिए उन्होंने 'अज्ञानता के आवरण' (Veil of Ignorance) की विचार-परिकल्पना दी। इसके अनुसार, यदि लोगों से कहा जाए कि उन्हें समाज के बुनियादी नियमों और संसाधनों के वितरण का ऐसा ढांचा तय करना है जिसमें उन्हें यह बिल्कुल पता न हो कि उस समाज में उनका अपना स्थान क्या होगा (वे अमीर होंगे या गरीब, अगड़े होंगे या पिछड़े, स्वस्थ होंगे या दिव्यांग), तो ऐसी स्थिति में हर तर्कसंगत व्यक्ति सबसे वंचित और कमजोर वर्ग की अधिकतम भलाई के नियम ही बनाएगा। रॉल्स का यह सिद्धांत बताता है कि निष्पक्षता सदैव सबसे कमजोर के दृष्टिकोण से सोचने पर ही प्राप्त होती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63611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57/260</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58</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न्याय और समानता पर विभिन्न विचारकों के प्रमुख सिद्धांतों एवं कथनों का सही मिलान कीजिए: सूची-I (विचारक): सूची-I: A. जॉन रॉल्स (John Rawls) B. डॉ. भीमराव अंबेडकर C. जे.एस. मिल (J.S. Mill) D. टी.एच. मार्शल (T.H. Marshall) सूची-II: 1. उपयोगितावाद में संशोधन एवं व्यक्तिगत स्वतंत्रता पर 'हानि सिद्धांत' 2. निष्पक्ष नियमों की खोज के लिए 'अज्ञानता का आवरण' 3. सामाजिक वर्ग 'असमानता की व्यवस्था' है जिसे नागरिकता के अधिकार संतुलित करते हैं 4. 'न्यायपूर्ण समाज वह है जिसमें परस्पर सम्मान की बढ़ती हुई भावना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C-1, D-3</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B-3, C-4, D-1</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B-1, C-2, D-3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68235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58/260</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B-4, C-1,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C-3,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B-3, C-4, D-1</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B-1, C-2, D-3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जॉन रॉल्स ने न्यायोचित वितरण के लिए 'अज्ञानता का आवरण' का दार्शनिक मॉडल दिया। भारत रत्न डॉ. भीमराव अंबेडकर ने रेखांकित किया कि राजनीतिक लोकतंत्र तब तक सफल नहीं हो सकता जब तक उसके आधार में सामाजिक लोकतंत्र न हो, और न्यायपूर्ण समाज वही है जिसमें तिरस्कार की भावना घटे और बंधुत्व व पारस्परिक सम्मान बढ़े। जे.एस. मिल ने व्यक्तिगत स्वतंत्रता को मानव विकास के लिए सर्वोच्च माना और उपयोगितावाद को मानवीय गरिमा के साथ जोड़ा। ब्रिटिश समाजशास्त्री टी.एच. मार्शल ने अपने प्रसिद्ध निबंध 'Citizenship and Social Class' (1950) में बताया कि नागरिकता नागरिक, राजनीतिक और सामाजिक तीन चरणों में विकसित होती है और यह पूंजीवादी वर्ग व्यवस्था की असमानताओं को पाटकर नागरिकों में समानता स्थापित करती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68235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58/260</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59</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'अधिकारों' (Rights) की प्रकृति, महत्व और राज्य के दायित्वों के संदर्भ में निम्नलिखित कथनों पर विचार कीजिए: A. अधिकार उन दावों का द्योतक हैं जिन्हें समाज द्वारा मान्यता और राज्य के कानून द्वारा संरक्षण प्राप्त होता है। B. हर वह मांग या इच्छा जिसे कोई व्यक्ति अपने लिए जरूरी समझे, स्वतः ही उसका अधिकार बन जाती है। C. अधिकार केवल यह नहीं बताते कि राज्य को नागरिकों के लिए क्या करना है, बल्कि यह भी तय करते हैं कि राज्य को क्या नहीं करना चाहिए। D. 10 दिसंबर 1948 को संयुक्त राष्ट्र महासभा ने 'मानवाधिकारों की सार्वभौम घोषणा' (UDHR) को अंगीकार किया था।</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72860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59/260</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C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अधिकार मनुष्य के गरिमापूर्ण जीवन के लिए आवश्यक वे तार्किक और नैतिक दावे हैं जिन्हें समाज स्वीकार करता है और राज्य विधिक रूप से लागू करता है। किसी व्यक्ति की हर मनमानी इच्छा या अवांछनीय मांग (जैसे सार्वजनिक स्थान पर नशा करना या दूसरों की शांति भंग करना) अधिकार नहीं हो सकती, क्योंकि अधिकार सामाजिक भलाई और दूसरों के अधिकारों के सम्मान से बंधे होते हैं, इसलिए कथन B असत्य है। अधिकार राज्य की निरंकुश सत्ता पर पाबंदी लगाते हैं (जैसे पुलिस बिना कानूनी प्रक्रिया के किसी को गिरफ्तार नहीं कर सकती)। द्वितीय विश्व युद्ध के बाद संयुक्त राष्ट्र संघ ने 10 दिसंबर 1948 को मानवाधिकारों की ऐतिहासिक घोषणा (UDHR) पारित की, जिसकी स्मृति में प्रतिवर्ष 10 दिसंबर को 'अंतरराष्ट्रीय मानवाधिकार दिवस' मनाया जाता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72860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59/260</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60</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1980 के दशक में किस प्रसिद्ध आयरिश संगीतकार और सामाजिक कार्यकर्ता ने अफ्रीकी महाद्वीप के देशों में अकाल और भीषण गरीबी समाप्त करने के लिए पश्चिमी देशों की सरकारों से ऐतिहासिक अपील की थी?</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नेल्सन मंडेला</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बॉब गेल्डॉफ (Bob Geldof)</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केन सारो-वीवा</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कोफी अन्नान</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77485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60/260</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बॉब गेल्डॉफ (Bob Geldof)</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नेल्सन मंडेला</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केन सारो-वीवा</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कोफी अन्नान</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बॉब गेल्डॉफ (Bob Geldof) एक प्रसिद्ध आयरिश गायक, संगीतकार और मानवतावादी कार्यकर्ता हैं। उन्होंने 1984-85 में इथियोपिया और अफ्रीका के अन्य देशों में पड़े विनाशकारी अकाल से पीड़ित लाखों लोगों की सहायता के लिए 'बैंड एड' और 1985 में ऐतिहासिक 'लाइव एड' (Live Aid) वैश्विक संगीत कॉन्सर्ट का आयोजन किया था। उन्होंने दुनिया के सबसे धनी औद्योगिक देशों की सरकारों से अफ्रीका के विदेशी कर्जों को माफ करने और गरीबी उन्मूलन के लिए वित्तीय सहायता बढ़ाने की पुरजोर वैश्विक अपील की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77485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60/260</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राजनीतिक सिद्धांत के अंतर्गत 'नागरिकता' (Citizenship) की अवधारणा और ऐतिहासिक संघर्षों के संदर्भ में निम्नलिखित कथनों पर विचार कीजिए: A. नागरिकता केवल राज्य और व्यक्ति के बीच कानूनी संबंधों का नाम नहीं है, बल्कि यह नागरिकों के आपसी संबंधों और सामूहिक उत्तरदायित्वों को भी दर्शाती है। B. दक्षिण अफ्रीका में रंगभेद नीति के विरुद्ध अश्वेत आबादी को समान नागरिकता प्राप्त करने के लिए 1990 के दशक तक लंबा संघर्ष करना पड़ा। C. राष्ट्र-राज्य की संप्रभुता और नागरिकों के लोकतांत्रिक अधिकारों का सर्वप्रथम आधुनिक दावा 1789 की फ्रांसीसी क्रांति में किया गया था। D. नागरिकता के पूर्ण अधिकारों का अर्थ यह है कि राज्य किसी भी नागरिक के आवागमन और रोजगार पर कभी कोई नियमन नहीं लगा सकता।</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82110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61/260</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नागरिकता किसी राजनीतिक समुदाय की पूर्ण और समान सदस्यता है; यह केवल पासपोर्ट या वोट का कानूनी अधिकार नहीं है, बल्कि नागरिकों के एक-दूसरे के प्रति नैतिक कर्तव्य, बंधुत्व और साझी भागीदारी का बोध भी है। दक्षिण अफ्रीका में नेल्सन मंडेला के नेतृत्व में अफ्रीकी राष्ट्रीय कांग्रेस (ANC) ने अल्पसंख्यक गोरी सरकार की रंगभेदी व्यवस्था के खिलाफ दशकों संघर्ष किया, जिसके बाद 1994 में बहु-नस्लीय लोकतांत्रिक संविधान बना। 1789 की फ्रांसीसी क्रांति ने 'नागरिक और मनुष्य के अधिकारों की घोषणा' कर आधुनिक नागरिकता की नींव रखी। यद्यपि लोकतांत्रिक नागरिकता देश में कहीं भी बसने और व्यापार की आजादी देती है (जैसे भारत में अनुच्छेद 19(1)(e)), किंतु स्थानीय रोजगार, पर्यावरण संरक्षण और जनजातीय क्षेत्रों के संरक्षण के लिए राज्य युक्तियुक्त नियमन बना सकता है, अतः कथन D असत्य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82110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61/260</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62</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समाजशास्त्री टी.एच. मार्शल (T.H. Marshall) ने नागरिकता के अंतर्गत अधिकारों के ऐतिहासिक विकास को किन तीन श्रेणियों में विभाजित किया था?</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मौलिक अधिकार, विधिक अधिकार और अंतर्राष्ट्रीय अधिकार</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नागरिक अधिकार (Civil), राजनीतिक अधिकार (Political) और सामाजिक अधिकार (Social)</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व्यक्तिगत अधिकार, सामुदायिक अधिकार और धार्मिक अधिकार</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प्राकृतिक अधिकार, संविदात्मक अधिकार और आर्थिक अधिकार</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86734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62/260</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नागरिक अधिकार (Civil), राजनीतिक अधिकार (Political) और सामाजिक अधिकार (Social)</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मौलिक अधिकार, विधिक अधिकार और अंतर्राष्ट्रीय अधिकार</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व्यक्तिगत अधिकार, सामुदायिक अधिकार और धार्मिक अधिकार</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प्राकृतिक अधिकार, संविदात्मक अधिकार और आर्थिक अधिकार</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ब्रिटिश समाजशास्त्री टी.एच. मार्शल ने अपनी प्रसिद्ध पुस्तक 'Citizenship and Social Class' (1950) में नागरिकता के अधिकारों को तीन चरणों में विभाजित किया: (1) 18वीं सदी में 'नागरिक अधिकार' (Civil Rights) उभरे, जैसे जीवन, व्यक्तिगत स्वतंत्रता, संपत्ति और विचार-अभिव्यक्ति की आजादी; (2) 19वीं सदी में 'राजनीतिक अधिकार' (Political Rights) विकसित हुए, जैसे मताधिकार, चुनाव लड़ने और राजनीतिक दलों में भागीदारी का अधिकार; और (3) 20वीं सदी में 'सामाजिक अधिकार' (Social Rights) स्थापित हुए, जैसे न्यूनतम आर्थिक सुरक्षा, शिक्षा, स्वास्थ्य और सम्मानजनक जीवन का अधिकार। मार्शल का मानना था कि ये सामाजिक अधिकार ही पूंजीवादी व्यवस्था की असमानताओं को संतुलित करते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86734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62/260</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63</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आधुनिक विश्व में शरणार्थियों (Refugees) एवं राज्यविहीन व्यक्तियों (Stateless Persons) की स्थिति के संदर्भ में निम्नलिखित कथनों पर विचार कीजिए: A. युद्ध, प्राकृतिक आपदा, अकाल या नस्लीय-धार्मिक उत्पीड़न के कारण लोग अपने मूल देश से विस्थापित होकर शरणार्थी बनते हैं। B. राज्यविहीन व्यक्ति वह होता है जिसे किसी भी देश के कानून के तहत नागरिकता की कानूनी मान्यता प्राप्त नहीं होती है। C. शरणार्थियों और अवैध अप्रवासियों को स्वतः ही संपत्ति खरीदने, वोट देने और सरकारी नौकरी पाने का पूर्ण कानूनी अधिकार मिल जाता है। D. इज़रायल और जर्मनी जैसे देश नागरिकता प्रदान करने में धर्म या जातीय मूल (Ethnic origin) को प्राथमिकता देते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91359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63/260</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20वीं और 21वीं सदी में युद्ध (जैसे सीरिया, म्यांमार के रोहिंग्या, सूडान) और उत्पीड़न के कारण करोड़ों लोग बेघर हुए हैं; जब कोई देश उन्हें स्वीकार नहीं करता तो वे शरणार्थी शिविरों में रहने को विवश होते हैं। राज्यविहीनता (Statelessness) में व्यक्ति के पास बुनियादी पहचान पत्र और कानूनी सुरक्षा का अभाव होता है। शरणार्थियों को मानवीय आधार पर आश्रय तो मिल सकता है, किंतु उन्हें नागरिकता मिले बिना संपत्ति अर्जित करने, मतदान करने या नियमित सरकारी रोजगार पाने का कानूनी अधिकार नहीं होता, इसलिए कथन C असत्य है। कई देश अपनी नागरिकता नीति में रक्त संबंध या जातीयता को तरजीह देते हैं; उदाहरणार्थ इज़रायल का 'लॉ ऑफ रिटर्न' दुनिया भर के यहूदियों को नागरिकता की प्राथमिकता देता है और जर्मनी भी जर्मन मूल के लोगों को वरीयता देता रहा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91359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63/260</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64</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'राष्ट्रवाद' (Nationalism) की ऐतिहासिक भूमिका और विविध आयामों के संदर्भ में निम्नलिखित कथनों पर विचार कीजिए: A. राष्ट्रवाद ने 19वीं सदी में जर्मनी और इटली जैसे देशों में कई छोटी-छोटी रियासतों के एकीकरण से राष्ट्र-राज्य का निर्माण किया। B. राष्ट्रवाद 20वीं सदी में ऑस्ट्रियाई-हंगेरियाई, ऑटोमन, रूसी और ब्रिटिश साम्राज्यों के विघटन का भी प्रमुख कारण रहा। C. 'राष्ट्रीय आत्म-निर्णय' (National Self-determination) का अधिकार यह मांग करता है कि एक विशिष्ट पहचान वाले समुदाय को अपनी राजनीतिक नियति तय करने की स्वायत्तता मिले। D. राष्ट्रवाद सदैव शांति और बंधुत्व को बढ़ावा देता है, इसका युद्धों, सांप्रदायिकता या संकीर्ण कट्टरता से कभी कोई संबंध नहीं रहा।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95984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64/260</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राष्ट्रवाद आधुनिक इतिहास की सबसे शक्तिशाली शक्तियों में से एक रहा है जिसने बिस्मार्क के नेतृत्व में जर्मनी और कैवूर-गैरीबाल्डी के नेतृत्व में इटली का एकीकरण कराया। इसने एशिया और अफ्रीका में उपनिवेशवाद-विरोधी मुक्ति संग्रामों को जन्म दिया जिससे विदेशी साम्राज्यों का पतन हुआ। आत्म-निर्णय का सिद्धांत यह मांग करता है कि एक साझी ऐतिहासिक और सांस्कृतिक पहचान रखने वाले जनसमूह को अपना स्वतंत्र शासन चलाने का अधिकार मिले। किंतु राष्ट्रवाद का एक स्याह पहलू भी है; जब यह उग्र और संकीर्ण अंध-राष्ट्रवाद (Jingoism) का रूप लेता है, तो यह नस्लीय संहार, प्रथम व द्वितीय विश्व युद्ध और अंतर-धार्मिक विद्वेष का कारण भी बना है, अतः कथन D असत्य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95984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64/260</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65</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स्पेन का वह पहाड़ी और सांस्कृतिक रूप से समृद्ध क्षेत्र कौन-सा है, जिसके राष्ट्रवादी अपनी अलग भाषा और संस्कृति के आधार पर स्पेन से पूर्ण स्वतंत्रता की मांग करते रहे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कैटालोनिया क्षेत्र</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बास्क (Basque) क्षेत्र</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कुर्दिश क्षेत्र</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कॉर्सिका क्षेत्र</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00609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65/260</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बास्क (Basque) क्षेत्र</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कैटालोनिया क्षेत्र</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कुर्दिश क्षेत्र</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कॉर्सिका क्षेत्र</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बास्क (Basque) स्पेन के उत्तर-पूर्वी पहाड़ी इलाके में स्थित एक समृद्ध और विशिष्ट भाषाई-सांस्कृतिक पहचान वाला क्षेत्र है। बास्क राष्ट्रवादियों का तर्क है कि उनकी 'एउस्केरा' (Euskara) भाषा और परंपराएँ स्पेनिश संस्कृति से सर्वथा भिन्न हैं। 20वीं सदी में स्पेन के सैन्य तानाशाह जनरल फ्रैंको ने बास्क भाषा बोलने और स्वायत्तता पर कड़े दमनकारी प्रतिबंध लगा दिए थे, जिसके विरोध में 'ईटीए' (ETA) जैसे अलगाववादी संगठनों ने सशस्त्र संघर्ष छेड़ा। यद्यपि वर्तमान स्पेनिश संविधान में बास्क को व्यापक स्वायत्तता दी गई है, फिर भी बास्क राष्ट्रवादियों का एक वर्ग पूर्ण संप्रभु राष्ट्र की मांग करता रहा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00609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65/260</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66</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राष्ट्रवाद और मानवता पर विश्वकवि रवींद्रनाथ टैगोर के विचारों के संदर्भ में निम्नलिखित कथनों पर विचार कीजिए: A. रवींद्रनाथ टैगोर के अनुसार राष्ट्रवाद मानव सभ्यता की अंतिम आध्यात्मिक मंजिल नहीं हो सकता; उनकी सर्वोच्च शरणस्थली 'मानवता' थी। B. टैगोर ने कहा था कि "मैं हीरों की कीमत पर शीशा नहीं खरीदूँगा और जब तक जीवित हूँ, देशभक्ति को मानवता पर विजयी नहीं होने दूँगा।" C. टैगोर पश्चिमी साम्राज्यवाद के तो घोर विरोधी थे, किंतु वे पश्चिमी ज्ञान, विज्ञान और सभ्यता से सीखने के पक्षधर थे। D. टैगोर ने उग्र राष्ट्रवाद का समर्थन किया और भारत को अन्य देशों पर प्रभुत्व स्थापित करने वाला सैन्यवादी राज्य बनाने की सलाह दी।</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05233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66/260</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रवींद्रनाथ टैगोर (1861-1941) उग्र और संकीर्ण राष्ट्रवाद के सबसे प्रखर मानवतावादी आलोचक थे। उनका मानना था कि जब राष्ट्रवाद सर्वोपरि बन जाता है, तो वह मनुष्य को नैतिक दृष्टि से अंधा बना देता है और युद्धों की ओर ले जाता है। उन्होंने स्पष्ट शब्दों में कहा कि देशभक्ति की तुलना में मानवता का मूल्य कहीं अधिक श्रेष्ठ है। टैगोर पश्चिमी औपनिवेशिक शोषण और राजनीतिक प्रभुत्व के सख्त खिलाफ थे, किंतु वे एक संकीर्ण 'कूपमंडूकता' के विरोधी थे और चाहते थे कि भारत पश्चिमी विज्ञान, तर्कशीलता और कला से बिना किसी पूर्वाग्रह के सीखे। वे किसी भी प्रकार के सैन्यवाद या प्रभुत्ववादी राष्ट्रवाद के धुर विरोधी थे, अतः कथन D असत्य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05233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66/260</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67</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धर्मनिरपेक्षता (Secularism) के पश्चिमी (यूरोपीय) मॉडल और भारतीय मॉडल के तुलनात्मक विश्लेषण के संदर्भ में निम्नलिखित कथनों पर विचार कीजिए: A. यूरोपीय मॉडल में धर्म और राज्य के संबंधों को 'पारस्परिक निषेध' (Mutual Exclusion) के रूप में देखा जाता है, जहाँ राज्य किसी भी धार्मिक संस्था को वित्तीय सहायता नहीं देता। B. पश्चिमी मॉडल अंतःधार्मिक वर्चस्व (जैसे धर्म के भीतर महिलाओं या निचली जातियों का दमन) पर प्रायः मौन रहता है। C. भारतीय धर्मनिरपेक्षता केवल धर्म और राज्य के अलगाव पर नहीं, बल्कि अंतर-धार्मिक और अंतः-धार्मिक समानता दोनों पर समान बल देती है। D. भारतीय संविधान के अनुसार राज्य किसी भी धार्मिक या भाषाई अल्पसंख्यक समुदाय को अपनी शिक्षण संस्थाएँ स्थापित करने की अनुमति नहीं देता।</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09858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67/260</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पश्चिमी (विशेषकर फ्रांसीसी और अमेरिकी) धर्मनिरपेक्षता का सिद्धांत 'सख्त दीवार' पर आधारित है जहाँ राज्य धार्मिक मामलों में तटस्थ रहता है और न तो कोई मदद करता है न ही दखल देता है। इसके विपरीत, भारतीय संदर्भ में धर्म समाज की रग-रग में बसा था, इसलिए भारतीय मॉडल ने 'सैद्धांतिक दूरी' (Principled Distance) की नीति अपनाई-जहाँ राज्य सभी धर्मों का समान सम्मान करता है (सर्वधर्म समभाव) और यदि किसी धर्म में अस्पृश्यता, बाल विवाह या महिलाओं का उत्पीड़न जैसी बुराइयाँ हों, तो उसमें सुधार हेतु हस्तक्षेप भी करता है। संविधान का अनुच्छेद 30 अल्पसंख्यकों को अपनी पसंद के शिक्षण संस्थान स्थापित करने और संचालित करने का स्पष्ट मौलिक अधिकार देता है, अतः कथन D असत्य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09858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67/260</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68</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आधुनिक तुर्की के निर्माता मुस्तफा कमाल अतातुर्क द्वारा लागू किए गए धर्मनिरपेक्षता मॉडल के संदर्भ में निम्नलिखित कथनों पर विचार कीजिए: A. कमाल अतातुर्क (Kemal Ataturk) ने तुर्की के सार्वजनिक जीवन से खिलाफत (Caliphate) को समाप्त कर दिया था। B. उन्होंने तुर्की का आक्रामक पश्चिमीकरण करते हुए पारंपरिक इस्लामी पोशाकों और 'फैज टोपी' पर प्रतिबंध लगा दिया। C. वर्ष 1928 में तुर्की भाषा के लिए अरबी लिपि के स्थान पर संशोधित लैटिन वर्णमाला को अनिवार्य रूप से अपनाया गया। D. कमाल अतातुर्क ने मदरसों में इस्लामी शरिया कानूनों के आधार पर ही आधुनिक शिक्षा प्रणाली का विस्तार किया।</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14483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68/260</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प्रथम विश्व युद्ध के बाद ऑटोमन साम्राज्य के पतन पर मुस्तफा कमाल पाशा (1881-1938) ने तुर्की गणराज्य की स्थापना की और कमाल अतातुर्क की उपाधि ली। उनका धर्मनिरपेक्षता मॉडल धर्म से दूरी बनाने का नहीं बल्कि संगठित धर्म के प्रभाव को राज्यसत्ता द्वारा पूरी तरह समाप्त और नियंत्रित करने का था। उन्होंने 1924 में खिलाफत का अंत किया, शरिया अदालतों को समाप्त कर स्विस नागरिक संहिता लागू की, फैज टोपी को गैर-कानूनी बनाया, ग्रेगोरियन कैलेंडर अपनाया और 1928 में लैटिन लिपि लागू की। उन्होंने मदरसों और धार्मिक शिक्षा को पूरी तरह समाप्त कर एक आधुनिक, धर्मनिरपेक्ष और राज्य-नियंत्रित एकीकृत शिक्षा व्यवस्था लागू की, अतः कथन D असत्य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14483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68/260</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69</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पंडित जवाहरलाल नेहरू के धर्मनिरपेक्षता संबंधी विचारों के संदर्भ में निम्नलिखित कथनों पर विचार कीजिए: A. नेहरू के अनुसार धर्मनिरपेक्ष राज्य वह है जो सभी धर्मों को समान संरक्षण देता है और किसी एक धर्म को राजधर्म घोषित नहीं करता। B. नेहरू स्वयं किसी व्यक्तिगत धार्मिक अनुष्ठान या ईश्वर की सत्ता के अनुयायी नहीं थे, किंतु वे धर्म के प्रति विद्वेष नहीं रखते थे। C. नेहरू भारत की बहुलवादी विविधता, एकता और अखंडता को बनाए रखने के लिए धर्मनिरपेक्षता को एकमात्र गारंटी मानते थे। D. नेहरू राज्य और धर्म के बीच पूर्ण अलगाव चाहते थे और सामाजिक कुरीतियों को दूर करने के लिए भी राज्य द्वारा धर्म में किसी हस्तक्षेप के सख्त विरोधी थे।</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19108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69/260</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पंडित नेहरू भारतीय धर्मनिरपेक्षता के मुख्य शिल्पकार थे। यद्यपि उनका अपना जीवन वैज्ञानिक चेतना और धर्मनिरपेक्ष बुद्धिवाद पर आधारित था, फिर भी वे भारतीय जनता की गहरी धार्मिक आस्थाओं का सम्मान करते थे। उनके लिए धर्मनिरपेक्षता का अर्थ सभी धर्मों के प्रति राज्य की निष्पक्षता और सांप्रदायिकता का पूर्ण विरोध था। कमाल अतातुर्क के विपरीत, नेहरू धर्म को जबरन दबाने के पक्ष में नहीं थे, किंतु वे यह भी मानते थे कि यदि धार्मिक प्रथाओं से सामाजिक न्याय और समानता का हनन होता है (जैसे हिंदू कोड बिल के जरिए महिलाओं के अधिकार), तो राज्य को सुधारात्मक कानून बनाने का पूरा हक है; अतः कथन D असत्य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19108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69/260</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70</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भारतीय धर्मनिरपेक्षता पर लगने वाले प्रमुख आक्षेपों और उनके संवैधानिक प्रत्युत्तर के संदर्भ में निम्नलिखित कथनों पर विचार कीजिए: A. आलोचकों का आरोप है कि धर्मनिरपेक्षता एक पश्चिमी आयातित विचार है जो भारतीय परिस्थितियों के अनुकूल नहीं है। B. आलोचक यह आरोप लगाते हैं कि भारतीय धर्मनिरपेक्षता अल्पसंख्यक अधिकारों की पैरवी करके 'अल्पसंख्यक तुष्टीकरण' को बढ़ावा देती है। C. संविधान में अल्पसंख्यकों को दिए गए अधिकार कोई विशेष रियायत नहीं, बल्कि उन्हें बहुसंख्यकों के वर्चस्व के बीच गरिमा और सुरक्षा प्रदान करने का साधन हैं। D. भारतीय संविधान सभी धार्मिक त्योहारों, जुलूसों और सार्वजनिक धार्मिक आयोजनों पर पूर्ण प्रतिबंध लगाता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23732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70/260</a:t>
            </a: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भारतीय धर्मनिरपेक्षता को अकसर पश्चिमी नकल या अल्पसंख्यकवाद कहकर घेरा जाता है। किंतु ऐतिहासिक तथ्य यह है कि भारत में धर्मनिरपेक्षता विभिन्न संप्रदायों के सहअस्तित्व और गंगा-जमुनी तहजीब की अपनी समृद्ध परंपरा से उपजी है। संविधान के अनुच्छेद 29 व 30 के तहत अल्पसंख्यकों (धार्मिक व भाषाई) को मिले अधिकार बहुसंख्यकों के अधिकारों की कीमत पर नहीं हैं, बल्कि यह सुनिश्चित करने के लिए हैं कि किसी भी लोकतांत्रिक व्यवस्था में अल्पसंख्यकों की भाषा, संस्कृति और पहचान बहुसंख्यक आबादी के दबाव में मिट न जाए। भारतीय संविधान धर्म के सार्वजनिक प्रदर्शन, पूजा, कीर्तन, ताजिए या त्योहार मनाने की पूर्ण स्वतंत्रता देता है (जब तक कि वे लोक व्यवस्था व शांति को बाधित न करें), अतः कथन D असत्य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23732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70/260</a:t>
            </a: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राजनीति दर्शन में 'शांति' (Peace) की अवधारणा एवं युद्ध के समर्थकों के विचारों के संदर्भ में निम्नलिखित कथनों पर विचार कीजिए: A. जर्मन दार्शनिक फ्रेडरिक नीत्शे ने शांति की उपेक्षा करते हुए युद्ध और संघर्ष को मानव सभ्यता की जीवंतता और शक्ति का मूल स्रोत माना। B. इतालवी समाजशास्त्री विल्फ्रेडो पैरेटो ने दावा किया कि शासक वर्ग का निर्माण उन साहसी और बल प्रयोग करने में सक्षम लोगों से होता है जिन्हें उसने 'शेर' कहा। C. द्वितीय विश्व युद्ध (1939-1945) का अंत संयुक्त राज्य अमेरिका द्वारा जापानी नगरों हिरोशिमा और नागासाकी पर परमाणु बम गिराने से हुआ। D. महात्मा गांधी ने हिंसा का समर्थन करते हुए कहा कि हिंसा से प्राप्त अच्छाई स्थायी होती है जबकि शांति की विजय क्षणिक होती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28357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71/260</a:t>
            </a: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19वीं और 20वीं सदी के कुछ विचारकों ने शांति को कायरतापूर्ण ठहराते हुए युद्ध को महिमामंडित किया; नीत्शे ने संघर्ष को मनुष्य की श्रेष्ठता की कसौटी माना, जबकि पैरेटो ने शासकों को शक्ति का प्रयोग करने वाले 'शेर' और चालाकी करने वाली 'लोमड़ियों' में बांटा। द्वितीय विश्व युद्ध में अगस्त 1945 में 'लिटिल बॉय' और 'फैट मैन' परमाणु बमों के हमले ने परमाणु युग और शीतयुद्ध की शुरुआत की। महात्मा गांधी ने इसके सर्वथा विपरीत अहिंसा का अमर संदेश दिया; गांधीजी का सुप्रसिद्ध विचार था: "मैं हिंसा का विरोध करता हूँ, क्योंकि जब यह कोई अच्छा कार्य करती प्रतीत होती है तब वह अच्छाई अस्थायी होती है, जबकि उससे उत्पन्न बुराई स्थायी होती है"; अतः कथन D असत्य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28357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71/260</a:t>
            </a: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72</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"चूँकि युद्ध का आरंभ मनुष्यों के मस्तिष्कों में होता है, इसलिए शांति के बचाव भी मनुष्यों के मस्तिष्कों में ही रचे जाने चाहिए" - यह ऐतिहासिक उद्धरण किस अंतरराष्ट्रीय संगठन के संविधान की प्रस्तावना में अंकित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संयुक्त राष्ट्र सुरक्षा परिषद (UNSC)</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यूनेस्को (UNESCO)</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संयुक्त राष्ट्र विकास कार्यक्रम (UNDP)</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अंतरराष्ट्रीय न्यायालय (ICJ)</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32982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72/260</a:t>
            </a: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यूनेस्को (UNESCO)</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संयुक्त राष्ट्र सुरक्षा परिषद (UNSC)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संयुक्त राष्ट्र विकास कार्यक्रम (UNDP)</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अंतरराष्ट्रीय न्यायालय (ICJ)</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यह कालजयी वाक्य यूनेस्को (United Nations Educational, Scientific and Cultural Organization - UNESCO) के संविधान की प्रस्तावना का प्रारंभिक वाक्य है। 16 नवंबर 1945 को स्थापित यूनेस्को का यह बुनियादी दर्शन है कि विश्व में स्थायी शांति केवल राजनीतिक और आर्थिक संधियों से हासिल नहीं की जा सकती; इसके लिए मानव जाति की बौद्धिक और नैतिक एकजुटता आवश्यक है। जब तक शिक्षा, विज्ञान, संस्कृति और संवाद के माध्यम से लोगों के विचारों में पूर्वाग्रहों, नफरत और असहिष्णुता को समाप्त नहीं किया जाता, तब तक युद्धों को नहीं रोका जा सकता।</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32982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72/260</a:t>
            </a: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73</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वर्ष 1994 के रवांडा नरसंहार (Rwandan Genocide) और अंतरराष्ट्रीय शांति प्रयासों के संदर्भ में निम्नलिखित कथनों पर विचार कीजिए: A. 1994 में अफ्रीकी देश रवांडा में हुतू (Hutu) चरमपंथियों ने अल्पसंख्यक तुत्सी (Tutsi) समुदाय के लगभग 5 से 8 लाख लोगों का नरसंहार किया। B. नरसंहार की पूर्व सूचनाएँ उपलब्ध होने के बावजूद संयुक्त राष्ट्र संघ और अंतरराष्ट्रीय समुदाय समय पर प्रभावी शांति अभियान चलाने में विफल रहे। C. द्वितीय विश्व युद्ध के पश्चात कोस्टारिका और जापान जैसे देशों ने अपनी राष्ट्रीय सुरक्षा के लिए सेना नहीं रखने का ऐतिहासिक निर्णय लिया था। D. 1991 में सोवियत संघ के विघटन के बाद दुनिया से सभी प्रकार के युद्ध, हथियार निर्माण और क्षेत्रीय संघर्ष पूरी तरह समाप्त हो गए।</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37607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73/260</a:t>
            </a: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रवांडा नरसंहार आधुनिक इतिहास में अंतरराष्ट्रीय विफलता का सबसे त्रासद उदाहरण है, जहाँ मात्र 100 दिनों के भीतर हुतू उग्रवादियों ने भयानक नस्लीय हिंसा की और वैश्विक समुदाय मूकदर्शक बना रहा। कोस्टारिका ने 1948 में अपनी सेना को हमेशा के लिए भंग कर दिया और वह बजट शिक्षा व स्वास्थ्य में लगाया; जापान के संविधान के अनुच्छेद 9 ने भी युद्ध और स्थायी सेना का त्याग किया। 1991 में सोवियत संघ के पतन से शीतयुद्ध की महाशक्तियों की परमाणु प्रतिद्वंद्विता तो घटी, किंतु खाड़ी युद्ध, बाल्कन संकट, सीरिया, अफगानिस्तान और यूक्रेन जैसे विनाशकारी युद्धों ने साबित किया कि संघर्ष समाप्त नहीं हुए हैं, अतः कथन D असत्य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37607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73/260</a:t>
            </a: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74</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आधुनिक 'विकास' (Development) के प्रचलित मॉडल, पर्यावरणीय लागत एवं जन-विस्थापन के संदर्भ में निम्नलिखित कथनों पर विचार कीजिए: A. पारंपरिक विकास मॉडल में औद्योगिक वृद्धि, बड़े बांधों के निर्माण और पश्चिमी उपभोग शैली को ही विकास का एकमात्र मानक माना गया। B. बड़े बांधों और खनन परियोजनाओं के कारण लाखों वंचित खेतिहर और जनजातीय लोगों को अपने पर्यावास और आजीविका से विस्थापित होना पड़ा है। C. उच्च आर्थिक संवृद्धि दर (GDP Growth) हासिल करने से समाज के सभी वर्गों और गरीबों तक समृद्धि का लाभ स्वतः और समान रूप से पहुँच जाता है। D. अमेजन के वर्षावनों का अंधाधुंध विनाश वैश्विक स्तर पर जलवायु परिवर्तन और जैव विविधता के लिए गंभीर संकट उत्पन्न कर रहा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D</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42231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74/260</a:t>
            </a: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20वीं सदी के विकास मॉडल की मुख्य आलोचना यह है कि इसने प्रकृति के दोहन और केवल जीडीपी के आंकड़ों को तरजीह दी, जिससे अमीर देशों का भारी कर्ज और पर्यावरण विनाश बढ़ा। भारत में नर्मदा सागर, टिहरी जैसे बांधों और खदानों से विस्थापित होने वालों में 70% से अधिक गरीब, दलित और आदिवासी रहे हैं, जिनकी पारंपरिक संस्कृति और आजीविका नष्ट हो गई। आर्थिक वृद्धि अपने आप में कल्याण की गारंटी नहीं है (ट्रिकल-डाउन थ्योरी असफल रही है); जब तक पुनर्वितरण और सामाजिक नीतियां न हों, विकास का लाभ केवल समृद्ध वर्ग तक सिमट कर रह जाता है, अतः कथन C असत्य है। अमेजन वनों को पृथ्वी का 'फेफड़ा' कहा जाता है जिनका विनाश वैश्विक संकट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42231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74/260</a:t>
            </a:r>
          </a:p>
        </p:txBody>
      </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75</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नाइजीरिया के ओगोनी (Ogoni) क्षेत्र में बहुराष्ट्रीय तेल कंपनियों द्वारा पर्यावरण विनाश और किसानों के शोषण के विरुद्ध अहिंसक संघर्ष का नेतृत्व करने वाले किस लेखक और पर्यावरण कार्यकर्ता को 1995 में फांसी दे दी गई थी?</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वांगारी मथाई</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केन सारो-वीवा (Ken Saro-Wiwa)</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पैट्रिस लुमुम्बा</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चिनुआ अचेबे</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46856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75/260</a:t>
            </a:r>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केन सारो-वीवा (Ken Saro-Wiwa)</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वांगारी मथाई</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पैट्रिस लुमुम्बा</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चिनुआ अचेबे</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केन सारो-वीवा (1941-1995) नाइजीरिया के प्रख्यात लेखक, पत्रकार और सामाजिक कार्यकर्ता थे। 1950 के दशक में नाइजर डेल्टा के ओगोनीलैंड में तेल मिलने के बाद शेल (Shell) जैसी विदेशी कंपनियों ने तेल निष्कर्षण से वहाँ की कृषि भूमि, नदियों और वायु को पूरी तरह विषैला कर दिया। सारो-वीवा ने 1990 में 'मूवमेंट फॉर द सर्वाइवल ऑफ द ओगोनी पीपल' (MOSOP) का गठन कर अहिंसक आंदोलन चलाया जिसके दबाव में कंपनियों को पीछे हटना पड़ा। किंतु 1995 में नाइजीरिया की तत्कालीन क्रूर सैन्य तानाशाही ने फर्जी हत्या के मुकदमे में फंसाकर केन सारो-वीवा और उनके 8 साथियों को फांसी पर चढ़ा दिया, जिसकी वैश्विक निंदा हुई।</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46856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75/260</a:t>
            </a:r>
          </a:p>
        </p:txBody>
      </p:sp>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76</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'मानव विकास प्रतिवेदन' (Human Development Report - HDR) एवं विकास के वैकल्पिक संकेतकों के संदर्भ में निम्नलिखित कथनों पर विचार कीजिए: A. मानव विकास प्रतिवेदन (HDR) वर्ष 1990 से 'संयुक्त राष्ट्र विकास कार्यक्रम' (UNDP) द्वारा प्रतिवर्ष प्रकाशित किया जाता है। B. इस प्रतिवेदन को तैयार करने में पाकिस्तानी अर्थशास्त्री महबूब-उल-हक और भारतीय नोबेल पुरस्कार विजेता अमर्त्य सेन की केंद्रीय भूमिका थी। C. मानव विकास सूचकांक (HDI) की गणना में केवल प्रति व्यक्ति आय को ही 100% भार दिया जाता है, शिक्षा और स्वास्थ्य का कोई महत्व नहीं है। D. एचडीआई जीवन प्रत्याशा (दीर्घायु), शिक्षा (साक्षरता व स्कूलिंग के वर्ष) तथा जीवन स्तर (प्रति व्यक्ति आय) का संयुक्त मापदंड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51481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76/260</a:t>
            </a:r>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1990 में UNDP ने विकास को केवल डॉलर या जीडीपी में मापने की संकीर्ण धारणा को चुनौती देते हुए 'मानव विकास प्रतिवेदन' की शुरुआत की। डॉ. महबूब-उल-हक और प्रो. अमर्त्य सेन ने यह प्रतिपादित किया कि विकास का वास्तविक उद्देश्य मानव विकल्पों का विस्तार और गरिमापूर्ण जीवन की परिस्थितियों का सृजन है। मानव विकास सूचकांक (HDI) तीन बुनियादी आयामों का ज्यामितीय माध्य होता है: (1) स्वास्थ्य (जन्म के समय जीवन प्रत्याशा), (2) शिक्षा (अपेक्षित एवं औसत स्कूली वर्ष), और (3) जीवन स्तर (क्रय शक्ति समता - PPP पर प्रति व्यक्ति सकल राष्ट्रीय आय - GNI); केवल आय के आधार पर विकास का मापन अपूर्ण है, अतः कथन C असत्य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51481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76/260</a:t>
            </a:r>
          </a:p>
        </p:txBody>
      </p:sp>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77</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भारतीय संविधान के बुनियादी कार्यों और लोकतांत्रिक पहचान के संदर्भ में निम्नलिखित कथनों पर विचार कीजिए: A. संविधान बुनियादी नियमों का ऐसा समूह उपलब्ध कराता है जिससे समाज के सदस्यों में न्यूनतम समन्वय और विश्वास बना रहे। B. संविधान यह स्पष्ट तय करता है कि समाज में निर्णय लेने की अंतिम शक्ति किसके पास होगी और सरकार का गठन कैसे होगा। C. संविधान सरकार की शक्तियों पर स्पष्ट सीमाएँ लगाता है ताकि कोई भी सरकार नागरिकों के मौलिक अधिकारों का अतिक्रमण न कर सके। D. भारतीय संविधान नागरिकता प्रदान करने के लिए किसी व्यक्ति की जाति, धर्म या नस्लीय पहचान को संवैधानिक आधार मानता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56106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77/260</a:t>
            </a:r>
          </a:p>
        </p:txBody>
      </p: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संविधान के तीन प्राथमिक कार्य होते हैं: (1) समाज में व्यवस्था और शांति बनाए रखने के लिए बुनियादी कानूनी नियम तय करना, (2) सरकार की शक्तियों और निर्णय निर्माण की प्रक्रिया को संस्थागत स्वरूप देना, और (3) सरकार की शक्तियों पर अंकुश लगाना ताकि वह तानाशाह न बन सके। भारतीय संविधान की सबसे क्रांतिकारी उपलब्धि यह है कि इसने ब्रिटिश औपनिवेशिक काल के धार्मिक और जातिगत विभाजनों को खारिज कर 'सार्वभौमिक एकल नागरिकता' की स्थापना की। अनुच्छेद 15 और 16 स्पष्ट करते हैं कि धर्म, मूलवंश, जाति या लिंग के आधार पर कोई नागरिकता भेद नहीं होगा; सभी भारतीय कानून की दृष्टि में केवल और केवल नागरिक हैं, अतः कथन D असत्य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56106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77/260</a:t>
            </a:r>
          </a:p>
        </p:txBody>
      </p:sp>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78</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संविधान संशोधन के प्रकारों और संबंधित प्रावधानों का सही मिलान कीजिए: सूची-I (संशोधन का प्रकार): सूची-I: A. संसद के साधारण बहुमत द्वारा संशोधन B. संसद के विशेष बहुमत द्वारा संशोधन C. विशेष बहुमत + आधे राज्यों की सहमति द्वारा संशोधन D. संविधान का 'मूल ढाँचा' (Basic Structure) सूची-II: 1. मौलिक अधिकार एवं राज्य के नीति-निदेशक तत्त्व 2. नए राज्यों का प्रवेश, गठन और सीमाओं में परिवर्तन 3. संशोधन की शक्ति से परे (न्यायिक समीक्षा, स्वतंत्र चुनाव) 4. राष्ट्रपति का निर्वाचन एवं सातवीं अनुसूची की सूचियाँ</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C-1, D-3</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C-4, D-2</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60730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78/260</a:t>
            </a:r>
          </a:p>
        </p:txBody>
      </p:sp>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B-1, C-4,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C-3,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B-4, C-1,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B-1, C-4, D-2</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भारतीय संविधान में लचीलेपन और कठोरता का अनूठा संतुलन है। अनुच्छेद 2, 3 और 4 के तहत नए राज्य का निर्माण, सीमा परिवर्तन या नागरिकता जैसे नियम संसद सामान्य कानून की तरह साधारण बहुमत से बदल सकती है (यह अनुच्छेद 368 के तहत संशोधन नहीं माना जाता)। मौलिक अधिकार और DPSP में बदलाव के लिए अनुच्छेद 368 के तहत संसद के दोनों सदनों का विशेष बहुमत (कुल सदस्यों का बहुमत + उपस्थित व मतदान करने वालों का 2/3) अनिवार्य है। संघीय ढांचे से जुड़े मामलों (जैसे राष्ट्रपति चुनाव प्रणाली, सुप्रीम कोर्ट की शक्तियां, सातवीं अनुसूची) में विशेष बहुमत के साथ कम से कम 50% राज्यों की विधानसभाओं का समर्थन जरूरी है। केशवानंद भारती केस (1973) के अनुसार संविधान का मूल ढांचा संसद की संशोधन शक्ति से पूरी तरह परे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60730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78/260</a:t>
            </a:r>
          </a:p>
        </p:txBody>
      </p:sp>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79</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सर्वोच्च न्यायालय ने संविधान के 'मूल ढाँचे के सिद्धांत' (Basic Structure Doctrine) का प्रतिपादन किस ऐतिहासिक मुकदमे में 13 न्यायाधीशों की सबसे बड़ी संविधान पीठ के फैसले में किया था?</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गोलकनाथ बनाम पंजाब राज्य (1967)</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केशवानंद भारती बनाम केरल राज्य (1973)</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मिनर्वा मिल्स बनाम भारत संघ (1980)</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मेनका गांधी बनाम भारत संघ (1978)</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65355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79/260</a:t>
            </a:r>
          </a:p>
        </p:txBody>
      </p:sp>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केशवानंद भारती बनाम केरल राज्य (1973)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गोलकनाथ बनाम पंजाब राज्य (1967)</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मिनर्वा मिल्स बनाम भारत संघ (1980)</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मेनका गांधी बनाम भारत संघ (1978)</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24 अप्रैल 1973 को सर्वोच्च न्यायालय की अब तक की सबसे बड़ी 13 न्यायाधीशों की संवैधानिक पीठ ने 7-6 के ऐतिहासिक बहुमत से 'केशवानंद भारती बनाम केरल राज्य' मामले में फैसला सुनाया। शीर्ष अदालत ने फैसला दिया कि संविधान के अनुच्छेद 368 के तहत संसद को संविधान के किसी भी हिस्से में संशोधन करने का व्यापक अधिकार तो है, किंतु संसद संविधान के 'मूल ढांचे' (Basic Structure) को नष्ट, विकृत या समाप्त नहीं कर सकती। लोकतंत्र, कानून का शासन, धर्मनिरपेक्षता, न्यायपालिका की स्वतंत्रता, शक्तियों का पृथक्करण और न्यायिक समीक्षा को मूल ढांचे का अभिन्न अंग माना गया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65355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79/260</a:t>
            </a:r>
          </a:p>
        </p:txBody>
      </p:sp>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80</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सर्वोच्च न्यायालय द्वारा जारी की जाने वाली संवैधानिक रिटों (Writs under Article 32) के संदर्भ में निम्नलिखित कथनों पर विचार कीजिए: A. 'बंदी प्रत्यक्षीकरण' (Habeas Corpus) रिट अवैध रूप से हिरासत में रखे गए व्यक्ति को न्यायालय के समक्ष सशरीर प्रस्तुत करने का आदेश है। B. 'परमादेश' (Mandamus) रिट तब जारी की जाती है जब कोई सार्वजनिक पदाधिकारी अपने कानूनी या संवैधानिक कर्तव्यों का पालन नहीं कर रहा हो। C. 'प्रतिषेध' (Prohibition) रिट किसी निचली अदालत को अपने अधिकार क्षेत्र से बाहर जाकर सुनवाई करने से रोकने के लिए जारी की जाती है। D. 'अधिकार पृच्छा' (Quo-Warranto) रिट केवल किसी निजी कंपनी के कर्मचारी के विरुद्ध ही जारी की जा सकती है, सार्वजनिक पद पर नहीं।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69980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80/260</a:t>
            </a:r>
          </a:p>
        </p:txBody>
      </p:sp>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अनुच्छेद 32 (सुप्रीम कोर्ट) और अनुच्छेद 226 (हाई कोर्ट) के तहत 5 प्रकार की रिटें जारी होती हैं। बंदी प्रत्यक्षीकरण का शाब्दिक अर्थ है 'शरीर को प्रस्तुत करो', जो मनमानी गिरफ्तारी से व्यक्तिगत स्वतंत्रता की रक्षा करता है। परमादेश ('हमारा आदेश है') किसी सरकारी अधिकारी, निगम या निचली अदालत को अपना विधिक कर्तव्य निभाने के लिए बाध्य करता है। प्रतिषेध ऊपरी अदालत द्वारा निचली अदालत को उसके क्षेत्राधिकार के उल्लंघन से रोकने के लिए जारी की जाती है। अधिकार पृच्छा ('आपका प्राधिकार क्या है') का प्रयोग यह जांचने के लिए किया जाता है कि कोई व्यक्ति किसी सार्वजनिक/संवैधानिक पद पर अवैध रूप से तो आसीन नहीं है; यह निजी पदों पर जारी नहीं होती बल्कि केवल सार्वजनिक पदों पर जारी होती है, अतः कथन D असत्य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69980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80/260</a:t>
            </a:r>
          </a:p>
        </p:txBody>
      </p:sp>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भारतीय संविधान के भाग-4 में उल्लिखित राज्य के नीति-निदेशक तत्त्वों (DPSP) के संदर्भ में निम्नलिखित कथनों पर विचार कीजिए: A. नीति-निदेशक तत्त्व (अनुच्छेद 36 से 51) न्यायालय द्वारा प्रवर्तनीय (न्यायसंगत / Justiciable) नहीं हैं। B. अनुच्छेद 40 ग्राम पंचायतों के गठन और उन्हें स्वशासन की इकाइयों के रूप में कार्य करने की शक्ति देने का निर्देश देता है। C. अनुच्छेद 44 पूरे देश में सभी नागरिकों के लिए एक समान नागरिक संहिता (Uniform Civil Code) सुनिश्चित करने का प्रयास करता है। D. नीति-निदेशक तत्वों का हनन होने पर कोई भी नागरिक सीधे अनुच्छेद 32 के तहत सर्वोच्च न्यायालय से उन्हें लागू करवा सकता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74605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81/260</a:t>
            </a:r>
          </a:p>
        </p:txBody>
      </p:sp>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संविधान के अनुच्छेद 37 में स्पष्ट रूप से कहा गया है कि नीति-निदेशक तत्व देश के शासन में मूलभूत हैं और विधि बनाते समय इन सिद्धांतों को लागू करना राज्य का कर्तव्य होगा, किंतु इन्हें किसी अदालत द्वारा जबरन लागू नहीं कराया जा सकता (Non-justiciable)। अनुच्छेद 40 गांधीवादी सिद्धांत पर आधारित है जो पंचायतों के गठन का आदेश देता है। अनुच्छेद 44 धर्मनिरपेक्षता और लैंगिक समानता की दृष्टि से समान नागरिक संहिता का लक्ष्य रखता है। चूंकि DPSP वाद योग्य नहीं हैं, इसलिए उनके क्रियान्वयन के अभाव में सीधे सर्वोच्च न्यायालय या उच्च न्यायालय से रिट जारी करवाकर उन्हें लागू नहीं कराया जा सकता (यह शक्ति केवल मौलिक अधिकारों के लिए है), अतः कथन D असत्य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74605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81/260</a:t>
            </a:r>
          </a:p>
        </p:txBody>
      </p:sp>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82</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राज्य के नीति-निदेशक तत्वों के प्रमुख अनुच्छेदों और उनके प्रावधानों का सही मिलान कीजिए: सूची-I (अनुच्छेद): सूची-I: A. अनुच्छेद 39A (39क) B. अनुच्छेद 40 C. अनुच्छेद 44 D. अनुच्छेद 50 सूची-II: 1. नागरिकों के लिए समान नागरिक संहिता (UCC) 2. ग्राम पंचायतों का संगठन 3. समान न्याय और गरीबों को निःशुल्क विधिक सहायता 4. कार्यपालिका से न्यायपालिका का पृथक्करण</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B-2, C-1, D-4</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C-2, D-4</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B-3, C-4, D-1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79229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82/260</a:t>
            </a:r>
          </a:p>
        </p:txBody>
      </p:sp>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A-3, B-2, C-1,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C-3,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B-1, C-2,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B-3, C-4, D-1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42वें संविधान संशोधन 1976 द्वारा जोड़ा गया अनुच्छेद 39A यह सुनिश्चित करता है कि आर्थिक या अन्य अक्षमताओं के कारण कोई नागरिक न्याय पाने से वंचित न रहे, जिसके तहत 1987 में नालसा (NALSA) कानून बना। अनुच्छेद 40 स्थानीय स्वशासन की नींव रखता है। अनुच्छेद 44 विवाह, तलाक, उत्तराधिकार और गोद लेने जैसे नागरिक मामलों में सभी नागरिकों के लिए समान कानून का आदर्श प्रस्तुत करता है। अनुच्छेद 50 लोकतांत्रिक स्वतंत्रता और निष्पक्ष न्याय के लिए राज्य की लोक सेवाओं में कार्यपालिका और न्यायपालिका को एक-दूसरे से पूर्णतः पृथक रखने का निर्देश देता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79229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82/260</a:t>
            </a:r>
          </a:p>
        </p:txBody>
      </p:sp>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83</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भारतीय संविधान में नागरिकों के 'मौलिक कर्तव्यों' (Fundamental Duties) के संदर्भ में निम्नलिखित कथनों पर विचार कीजिए: A. मूल संविधान (1950) में नागरिकों के लिए किसी भी मौलिक कर्तव्य का उल्लेख नहीं था। B. सरदार स्वर्ण सिंह समिति की सिफारिशों के आधार पर 42वें संविधान संशोधन 1976 द्वारा संविधान में भाग-4क और अनुच्छेद 51क जोड़ा गया। C. 86वें संविधान संशोधन अधिनियम, 2002 द्वारा 11वाँ मौलिक कर्तव्य (6 से 14 वर्ष के बच्चों को शिक्षा के अवसर) जोड़ा गया। D. मौलिक कर्तव्यों का पालन न करने पर संविधान में सीधे नागरिकता रद्द करने और आजीवन कारावास का स्पष्ट प्रावधान किया गया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83854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83/260</a:t>
            </a:r>
          </a:p>
        </p:txBody>
      </p:sp>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1950 के मूल संविधान में केवल मौलिक अधिकार थे, कर्तव्य नहीं थे। आपातकाल के दौरान 1976 में सोवियत संघ (USSR) के संविधान से प्रेरित होकर 10 मौलिक कर्तव्य जोड़े गए। वर्ष 2002 में अटल बिहारी वाजपेयी सरकार के समय 86वें संशोधन से 11वां कर्तव्य जोड़ा गया कि माता-पिता या संरक्षक अपने 6 से 14 वर्ष तक के बच्चों को प्राथमिक शिक्षा के अवसर प्रदान करें। मौलिक कर्तव्य नीति-निदेशक तत्वों की तरह गैर-न्यायसंगत हैं; इनके उल्लंघन पर संविधान में सीधे कोई दंड या नागरिकता छीनने का प्रावधान नहीं है, यद्यपि संसद ने अलग-अलग कानून (जैसे राष्ट्रगान अपमान निवारण अधिनियम, वन्यजीव संरक्षण कानून) बनाकर कुछ कर्तव्यों के उल्लंघन को दंडनीय बनाया है, अतः कथन D असत्य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83854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83/260</a:t>
            </a:r>
          </a:p>
        </p:txBody>
      </p:sp>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84</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वर्ष 1973 के मिनर्वा मिल्स बनाम भारत संघ (1980) वाद में सर्वोच्च न्यायालय ने मौलिक अधिकारों और नीति-निदेशक तत्वों के आपसी संबंधों पर क्या ऐतिहासिक व्यवस्था दी थी?</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मौलिक अधिकार नीति-निदेशक तत्वों से पूरी तरह हीन हैं</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नीति-निदेशक तत्वों को किसी भी परिस्थिति में लागू नहीं किया जा सकता</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भारतीय संविधान मौलिक अधिकारों और नीति-निदेशक तत्वों के बीच संतुलन की आधारशिला पर टिका है; दोनों एक-दूसरे के पूरक हैं</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संसद संविधान संशोधन करके मौलिक अधिकारों को पूर्णतः समाप्त कर सकती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88479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84/260</a:t>
            </a:r>
          </a:p>
        </p:txBody>
      </p:sp>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भारतीय संविधान मौलिक अधिकारों और नीति-निदेशक तत्वों के बीच संतुलन की आधारशिला पर टिका है; दोनों एक-दूसरे के पूरक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मौलिक अधिकार नीति-निदेशक तत्वों से पूरी तरह हीन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नीति-निदेशक तत्वों को किसी भी परिस्थिति में लागू नहीं किया जा सकता</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संसद संविधान संशोधन करके मौलिक अधिकारों को पूर्णतः समाप्त कर सकती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मौलिक अधिकारों (भाग-3) और नीति-निदेशक तत्वों (भाग-4) में कौन श्रेष्ठ है, इस पर संसद और न्यायपालिका के बीच दशकों लंबा विवाद चला। वर्ष 1980 के ऐतिहासिक 'मिनर्वा मिल्स वाद' में सर्वोच्च न्यायालय ने व्यवस्था दी कि भारतीय संविधान का रथ इन दोनों पहियों पर चलता है। न्यायालय ने कहा कि भाग-3 और भाग-4 के बीच का संतुलन संविधान के मूल ढांचे का बुनियादी अंग है; एक को दूसरे पर निरपेक्ष प्राथमिकता देकर इस संतुलन को बिगाड़ा नहीं जा सकता। मौलिक अधिकार व्यक्ति की गरिमा की रक्षा करते हैं, जबकि नीति-निदेशक तत्व सामाजिक-आर्थिक लोकतंत्र का निर्माण करते हैं, अतः दोनों एक-दूसरे के पूरक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88479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84/260</a:t>
            </a:r>
          </a:p>
        </p:txBody>
      </p:sp>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में चुनाव प्रणाली, समानुपातिक प्रतिनिधित्व (PR System) और FPTP प्रणाली के तुलनात्मक अध्ययन के संदर्भ में निम्नलिखित कथनों पर विचार कीजिए: A. फर्स्ट-पास्ट-द-पोस्ट (FPTP) प्रणाली में पूरे देश को एकल-सदस्यीय निर्वाचन क्षेत्रों में बाँटा जाता है और सर्वाधिक मत पाने वाला विजयी होता है। B. समानुपातिक प्रतिनिधित्व (PR) प्रणाली में किसी पार्टी को संसद में उसी अनुपात में सीटें मिलती हैं जिस अनुपात में उसे कुल वोट मिलते हैं। C. भारत में राष्ट्रपति, उपराष्ट्रपति, राज्यसभा तथा राज्य विधान परिषदों के चुनाव आनुपातिक प्रतिनिधित्व प्रणाली के अनुसार एकल संक्रमणीय मत द्वारा होते हैं। D. समानुपातिक प्रतिनिधित्व प्रणाली में मतदाता हमेशा किसी व्यक्तिगत प्रत्याशी को सीधे जानते हैं और केवल उसी के नाम पर वोट देते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93104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85/260</a:t>
            </a:r>
          </a:p>
        </p:txBody>
      </p:sp>
    </p:spTree>
  </p:cSld>
  <p:clrMapOvr>
    <a:masterClrMapping/>
  </p:clrMapOvr>
</p:sld>
</file>

<file path=ppt/slides/slide17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 में आम चुनावों (लोकसभा/विधानसभा) के लिए सरल और स्पष्ट FPTP प्रणाली अपनाई गई है ताकि स्थिर सरकारें बन सकें। समानुपातिक प्रतिनिधित्व (PR) प्रणाली (जैसे इजरायल, नीदरलैंड में) में राजनीतिक दलों को प्राप्त मत प्रतिशत के अनुसार सीटें आवंटित होती हैं। भारत में उच्च संवैधानिक पदों (राष्ट्रपति, उपराष्ट्रपति) और उच्च सदनों (राज्यसभा, विधान परिषद) में इस जटिल PR पद्धति का उपयोग होता है। PR प्रणाली (सूची प्रणाली) में मतदाता सामान्यतः व्यक्तिगत उम्मीदवार को नहीं बल्कि राजनीतिक दल की सूची को वोट देते हैं, इसलिए मतदाता और व्यक्तिगत प्रतिनिधि के बीच सीधा संपर्क नहीं होता, अतः कथन D असत्य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93104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85/260</a:t>
            </a:r>
          </a:p>
        </p:txBody>
      </p:sp>
    </p:spTree>
  </p:cSld>
  <p:clrMapOvr>
    <a:masterClrMapping/>
  </p:clrMapOvr>
</p:sld>
</file>

<file path=ppt/slides/slide17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86</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के परिसीमन आयोग (Delimitation Commission) की शक्तियों और कार्यों के संदर्भ में निम्नलिखित कथनों पर विचार कीजिए: A. परिसीमन आयोग का मुख्य कार्य नवीनतम जनगणना के आधार पर लोकसभा एवं विधानसभा निर्वाचन क्षेत्रों की सीमाओं का पुनर्निर्धारण करना है। B. परिसीमन आयोग का गठन भारत के राष्ट्रपति द्वारा किया जाता है और यह चुनाव आयोग के साथ मिलकर काम करता है। C. परिसीमन आयोग के आदेशों और निर्णयों को भारत की किसी भी अदालत में चुनौती नहीं दी जा सकती। D. स्वतंत्र भारत में प्रत्येक वर्ष नियमित रूप से अनिवार्य रूप से परिसीमन आयोग का गठन किया जाता रहा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97728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86/260</a:t>
            </a:r>
          </a:p>
        </p:txBody>
      </p:sp>
    </p:spTree>
  </p:cSld>
  <p:clrMapOvr>
    <a:masterClrMapping/>
  </p:clrMapOvr>
</p:sld>
</file>

<file path=ppt/slides/slide17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संविधान के अनुच्छेद 82 के तहत संसद प्रत्येक जनगणना के बाद परिसीमन अधिनियम पारित करती है जिसके तहत राष्ट्रपति द्वारा एक उच्चाधिकार प्राप्त परिसीमन आयोग गठित किया जाता है। इसमें सुप्रीम कोर्ट के सेवानिवृत्त जज, मुख्य चुनाव आयुक्त और राज्य चुनाव आयुक्त शामिल होते हैं। संविधान के अनुच्छेद 329(a) के अनुसार परिसीमन आयोग द्वारा तय की गई सीमाओं और सीटों के आवंटन को किसी भी अदालत में चुनौती नहीं दी जा सकती; इसके आदेश गजट में प्रकाशित होते ही कानून बन जाते हैं। स्वतंत्र भारत में अब तक केवल चार बार ही परिसीमन आयोग बने हैं-1952, 1963, 1973 और 2002 में (प्रत्येक वर्ष नहीं), अतः कथन D असत्य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97728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86/260</a:t>
            </a:r>
          </a:p>
        </p:txBody>
      </p:sp>
    </p:spTree>
  </p:cSld>
  <p:clrMapOvr>
    <a:masterClrMapping/>
  </p:clrMapOvr>
</p:sld>
</file>

<file path=ppt/slides/slide17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87</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संविधान के 91वें संविधान संशोधन अधिनियम, 2003 द्वारा केंद्रीय मंत्रिपरिषद तथा राज्य मंत्रिमंडलों के आकार के संबंध में कौन-सा अनिवार्य संवैधानिक प्रतिबंध लगाया गया?</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मंत्रिपरिषद में कुल मंत्रियों की संख्या संसद के दोनों सदनों की कुल संख्या के 10% से अधिक नहीं होगी</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प्रधानमंत्री सहित मंत्रिपरिषद के कुल सदस्यों की संख्या लोकसभा (या राज्य में विधानसभा) की कुल सदस्य संख्या के 15% से अधिक नहीं होगी</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मंत्रिपरिषद में मंत्रियों की संख्या अधिकतम 50 होगी चाहे सदन का आकार कितना भी हो</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मंत्रिपरिषद में कम से कम 30% मंत्री राज्यसभा से होने अनिवार्य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02353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87/260</a:t>
            </a:r>
          </a:p>
        </p:txBody>
      </p:sp>
    </p:spTree>
  </p:cSld>
  <p:clrMapOvr>
    <a:masterClrMapping/>
  </p:clrMapOvr>
</p:sld>
</file>

<file path=ppt/slides/slide17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प्रधानमंत्री सहित मंत्रिपरिषद के कुल सदस्यों की संख्या लोकसभा (या राज्य में विधानसभा) की कुल सदस्य संख्या के 15% से अधिक नहीं होगी</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मंत्रिपरिषद में कुल मंत्रियों की संख्या संसद के दोनों सदनों की कुल संख्या के 10% से अधिक नहीं होगी</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मंत्रिपरिषद में मंत्रियों की संख्या अधिकतम 50 होगी चाहे सदन का आकार कितना भी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मंत्रिपरिषद में कम से कम 30% मंत्री राज्यसभा से होने अनिवार्य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राजनीतिक दलों द्वारा विधायकों/सांसदों को मंत्री पद का लालच देकर दल-बदल कराने और भारी-भरकम जंबो मंत्रिमंडल बनाकर सरकारी खजाने पर बोझ डालने की कुप्रथा को रोकने के लिए 91वाँ संविधान संशोधन अधिनियम, 2003 पारित किया गया। इसने अनुच्छेद 75(1A) और 164(1A) जोड़कर यह कड़ा नियम बनाया कि प्रधानमंत्री/मुख्यमंत्री सहित मंत्रिपरिषद की कुल संख्या क्रमशः लोकसभा और संबंधित राज्य विधानसभा की कुल सदस्य संख्या के 15% से अधिक नहीं हो सकती। छोटे राज्यों के लिए यह व्यवस्था की गई कि राज्य मंत्रिपरिषद में मुख्यमंत्री सहित मंत्रियों की न्यूनतम संख्या 12 से कम नहीं होगी।</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02353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87/260</a:t>
            </a:r>
          </a:p>
        </p:txBody>
      </p:sp>
    </p:spTree>
  </p:cSld>
  <p:clrMapOvr>
    <a:masterClrMapping/>
  </p:clrMapOvr>
</p:sld>
</file>

<file path=ppt/slides/slide17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88</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के राष्ट्रपति की वीटो शक्तियों (Veto Powers) के संदर्भ में निम्नलिखित कथनों पर विचार कीजिए: A. राष्ट्रपति सामान्य विधेयकों को संसद को पुनर्विचार के लिए लौटा सकता है, जिसे 'निलंबनकारी वीटो' (Suspensive Veto) कहते हैं। B. यदि संसद उस विधेयक को बिना किसी संशोधन के पुनः पारित कर दे, तो राष्ट्रपति उस पर अपनी अनुमति देने के लिए बाध्य होता है। C. राष्ट्रपति किसी विधेयक पर न तो सहमति दे और न ही उसे अस्वीकार करे बल्कि अनिश्चितकाल तक लंबित रखे, तो इसे 'पॉकेट वीटो' (Pocket Veto) कहते हैं। D. राष्ट्रपति धन विधेयक और संविधान संशोधन विधेयक दोनों पर भी पॉकेट वीटो का खुलकर प्रयोग कर सकता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06978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88/260</a:t>
            </a:r>
          </a:p>
        </p:txBody>
      </p:sp>
    </p:spTree>
  </p:cSld>
  <p:clrMapOvr>
    <a:masterClrMapping/>
  </p:clrMapOvr>
</p:sld>
</file>

<file path=ppt/slides/slide17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संविधान के अनुच्छेद 111 के तहत राष्ट्रपति की वीटो शक्तियां नियंत्रित होती हैं। निलंबनकारी वीटो में जब संसद दोबारा साधारण बहुमत से विधेयक पारित कर देती है, तो राष्ट्रपति को हस्ताक्षर करने ही पड़ते हैं। अमेरिकी राष्ट्रपति के पास पॉकेट वीटो 10 दिनों का होता है, किंतु भारतीय संविधान में राष्ट्रपति के लिए कोई समय-सीमा तय नहीं है ("भारतीय राष्ट्रपति की जेब अमेरिकी राष्ट्रपति से बड़ी है")। वर्ष 1986 में राष्ट्रपति ज्ञानी जैल सिंह ने भारतीय डाकघर (संशोधन) विधेयक पर पॉकेट वीटो का ऐतिहासिक प्रयोग किया था। राष्ट्रपति धन विधेयक को संसद में पेश करने की पूर्व अनुमति स्वयं देता है अतः उसे अस्वीकार नहीं कर सकता, तथा 24वें संशोधन 1971 के बाद संविधान संशोधन विधेयक पर अनुमति देना राष्ट्रपति के लिए पूरी तरह अनिवार्य है, अतः कथन D असत्य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06978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88/260</a:t>
            </a:r>
          </a:p>
        </p:txBody>
      </p:sp>
    </p:spTree>
  </p:cSld>
  <p:clrMapOvr>
    <a:masterClrMapping/>
  </p:clrMapOvr>
</p:sld>
</file>

<file path=ppt/slides/slide17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89</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के उपराष्ट्रपति के निर्वाचन, पद की स्थिति एवं पदमुक्ति के संदर्भ में निम्नलिखित कथनों पर विचार कीजिए: A. उपराष्ट्रपति का निर्वाचन संसद के दोनों सदनों (लोकसभा और राज्यसभा) के सभी सदस्यों द्वारा आनुपातिक प्रतिनिधित्व पद्धति से होता है। B. उपराष्ट्रपति के निर्वाचक मंडल में राज्य विधानसभाओं के सदस्य भाग नहीं लेते हैं। C. उपराष्ट्रपति राज्यसभा का पदेन सभापति होता है और उसे वेतन भी सभापति के रूप में ही प्राप्त होता है। D. उपराष्ट्रपति को हटाने के लिए महाभियोग प्रस्ताव केवल और केवल लोकसभा में ही पहले लाया जा सकता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11603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89/260</a:t>
            </a:r>
          </a:p>
        </p:txBody>
      </p:sp>
    </p:spTree>
  </p:cSld>
  <p:clrMapOvr>
    <a:masterClrMapping/>
  </p:clrMapOvr>
</p:sld>
</file>

<file path=ppt/slides/slide17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संविधान के अनुच्छेद 66 के अनुसार उपराष्ट्रपति का चुनाव संसद के दोनों सदनों के निर्वाचित एवं मनोनीत दोनों प्रकार के सदस्यों से मिलकर बने निर्वाचक मंडल द्वारा होता है (राष्ट्रपति चुनाव के विपरीत, इसमें राज्य विधानसभाओं के सदस्य शामिल नहीं होते)। अनुच्छेद 64 के तहत उपराष्ट्रपति राज्यसभा का पदेन सभापति होता है। संविधान के अनुच्छेद 67(b) के अनुसार उपराष्ट्रपति को पद से हटाने का प्रस्ताव केवल राज्यसभा में ही पेश किया जा सकता है (लोकसभा में कभी नहीं); इसके लिए 14 दिन की पूर्व सूचना आवश्यक है। जब राज्यसभा अपने तत्कालीन समस्त सदस्यों के बहुमत से प्रस्ताव पारित कर दे और लोकसभा उससे सहमत हो, तभी उपराष्ट्रपति को हटाया जा सकता है, अतः कथन D असत्य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11603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89/260</a:t>
            </a:r>
          </a:p>
        </p:txBody>
      </p:sp>
    </p:spTree>
  </p:cSld>
  <p:clrMapOvr>
    <a:masterClrMapping/>
  </p:clrMapOvr>
</p:sld>
</file>

<file path=ppt/slides/slide17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90</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भारतीय संसद की प्रमुख समितियों और उनके कार्यों का सही मिलान कीजिए: सूची-I (समिति): सूची-I: A. लोक लेखा समिति (Public Accounts Committee - PAC) B. प्राकलन समिति (Estimates Committee) C. सरकारी उपक्रमों संबंधी समिति (Committee on Public Undertakings) D. विशेषाधिकार समिति (Committee of Privileges) सूची-II: 1. बजट अनुमानों की जांच करना और मितव्ययिता के उपाय सुझाना (केवल लोकसभा के 30 सदस्य) 2. सदन और उसके सदस्यों के विशेषाधिकारों के हनन की जांच करना 3. सीएजी (CAG) की वार्षिक ऑडिट रिपोर्ट की जांच करना और वित्तीय गड़बड़ियों को पकड़ना 4. सार्वजनिक क्षेत्र के निगमों (PSUs) के वित्तीय कामकाज और रिपोर्टों की जांच करना</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C-4, D-2</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C-2, D-4</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B-4, C-1, D-2</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16227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90/260</a:t>
            </a:r>
          </a:p>
        </p:txBody>
      </p:sp>
    </p:spTree>
  </p:cSld>
  <p:clrMapOvr>
    <a:masterClrMapping/>
  </p:clrMapOvr>
</p:sld>
</file>

<file path=ppt/slides/slide18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A-3, B-1, C-4, D-2</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B-3, C-2,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B-4, C-1, D-2</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लोक लेखा समिति (PAC) संसद की सबसे पुरानी वित्तीय समिति है (1921 में गठित), जिसमें 22 सदस्य (15 लोकसभा + 7 राज्यसभा) होते हैं; यह नियंत्रक एवं महालेखापरीक्षक (CAG) की रिपोर्टों की गहन जांच कर सरकारी धन के अपव्यय को उजागर करती है और इसका अध्यक्ष परंपरा से विपक्ष का नेता होता है। प्राकलन समिति संसद की सबसे बड़ी स्थायी समिति है जिसमें केवल लोकसभा के 30 सदस्य होते हैं (राज्यसभा का कोई सदस्य नहीं)। सार्वजनिक उपक्रम समिति (1964 में कृष्ण मेनन समिति की सिफारिश पर) 22 सदस्यों वाली समिति है जो एयर इंडिया, एलआईसी, ओएनजीसी जैसे उपक्रमों की जांच करती है। विशेषाधिकार समिति संसद और उसके सदस्यों के विशेषाधिकार हनन के मामलों की अर्ध-न्यायिक जांच करती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16227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90/260</a:t>
            </a:r>
          </a:p>
        </p:txBody>
      </p:sp>
    </p:spTree>
  </p:cSld>
  <p:clrMapOvr>
    <a:masterClrMapping/>
  </p:clrMapOvr>
</p:sld>
</file>

<file path=ppt/slides/slide18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भारतीय संसद की विधायी प्रक्रिया और विधेयकों के प्रकारों के संदर्भ में निम्नलिखित कथनों पर विचार कीजिए: A. किसी मंत्री द्वारा संसद में पेश किए जाने वाले विधेयक को 'सरकारी विधेयक' (Government Bill) कहा जाता है। B. मंत्री के अतिरिक्त संसद के किसी भी अन्य सदस्य (चाहे वह सत्तारूढ़ दल का हो या विपक्ष का) द्वारा पेश विधेयक 'निजी सदस्य का विधेयक' (Private Member's Bill) कहलाता है। C. निजी सदस्य के विधेयक पर संसद में केवल शुक्रवार के दिन दोपहर बाद ही चर्चा की जा सकती है। D. स्वतंत्र भारत के इतिहास में आज तक संसद द्वारा कोई भी निजी सदस्य विधेयक कभी पारित नहीं हुआ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20852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91/260</a:t>
            </a:r>
          </a:p>
        </p:txBody>
      </p:sp>
    </p:spTree>
  </p:cSld>
  <p:clrMapOvr>
    <a:masterClrMapping/>
  </p:clrMapOvr>
</p:sld>
</file>

<file path=ppt/slides/slide18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संसद में प्रस्तुत विधेयकों को दो मुख्य श्रेणियों में बाँटा जाता है: सरकारी विधेयक (जो सरकार की नीतियों को दर्शाते हैं और संबंधित मंत्रालय के मंत्री द्वारा पेश किए जाते हैं) तथा गैर-सरकारी या निजी सदस्य विधेयक (जो संसद का कोई भी अन्य सांसद पेश कर सकता है)। संसदीय नियमों के अनुसार निजी सदस्यों के कार्य के लिए सामान्यतः शुक्रवार का दूसरा पहर (दोपहर 2 बजे से 5 बजे तक) तय होता है। स्वतंत्र भारत में अब तक कुल 14 निजी सदस्य विधेयक संसद के दोनों सदनों द्वारा पारित होकर कानून बन चुके हैं (यद्यपि 1970 के बाद से कोई निजी विधेयक कानून नहीं बना है), अतः कथन D असत्य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20852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91/260</a:t>
            </a:r>
          </a:p>
        </p:txBody>
      </p:sp>
    </p:spTree>
  </p:cSld>
  <p:clrMapOvr>
    <a:masterClrMapping/>
  </p:clrMapOvr>
</p:sld>
</file>

<file path=ppt/slides/slide18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92</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भारतीय संविधान में 'धन विधेयक' (Money Bill) की परिभाषा एवं पारित करने की विशिष्ट प्रक्रिया के संदर्भ में निम्नलिखित कथनों पर विचार कीजिए: A. संविधान के अनुच्छेद 110 में धन विधेयक की विस्तृत परिभाषा दी गई है, जबकि अनुच्छेद 109 में इसकी विशेष विधायी प्रक्रिया का उल्लेख है। B. कोई विधेयक धन विधेयक है या नहीं, इसका अंतिम और बाध्यकारी निर्णय लोकसभा का अध्यक्ष (Speaker) करता है। C. धन विधेयक केवल राष्ट्रपति की पूर्व संस्तुति से ही और केवल लोकसभा में ही प्रस्तुत किया जा सकता है। D. यदि राज्यसभा धन विधेयक को 14 दिनों के भीतर लोकसभा को वापस न लौटाए, तो वह विधेयक स्वतः समाप्त हो जाता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25477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92/260</a:t>
            </a:r>
          </a:p>
        </p:txBody>
      </p:sp>
    </p:spTree>
  </p:cSld>
  <p:clrMapOvr>
    <a:masterClrMapping/>
  </p:clrMapOvr>
</p:sld>
</file>

<file path=ppt/slides/slide18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संविधान का अनुच्छेद 110 कर लगाने, समाप्त करने, सरकारी ऋण लेने और भारत की संचित निधि से धन निकालने संबंधी मामलों को धन विधेयक घोषित करता है। अनुच्छेद 110(3) के अनुसार किसी विधेयक के धन विधेयक होने पर लोकसभा अध्यक्ष का प्रमाण-पत्र अंतिम होता है जिसे अदालत या संसद में चुनौती नहीं दी जा सकती। अनुच्छेद 109 के अनुसार धन विधेयक राज्यसभा में पेश नहीं हो सकता और राष्ट्रपति की पूर्व अनुमति अनिवार्य है। राज्यसभा धन विधेयक में न तो संशोधन कर सकती है और न उसे खारिज कर सकती है; वह केवल 14 दिनों के भीतर सुझाव दे सकती है। यदि 14 दिनों में राज्यसभा इसे पारित न करे, तो यह दोनों सदनों द्वारा स्वतः उसी रूप में पारित मान लिया जाता है, अतः कथन D असत्य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25477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92/260</a:t>
            </a:r>
          </a:p>
        </p:txBody>
      </p:sp>
    </p:spTree>
  </p:cSld>
  <p:clrMapOvr>
    <a:masterClrMapping/>
  </p:clrMapOvr>
</p:sld>
</file>

<file path=ppt/slides/slide18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93</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संसद के दैनिक कामकाज के दौरान प्रश्नकाल (Question Hour) और शून्यकाल (Zero Hour) के संदर्भ में सही अंतर क्या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प्रश्नकाल में मंत्री उत्तर देने के लिए बाध्य नहीं होते, जबकि शून्यकाल में लिखित उत्तर देना अनिवार्य होता है</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प्रश्नकाल संसद की बैठक का पहला घंटा होता है जिसमें मंत्रियों से प्रश्न पूछे जाते हैं, जबकि शून्यकाल प्रश्नकाल के ठीक बाद शुरू होता है जिसमें बिना पूर्व सूचना के लोक महत्व के मुद्दे उठाए जाते हैं</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शून्यकाल ब्रिटिश संसदीय प्रणाली से लिया गया है, जबकि प्रश्नकाल भारतीय नवाचार है</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दोनों कालों में कोई अंतर नहीं है, दोनों एक ही समय आयोजित किए जाते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30102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93/260</a:t>
            </a:r>
          </a:p>
        </p:txBody>
      </p:sp>
    </p:spTree>
  </p:cSld>
  <p:clrMapOvr>
    <a:masterClrMapping/>
  </p:clrMapOvr>
</p:sld>
</file>

<file path=ppt/slides/slide18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प्रश्नकाल संसद की बैठक का पहला घंटा होता है जिसमें मंत्रियों से प्रश्न पूछे जाते हैं, जबकि शून्यकाल प्रश्नकाल के ठीक बाद शुरू होता है जिसमें बिना पूर्व सूचना के लोक महत्व के मुद्दे उठाए जाते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प्रश्नकाल में मंत्री उत्तर देने के लिए बाध्य नहीं होते, जबकि शून्यकाल में लिखित उत्तर देना अनिवार्य होता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शून्यकाल ब्रिटिश संसदीय प्रणाली से लिया गया है, जबकि प्रश्नकाल भारतीय नवाचार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दोनों कालों में कोई अंतर नहीं है, दोनों एक ही समय आयोजित किए जाते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संसद की प्रत्येक बैठक का पहला घंटा (सामान्यतः 11 से 12 बजे) 'प्रश्नकाल' कहलाता है, जिसमें सांसद तारांकित, अतारांकित और अल्प-सूचना प्रश्न पूछते हैं और संबंधित मंत्री उनका उत्तर देने के लिए बाध्य होते हैं। प्रश्नकाल समाप्त होते ही दोपहर 12 बजे 'शून्यकाल' (Zero Hour) शुरू होता है। शून्यकाल किसी संसदीय नियमावली में दर्ज नहीं है बल्कि यह 1962 में भारतीय संसदीय परंपरा द्वारा विकसित एक अनूठा स्वदेशी नवाचार (Indian Innovation) है। इसमें सदस्य बिना 10 दिन की पूर्व सूचना दिए राष्ट्रीय व जनहित के अत्यंत अविलंबनीय मुद्दों को उठा सकते हैं, किंतु मंत्री उस पर तुरंत उत्तर देने के लिए बाध्य नहीं होते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30102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93/260</a:t>
            </a:r>
          </a:p>
        </p:txBody>
      </p:sp>
    </p:spTree>
  </p:cSld>
  <p:clrMapOvr>
    <a:masterClrMapping/>
  </p:clrMapOvr>
</p:sld>
</file>

<file path=ppt/slides/slide18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94</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राज्य सभा (Council of States) को प्राप्त विशेष संवैधानिक शक्तियों के संदर्भ में निम्नलिखित कथनों पर विचार कीजिए: A. अनुच्छेद 249 के तहत यदि राज्यसभा उपस्थित व मतदान करने वाले दो-तिहाई सदस्यों से प्रस्ताव पारित कर दे, तो संसद राज्य सूची के किसी विषय पर राष्ट्रीय हित में कानून बना सकती है। B. अनुच्छेद 312 के तहत राज्यसभा विशेष बहुमत से प्रस्ताव पारित कर एक या अधिक नई 'अखिल भारतीय सेवाओं' (All India Services) के सृजन का अधिकार संसद को दे सकती है। C. भारत के उपराष्ट्रपति को पद से हटाने का प्रस्ताव केवल राज्यसभा में ही प्रारंभ किया जा सकता है। D. राष्ट्रीय आपातकाल (अनुच्छेद 352) के अनुमोदन में राज्यसभा की कोई भूमिका नहीं होती, केवल लोकसभा का अनुमोदन पर्याप्त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34726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94/260</a:t>
            </a:r>
          </a:p>
        </p:txBody>
      </p:sp>
    </p:spTree>
  </p:cSld>
  <p:clrMapOvr>
    <a:masterClrMapping/>
  </p:clrMapOvr>
</p:sld>
</file>

<file path=ppt/slides/slide18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राज्यों के हितों की संरक्षक होने के नाते राज्यसभा को कुछ ऐसी अनन्य शक्तियां प्राप्त हैं जो लोकसभा के पास नहीं हैं। अनुच्छेद 249 संसद को राज्य सूची पर 1 वर्ष के लिए विधि बनाने की शक्ति देता है। अनुच्छेद 312 के तहत नई अखिल भारतीय सेवा (जैसे IAS, IPS, IFS की तर्ज पर कोई नई सेवा) की स्थापना का प्रस्ताव केवल राज्यसभा ही शुरू कर सकती है। उपराष्ट्रपति को हटाने का संकल्प भी केवल राज्यसभा में ही लाया जा सकता है। अनुच्छेद 352 के तहत राष्ट्रीय आपातकाल की घोषणा को संसद के दोनों सदनों (लोकसभा और राज्यसभा दोनों) द्वारा अलग-अलग एक माह के भीतर 2/3 विशेष बहुमत से अनुमोदित होना अनिवार्य है (यदि लोकसभा भंग हो तो राज्यसभा की मंजूरी आवश्यक है), अतः कथन D असत्य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34726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94/260</a:t>
            </a:r>
          </a:p>
        </p:txBody>
      </p:sp>
    </p:spTree>
  </p:cSld>
  <p:clrMapOvr>
    <a:masterClrMapping/>
  </p:clrMapOvr>
</p:sld>
</file>

<file path=ppt/slides/slide18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भारतीय संविधान के तहत 'न्यायिक पुनरावलोकन' (Judicial Review) की अवधारणा और सीमाओं के संदर्भ में निम्नलिखित कथनों पर विचार कीजिए: A. न्यायिक समीक्षा की शक्ति के तहत न्यायपालिका संसद या राज्य विधानमंडलों द्वारा पारित किसी भी कानून की संवैधानिकता की जांच कर सकती है। B. यदि कोई कानून संविधान के उपबंधों या उसके 'मूल ढांचे' का उल्लंघन करता है, तो सर्वोच्च न्यायालय उसे उस सीमा तक असंवैधानिक और शून्य घोषित कर सकता है। C. भारतीय संविधान के किसी भी अनुच्छेद में 'न्यायिक पुनरावलोकन' (Judicial Review) शब्द का स्पष्ट और प्रत्यक्ष उल्लेख नहीं मिलता। D. संविधान के अनुच्छेद 13, 32, 131-136 और 226 अप्रत्यक्ष रूप से न्यायपालिका को न्यायिक पुनरावलोकन की सुदृढ़ शक्ति प्रदान करते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39351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95/260</a:t>
            </a:r>
          </a:p>
        </p:txBody>
      </p:sp>
    </p:spTree>
  </p:cSld>
  <p:clrMapOvr>
    <a:masterClrMapping/>
  </p:clrMapOvr>
</p:sld>
</file>

<file path=ppt/slides/slide19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 में न्यायिक समीक्षा का सिद्धांत अमेरिकी संविधान से ग्रहण किया गया है। यह संविधान की सर्वोच्चता बनाए रखने का प्रमुख साधन है। संविधान में कहीं भी 'Judicial Review' शब्द की औपचारिक परिभाषा नहीं लिखी गई है, किंतु अनुच्छेद 13(2) साफ कहता है कि राज्य ऐसा कोई कानून नहीं बनाएगा जो मूल अधिकारों को छीनता हो और उल्लंघन की सीमा तक ऐसा कानून शून्य होगा। इसी प्रकार अनुच्छेद 32 और 226 रिट अधिकारिता के जरिए और अनुच्छेद 131-136 अपीलीय शक्तियों के जरिए शीर्ष अदालत को केंद्र व राज्यों के समस्त विधायी और प्रशासनिक कृत्यों की वैधता जांचने का पूर्ण अधिकार देते हैं। अतः सभी चारों कथन अक्षरशः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39351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95/260</a:t>
            </a:r>
          </a:p>
        </p:txBody>
      </p:sp>
    </p:spTree>
  </p:cSld>
  <p:clrMapOvr>
    <a:masterClrMapping/>
  </p:clrMapOvr>
</p:sld>
</file>

<file path=ppt/slides/slide19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96</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के मुख्य न्यायाधीश (CJI) की नियुक्ति और 'वरिष्ठता परंपरा' के ऐतिहासिक अपवादों के संदर्भ में निम्नलिखित कथनों पर विचार कीजिए: A. स्वतंत्रता के बाद से यह सुस्थापित परंपरा रही है कि सर्वोच्च न्यायालय के सबसे वरिष्ठतम न्यायाधीश को ही भारत का मुख्य न्यायाधीश नियुक्त किया जाता है। B. अप्रैल 1973 में तीन वरिष्ठ न्यायाधीशों (शेलत, हेगड़े और ग्रोवर) की वरिष्ठता की उपेक्षा कर न्यायमूर्ति ए.एन. रे को मुख्य न्यायाधीश नियुक्त किया गया था। C. जनवरी 1977 में न्यायमूर्ति एच.आर. खन्ना की वरिष्ठता को नजरअंदाज कर न्यायमूर्ति एम.एच. बेग को भारत का मुख्य न्यायाधीश बनाया गया था। D. वर्तमान में मुख्य न्यायाधीश की नियुक्ति का अधिकार पूरी तरह से भारत के विधि मंत्री के एकल विवेक पर निर्भर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43976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96/260</a:t>
            </a:r>
          </a:p>
        </p:txBody>
      </p:sp>
    </p:spTree>
  </p:cSld>
  <p:clrMapOvr>
    <a:masterClrMapping/>
  </p:clrMapOvr>
</p:sld>
</file>

<file path=ppt/slides/slide19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भारतीय न्यायपालिका में वरिष्ठता नियम (Seniority Principle) का पालन किया जाता रहा है। किंतु कार्यपालिका द्वारा इस परंपरा को दो बार तोड़ा गया: पहली बार 1973 में केशवानंद भारती फैसले के तुरंत बाद सरकार के विरुद्ध फैसला देने वाले तीन वरिष्ठतम जजों को दरकिनार कर जस्टिस ए.एन. रे को CJI बनाया गया। दूसरी बार आपातकाल के दौरान बंदी प्रत्यक्षीकरण मामले (ADM Jabalpur) में साहसिक असहमति जताने वाले जस्टिस एच.आर. खन्ना को दरकिनार कर 1977 में जस्टिस एम.एच. बेग को नियुक्त किया गया। 1993 के 'सेकंड जजेस केस' और 1998 के 'थर्ड जजेस केस' के बाद कॉलेजियम प्रणाली स्थापित हुई, जिसमें वरिष्ठतम जज को ही CJI नियुक्त करने का नियम अनिवार्य बना दिया गया है; विधि मंत्री का एकल विवेक नहीं चलता, अतः कथन D असत्य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43976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96/260</a:t>
            </a:r>
          </a:p>
        </p:txBody>
      </p:sp>
    </p:spTree>
  </p:cSld>
  <p:clrMapOvr>
    <a:masterClrMapping/>
  </p:clrMapOvr>
</p:sld>
</file>

<file path=ppt/slides/slide19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97</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भारत के सर्वोच्च न्यायालय के विभिन्न क्षेत्राधिकारों और संबंधित संवैधानिक अनुच्छेदों का सही मिलान कीजिए: सूची-I (क्षेत्राधिकार): सूची-I: A. मूल/आरंभिक क्षेत्राधिकार (Original Jurisdiction) B. राष्ट्रपति को परामर्श देने का क्षेत्राधिकार (Advisory Jurisdiction) C. अपने ही निर्णयों के पुनरावलोकन की शक्ति (Review Jurisdiction) D. सर्वोच्च न्यायालय का 'अभिलेख न्यायालय' होना (Court of Record) सूची-II: 1. अनुच्छेद 143 2. अनुच्छेद 131 3. अनुच्छेद 129 4. अनुच्छेद 137</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C-1, D-3</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C-4, D-2</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48601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97/260</a:t>
            </a:r>
          </a:p>
        </p:txBody>
      </p:sp>
    </p:spTree>
  </p:cSld>
  <p:clrMapOvr>
    <a:masterClrMapping/>
  </p:clrMapOvr>
</p:sld>
</file>

<file path=ppt/slides/slide19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B-1, C-4,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C-3,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B-4, C-1,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B-1, C-4, D-2</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अनुच्छेद 131 के तहत केंद्र और राज्यों के बीच या राज्यों के आपसी विवादों की सीधी सुनवाई केवल सुप्रीम कोर्ट में ही हो सकती है। अनुच्छेद 143 के तहत राष्ट्रपति विधि या सार्वजनिक महत्व के तथ्य पर सुप्रीम कोर्ट से परामर्श मांग सकते हैं (न्यायालय सलाह देने और राष्ट्रपति सलाह मानने के लिए बाध्य नहीं हैं)। अनुच्छेद 137 के तहत सर्वोच्च न्यायालय को संसद द्वारा बनाए गए किसी कानून के अधीन रहते हुए अपने स्वयं के पूर्व निर्णयों या आदेशों की समीक्षा करने और उन्हें पलटने की शक्ति प्राप्त है। अनुच्छेद 129 घोषित करता है कि सुप्रीम कोर्ट एक 'अभिलेख न्यायालय' (Court of Record) होगा, जिसके सभी निर्णयों का साक्ष्य के रूप में ऐतिहासिक मूल्य होगा और इसे अपनी अवमानना पर दंडित करने की शक्ति होगी।</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48601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97/260</a:t>
            </a:r>
          </a:p>
        </p:txBody>
      </p:sp>
    </p:spTree>
  </p:cSld>
  <p:clrMapOvr>
    <a:masterClrMapping/>
  </p:clrMapOvr>
</p:sld>
</file>

<file path=ppt/slides/slide19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98</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न्यायिक सक्रियता (Judicial Activism) और जनहित याचिका के लोकतांत्रिक प्रभावों के संदर्भ में निम्नलिखित कथनों पर विचार कीजिए: A. न्यायिक सक्रियता ने कार्यपालिका और विधायिका की अकर्मण्यता के शिकार वंचित वर्गों तक न्याय की पहुँच को सुलभ बनाया है। B. इसके माध्यम से बंधुआ मजदूरों, विचाराधीन कैदियों, बाल श्रमिकों और जेल सुधारों के संबंध में ऐतिहासिक प्रगतिशील आदेश दिए गए। C. आलोचकों का तर्क है कि न्यायिक सक्रियता से सरकार के तीनों अंगों के बीच शक्तियों के पृथक्करण का संतुलन बिगड़ता है और 'न्यायिक अतिसक्रियता' (Judicial Overreach) पैदा होती है। D. भारतीय संविधान न्यायपालिका को संसद द्वारा पारित राष्ट्रीय वार्षिक बजट के पुनर्वितरण और स्वयं नया कर लगाने का प्रत्यक्ष अधिकार देता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53225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98/260</a:t>
            </a:r>
          </a:p>
        </p:txBody>
      </p:sp>
    </p:spTree>
  </p:cSld>
  <p:clrMapOvr>
    <a:masterClrMapping/>
  </p:clrMapOvr>
</p:sld>
</file>

<file path=ppt/slides/slide19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1980 के बाद भारतीय न्यायपालिका ने पत्र याचिकाओं और जनहित याचिकाओं के जरिए समाज के सबसे उपेक्षित तबकों के मानवाधिकारों की रक्षा की। चुनाव सुधारों में उम्मीदवारों के हलफनामे, प्रदूषण नियंत्रण (सीएनजी का उपयोग), और मानवाधिकारों की सुरक्षा में कोर्ट की सक्रियता वरदान साबित हुई। किंतु इसके अतिरेक से यह चिंता उपजी कि जब कोर्ट नीतिगत मामलों (जैसे सड़कों का निर्माण, नदी जोड़ना, अतिक्रमण हटाना) में सीधी दखलंदाजी करने लगता है, तो निर्वाचित कार्यपालिका का अधिकार क्षेत्र छिनता है। कर लगाना (Taxation) और बजट पारित करना संविधान के अनुच्छेद 265 और 112-114 के तहत केवल और केवल निर्वाचित संसद/विधायिका का अनन्य अधिकार है; न्यायपालिका स्वयं कर नहीं लगा सकती, अतः कथन D असत्य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53225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98/260</a:t>
            </a:r>
          </a:p>
        </p:txBody>
      </p:sp>
    </p:spTree>
  </p:cSld>
  <p:clrMapOvr>
    <a:masterClrMapping/>
  </p:clrMapOvr>
</p:sld>
</file>

<file path=ppt/slides/slide19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99</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संविधान के अनुच्छेद 356 (राष्ट्रपति शासन) के दुरुपयोग को रोकने के लिए सर्वोच्च न्यायालय ने किस ऐतिहासिक वाद (1994) में यह निर्णय दिया कि राष्ट्रपति शासन लागू करने की न्यायिक समीक्षा की जा सकती है और असंवैधानिक रूप से भंग विधानसभा को पुनः बहाल किया जा सकता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केशवानंद भारती वाद</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एस.आर. बोम्मई बनाम भारत संघ (1994)</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मिनर्वा मिल्स वाद</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गोलकनाथ वाद</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57850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99/260</a:t>
            </a:r>
          </a:p>
        </p:txBody>
      </p:sp>
    </p:spTree>
  </p:cSld>
  <p:clrMapOvr>
    <a:masterClrMapping/>
  </p:clrMapOvr>
</p:sld>
</file>

<file path=ppt/slides/slide19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एस.आर. बोम्मई बनाम भारत संघ (1994)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केशवानंद भारती वाद</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मिनर्वा मिल्स वाद</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गोलकनाथ वाद</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वर्ष 1989 में कर्नाटक के मुख्यमंत्री एस.आर. बोम्मई की सरकार को राज्यपाल की सिफारिश पर बिना सदन में बहुमत साबित करने का मौका दिए अनुच्छेद 356 लगाकर बर्खास्त कर दिया गया था। 1994 में सर्वोच्च न्यायालय की 9 जजों की संविधान पीठ ने 'एस.आर. बोम्मई बनाम भारत संघ' मामले में ऐतिहासिक फैसला सुनाया। कोर्ट ने तय किया कि: (1) अनुच्छेद 356 के तहत राष्ट्रपति की शक्ति असीमित नहीं है और यह न्यायिक समीक्षा के दायरे में आती है, (2) सरकार के बहुमत का परीक्षण केवल विधानसभा के पटल पर (Floor of the House) ही हो सकता है, राज्यपाल के व्यक्तिगत आकलन से नहीं, और (3) यदि राष्ट्रपति शासन दुर्भावनापूर्ण या असंवैधानिक पाया गया, तो अदालत बर्खास्त सरकार और भंग विधानसभा को पुनः जीवित (Restore) कर सकती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57850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99/260</a:t>
            </a:r>
          </a:p>
        </p:txBody>
      </p:sp>
    </p:spTree>
  </p:cSld>
  <p:clrMapOvr>
    <a:masterClrMapping/>
  </p:clrMapOvr>
</p:sld>
</file>

<file path=ppt/slides/slide19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100</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केंद्र-राज्य संबंधों पर गठित 'सरकारिया आयोग' (Sarkaria Commission, 1983) की प्रमुख सिफारिशों के संदर्भ में निम्नलिखित कथनों पर विचार कीजिए: A. न्यायमूर्ति आर.एस. सरकारिया की अध्यक्षता में 1983 में केंद्र-राज्य संबंधों की समीक्षा के लिए आयोग गठित किया गया था। B. आयोग ने सिफारिश की कि अनुच्छेद 356 का प्रयोग केवल अंतिम विकल्प (Last Resort) के रूप में ही विरलतम मामलों में किया जाना चाहिए। C. आयोग ने राज्यपाल के पद को पूरी तरह समाप्त करने और राज्य शासन का सीधा नियंत्रण राष्ट्रपति को सौंपने की संस्तुति की थी। D. आयोग ने राज्यपाल के रूप में ऐसे निष्पक्ष और प्रतिष्ठित व्यक्ति की नियुक्ति की सिफारिश की जो सक्रिय राजनीति से दूर रहा हो और राज्य के मुख्यमंत्री से परामर्श लिया जाए।</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62475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100/260</a:t>
            </a:r>
          </a:p>
        </p:txBody>
      </p:sp>
    </p:spTree>
  </p:cSld>
  <p:clrMapOvr>
    <a:masterClrMapping/>
  </p:clrMapOvr>
</p:sld>
</file>

<file path=ppt/slides/slide20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इंदिरा गांधी सरकार द्वारा 1983 में गठित सरकारिया आयोग ने 1988 में अपनी रिपोर्ट सौंपी। आयोग ने भारतीय संघवाद को मजबूत करने के लिए अनुच्छेद 356 के अंधाधुंध राजनीतिक दुरुपयोग की कड़ी निंदा की और कहा कि चेतावनी दिए बिना इसका उपयोग न हो। आयोग ने राज्यपाल के पद को समाप्त करने का कभी सुझाव नहीं दिया; बल्कि उसने माना कि राज्यपाल संघ और राज्य के बीच एक आवश्यक संवैधानिक कड़ी है, किंतु उसकी नियुक्ति में मुख्यमंत्री से सलाह, उसका गैर-राजनीतिक होना तथा कार्यकाल की सुरक्षा सुनिश्चित की जानी चाहिए। आयोग ने अनुच्छेद 263 के तहत एक स्थायी अंतर-राज्यीय परिषद (Inter-State Council) के गठन की भी सिफारिश की जिसे 1990 में वी.पी. सिंह सरकार ने लागू किया, अतः कथन C असत्य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62475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100/260</a:t>
            </a:r>
          </a:p>
        </p:txBody>
      </p:sp>
    </p:spTree>
  </p:cSld>
  <p:clrMapOvr>
    <a:masterClrMapping/>
  </p:clrMapOvr>
</p:sld>
</file>

<file path=ppt/slides/slide20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101</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संविधान के अनुच्छेद 371 के तहत विभिन्न राज्यों के लिए किए गए विशेष संवैधानिक उपबंधों का सही मिलान कीजिए: सूची-I (अनुच्छेद): सूची-I: A. अनुच्छेद 371 B. अनुच्छेद 371A (371क) C. अनुच्छेद 371F (371च) D. अनुच्छेद 371J (371ञ) सूची-II: 1. नगालैंड (नागा प्रथागत कानून और धार्मिक परंपराओं की सुरक्षा) 2. महाराष्ट्र और गुजरात (विदर्भ, मराठवाड़ा, सौराष्ट्र हेतु विकास बोर्ड) 3. कर्नाटक (हैदराबाद-कर्नाटक क्षेत्र के 6 पिछड़े जिलों के लिए विशेष विकास) 4. सिक्किम (भारतीय संघ में विलय के उपरांत विशेष प्रावधान)</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C-1, D-3</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C-4, D-2</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67100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101/260</a:t>
            </a:r>
          </a:p>
        </p:txBody>
      </p:sp>
    </p:spTree>
  </p:cSld>
  <p:clrMapOvr>
    <a:masterClrMapping/>
  </p:clrMapOvr>
</p:sld>
</file>

<file path=ppt/slides/slide20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B-1, C-4,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C-3,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B-4, C-1,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B-1, C-4, D-2</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भारतीय संघवाद 'असममित संघवाद' (Asymmetric Federalism) का उत्कृष्ट उदाहरण है, जहाँ विभिन्न राज्यों की विशिष्ट ऐतिहासिक और सामाजिक परिस्थितियों के कारण विशेष प्रावधान किए गए हैं। अनुच्छेद 371 महाराष्ट्र (विदर्भ, मराठवाड़ा) और गुजरात (सौराष्ट्र, कच्छ) के पिछड़े क्षेत्रों के लिए राज्यपाल को अलग विकास बोर्ड बनाने की शक्ति देता है। अनुच्छेद 371A नगालैंड को संरक्षण देता है कि संसद का कोई कानून नगा धार्मिक, सामाजिक प्रथाओं और भूमि अधिकारों पर तब तक लागू नहीं होगा जब तक राज्य विधानसभा सहमति न दे। 36वें संशोधन 1975 से जुड़ा अनुच्छेद 371F सिक्किम के पुराने कानूनों को संरक्षण देता है। 98वें संशोधन 2012 द्वारा जोड़ा गया अनुच्छेद 371J हैदराबाद-कर्नाटक क्षेत्र के सर्वांगीण विकास के लिए राज्यपाल को विशेष उत्तरदायित्व सौंपता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67100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101/260</a:t>
            </a:r>
          </a:p>
        </p:txBody>
      </p:sp>
    </p:spTree>
  </p:cSld>
  <p:clrMapOvr>
    <a:masterClrMapping/>
  </p:clrMapOvr>
</p:sld>
</file>

<file path=ppt/slides/slide20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102</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संविधान निर्माण के समय स्थानीय शासन (पंचायती राज) को मूल अधिकारों में न रखकर नीति-निदेशक सिद्धांतों (अनुच्छेद 40) में रखने के ऐतिहासिक कारणों के संदर्भ में निम्नलिखित कथनों पर विचार कीजिए: A. 1947 के भारत विभाजन की भीषण हिंसा और अराजकता के कारण संविधान सभा का मुख्य झुकाव एक शक्तिशाली केंद्र स्थापित करने पर था। B. पंडित जवाहरलाल नेहरू का मानना था कि अति-स्थानीयता राष्ट्र की संप्रभुता, आधुनिक औद्योगीकरण और राष्ट्रीय एकता के लिए खतरा बन सकती है। C. डॉ. भीमराव अंबेडकर ग्रामीण भारत में गहराई से व्याप्त जाति व्यवस्था, छुआछूत और जमींदारी उत्पीड़न के कारण पंचायतों को उच्च जातियों के दमन का अड्डा मानते थे। D. महात्मा गांधी स्थानीय ग्राम पंचायतों को अधिकार संपन्न बनाने और सत्ता के पूर्ण विकेंद्रीकरण के धुर विरोधी थे।</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71724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102/260</a:t>
            </a:r>
          </a:p>
        </p:txBody>
      </p:sp>
    </p:spTree>
  </p:cSld>
  <p:clrMapOvr>
    <a:masterClrMapping/>
  </p:clrMapOvr>
</p:sld>
</file>

<file path=ppt/slides/slide20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संविधान सभा में स्थानीय शासन पर तीखी बहस हुई थी। विभाजन की विभीषिका के बीच देश की एकता और सुरक्षा को सर्वोच्च प्राथमिकता दी गई, जिससे एक मजबूत केंद्रवादी ढांचे पर बल दिया गया। डॉ. अंबेडकर ने संविधान सभा में दो-टूक कहा था कि "भारतीय गांव संकीर्णता, अज्ञानता, जातिवाद और सांप्रदायिकता की खोह हैं", जहाँ निचली जातियों का कोई सम्मान नहीं है, इसलिए सीधे पंचायतों को अधिकार देना जमींदारों के अत्याचार को बढ़ाएगा। महात्मा गांधी इसके सर्वथा विपरीत 'ग्राम स्वराज' के सबसे बड़े समर्थक थे; उनका सपना था कि हर गांव एक आत्मनिर्भर और स्वावलंबी गणराज्य बने, अतः कथन D असत्य है। इसी वैचारिक मतभेद के समाधान के रूप में पंचायतों को अनुच्छेद 40 (DPSP) में रखा गया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71724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102/260</a:t>
            </a:r>
          </a:p>
        </p:txBody>
      </p:sp>
    </p:spTree>
  </p:cSld>
  <p:clrMapOvr>
    <a:masterClrMapping/>
  </p:clrMapOvr>
</p:sld>
</file>

<file path=ppt/slides/slide20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103</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अनुसूचित जनजाति बहुल पाँचवीं अनुसूची के क्षेत्रों में पारंपरिक ग्राम सभाओं को प्राकृतिक संसाधनों और स्वशासन पर ऐतिहासिक अधिकार देने के लिए संसद द्वारा 1996 में कौन-सा ऐतिहासिक कानून पारित किया गया?</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वन अधिकार अधिनियम (FRA), 1996</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पेसा अधिनियम (PESA Act) - पंचायतों के प्रावधान (अनुसूचित क्षेत्रों पर विस्तार) अधिनियम, 1996</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जनजातीय क्षेत्रीय स्वायत्तता परिषद अधिनियम, 1996</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राष्ट्रीय अनुसूचित जनजाति आयोग अधिनियम, 1996</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76349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103/260</a:t>
            </a:r>
          </a:p>
        </p:txBody>
      </p:sp>
    </p:spTree>
  </p:cSld>
  <p:clrMapOvr>
    <a:masterClrMapping/>
  </p:clrMapOvr>
</p:sld>
</file>

<file path=ppt/slides/slide20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पेसा अधिनियम (PESA Act) - पंचायतों के प्रावधान (अनुसूचित क्षेत्रों पर विस्तार) अधिनियम, 1996</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वन अधिकार अधिनियम (FRA), 1996</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जनजातीय क्षेत्रीय स्वायत्तता परिषद अधिनियम, 1996</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राष्ट्रीय अनुसूचित जनजाति आयोग अधिनियम, 1996</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73वें संविधान संशोधन के प्रावधान प्रारंभ में संविधान की पाँचवीं अनुसूची में शामिल जनजातीय क्षेत्रों (10 राज्यों-आंध्र, तेलंगाना, झारखंड, गुजरात, हिमाचल, मध्य प्रदेश, महाराष्ट्र, ओडिशा, राजस्थान और छत्तीसगढ़) पर लागू नहीं होते थे। जनजातियों की पारंपरिक स्वशासन प्रणाली, संस्कृति और जल-जंगल-जमीन पर अधिकारों की रक्षा के लिए दिलीप सिंह भूरिया समिति की सिफारिशों पर संसद ने 'PESA Act, 1996' (Panchayats (Extension to Scheduled Areas) Act, 1996) पारित किया। इस कानून ने ग्राम सभा को लघु वनोपज का स्वामित्व, भूमि हस्तांतरण रोकने, खनन पट्टे की पूर्व अनुमति देने और शराब की बिक्री को विनियमित करने की असाधारण संप्रभु शक्तियां प्रदान की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76349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103/260</a:t>
            </a:r>
          </a:p>
        </p:txBody>
      </p:sp>
    </p:spTree>
  </p:cSld>
  <p:clrMapOvr>
    <a:masterClrMapping/>
  </p:clrMapOvr>
</p:sld>
</file>

<file path=ppt/slides/slide20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104</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भारतीय संविधान को 'एक जीवंत दस्तावेज़' (A Living Document) मानने के तार्किक आधारों के संदर्भ में निम्नलिखित कथनों पर विचार कीजिए: A. भारतीय संविधान कोई जड़ या अपरिवर्तनीय ग्रंथ नहीं है, बल्कि यह समय की बदलती आवश्यकताओं के अनुसार विकसित होता है। B. इसमें कठोरता और लचीलेपन का ऐसा समन्वय है कि यह बुनियादी मूल्यों को बचाते हुए आवश्यक संशोधनों को आसानी से स्वीकार करता है। C. सर्वोच्च न्यायालय ने बदलती सामाजिक परिस्थितियों के अनुरूप संविधान की व्याख्या का विस्तार किया है (जैसे अनुच्छेद 21 में निजता और शिक्षा का अधिकार)। D. भारतीय संविधान की जीवंतता का एकमात्र कारण यह है कि संसद साधारण बहुमत से इसके किसी भी भाग या मूल ढांचे को कभी भी समाप्त कर सकती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80974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104/260</a:t>
            </a:r>
          </a:p>
        </p:txBody>
      </p:sp>
    </p:spTree>
  </p:cSld>
  <p:clrMapOvr>
    <a:masterClrMapping/>
  </p:clrMapOvr>
</p:sld>
</file>

<file path=ppt/slides/slide20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भारतीय संविधान को 'जीवंत दस्तावेज' इसलिए कहा जाता है क्योंकि एक जीवित प्राणी की भांति यह ऐतिहासिक अनुभवों से सीखता है और बदलते युग की चुनौतियों का प्रत्युत्तर देता है। 1950 से अब तक 106 से अधिक संवैधानिक संशोधन इस बात के गवाह हैं कि यह परिस्थितियों के साथ ढला है। न्यायपालिका ने गतिशील व्याख्या (Living Tree Doctrine) के तहत जीवन के अधिकार का दायरा बढ़ाकर उसमें आजीविका, स्वास्थ्य, स्वच्छ पर्यावरण और पुट्टास्वामी वाद (2017) में निजता के अधिकार को शामिल किया। संसद संविधान के किसी भी हिस्से को मनमाने ढंग से समाप्त नहीं कर सकती; केशवानंद भारती वाद के तहत मूल ढांचे (Basic Structure) पर कोई हमला नहीं किया जा सकता, अतः कथन D असत्य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80974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104/260</a:t>
            </a:r>
          </a:p>
        </p:txBody>
      </p:sp>
    </p:spTree>
  </p:cSld>
  <p:clrMapOvr>
    <a:masterClrMapping/>
  </p:clrMapOvr>
</p:sld>
</file>

<file path=ppt/slides/slide20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वर्ष 2000 में गठित 'संविधान के कार्यकरण की समीक्षा के लिए राष्ट्रीय आयोग' (NCRWC / वेंकटचेलैया आयोग) के संदर्भ में निम्नलिखित कथनों पर विचार कीजिए: A. वर्ष 2000 में अटल बिहारी वाजपेयी सरकार ने सर्वोच्च न्यायालय के पूर्व मुख्य न्यायाधीश एम.एन. वेंकटचेलैया की अध्यक्षता में 11 सदस्यीय आयोग गठित किया था। B. इस आयोग का उद्देश्य संविधान के 50 वर्षों के कामकाज की समीक्षा करना और लोकतांत्रिक संस्थाओं को सुदृढ़ करने के उपाय सुझाना था। C. आयोग ने संसदीय शासन प्रणाली को पूरी तरह समाप्त कर अमेरिकी प्रकार की अध्यक्षात्मक शासन प्रणाली अपनाने की सिफारिश की थी। D. आयोग ने अपनी अंतिम रिपोर्ट वर्ष 2002 में केंद्र सरकार को सौंपी थी।</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85599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105/260</a:t>
            </a:r>
          </a:p>
        </p:txBody>
      </p:sp>
    </p:spTree>
  </p:cSld>
  <p:clrMapOvr>
    <a:masterClrMapping/>
  </p:clrMapOvr>
</p:sld>
</file>

<file path=ppt/slides/slide21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संविधान लागू होने के 50 वर्ष पूरे होने पर फरवरी 2000 में जस्टिस एम.एन. वेंकटचेलैया की अध्यक्षता में 'National Commission to Review the Working of the Constitution' (NCRWC) का गठन किया गया था। आयोग ने मार्च 2002 में अपनी विस्तृत रिपोर्ट दी। विपक्षी दलों ने प्रारंभ में आशंका जताई थी कि यह संविधान का मूल चरित्र बदलने का प्रयास है, किंतु आयोग ने स्पष्ट शब्दों में संसदीय लोकतंत्र, धर्मनिरपेक्षता और मूल ढांचे को अक्षुण्ण रखने की संस्तुति की। आयोग ने संसदीय प्रणाली को खत्म करने या अध्यक्षात्मक प्रणाली अपनाने की सिफारिश बिल्कुल नहीं की; उसने केवल चुनाव सुधार, दल-बदल पर कड़ाई, अंतर-राज्यीय परिषद को सक्रिय करने और नीति-निदेशक तत्वों को मजबूत करने के उपाय सुझाए, अतः कथन C असत्य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85599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105/260</a:t>
            </a:r>
          </a:p>
        </p:txBody>
      </p:sp>
    </p:spTree>
  </p:cSld>
  <p:clrMapOvr>
    <a:masterClrMapping/>
  </p:clrMapOvr>
</p:sld>
</file>

<file path=ppt/slides/slide21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106</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15 अगस्त 1947 को स्वतंत्रता प्राप्ति के समय नव-स्वतंत्र भारत के समक्ष उपस्थित तीन मुख्य चुनौतियों के संदर्भ में निम्नलिखित कथनों पर विचार कीजिए: A. प्रथम और सबसे तात्कालिक चुनौती विविधताओं से भरे भारत को एकता के सूत्र में बांधने और राष्ट्र-निर्माण की थी। B. दूसरी चुनौती संविधान में उल्लिखित लोकतांत्रिक आदर्शों, बहुदलीय प्रणाली और मौलिक अधिकारों को व्यावहारिक रूप से स्थापित करने की थी। C. तीसरी चुनौती ऐसे आर्थिक विकास की थी जिससे संपूर्ण समाज और विशेष रूप से वंचित वर्गों का समावेशी कल्याण सुनिश्चित हो सके। D. तत्कालीन समय में भारत की सबसे प्रमुख और गंभीर राष्ट्रीय चुनौती परमाणु आतंकवाद से मुक्ति पाना थी।</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90223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106/260</a:t>
            </a:r>
          </a:p>
        </p:txBody>
      </p:sp>
    </p:spTree>
  </p:cSld>
  <p:clrMapOvr>
    <a:masterClrMapping/>
  </p:clrMapOvr>
</p:sld>
</file>

<file path=ppt/slides/slide21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एनसीईआरटी राजनीति विज्ञान के अनुसार आजादी के समय भारत के सामने तीन बुनियादी चुनौतियां थीं: (1) एकता और अखंडता की चुनौती-विभाजन की हिंसा, शरणार्थियों की समस्या और 565 देशी रियासतों का विलय कर एक साझा राष्ट्रीय पहचान गढ़ना; (2) लोकतंत्र की स्थापना-सार्वभौम मताधिकार और संसदीय प्रणाली को एक निर्धन और निरक्षर देश में सफलतापूर्वक चलाना; और (3) समतामूलक आर्थिक विकास-गरीबी, अकाल और निरक्षरता को मिटाकर जन-कल्याणकारी राज्य बनाना। 1947 में आतंकवाद या परमाणु हथियार जैसी कोई समस्या भारत के सामने नहीं थी (यह उत्तरवर्ती शीतयुद्ध और आधुनिक काल की चुनौतियाँ हैं), अतः कथन D असत्य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90223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106/260</a:t>
            </a:r>
          </a:p>
        </p:txBody>
      </p:sp>
    </p:spTree>
  </p:cSld>
  <p:clrMapOvr>
    <a:masterClrMapping/>
  </p:clrMapOvr>
</p:sld>
</file>

<file path=ppt/slides/slide21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107</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के विभाजन (Partition of India, 1947) की प्रक्रिया और परिणामों के संदर्भ में निम्नलिखित कथनों पर विचार कीजिए: A. भारत का विभाजन मुस्लिम लीग द्वारा प्रतिपादित 'द्वि-राष्ट्र सिद्धांत' (Two-Nation Theory) की राजनीतिक परिणति था। B. पंजाब और बंगाल दो ऐसे प्रांत थे जिनका विभाजन धार्मिक बहुसंख्या के आधार पर जिलों के स्तर पर किया गया। C. विभाजन की मूल माउंटबेटन योजना में दोनों देशों के बीच आबादी की पूर्व-नियोजित और व्यवस्थित अदला-बदली की कोई लिखित योजना नहीं थी। D. विभाजन के परिणामस्वरूप लगभग 80 लाख लोगों को सीमा पार विस्थापित होना पड़ा और 5 से 10 लाख निर्दोष लोग सांप्रदायिक हिंसा में मारे गए।</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94848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107/260</a:t>
            </a:r>
          </a:p>
        </p:txBody>
      </p:sp>
    </p:spTree>
  </p:cSld>
  <p:clrMapOvr>
    <a:masterClrMapping/>
  </p:clrMapOvr>
</p:sld>
</file>

<file path=ppt/slides/slide21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14-15 अगस्त 1947 को भारत और पाकिस्तान दो स्वतंत्र अधिराज्य बने। ब्रिटिश इंडिया के मुस्लिम बहुल इलाके पूर्व (पूर्वी बंगाल) और पश्चिम (पश्चिमी पंजाब, सिंध, बलूचिस्तान, NWFP) में स्थित थे, इसलिए पाकिस्तान दो असंबद्ध हिस्सों में बना। ब्रिटिश हुकूमत और रेडक्लिफ आयोग ने सीमाओं की घोषणा आजादी के दो दिन बाद 17 अगस्त को की, जिससे सीमावर्ती क्षेत्रों में भारी अनिश्चितता और घबराहट फैल गई। विभाजन योजना में आबादी के शांतिपूर्ण स्थानांतरण का कोई पहले से तय रोडमैप नहीं था; अचानक हुए इस पलायन ने इतिहास के सबसे बड़े और खूनी मानव विस्थापन को जन्म दिया जिसमें लाखों लोग बेघर हुए और महिलाओं व बच्चों पर अमानवीय अत्याचार हुए। अतः सभी चारों कथन पूर्णतः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94848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107/260</a:t>
            </a:r>
          </a:p>
        </p:txBody>
      </p:sp>
    </p:spTree>
  </p:cSld>
  <p:clrMapOvr>
    <a:masterClrMapping/>
  </p:clrMapOvr>
</p:sld>
</file>

<file path=ppt/slides/slide21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108</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30 जनवरी 1948 को महात्मा गांधी की शहादत और उनके अंतिम दिनों के प्रयासों के संदर्भ में निम्नलिखित कथनों पर विचार कीजिए: A. आजादी के समय 15 अगस्त 1947 को गांधीजी दिल्ली के स्वतंत्रता समारोह में शामिल नहीं हुए बल्कि वे कोलकाता (नोआखली) में दंगा पीड़ितों के बीच शांति स्थापना कर रहे थे। B. जनवरी 1948 में गांधीजी ने दिल्ली में सांप्रदायिक सद्भाव और भारत द्वारा पाकिस्तान को उसके वित्तीय बकाये (55 करोड़ रुपये) का भुगतान करने के लिए आमरण अनशन किया था। C. हिंदू राष्ट्रवाद के कट्टरपंथी समर्थक नाथूराम गोडसे ने 30 जनवरी 1948 को बिड़ला भवन, दिल्ली में प्रार्थना सभा के दौरान गांधीजी की गोली मारकर हत्या कर दी। D. गांधीजी की हत्या के तुरंत बाद भारत सरकार ने भारतीय कम्युनिस्ट पार्टी (CPI) पर देशव्यापी पूर्ण प्रतिबंध लगा दिया था।</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99473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108/260</a:t>
            </a:r>
          </a:p>
        </p:txBody>
      </p:sp>
    </p:spTree>
  </p:cSld>
  <p:clrMapOvr>
    <a:masterClrMapping/>
  </p:clrMapOvr>
</p:sld>
</file>

<file path=ppt/slides/slide21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विभाजन की विभीषिका के समय महात्मा गांधी ने दिल्ली और बंगाल के दंगाग्रस्त इलाकों में अपनी जान जोखिम में डालकर शांति स्थापित की। उनका अंतिम अनशन दिल्ली में मुसलमानों की सुरक्षा और भारत सरकार द्वारा विभाजन समझौते के तहत पाकिस्तान को देय 55 करोड़ रुपये जारी कराने के लिए था। उनके इस मानवतावादी रुख से नाराज होकर कट्टरपंथी नाथूराम विनायक गोडसे ने उनकी हत्या कर दी। गांधीजी की शहादत के बाद देश में सांप्रदायिक हिंसा की लहर अचानक थम गई। तत्कालीन गृहमंत्री सरदार पटेल ने सांप्रदायिक नफरत फैलाने वाले संगठनों पर कठोर कार्रवाई करते हुए 'राष्ट्रीय स्वयंसेवक संघ' (RSS) पर फरवरी 1948 में प्रतिबंध लगाया था (कम्युनिस्ट पार्टी पर नहीं), अतः कथन D असत्य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99473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108/260</a:t>
            </a:r>
          </a:p>
        </p:txBody>
      </p:sp>
    </p:spTree>
  </p:cSld>
  <p:clrMapOvr>
    <a:masterClrMapping/>
  </p:clrMapOvr>
</p:sld>
</file>

<file path=ppt/slides/slide21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109</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स्वतंत्रता के समय भारतीय संघ में विलय को लेकर जटिल समस्या बनी देशी रियासतों और उनके शासकों/विलय प्रक्रिया का सही मिलान कीजिए: सूची-I (रियासत): सूची-I: A. हैदराबाद B. जूनागढ़ C. मणिपुर D. कश्मीर सूची-II: 1. जनमत संग्रह (Plebiscite) के आधार पर भारतीय संघ में विलय 2. महाराजा बोधचंद्र सिंह द्वारा भारत में सर्वप्रथम वयस्क मताधिकार से चुनाव (1948) 3. 'ऑपरेशन पोलो' (सैन्य कार्रवाई) के बाद निजाम उस्मान अली खान का आत्मसमर्पण 4. पाकिस्तानी कबायलियों के हमले के बाद महाराजा हरि सिंह द्वारा 'विलय पत्र' पर हस्ताक्षर</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C-2, D-4</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C-4, D-2</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B-2, C-1, D-4</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B-1, C-2, D-3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04098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109/260</a:t>
            </a:r>
          </a:p>
        </p:txBody>
      </p:sp>
    </p:spTree>
  </p:cSld>
  <p:clrMapOvr>
    <a:masterClrMapping/>
  </p:clrMapOvr>
</p:sld>
</file>

<file path=ppt/slides/slide21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A-3, B-1, C-2,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B-3, C-4, D-2</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B-2, C-1,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B-1, C-2, D-3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सरदार वल्लभभाई पटेल और वी.पी. मेनन ने कूटनीतिक सूझबूझ से 565 में से अधिकांश रियासतों को 'इंस्ट्रूमेंट ऑफ एक्सेशन' पर हस्ताक्षर कराकर भारत में मिलाया। चार रियासतों में विशेष कठिनाई आई: (1) हैदराबाद के निजाम ने स्वतंत्र रहने की जिद की और उसकी निजी सांप्रदायिक सेना 'रजाकारों' ने जनता पर अत्याचार किए, जिसके बाद सितंबर 1948 में भारतीय सेना ने 'ऑपरेशन पोलो' चलाकर उसे भारत में मिलाया; (2) जूनागढ़ के नवाब ने पाकिस्तान में विलय की घोषणा की, किंतु हिंदू बहुल जनता के विद्रोह के बाद फरवरी 1948 में जनमत संग्रह कराया गया जिसमें 99% जनता ने भारत चुना; (3) मणिपुर के राजा ने जून 1948 में संवैधानिक राजतंत्र के तहत भारत का पहला वयस्क मताधिकार चुनाव कराया और 1949 में पूर्ण विलय हुआ; (4) कश्मीर पर अक्टूबर 1947 में पाकिस्तान समर्थित कबायली आक्रमण के बाद महाराजा हरि सिंह ने 26 अक्टूबर 1947 को विलय पत्र पर हस्ताक्षर किए।</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04098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109/260</a:t>
            </a:r>
          </a:p>
        </p:txBody>
      </p:sp>
    </p:spTree>
  </p:cSld>
  <p:clrMapOvr>
    <a:masterClrMapping/>
  </p:clrMapOvr>
</p:sld>
</file>

<file path=ppt/slides/slide21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110</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हैदराबाद रियासत के भारतीय संघ में विलय और जन-संघर्ष के संदर्भ में निम्नलिखित कथनों पर विचार कीजिए: A. हैदराबाद के शासक को 'निजाम' कहा जाता था जो उस दौर में विश्व के सबसे धनी व्यक्तियों में गिना जाता था। B. तेलंगाना क्षेत्र के किसान और महिलाएं निजाम के सामंती और दमनकारी शासन के विरुद्ध ऐतिहासिक सशस्त्र संघर्ष में उठ खड़े हुए थे। C. निजाम ने जन-आंदोलन को कुचलने के लिए एक क्रूर सांप्रदायिक अर्ध-सैनिक बल भेजा था जिसे 'रजाकार' (Razakars) कहा जाता था। D. सितंबर 1948 में भारतीय नौसेना ने कराची बंदरगाह पर हमला करके निजाम को बिना किसी स्थलीय कार्रवाई के आत्मसमर्पण के लिए विवश किया था।</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08722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110/260</a:t>
            </a:r>
          </a:p>
        </p:txBody>
      </p:sp>
    </p:spTree>
  </p:cSld>
  <p:clrMapOvr>
    <a:masterClrMapping/>
  </p:clrMapOvr>
</p:sld>
</file>

<file path=ppt/slides/slide22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हैदराबाद दक्कन की सबसे बड़ी रियासत थी जिसका विस्तार महाराष्ट्र, कर्नाटक और आंध्र प्रदेश तक फैला हुआ था। निजाम मीर उस्मान अली खान ने नवंबर 1947 में भारत के साथ एक वर्ष का यथास्थिति समझौता किया था। तेलंगाना के किसानों ने कम्युनिस्टों और कांग्रेस के नेतृत्व में जमींदारों और निजाम के खिलाफ बड़ा विद्रोह किया। निजाम के समर्थक कासिम रिजवी के नेतृत्व में 'रजाकार' नामक उग्रवादी दस्ते ने हिंदुओं और आंदोलनकारियों की हत्याएं और लूटपाट की। आंतरिक शांति बहाल करने के लिए 13 सितंबर 1948 को भारत सरकार ने थल सेना भेजी (ऑपरेशन पोलो), जिसके बाद निजाम ने आत्मसमर्पण कर दिया (नौसैनिक हमले की बात पूरी तरह मनगढ़ंत है), अतः कथन D असत्य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08722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110/260</a:t>
            </a:r>
          </a:p>
        </p:txBody>
      </p:sp>
    </p:spTree>
  </p:cSld>
  <p:clrMapOvr>
    <a:masterClrMapping/>
  </p:clrMapOvr>
</p:sld>
</file>

<file path=ppt/slides/slide22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111</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स्वतंत्र भारत के किस भू-भाग में जून 1948 में सार्वभौमिक वयस्क मताधिकार (Universal Adult Suffrage) के सिद्धांत को अपनाकर देश का सबसे पहला लोकतांत्रिक चुनाव सफलतापूर्वक संपन्न कराया गया था?</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त्रावणकोर रियासत</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मणिपुर रियासत</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मद्रास प्रेसीडेंसी</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सौराष्ट्र संघ</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13347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111/260</a:t>
            </a:r>
          </a:p>
        </p:txBody>
      </p:sp>
    </p:spTree>
  </p:cSld>
  <p:clrMapOvr>
    <a:masterClrMapping/>
  </p:clrMapOvr>
</p:sld>
</file>

<file path=ppt/slides/slide22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मणिपुर रियासत</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त्रावणकोर रियासत</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मद्रास प्रेसीडेंसी</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सौराष्ट्र संघ</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मणिपुर भारत का वह पहला भाग है जहाँ आजादी के तुरंत बाद जून 1948 में सार्वभौमिक वयस्क मताधिकार के आधार पर चुनाव कराए गए। मणिपुर के महाराजा बोधचंद्र सिंह ने जनमत के भारी दबाव में राज्य में संवैधानिक राजतंत्र की स्थापना की और विधानसभा का गठन कराया। इसके बाद सितंबर 1949 में भारत सरकार ने महाराजा पर दबाव डालकर भारत में पूर्ण विलय के समझौते पर हस्ताक्षर करवाए, हालांकि मणिपुर की तत्कालीन निर्वाचित विधानसभा से इसकी पूर्व सहमति नहीं ली गई थी, जिससे स्थानीय स्तर पर लंबे समय तक असंतोष बना रहा।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13347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111/260</a:t>
            </a:r>
          </a:p>
        </p:txBody>
      </p:sp>
    </p:spTree>
  </p:cSld>
  <p:clrMapOvr>
    <a:masterClrMapping/>
  </p:clrMapOvr>
</p:sld>
</file>

<file path=ppt/slides/slide22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112</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भाषाई आधार पर राज्यों के पुनर्गठन और आंध्र प्रदेश के गठन के संदर्भ में निम्नलिखित कथनों पर विचार कीजिए: A. कांग्रेस के 1920 के नागपुर अधिवेशन में ही भाषाई आधार पर राज्यों और प्रांतीय कांग्रेस समितियों के गठन के सिद्धांत को स्वीकार कर लिया गया था। B. मद्रास प्रांत के तेलुगु भाषी इलाकों को अलग कर नया राज्य बनाने के लिए 'विशाल आंध्र आंदोलन' चला। C. गांधीवादी नेता पोट्टी श्रीरामुलु की अलग आंध्र राज्य की मांग को लेकर 56 दिनों के आमरण अनशन के बाद 15 दिसंबर 1952 को मृत्यु हो गई। D. प्रधानमंत्री जवाहरलाल नेहरू ने जनता के हिंसक विद्रोह के दबाव में दिसंबर 1952 में भाषाई आधार पर पहले राज्य 'आंध्र प्रदेश' के गठन की घोषणा की।</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17972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112/260</a:t>
            </a:r>
          </a:p>
        </p:txBody>
      </p:sp>
    </p:spTree>
  </p:cSld>
  <p:clrMapOvr>
    <a:masterClrMapping/>
  </p:clrMapOvr>
</p:sld>
</file>

<file path=ppt/slides/slide22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स्वतंत्रता आंदोलन के दौरान कांग्रेस ने भाषावार राज्यों का वादा किया था। किंतु आजादी के बाद विभाजन की त्रासदियों को देखते हुए नेहरू और पटेल को लगा कि भाषाई विभाजन से देश की एकता टूट सकती है और आर्थिक प्रगति बाधित होगी। मद्रास प्रांत के तेलुगु भाषियों ने इसके विरुद्ध बड़ा आंदोलन छेड़ा। स्वतंत्रता सेनानी पोट्टी श्रीरामुलु ने अनशन शुरू किया और 56 दिनों की भूख हड़ताल के बाद उनके निधन से पूरे आंध्र में हिंसक प्रदर्शन और पुलिस फायरिंग हुई। आखिरकार विवश होकर दिसंबर 1952 में पंडित नेहरू ने अलग आंध्र राज्य की घोषणा की, जो 1 अक्टूबर 1953 को औपचारिक रूप से अस्तित्व में आया। यह स्वतंत्र भारत में भाषा के आधार पर गठित पहला राज्य था। अतः सभी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17972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112/260</a:t>
            </a:r>
          </a:p>
        </p:txBody>
      </p:sp>
    </p:spTree>
  </p:cSld>
  <p:clrMapOvr>
    <a:masterClrMapping/>
  </p:clrMapOvr>
</p:sld>
</file>

<file path=ppt/slides/slide22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113</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'राज्य पुनर्गठन आयोग' (States Reorganisation Commission - SRC, 1953) के संदर्भ में निम्नलिखित कथनों पर विचार कीजिए: A. आंध्र प्रदेश के गठन के बाद देश के अन्य हिस्सों में भी भाषाई राज्यों की मांग को देखते हुए केंद्र सरकार ने 1953 में राज्य पुनर्गठन आयोग बनाया। B. इस आयोग के अध्यक्ष सर्वोच्च न्यायालय के पूर्व मुख्य न्यायाधीश न्यायमूर्ति फजल अली थे तथा के.एम. पणिक्कर व हृदयनाथ कुंजरू इसके सदस्य थे। C. आयोग ने अपनी रिपोर्ट में राज्यों की सीमाओं का पुनर्निर्धारण वहाँ की प्रचलित भाषा के आधार पर करने की सिफारिश को स्वीकार किया। D. इस आयोग की सिफारिशों के आधार पर संसद द्वारा पारित 'राज्य पुनर्गठन अधिनियम, 1956' के तहत 28 राज्य और 8 केंद्रशासित प्रदेश बनाए गए।</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22597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113/260</a:t>
            </a:r>
          </a:p>
        </p:txBody>
      </p:sp>
    </p:spTree>
  </p:cSld>
  <p:clrMapOvr>
    <a:masterClrMapping/>
  </p:clrMapOvr>
</p:sld>
</file>

<file path=ppt/slides/slide22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1953 में गठित फजल अली आयोग ने देश भर का दौरा कर 1955 में अपनी रिपोर्ट केंद्र सरकार को सौंपी। आयोग ने माना कि प्रशासनिक सुविधा और भाषाई एकता दोनों को मिलाकर राज्यों की सीमाएं तय की जानी चाहिए। इस रिपोर्ट के आधार पर संसद ने 'राज्य पुनर्गठन अधिनियम, 1956' पारित किया। इस अधिनियम के तहत 1 नवंबर 1956 को भारत में 14 राज्य और 6 केंद्रशासित प्रदेश स्थापित किए गए थे (28 राज्य और 8 केंद्रशासित प्रदेश नहीं, यह वर्तमान स्थिति है), इसलिए कथन D असत्य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22597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113/260</a:t>
            </a:r>
          </a:p>
        </p:txBody>
      </p:sp>
    </p:spTree>
  </p:cSld>
  <p:clrMapOvr>
    <a:masterClrMapping/>
  </p:clrMapOvr>
</p:sld>
</file>

<file path=ppt/slides/slide22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114</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1956 के बाद भारत में विभिन्न राज्यों के निर्माण/पुनर्गठन के वर्षों का सही मिलान कीजिए: सूची-I (राज्य पुनर्गठन): सूची-I: A. बंबई राज्य का विभाजन (गुजरात एवं महाराष्ट्र का गठन) B. नागालैंड का पृथक राज्य के रूप में गठन C. वृहत्तर पंजाब का विभाजन (हरियाणा एवं पंजाब का गठन) D. सिक्किम का भारतीय संघ में 22वें राज्य के रूप में पूर्ण विलय सूची-II: 1. 1966 2. 1960 3. 1975 4. 1963</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C-1, D-3</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B-2, C-1, D-3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27221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114/260</a:t>
            </a:r>
          </a:p>
        </p:txBody>
      </p:sp>
    </p:spTree>
  </p:cSld>
  <p:clrMapOvr>
    <a:masterClrMapping/>
  </p:clrMapOvr>
</p:sld>
</file>

<file path=ppt/slides/slide22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B-4, C-1,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C-3,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B-2, C-1, D-3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1956 के बाद भाषाई और क्षेत्रीय आंदोलनों के दबाव में नए राज्य बने: (1) 1 मई 1960 को महागुजरात और संयुक्त महाराष्ट्र आंदोलनों के बाद द्विभाषी बंबई राज्य को विभाजित कर गुजराती भाषी गुजरात (15वां राज्य) और मराठी भाषी महाराष्ट्र बनाए गए; (2) नगा उग्रवाद के समाधान के लिए असम से अलग कर 1 दिसंबर 1963 को नागालैंड (16वां राज्य) बना; (3) 1966 में शाह आयोग की सिफारिश पर पंजाबी सूबा आंदोलन के बाद हिंदी भाषी हरियाणा अलग हुआ और पहाड़ी हिस्से हिमाचल प्रदेश में जोड़े गए; (4) 36वें संविधान संशोधन 1975 द्वारा सिक्किम ने जनमत संग्रह के बाद भारत के 22वें राज्य के रूप में पूर्ण सदस्यता प्राप्त की।</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27221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114/260</a:t>
            </a:r>
          </a:p>
        </p:txBody>
      </p:sp>
    </p:spTree>
  </p:cSld>
  <p:clrMapOvr>
    <a:masterClrMapping/>
  </p:clrMapOvr>
</p:sld>
</file>

<file path=ppt/slides/slide22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स्वतंत्र भारत के प्रथम आम चुनाव (First General Elections, 1951-52) के संदर्भ में निम्नलिखित कथनों पर विचार कीजिए: A. सुकुमार सेन स्वतंत्र भारत के प्रथम मुख्य चुनाव आयुक्त (Chief Election Commissioner) बने। B. प्रथम आम चुनाव में लगभग 17 करोड़ पात्र मतदाता थे, जिनमें से लगभग 85 प्रतिशत मतदाता निरक्षर थे। C. पश्चिमी आलोचकों और अखबारों ने भारत में सार्वभौमिक वयस्क मताधिकार लागू करने को 'इतिहास का सबसे बड़ा जुआ' कहा था। D. 1952 के लोकसभा चुनाव में भारतीय राष्ट्रीय कांग्रेस को करारी हार का सामना करना पड़ा और कम्युनिस्ट पार्टी ने पूर्ण बहुमत से केंद्र में सरकार बनाई।</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31846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115/260</a:t>
            </a:r>
          </a:p>
        </p:txBody>
      </p:sp>
    </p:spTree>
  </p:cSld>
  <p:clrMapOvr>
    <a:masterClrMapping/>
  </p:clrMapOvr>
</p:sld>
</file>

<file path=ppt/slides/slide23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अक्टूबर 1951 से फरवरी 1952 तक चले पहले आम चुनाव विश्व लोकतंत्र के इतिहास का सबसे बड़ा प्रयोग थे। चुनाव आयुक्त सुकुमार सेन के नेतृत्व में 3 लाख से अधिक चुनाव कर्मियों को प्रशिक्षित किया गया और निरक्षर मतदाताओं के लिए चुनाव चिन्हों वाली मतपेटियों की व्यवस्था की गई। पश्चिमी विद्वानों का मानना था कि गरीबी और अशिक्षा के माहौल में निष्पक्ष चुनाव असंभव है। किंतु भारतीय जनता ने बढ़-चढ़कर अनुशासित मतदान कर दुनिया को चकित कर दिया। 489 लोकसभा सीटों में से कांग्रेस ने 364 सीटें जीतकर प्रचंड बहुमत प्राप्त किया और जवाहरलाल नेहरू पहले निर्वाचित प्रधानमंत्री बने; सीपीआई 16 सीटों के साथ दूसरे नंबर पर रही, अतः कथन D असत्य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31846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115/260</a:t>
            </a:r>
          </a:p>
        </p:txBody>
      </p:sp>
    </p:spTree>
  </p:cSld>
  <p:clrMapOvr>
    <a:masterClrMapping/>
  </p:clrMapOvr>
</p:sld>
</file>

<file path=ppt/slides/slide23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116</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वर्ष 1957 के विधानसभा चुनावों में दुनिया के इतिहास में पहली बार किस राज्य में लोकतांत्रिक चुनावों के जरिए एक कम्युनिस्ट (साम्यवादी) दल की सरकार बनी थी?</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पश्चिम बंगाल</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केरल</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त्रिपुरा</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आंध्र प्रदेश</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36471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116/260</a:t>
            </a:r>
          </a:p>
        </p:txBody>
      </p:sp>
    </p:spTree>
  </p:cSld>
  <p:clrMapOvr>
    <a:masterClrMapping/>
  </p:clrMapOvr>
</p:sld>
</file>

<file path=ppt/slides/slide23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केरल</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पश्चिम बंगाल</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त्रिपुरा</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आंध्र प्रदेश</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मार्च 1957 के केरल विधानसभा चुनावों में कम्युनिस्ट पार्टी ऑफ इंडिया (CPI) ने कुल 126 सीटों में से 60 सीटें जीतीं और 5 निर्दलीय विधायकों के समर्थन से सरकार बनाई। ई.एम.एस. नंबूदिरीपाद केरल के मुख्यमंत्री बने। यह विश्व इतिहास का पहला उदाहरण था जहाँ किसी साम्यवादी पार्टी ने किसी हिंसक क्रांति के बिना, लोकतांत्रिक मतपेटियों के जरिए सरकार बनाई थी। किंतु 1959 में केंद्र की कांग्रेस सरकार ने राज्य में भूमि सुधारों के विरोध में छिड़े 'विमोचन समरम' (मुक्ति संघर्ष) का सहारा लेकर अनुच्छेद 356 के तहत केरल की चुनी हुई नंबूदिरीपाद सरकार को विवादित रूप से बर्खास्त कर दिया।</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36471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116/260</a:t>
            </a:r>
          </a:p>
        </p:txBody>
      </p:sp>
    </p:spTree>
  </p:cSld>
  <p:clrMapOvr>
    <a:masterClrMapping/>
  </p:clrMapOvr>
</p:sld>
</file>

<file path=ppt/slides/slide23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117</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'भारतीय जनसंघ' (Bharatiya Jana Sangh) की विचारधारा और इतिहास के संदर्भ में निम्नलिखित कथनों पर विचार कीजिए: A. भारतीय जनसंघ की स्थापना वर्ष 1951 में डॉ. श्यामा प्रसाद मुखर्जी ने की थी। B. जनसंघ की विचारधारा 'एक देश, एक संस्कृति और एक राष्ट्र' के सिद्धांत पर आधारित थी और यह भारतीय संस्कृति के आधार पर आधुनिकता का पक्षधर था। C. जनसंघ ने भारत और पाकिस्तान को मिलाकर 'अखंड भारत' के निर्माण की वकालत की। D. 1964 में चीन द्वारा परमाणु परीक्षण किए जाने के बाद जनसंघ ने भारत द्वारा आणविक (परमाणु) हथियारों के निर्माण का कड़ा विरोध किया था।</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41096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117/260</a:t>
            </a:r>
          </a:p>
        </p:txBody>
      </p:sp>
    </p:spTree>
  </p:cSld>
  <p:clrMapOvr>
    <a:masterClrMapping/>
  </p:clrMapOvr>
</p:sld>
</file>

<file path=ppt/slides/slide23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राष्ट्रीय स्वयंसेवक संघ (RSS) की पृष्ठभूमि से 1951 में भारतीय जनसंघ का गठन हुआ जिसके पहले अध्यक्ष डॉ. श्यामा प्रसाद मुखर्जी बने और पंडित दीनदयाल उपाध्याय इसके प्रमुख विचारक-महासचिव थे। जनसंघ अंग्रेजी को हटाकर हिंदी को राष्ट्रभाषा बनाने, जम्मू-कश्मीर को दिए गए विशेष दर्जे (अनुच्छेद 370) को समाप्त करने और धार्मिक अल्पसंख्यकों को विशेष रियायतें न देने का प्रबल समर्थक था। अक्टूबर 1964 में जब चीन ने लोप नोर में अपना पहला परमाणु बम परीक्षण किया, तो जनसंघ देश की एकमात्र ऐसी प्रमुख पार्टी थी जिसने सबसे पहले यह मांग उठाई कि राष्ट्रीय सुरक्षा के लिए भारत को भी तुरंत अपने परमाणु हथियार विकसित करने चाहिए (उसने विरोध नहीं बल्कि पुरजोर समर्थन किया था), अतः कथन D असत्य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41096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117/260</a:t>
            </a:r>
          </a:p>
        </p:txBody>
      </p:sp>
    </p:spTree>
  </p:cSld>
  <p:clrMapOvr>
    <a:masterClrMapping/>
  </p:clrMapOvr>
</p:sld>
</file>

<file path=ppt/slides/slide23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118</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वर्ष 1959 में गठित 'स्वतंत्र पार्टी' (Swatantra Party) की आर्थिक एवं राजनीतिक नीतियों के संदर्भ में निम्नलिखित कथनों पर विचार कीजिए: A. स्वतंत्र पार्टी की स्थापना नागपुर कांग्रेस प्रस्ताव (जिसमें भूमि हदबंदी और सहकारी खेती की बात थी) के विरोध में अगस्त 1959 में हुई थी। B. इस पार्टी का नेतृत्व सी. राजगोपालाचारी, के.एम. मुंशी, एन.जी. रंगा और मीनू मसानी जैसे दिग्गज नेताओं ने किया था। C. स्वतंत्र पार्टी अर्थव्यवस्था में राज्य के न्यूनतम हस्तक्षेप, मुक्त बाजार (Free Market) और निजी उद्यम की स्वतंत्रता की कट्टर समर्थक थी। D. यह पार्टी भारत की 'गुटनिरपेक्षता की नीति' और सोवियत संघ के साथ करीबी मैत्री संबंधों की सबसे प्रबल समर्थक थी।</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45721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118/260</a:t>
            </a:r>
          </a:p>
        </p:txBody>
      </p:sp>
    </p:spTree>
  </p:cSld>
  <p:clrMapOvr>
    <a:masterClrMapping/>
  </p:clrMapOvr>
</p:sld>
</file>

<file path=ppt/slides/slide23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स्वतंत्र पार्टी भारत की पहली प्रमुख दक्षिणपंथी और बाजार-समर्थक पार्टी थी। इसका मानना था कि समृद्धि केवल व्यक्तिगत स्वतंत्रता और निजी पूंजी निवेश से आ सकती है, लाइसेंस-परमिट राज और भारी उद्योगों पर राज्य के एकाधिकार से नहीं। इस पार्टी को मुख्य रूप से बड़े उद्योगपतियों, पुराने राजा-महाराजाओं और समृद्ध किसानों का समर्थन प्राप्त था जो भूमि सुधारों से आशंकित थे। विदेश नीति के मामले में स्वतंत्र पार्टी नेहरू की गुटनिरपेक्षता और यूएसएसआर के प्रति झुकाव की घोर विरोधी थी; उसने खुलकर अमेरिका और पश्चिमी लोकतांत्रिक देशों के साथ सैन्य व आर्थिक गठबंधन बनाने की वकालत की थी, अतः कथन D असत्य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45721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118/260</a:t>
            </a:r>
          </a:p>
        </p:txBody>
      </p:sp>
    </p:spTree>
  </p:cSld>
  <p:clrMapOvr>
    <a:masterClrMapping/>
  </p:clrMapOvr>
</p:sld>
</file>

<file path=ppt/slides/slide23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119</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स्वतंत्रता के प्रारंभिक दशकों के प्रमुख राजनीतिक दलों और उनके संस्थापक नेताओं का सही मिलान कीजिए: सूची-I (दल): सूची-I: A. सोशलिस्ट पार्टी (Socialist Party) B. भारतीय जनसंघ (BJS) C. स्वतंत्र पार्टी (Swatantra Party) D. कम्युनिस्ट पार्टी ऑफ इंडिया (CPI) सूची-II: 1. चक्रवर्ती राजगोपालाचारी 2. डॉ. श्यामा प्रसाद मुखर्जी 3. आचार्य नरेंद्र देव एवं जयप्रकाश नारायण 4. ए.के. गोपालन एवं पी.सी. जोशी</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B-2, C-1, D-4</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B-3, C-4, D-1</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C-2, D-4</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B-2, C-1, D-3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50345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119/260</a:t>
            </a:r>
          </a:p>
        </p:txBody>
      </p:sp>
    </p:spTree>
  </p:cSld>
  <p:clrMapOvr>
    <a:masterClrMapping/>
  </p:clrMapOvr>
</p:sld>
</file>

<file path=ppt/slides/slide23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A-3, B-2, C-1,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B-3, C-4, D-1</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B-1, C-2,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B-2, C-1, D-3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कांग्रेस के भीतर 1934 में बने समाजवादी धड़े ने 1948 में अलग होकर 'सोशलिस्ट पार्टी' बनाई जिसके अगुआ आचार्य नरेंद्र देव, जयप्रकाश नारायण, अशोक मेहता और राममनोहर लोहिया थे। भारतीय जनसंघ 1951 में डॉ. श्यामा प्रसाद मुखर्जी और दीनदयाल उपाध्याय द्वारा स्थापित हुआ। स्वतंत्र पार्टी का गठन 1959 में भारत के प्रथम भारतीय गवर्नर जनरल सी. राजगोपालाचारी और मीनू मसानी ने किया। भारतीय कम्युनिस्ट पार्टी (भाकपा) की जड़ें 1920 के दशक के बोल्शेविक प्रभाव में थीं, जिसके प्रमुख नेताओं में ए.के. गोपालन, एस.ए. डांगे, पी.सी. जोशी और ई.एम.एस. नंबूदिरीपाद शामिल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50345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119/260</a:t>
            </a:r>
          </a:p>
        </p:txBody>
      </p:sp>
    </p:spTree>
  </p:cSld>
  <p:clrMapOvr>
    <a:masterClrMapping/>
  </p:clrMapOvr>
</p:sld>
</file>

<file path=ppt/slides/slide23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120</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1944 में भारत के प्रमुख उद्योगपतियों (जैसे जे.आर.डी. टाटा, जी.डी. बिड़ला आदि) द्वारा देश में नियोजित आर्थिक विकास और औद्योगिक निवेश में सरकार की बड़ी भूमिका के लिए तैयार किए गए संयुक्त प्रस्ताव को किस नाम से जाना जाता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दिल्ली घोषणापत्र</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बॉम्बे प्लान (Bombay Plan)</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पीपुल्स प्लान</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सर्वोदय योजना</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54970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120/260</a:t>
            </a:r>
          </a:p>
        </p:txBody>
      </p:sp>
    </p:spTree>
  </p:cSld>
  <p:clrMapOvr>
    <a:masterClrMapping/>
  </p:clrMapOvr>
</p:sld>
</file>

<file path=ppt/slides/slide24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बॉम्बे प्लान (Bombay Plan)</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दिल्ली घोषणापत्र</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पीपुल्स प्लान</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सर्वोदय योजना</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वर्ष 1944 में मुंबई में भारत के आठ शीर्ष उद्योगपतियों ने मिलकर देश के भावी आर्थिक पुनरुद्धार के लिए एक ऐतिहासिक साझा खाका तैयार किया जिसे 'बॉम्बे प्लान' (A Plan of Economic Development for India) कहा जाता है। इस प्रस्ताव की सबसे उल्लेखनीय विशेषता यह थी कि निजी पूंजीपतियों ने स्वयं यह स्वीकार किया कि भारत जैसे पिछड़े और गरीब देश में भारी उद्योगों, बुनियादी ढांचे (रेलवे, बिजली, इस्पात) और खनन में भारी पूंजी निवेश करने की क्षमता केवल सरकार के पास है। बॉम्बे प्लान ने नियोजन के विचार का जोरदार समर्थन किया जिसने स्वतंत्रता के बाद योजना आयोग और सार्वजनिक क्षेत्र (PSUs) के विस्तार का आधार तैयार किया।</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54970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120/260</a:t>
            </a:r>
          </a:p>
        </p:txBody>
      </p:sp>
    </p:spTree>
  </p:cSld>
  <p:clrMapOvr>
    <a:masterClrMapping/>
  </p:clrMapOvr>
</p:sld>
</file>

<file path=ppt/slides/slide24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में योजना आयोग के गठन और प्रथम पंचवर्षीय योजना (1951-1956) के संदर्भ में निम्नलिखित कथनों पर विचार कीजिए: A. योजना आयोग की स्थापना 15 मार्च 1950 को केंद्रीय मंत्रिमंडल के एक साधारण कार्यकारी प्रस्ताव द्वारा की गई थी (यह गैर-संवैधानिक व गैर-वैधानिक निकाय था)। B. 1 जनवरी 2015 को योजना आयोग के स्थान पर 'नीति आयोग' (NITI Aayog) की स्थापना की गई। C. प्रथम पंचवर्षीय योजना का मुख्य जोर कृषि, बांधों के निर्माण (जैसे भाखड़ा नांगल) और सिंचाई के विस्तार पर था। D. प्रथम पंचवर्षीय योजना को तैयार करने वाले अर्थशास्त्रियों में के.एन. राज शामिल थे जिन्होंने दलील दी थी कि भारत को विकास की रफ्तार बहुत तेज रखनी चाहिए।</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59595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121/260</a:t>
            </a:r>
          </a:p>
        </p:txBody>
      </p:sp>
    </p:spTree>
  </p:cSld>
  <p:clrMapOvr>
    <a:masterClrMapping/>
  </p:clrMapOvr>
</p:sld>
</file>

<file path=ppt/slides/slide24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योजना आयोग सोवियत संघ के नियोजन मॉडल से प्रेरित था और प्रधानमंत्री इसके पदेन अध्यक्ष होते थे; मोदी सरकार ने 1 जनवरी 2015 को इसके स्थान पर सहकारी संघवाद को बढ़ावा देने के लिए 'नेशनल इंस्टीट्यूशन फॉर ट्रांसफॉर्मिंग इंडिया' (नीति आयोग) बनाया। प्रथम योजना (1951-56) हैरोड-डोमर मॉडल पर आधारित थी और विभाजन के बाद खाद्यान्न संकट को दूर करने के लिए कृषि और सिंचाई पर सर्वाधिक निवेश किया गया। इस योजना के प्रमुख ड्राफ्टर युवा अर्थशास्त्री के.एन. राज थे, किंतु उनकी स्पष्ट दलील यह थी कि "अगले दो दशकों तक भारत को अपनी चाल धीमी रखनी चाहिए", क्योंकि बहुत तेज औद्योगीकरण से मुद्रास्फीति और आर्थिक अस्थिरता पैदा हो सकती है, अतः कथन D असत्य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59595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121/260</a:t>
            </a:r>
          </a:p>
        </p:txBody>
      </p:sp>
    </p:spTree>
  </p:cSld>
  <p:clrMapOvr>
    <a:masterClrMapping/>
  </p:clrMapOvr>
</p:sld>
</file>

<file path=ppt/slides/slide24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122</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दूसरी पंचवर्षीय योजना (1956-1961) और 'महालनोबिस मॉडल' के संदर्भ में निम्नलिखित कथनों पर विचार कीजिए: A. दूसरी योजना का मुख्य लक्ष्य तीव्र औद्योगीकरण और भारी उद्योगों (इस्पात, मशीनरी, रसायन) का विकास करना था। B. यह योजना प्रख्यात सांख्यिकीविद और भारतीय सांख्यिकी संस्थान (कलकत्ता) के संस्थापक पी.सी. महालनोबिस के मॉडल पर आधारित थी। C. घरेलू उद्योगों को विदेशी प्रतिस्पर्धा से बचाने के लिए सरकार ने आयात पर भारी प्रशुल्क (Tariffs) और कोटा नियंत्रण लगाए। D. दूसरी योजना ने पूरी तरह से पूंजीवादी अर्थव्यवस्था को अपनाया और सार्वजनिक क्षेत्र (Public Sector) की भूमिका को पूरी तरह समाप्त कर दिया।</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64220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122/260</a:t>
            </a:r>
          </a:p>
        </p:txBody>
      </p:sp>
    </p:spTree>
  </p:cSld>
  <p:clrMapOvr>
    <a:masterClrMapping/>
  </p:clrMapOvr>
</p:sld>
</file>

<file path=ppt/slides/slide24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दूसरी पंचवर्षीय योजना ने 1955 के अवादी कांग्रेस अधिवेशन में घोषित 'समाजवादी समाज की स्थापना' के लक्ष्य को मूर्त रूप दिया। प्रो. पी.सी. महालनोबिस के नेतृत्व में तैयार इस योजना ने भिलाई, राउरकेला और दुर्गापुर जैसे विशाल इस्पात संयंत्रों और सार्वजनिक उपक्रमों (PSUs) की स्थापना की। संरक्षणवाद (Protectionism) की नीति अपनाकर देशी उद्योगों को संरक्षण दिया गया। भारत ने न तो विशुद्ध पूंजीवादी मॉडल अपनाया और न ही सोवियत संघ का पूर्ण साम्यवादी मॉडल; भारत ने 'मिश्रित अर्थव्यवस्था' (Mixed Economy) की राह चुनी जहाँ सार्वजनिक क्षेत्र ने बुनियादी भारी उद्योगों का नेतृत्व किया और निजी क्षेत्र को कृषि, व्यापार व उपभोक्ता उद्योग सौंपे गए, अतः कथन D असत्य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64220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122/260</a:t>
            </a:r>
          </a:p>
        </p:txBody>
      </p:sp>
    </p:spTree>
  </p:cSld>
  <p:clrMapOvr>
    <a:masterClrMapping/>
  </p:clrMapOvr>
</p:sld>
</file>

<file path=ppt/slides/slide24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123</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विकास के संदर्भ में चर्चित 'केरल मॉडल' (Kerala Model of Development) की मुख्य विशेषता क्या रही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विशाल इस्पात कारखानों और भारी औद्योगिकीकरण पर सर्वाधिक पूंजीगत निवेश</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शिक्षा, स्वास्थ्य, भूमि सुधार, प्रभावी सार्वजनिक वितरण प्रणाली (PDS) और गरीबी उन्मूलन पर केंद्रित सामाजिक विकास</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निजी बहुराष्ट्रीय कंपनियों को अनियंत्रित कर छूट और श्रम कानूनों में अत्यधिक ढील देना</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कृषि क्षेत्र की पूरी तरह उपेक्षा कर केवल सॉफ्टवेयर सेवा क्षेत्र का विस्तार करना</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68844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123/260</a:t>
            </a:r>
          </a:p>
        </p:txBody>
      </p:sp>
    </p:spTree>
  </p:cSld>
  <p:clrMapOvr>
    <a:masterClrMapping/>
  </p:clrMapOvr>
</p:sld>
</file>

<file path=ppt/slides/slide24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शिक्षा, स्वास्थ्य, भूमि सुधार, प्रभावी सार्वजनिक वितरण प्रणाली (PDS) और गरीबी उन्मूलन पर केंद्रित सामाजिक विकास</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विशाल इस्पात कारखानों और भारी औद्योगिकीकरण पर सर्वाधिक पूंजीगत निवेश</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निजी बहुराष्ट्रीय कंपनियों को अनियंत्रित कर छूट और श्रम कानूनों में अत्यधिक ढील देना</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कृषि क्षेत्र की पूरी तरह उपेक्षा कर केवल सॉफ्टवेयर सेवा क्षेत्र का विस्तार करना</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केरल में विकास और नियोजन का एक अनूठा मॉडल उभरा जिसे अर्थशास्त्रियों ने 'केरल मॉडल' कहा। तुलनात्मक रूप से कम प्रति व्यक्ति आय और कमजोर औद्योगिक आधार होने के बावजूद केरल ने सामाजिक संकेतकों में पश्चिमी विकसित देशों जैसे परिणाम हासिल किए-शत-प्रतिशत साक्षरता, उच्च जीवन प्रत्याशा, कम शिशु मृत्यु दर और न्यूनतम मातृ मृत्यु दर। इसका कारण वहाँ की सरकारों द्वारा प्राथमिक शिक्षा, बेहतर सार्वजनिक स्वास्थ्य सेवाओं, वामपंथी सरकारों द्वारा किए गए सफल भूमि सुधारों और गांव-गांव तक राशन की प्रभावी खाद्य वितरण प्रणाली पर किया गया ऐतिहासिक निवेश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68844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123/260</a:t>
            </a:r>
          </a:p>
        </p:txBody>
      </p:sp>
    </p:spTree>
  </p:cSld>
  <p:clrMapOvr>
    <a:masterClrMapping/>
  </p:clrMapOvr>
</p:sld>
</file>

<file path=ppt/slides/slide24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124</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में 'हरित क्रांति' (Green Revolution) के प्रभाव और सामाजिक-आर्थिक परिणामों के संदर्भ में निम्नलिखित कथनों पर विचार कीजिए: A. 1960 के दशक के मध्य में सरकार ने खाद्य आत्मनिर्भरता के लिए उन क्षेत्रों में संसाधन लगाए जहाँ सिंचाई की सुविधा पहले से मौजूद थी। B. इसमें उच्च उत्पादकता वाले बीज (HYV Seeds), रासायनिक उर्वरक, कीटनाशक और रियायती बिजली-पानी की तकनीक अपनाई गई। C. हरित क्रांति का सबसे ज्यादा और सकारात्मक लाभ मुख्य रूप से पूर्वी उत्तर प्रदेश, बिहार और उड़ीसा के छोटे व सीमांत किसानों को मिला। D. हरित क्रांति के कारण पंजाब, हरियाणा और पश्चिमी उत्तर प्रदेश में 'मध्यम श्रेणी के भू-स्वामित्व वाले किसानों' (मझोले किसानों) का एक शक्तिशाली राजनीतिक वर्ग उभरा।</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D</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73469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124/260</a:t>
            </a:r>
          </a:p>
        </p:txBody>
      </p:sp>
    </p:spTree>
  </p:cSld>
  <p:clrMapOvr>
    <a:masterClrMapping/>
  </p:clrMapOvr>
</p:sld>
</file>

<file path=ppt/slides/slide24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1965-66 के भीषण अकाल और अमेरिकी 'पीएल-480' गेहूं पर निर्भरता के बाद भारत ने डॉ. एम.एस. स्वामीनाथन और सी. सुब्रमण्यम के नेतृत्व में नई कृषि नीति शुरू की। सरकार ने कमजोर क्षेत्रों के बजाय समृद्ध क्षेत्रों (पंजाब, हरियाणा, पश्चिमी यूपी) पर ध्यान केंद्रित किया जिससे गेहूं और चावल के उत्पादन में छलांग लगी। किंतु इसका एक क्षेत्रीय असंतुलन यह रहा कि इसका लाभ देश के बाकी हिस्सों (बिहार, बंगाल, ओडिशा) तक नहीं पहुंचा और इससे अमीर व गरीब किसानों के बीच खाई और चौड़ी हुई, इसलिए कथन C असत्य है। इस क्रांति ने ग्रामीण राजनीति में जाट, यादव, कुर्मी जैसी जातियों के समृद्ध किसानों को शक्तिशाली राजनीतिक ताकत बना दिया।</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73469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124/260</a:t>
            </a:r>
          </a:p>
        </p:txBody>
      </p:sp>
    </p:spTree>
  </p:cSld>
  <p:clrMapOvr>
    <a:masterClrMapping/>
  </p:clrMapOvr>
</p:sld>
</file>

<file path=ppt/slides/slide24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125</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'मिल्कमैन ऑफ इंडिया' के नाम से विख्यात वर्गीज कुरियन द्वारा 1970 में शुरू किए गए 'ऑपरेशन फ्लड' (Operation Flood) और श्वेत क्रांति के संबंध में सही तथ्य क्या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यह केवल शहरों में विदेशी दूध आयात करने की एक व्यापारिक सरकारी योजना थी</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इसने गुजरात सहकारी दुग्ध विपणन परिसंघ (अमूल) के मॉडल पर ग्रामीण दुग्ध उत्पादकों को उत्पादन और विपणन के राष्ट्रव्यापी तंत्र से जोड़कर गरीबी उन्मूलन किया</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इस योजना के कारण भारत दुनिया में दुग्ध उत्पादन में सबसे निचले पायदान पर पहुंच गया</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इसका मुख्य उद्देश्य डेयरी किसानों से दूध की खरीद पर पूर्ण सरकारी प्रतिबंध लगाना था</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78094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125/260</a:t>
            </a:r>
          </a:p>
        </p:txBody>
      </p:sp>
    </p:spTree>
  </p:cSld>
  <p:clrMapOvr>
    <a:masterClrMapping/>
  </p:clrMapOvr>
</p:sld>
</file>

<file path=ppt/slides/slide25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इसने गुजरात सहकारी दुग्ध विपणन परिसंघ (अमूल) के मॉडल पर ग्रामीण दुग्ध उत्पादकों को उत्पादन और विपणन के राष्ट्रव्यापी तंत्र से जोड़कर गरीबी उन्मूलन किया</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यह केवल शहरों में विदेशी दूध आयात करने की एक व्यापारिक सरकारी योजना थी</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इस योजना के कारण भारत दुनिया में दुग्ध उत्पादन में सबसे निचले पायदान पर पहुंच गया</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इसका मुख्य उद्देश्य डेयरी किसानों से दूध की खरीद पर पूर्ण सरकारी प्रतिबंध लगाना था</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डॉ. वर्गीज कुरियन ने गुजरात के आणंद में स्थापित 'अमूल' (Kaira District Co-operative Milk Producers' Union) के अनूठे मॉडल को पूरे देश में फैलाने के लिए 1970 में राष्ट्रीय डेयरी विकास बोर्ड (NDDB) के तहत 'ऑपरेशन फ्लड' प्रारंभ किया। यह केवल एक डेयरी योजना नहीं थी, बल्कि ग्रामीण विकास और महिला सशक्तिकरण का क्रांतिकारी आर्थिक आंदोलन था। इसने बिचौलियों का खात्मा कर करोड़ों छोटे और भूमिहीन किसानों को उनकी उपज का सीधा लाभ पहुंचाया। इसके परिणामस्वरूप भारत दुनिया का सबसे बड़ा दुग्ध उत्पादक देश बना और इसे 'श्वेत क्रांति' (White Revolution) के नाम से जाना जाता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78094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125/260</a:t>
            </a:r>
          </a:p>
        </p:txBody>
      </p:sp>
    </p:spTree>
  </p:cSld>
  <p:clrMapOvr>
    <a:masterClrMapping/>
  </p:clrMapOvr>
</p:sld>
</file>

<file path=ppt/slides/slide25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126</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स्वतंत्र भारत की विदेश नीति के बुनियादी सिद्धांतों और ऐतिहासिक संदर्भ के संबंध में निम्नलिखित कथनों पर विचार कीजिए: A. भारत की विदेश नीति का मुख्य आधार शीतयुद्ध के दोनों सैन्य गुटों (अमेरिकी नाटो और सोवियत वारसा पैक्ट) से स्वतंत्र रहकर 'गुटनिरपेक्षता' (Non-Alignment) की नीति अपनाना था। B. संविधान के अनुच्छेद 51 (राज्य के नीति-निदेशक तत्त्व) में अंतरराष्ट्रीय शांति और सुरक्षा की अभिवृद्धि के सिद्धांत को शामिल किया गया है। C. मार्च 1947 में पंडित नेहरू ने नई दिल्ली में ऐतिहासिक 'एशियाई संबंध सम्मेलन' (Asian Relations Conference) का आयोजन किया था। D. भारत ने शीतयुद्ध के दौरान दक्षिण अफ्रीका की रंगभेदी सरकार के साथ मजबूत रक्षा गठबंधन बनाकर उसका पूर्ण राजनयिक समर्थन किया था।</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82719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126/260</a:t>
            </a:r>
          </a:p>
        </p:txBody>
      </p:sp>
    </p:spTree>
  </p:cSld>
  <p:clrMapOvr>
    <a:masterClrMapping/>
  </p:clrMapOvr>
</p:sld>
</file>

<file path=ppt/slides/slide25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द्वितीय विश्व युद्ध के बाद दुनिया दो विरोधी परमाणु-सशस्त्र गुटों (पूंजीवादी अमेरिका और साम्यवादी सोवियत संघ) में बंट गई थी; नेहरू के नेतृत्व में भारत ने किसी भी गुट का पिछलग्गू बनने से इनकार कर स्वतंत्र विदेश नीति की राह चुनी। अनुच्छेद 51 राज्य को अंतरराष्ट्रीय विवादों को मध्यस्थता से निपटाने और अंतरराष्ट्रीय विधि का सम्मान करने का निर्देश देता है। आजादी से पूर्व ही मार्च 1947 में एशियाई एकता का सम्मेलन आयोजित किया गया। भारत ने दुनिया भर में साम्राज्यवाद और नस्लवाद का घोर विरोध किया; भारत दुनिया का पहला देश था जिसने दक्षिण अफ्रीका की रंगभेदी नीति के खिलाफ संयुक्त राष्ट्र में आवाज उठाई और उसके साथ सभी राजनयिक व खेल संबंध तोड़ लिए थे, अतः कथन D असत्य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82719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126/260</a:t>
            </a:r>
          </a:p>
        </p:txBody>
      </p:sp>
    </p:spTree>
  </p:cSld>
  <p:clrMapOvr>
    <a:masterClrMapping/>
  </p:clrMapOvr>
</p:sld>
</file>

<file path=ppt/slides/slide25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127</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गुटनिरपेक्ष आंदोलन (NAM) की स्थापना और ऐतिहासिक सम्मेलनों के संदर्भ में निम्नलिखित कथनों पर विचार कीजिए: A. वर्ष 1955 में इंडोनेशिया के बांडुंग शहर में संपन्न 'एफ्रो-एशियाई सम्मेलन' (Bandung Conference) में गुटनिरपेक्ष आंदोलन की मजबूत नींव पड़ी थी। B. गुटनिरपेक्ष आंदोलन का प्रथम शिखर सम्मेलन सितंबर 1961 में यूगोस्लाविया की राजधानी बेलग्रेड में आयोजित किया गया था। C. इस आंदोलन के पांच प्रमुख संस्थापक नेता नेहरू (भारत), नासिर (मिस्र), टीटो (यूगोस्लाविया), सुकर्णो (इंडोनेशिया) और क्वामे एनक्रूमा (घाना) थे। D. गुटनिरपेक्षता का अर्थ अंतरराष्ट्रीय राजनीति और घटनाओं से पूरी तरह आंखें मूंदकर तटस्थ या अलग-थलग (Isolationism) बैठ जाना था।</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87343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127/260</a:t>
            </a:r>
          </a:p>
        </p:txBody>
      </p:sp>
    </p:spTree>
  </p:cSld>
  <p:clrMapOvr>
    <a:masterClrMapping/>
  </p:clrMapOvr>
</p:sld>
</file>

<file path=ppt/slides/slide25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बांडुंग सम्मेलन (1955) ने नव-स्वतंत्र एशियाई और अफ्रीकी देशों की सामूहिक आवाज को बुलंद किया। सितंबर 1961 के बेलग्रेड सम्मेलन में 25 देशों की भागीदारी के साथ 'Non-Aligned Movement' (NAM) की विधिवत स्थापना हुई। नेहरू, नासिर और टीटो इस आंदोलन की मुख्य त्रिमूर्ति थे। नेहरू ने बार-बार स्पष्ट किया कि गुटनिरपेक्षता कोई पलायनवाद, अकर्मण्यता या 'तटस्थता' (Neutrality) नहीं है; भारत ने कोरियाई युद्ध, स्वेज नहर संकट और कांगो संकट में शांति बहाली और मध्यस्थता के लिए अत्यंत सक्रिय राजनयिक भूमिका निभाई थी, अतः कथन D असत्य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87343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127/260</a:t>
            </a:r>
          </a:p>
        </p:txBody>
      </p:sp>
    </p:spTree>
  </p:cSld>
  <p:clrMapOvr>
    <a:masterClrMapping/>
  </p:clrMapOvr>
</p:sld>
</file>

<file path=ppt/slides/slide25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128</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29 अप्रैल 1954 को भारत के प्रधानमंत्री जवाहरलाल नेहरू और चीन के प्रधानमंत्री चाऊ एन-लाई के बीच किन ऐतिहासिक सिद्धांतों पर आधारित शांतिपूर्ण सहअस्तित्व का समझौता हुआ था?</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शिमला सिद्धांत</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पंचशील सिद्धांत (Five Principles of Peaceful Coexistence)</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ताशकंद घोषणापत्र</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बांडुंग चार्टर</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91968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128/260</a:t>
            </a:r>
          </a:p>
        </p:txBody>
      </p:sp>
    </p:spTree>
  </p:cSld>
  <p:clrMapOvr>
    <a:masterClrMapping/>
  </p:clrMapOvr>
</p:sld>
</file>

<file path=ppt/slides/slide25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पंचशील सिद्धांत (Five Principles of Peaceful Coexistence)</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शिमला सिद्धांत</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ताशकंद घोषणापत्र</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बांडुंग चार्टर</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29 अप्रैल 1954 को भारत और चीन के बीच तिब्बत व्यापार और सीमा संबंधों पर ऐतिहासिक समझौता हुआ, जिसकी प्रस्तावना में 'पंचशील' के पांच सिद्धांत तय किए गए: (1) एक-दूसरे की क्षेत्रीय अखंडता और संप्रभुता का पारस्परिक सम्मान, (2) परस्पर अनाक्रमण (Non-aggression), (3) एक-दूसरे के आंतरिक मामलों में अहस्तक्षेप, (4) समानता और पारस्परिक लाभ, तथा (5) शांतिपूर्ण सहअस्तित्व (Peaceful Coexistence)। इस समझौते के साथ 'हिंदी-चीनी भाई-भाई' का नारा गूंजा, यद्यपि बाद के वर्षों में चीन द्वारा तिब्बत के दमन और भारतीय सीमाओं पर अतिक्रमण से यह विश्वास टूट गया।</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91968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128/260</a:t>
            </a:r>
          </a:p>
        </p:txBody>
      </p:sp>
    </p:spTree>
  </p:cSld>
  <p:clrMapOvr>
    <a:masterClrMapping/>
  </p:clrMapOvr>
</p:sld>
</file>

<file path=ppt/slides/slide25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129</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भारत-चीन सीमा विवाद और 1962 के युद्ध के संदर्भ में निम्नलिखित कथनों पर विचार कीजिए: A. 1950 में चीन ने तिब्बत पर सैन्य नियंत्रण स्थापित कर लिया और 1959 में तिब्बती धर्मगुरु दलाई लामा ने भारत से राजनीतिक शरण मांगी। B. भारत सरकार ने दलाई लामा और हजारों तिब्बती शरणार्थियों को शरण दी, जिसके बाद उनका मुख्य निवास हिमाचल प्रदेश का धर्मशाला बना। C. चीन भारतीय क्षेत्र के दो मुख्य हिस्सों-पश्चिमी क्षेत्र में लद्दाख के 'अक्साई चिन' और पूर्वी क्षेत्र में 'नेफा' (वर्तमान अरुणाचल प्रदेश) पर अपना दावा करता है। D. अक्टूबर 1962 में भारत ने चीन पर अचानक सैन्य हमला करके तिब्बत को चीनी नियंत्रण से पूरी तरह मुक्त करा लिया था।</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96593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129/260</a:t>
            </a:r>
          </a:p>
        </p:txBody>
      </p:sp>
    </p:spTree>
  </p:cSld>
  <p:clrMapOvr>
    <a:masterClrMapping/>
  </p:clrMapOvr>
</p:sld>
</file>

<file path=ppt/slides/slide25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1950 में चीन द्वारा तिब्बत के स्वायत्त दर्जे को समाप्त किए जाने और सांस्कृतिक दमन के विरोध में 1959 में ल्हासा में सशस्त्र विद्रोह हुआ। दलाई लामा के भारत आने पर शरण दिए जाने को चीन ने अपने आंतरिक मामलों में हस्तक्षेप माना। सीमा पर मैकमोहन रेखा को अस्वीकार करते हुए चीन ने अक्साई चिन में सड़क बना ली। 20 अक्टूबर 1962 को चीन ने लद्दाख और नेफा (अरुणाचल प्रदेश) में भारतीय चौकियों पर अचानक एकतरफा भारी सैन्य हमला बोल दिया, जिसमें भारतीय सेना को विषम परिस्थितियों में भारी क्षति उठानी पड़ी और असम के मैदानी इलाकों तक खतरा मंडराने लगा। भारत ने हमला नहीं किया था बल्कि भारत चीनी आक्रमण का शिकार हुआ था, अतः कथन D असत्य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96593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129/260</a:t>
            </a:r>
          </a:p>
        </p:txBody>
      </p:sp>
    </p:spTree>
  </p:cSld>
  <p:clrMapOvr>
    <a:masterClrMapping/>
  </p:clrMapOvr>
</p:sld>
</file>

<file path=ppt/slides/slide25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130</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भारत-पाकिस्तान के बीच हुए ऐतिहासिक युद्धों, संधियों और समझौतों का सही मिलान कीजिए: सूची-I (संधि/समझौता): सूची-I: A. सिंधु जल संधि (Indus Waters Treaty) B. ताशकंद समझौता (Tashkent Agreement) C. शिमला समझौता (Simla Agreement) D. लाहौर घोषणापत्र (Lahore Declaration) सूची-II: 1. 1966 - लाल बहादुर शास्त्री और अयूब खान (सोवियत मध्यस्थता) 2. 1960 - जवाहरलाल नेहरू और अयूब खान (विश्व बैंक की मध्यस्थता) 3. 1999 - अटल बिहारी वाजपेयी और नवाज शरीफ 4. 1972 - इंदिरा गांधी और जुल्फिकार अली भुट्टो</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C-1, D-3</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C-4, D-2</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01218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130/260</a:t>
            </a:r>
          </a:p>
        </p:txBody>
      </p:sp>
    </p:spTree>
  </p:cSld>
  <p:clrMapOvr>
    <a:masterClrMapping/>
  </p:clrMapOvr>
</p:sld>
</file>

<file path=ppt/slides/slide26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B-1, C-4,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C-3,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B-4, C-1,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B-1, C-4, D-2</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सितंबर 1960 में कराची में विश्व बैंक की मध्यस्थता से सिंधु नदी जल बंटवारे का ऐतिहासिक समझौता हुआ जो कई युद्धों के बावजूद आज तक कायम है। सितंबर 1965 के भारत-पाक युद्ध के बाद सोवियत संघ (अलेक्सी कोसिगिन) की मध्यस्थता से उज्बेकिस्तान की राजधानी ताशकंद में 10 जनवरी 1966 को शांति समझौता हुआ, जिसके कुछ ही घंटों बाद प्रधानमंत्री लाल बहादुर शास्त्री का असामयिक देहांत हो गया। दिसंबर 1971 के युद्ध में पाकिस्तान की करारी हार और 93,000 सैनिकों के आत्मसमर्पण के बाद जुलाई 1972 में दोनों देशों ने द्विपक्षीय बातचीत से मसले हल करने के लिए शिमला समझौते पर हस्ताक्षर किए। फरवरी 1999 में प्रधानमंत्री वाजपेयी ने सदा-ए-सरहद बस यात्रा कर लाहौर घोषणापत्र पर हस्ताक्षर किए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01218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130/260</a:t>
            </a:r>
          </a:p>
        </p:txBody>
      </p:sp>
    </p:spTree>
  </p:cSld>
  <p:clrMapOvr>
    <a:masterClrMapping/>
  </p:clrMapOvr>
</p:sld>
</file>

<file path=ppt/slides/slide26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की 'परमाणु नीति' (Nuclear Policy) के ऐतिहासिक विकास के संदर्भ में निम्नलिखित कथनों पर विचार कीजिए: A. भारत के परमाणु कार्यक्रम की शुरुआत 1940 के दशक के उत्तरार्ध में डॉ. होमी जहांगीर भाभा के निर्देशन में हुई थी। B. भारत ने मई 1974 में पोखरण (राजस्थान) में अपना पहला भूमिगत परमाणु परीक्षण किया जिसे सरकार ने 'शांतिपूर्ण परमाणु परीक्षण' करार दिया। C. भारत ने 1968 की 'परमाणु अप्रसार संधि' (NPT) और 1996 की 'सीटीबीटी' (CTBT) को भेदभावपूर्ण मानते हुए उन पर हस्ताक्षर करने से इनकार कर दिया। D. भारत की आधिकारिक परमाणु नीति 'पहले हमला' (First Use) करने की आक्रामक सैन्य नीति पर आधारित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05842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131/260</a:t>
            </a:r>
          </a:p>
        </p:txBody>
      </p:sp>
    </p:spTree>
  </p:cSld>
  <p:clrMapOvr>
    <a:masterClrMapping/>
  </p:clrMapOvr>
</p:sld>
</file>

<file path=ppt/slides/slide26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नेहरू शांतिपूर्ण कार्यों (बिजली, चिकित्सा) के लिए परमाणु ऊर्जा के समर्थक थे किंतु सुरक्षा परिषद के 5 देशों के परमाणु एकाधिकार के वे खिलाफ थे। मई 1974 में इंदिरा गांधी के समय 'ऑपरेशन स्माइलिंग बुद्धा' के तहत पोखरण में सफल परीक्षण हुआ। 1968 की NPT पर भारत का मुख्य आक्षेप यह था कि यह संधि उन 5 देशों को हथियार रखने की छूट देती है जिन्होंने 1967 से पहले परीक्षण किए, जबकि शेष विश्व पर पाबंदी लगाती है। मई 1998 में पोखरण-2 (ऑपरेशन शक्ति) के तहत 5 परीक्षण करने के बाद भारत ने अपना परमाणु सिद्धांत (Nuclear Doctrine) घोषित किया जिसकी बुनियादी नीति 'नो फर्स्ट यूज' (No First Use - पहले प्रयोग नहीं) और विश्वसनीय न्यूनतम निवारक क्षमता (Credible Minimum Deterrence) है, अतः कथन D असत्य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05842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131/260</a:t>
            </a:r>
          </a:p>
        </p:txBody>
      </p:sp>
    </p:spTree>
  </p:cSld>
  <p:clrMapOvr>
    <a:masterClrMapping/>
  </p:clrMapOvr>
</p:sld>
</file>

<file path=ppt/slides/slide26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132</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1960 के दशक में कांग्रेस पार्टी के भीतर 'सिंडिकेट' (Syndicate) के प्रभाव और राजनीतिक भूमिका के संदर्भ में निम्नलिखित कथनों पर विचार कीजिए: A. 'सिंडिकेट' कांग्रेस के भीतर गैर-हिंदी भाषी और शक्तिशाली प्रांतीय नेताओं का एक अनौपचारिक प्रभावशाली समूह था। B. सिंडिकेट के प्रमुख नेताओं में के. कामराज (मद्रास), एस. निजलिंगप्पा (मैसूर), एस.के. पाटिल (बंबई) और अतुल्य घोष (पश्चिम बंगाल) शामिल थे। C. सिंडिकेट ने लाल बहादुर शास्त्री और 1966 में इंदिरा गांधी को प्रधानमंत्री पद पर आसीन कराने में निर्णायक भूमिका निभाई थी। D. सिंडिकेट ने प्रधानमंत्री पद के लिए मोरारजी देसाई का एकतरफा समर्थन किया था और इंदिरा गांधी की उम्मीदवारी का कड़ा विरोध किया था।</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10467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132/260</a:t>
            </a:r>
          </a:p>
        </p:txBody>
      </p:sp>
    </p:spTree>
  </p:cSld>
  <p:clrMapOvr>
    <a:masterClrMapping/>
  </p:clrMapOvr>
</p:sld>
</file>

<file path=ppt/slides/slide26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1964 में नेहरू के निधन के बाद कांग्रेस के सांगठनिक नियंत्रण वाले पुराने और दिग्गज क्षत्रपों के गुट को राजनीतिक हलकों में 'सिंडिकेट' कहा जाता था। इसके अगुआ कांग्रेस अध्यक्ष के. कामराज थे। सिंडिकेट को लगा था कि युवा और अपेक्षाकृत कम अनुभवी इंदिरा गांधी उनकी सलाह और नियंत्रण पर निर्भर रहेंगी, इसलिए उन्होंने 1966 में मोरारजी देसाई को गुप्त मतदान में 355 बनाम 169 मतों से हराकर इंदिरा गांधी को प्रधानमंत्री बनवाया (मोरारजी का समर्थन नहीं किया था), अतः कथन D असत्य है। आगे चलकर जब इंदिरा गांधी ने स्वतंत्र निर्णय लेने शुरू किए, तो सिंडिकेट और प्रधानमंत्री के बीच तीखा सत्ता संघर्ष शुरू हो गया।</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10467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132/260</a:t>
            </a:r>
          </a:p>
        </p:txBody>
      </p:sp>
    </p:spTree>
  </p:cSld>
  <p:clrMapOvr>
    <a:masterClrMapping/>
  </p:clrMapOvr>
</p:sld>
</file>

<file path=ppt/slides/slide26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133</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1963 में कांग्रेस पार्टी के सांगठनिक पुनरुद्धार के लिए किस दिग्गज नेता ने यह ऐतिहासिक प्रस्ताव रखा था कि सभी वरिष्ठ मंत्रियों को सरकार से इस्तीफा देकर पार्टी संगठन के काम में जुट जाना चाहिए?</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लाल बहादुर शास्त्री</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कुमारस्वामी कामराज (के. कामराज)</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सी. राजगोपालाचारी</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एस.के. पाटिल</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15092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133/260</a:t>
            </a:r>
          </a:p>
        </p:txBody>
      </p:sp>
    </p:spTree>
  </p:cSld>
  <p:clrMapOvr>
    <a:masterClrMapping/>
  </p:clrMapOvr>
</p:sld>
</file>

<file path=ppt/slides/slide26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कुमारस्वामी कामराज (के. कामराज)</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लाल बहादुर शास्त्री</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 राजगोपालाचारी</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एस.के. पाटिल</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स्वतंत्रता सेनानी और मद्रास (तमिलनाडु) के पूर्व मुख्यमंत्री के. कामराज ने 1963 में यह ऐतिहासिक सांगठनिक फॉर्मूला पेश किया था जिसे 'कामराज योजना' (Kamraj Plan) कहा जाता है। कामराज ने स्वयं मुख्यमंत्री पद से इस्तीफा देकर मिसाल कायम की और उनके प्रस्ताव पर लाल बहादुर शास्त्री, मोरारजी देसाई, जगजीवन राम, बीजू पटनायक और एस.के. पाटिल जैसे दर्जन भर केंद्रीय मंत्रियों और मुख्यमंत्रियों ने पद त्यागकर संगठन को मजबूत करने का बीड़ा उठाया। कामराज बाद में कांग्रेस के राष्ट्रीय अध्यक्ष बने और उन्होंने तमिलनाडु में स्कूली बच्चों के लिए प्रसिद्ध 'दोपहर का भोजन योजना' (Mid-day Meal) की पहली बार शुरुआत की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15092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133/260</a:t>
            </a:r>
          </a:p>
        </p:txBody>
      </p:sp>
    </p:spTree>
  </p:cSld>
  <p:clrMapOvr>
    <a:masterClrMapping/>
  </p:clrMapOvr>
</p:sld>
</file>

<file path=ppt/slides/slide26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134</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वर्ष 1969 के ऐतिहासिक राष्ट्रपति चुनाव और कांग्रेस के विभाजन के संदर्भ में निम्नलिखित कथनों पर विचार कीजिए: A. मई 1969 में राष्ट्रपति डॉ. जाकिर हुसैन के आकस्मिक निधन के कारण राष्ट्रपति का पद रिक्त हुआ था। B. सिंडिकेट के नियंत्रण वाले कांग्रेस संसदीय बोर्ड ने इंदिरा गांधी की असहमति के बावजूद लोकसभा अध्यक्ष नीलम संजीव रेड्डी को अपना उम्मीदवार बनाया। C. इंदिरा गांधी ने तत्कालीन उपराष्ट्रपति वी.वी. गिरि को निर्दलीय (स्वतंत्र) उम्मीदवार के रूप में चुनाव लड़ने के लिए प्रोत्साहित किया। D. इंदिरा गांधी ने कांग्रेस सांसदों और विधायकों को पार्टी व्हिप का पालन करते हुए आधिकारिक उम्मीदवार संजीव रेड्डी को वोट देने का कड़ा व्हिप जारी किया था।</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19717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134/260</a:t>
            </a:r>
          </a:p>
        </p:txBody>
      </p:sp>
    </p:spTree>
  </p:cSld>
  <p:clrMapOvr>
    <a:masterClrMapping/>
  </p:clrMapOvr>
</p:sld>
</file>

<file path=ppt/slides/slide26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1969 का राष्ट्रपति चुनाव स्वतंत्र भारत के राजनीतिक इतिहास का टर्निंग पॉइंट था। सिंडिकेट ने इंदिरा गांधी को हाशिए पर धकेलने के लिए संजीव रेड्डी को प्रत्याशी बनाया। इंदिरा गांधी ने पलटवार करते हुए वी.वी. गिरि को स्वतंत्र मैदान में उतारा और कांग्रेस अध्यक्ष निजलिंगप्पा द्वारा जारी व्हिप के विरुद्ध जाकर सांसदों-विधायकों से अपनी 'अंतरात्मा की आवाज' (Conscience Vote) पर मतदान करने की ऐतिहासिक अपील की। वी.वी. गिरि की जीत हुई और संजीव रेड्डी हार गए। इसके तुरंत बाद कांग्रेस अध्यक्ष ने अनुशासनहीनता के आरोप में प्रधानमंत्री इंदिरा गांधी को पार्टी से निष्कासित कर दिया, जिससे कांग्रेस दो भागों-कांग्रेस (O - संगठन/सिंडिकेट) और कांग्रेस (R - रिक्विजिशनिस्ट/इंदिरा गुट) में विभाजित हो गई, अतः कथन D असत्य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19717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134/260</a:t>
            </a:r>
          </a:p>
        </p:txBody>
      </p:sp>
    </p:spTree>
  </p:cSld>
  <p:clrMapOvr>
    <a:masterClrMapping/>
  </p:clrMapOvr>
</p:sld>
</file>

<file path=ppt/slides/slide26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135</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इंदिरा गांधी की सरकार द्वारा देशी रियासतों के पूर्व राजा-महाराजाओं को 1947 के विलय के समय से दिए जा रहे किस विशेष अधिकार और भत्तों को 1971 में 26वें संविधान संशोधन द्वारा पूरी तरह समाप्त कर दिया गया?</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जमींदारी पट्टा</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प्रिवी पर्स (Privy Purse)</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जागीरदारी पेंशन</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शाही सनद भत्ता</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24341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135/260</a:t>
            </a:r>
          </a:p>
        </p:txBody>
      </p:sp>
    </p:spTree>
  </p:cSld>
  <p:clrMapOvr>
    <a:masterClrMapping/>
  </p:clrMapOvr>
</p:sld>
</file>

<file path=ppt/slides/slide27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प्रिवी पर्स (Privy Purse)</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जमींदारी पट्टा</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जागीरदारी पेंशन</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शाही सनद भत्ता</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1947 में 565 रियासतों का भारत में शांतिपूर्ण विलय सुनिश्चित करने के लिए सरदार पटेल और भारत सरकार ने राजा-महाराजाओं को उनकी निजी संपत्ति रखने और उनके राज्य के आकार व राजस्व के आधार पर सरकारी खजाने से आजीवन कर-मुक्त निश्चित वार्षिक भत्ता देने की संवैधानिक गारंटी दी थी, जिसे 'प्रिवी पर्स' (Privy Purse) कहा जाता था। 1967 के चुनावों के बाद इंदिरा गांधी ने इसे समानता के लोकतांत्रिक सिद्धांत के खिलाफ बताते हुए समाप्त करने की ठानी। मोरारजी देसाई जैसे नेताओं ने इसे नैतिक विश्वासघात माना। 1970 में जब सुप्रीम कोर्ट ने सरकार के अध्यादेश को रद्द कर दिया, तो 1971 के आम चुनाव में 'गरीबी हटाओ' के भारी बहुमत के बाद संसद ने 26वां संविधान संशोधन 1971 पारित कर प्रिवी पर्स और राजाओं के विशेषाधिकारों को हमेशा के लिए समाप्त कर दिया।</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24341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135/260</a:t>
            </a:r>
          </a:p>
        </p:txBody>
      </p:sp>
    </p:spTree>
  </p:cSld>
  <p:clrMapOvr>
    <a:masterClrMapping/>
  </p:clrMapOvr>
</p:sld>
</file>

<file path=ppt/slides/slide27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136</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वर्ष 1971 के पाँचवें लोकसभा आम चुनाव और 'गरीबी हटाओ' के नारे के संदर्भ में निम्नलिखित कथनों पर विचार कीजिए: A. 1971 के चुनाव में सभी प्रमुख गैर-कम्युनिस्ट और गैर-कांग्रेसी विपक्षी दलों (SSP, PSP, जनसंघ, स्वतंत्र पार्टी) ने मिलकर 'ग्रैंड अलायंस' (महागठबंधन) बनाया था। B. विपक्षी महागठबंधन का एकमात्र साझा नकारात्मक राजनीतिक कार्यक्रम 'इंदिरा हटाओ' था। C. इसके प्रत्युत्तर में इंदिरा गांधी ने एक सकारात्मक और जन-आकर्षक सामाजिक-आर्थिक नारा 'गरीबी हटाओ' दिया। D. 1971 के चुनाव में इंदिरा गांधी की कांग्रेस (R) को भारी पराजय मिली और विपक्षी महागठबंधन ने पूर्ण बहुमत से सरकार बनाई।</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28966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136/260</a:t>
            </a:r>
          </a:p>
        </p:txBody>
      </p:sp>
    </p:spTree>
  </p:cSld>
  <p:clrMapOvr>
    <a:masterClrMapping/>
  </p:clrMapOvr>
</p:sld>
</file>

<file path=ppt/slides/slide27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1971 का चुनाव भारतीय राजनीति में इंदिरा गांधी की निर्विवाद लोकप्रियता की पुनर्स्थापना का चुनाव था। सिंडिकेट वाली कांग्रेस (O) और तमाम दक्षिणपंथी व समाजवादी विपक्षी दलों ने एक संयुक्त मोर्चा (Grand Alliance) बनाकर चुनाव लड़ा, किंतु उनके पास कोई वैकल्पिक नीति नहीं थी, केवल एक नारा था-'इंदिरा हटाओ'। इंदिरा गांधी ने 14 बैंकों के राष्ट्रीयकरण, प्रिवी पर्स समाप्ति और भूमिहीनों के कल्याण के आधार पर 'गरीबी हटाओ' का ऐतिहासिक नारा देकर गरीबों, दलितों, महिलाओं और अल्पसंख्यकों का अभूतपूर्व समर्थन हासिल किया। कांग्रेस (R) और भाकपा गठबंधन ने 375 सीटें जीतकर विपक्ष का पूरी तरह सफाया कर दिया, अतः कथन D असत्य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28966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136/260</a:t>
            </a:r>
          </a:p>
        </p:txBody>
      </p:sp>
    </p:spTree>
  </p:cSld>
  <p:clrMapOvr>
    <a:masterClrMapping/>
  </p:clrMapOvr>
</p:sld>
</file>

<file path=ppt/slides/slide27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137</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1974 के गुजरात एवं बिहार के छात्र आंदोलनों और जयप्रकाश नारायण (JP) के नेतृत्व के संदर्भ में निम्नलिखित कथनों पर विचार कीजिए: A. जनवरी 1974 में गुजरात के छात्रों ने खाद्यान्न संकट, बढ़ती कीमतों और भ्रष्टाचार के विरुद्ध आंदोलन शुरू किया, जिसने राष्ट्रपति शासन लगवाया। B. मार्च 1974 में बिहार के छात्रों ने जयप्रकाश नारायण (जेपी) को अपने आंदोलन का नेतृत्व संभालने के लिए आमंत्रित किया। C. जेपी ने आंदोलन की कमान इस शर्त पर स्वीकार की कि आंदोलन पूर्णतः अहिंसक रहेगा और यह केवल बिहार तक सीमित न रहकर राष्ट्रव्यापी होगा। D. जयप्रकाश नारायण ने सामाजिक, आर्थिक और राजनीतिक व्यवस्था में आमूलचूल बदलाव के लिए 'सांस्कृतिक क्रांति' का नारा दिया था।</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33591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137/260</a:t>
            </a:r>
          </a:p>
        </p:txBody>
      </p:sp>
    </p:spTree>
  </p:cSld>
  <p:clrMapOvr>
    <a:masterClrMapping/>
  </p:clrMapOvr>
</p:sld>
</file>

<file path=ppt/slides/slide27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1973-74 में अंतरराष्ट्रीय तेल संकट, मानसून की विफलता और 30% तक बढ़ी महंगाई से देश भर में व्यापक जन-असंतोष था। गुजरात में नवनिर्माण आंदोलन के बाद मोरारजी देसाई के अनशन के दबाव में विधानसभा भंग हुई। बिहार में जेपी ने सक्रिय राजनीति से संन्यास तोड़कर छात्रों के आंदोलन का नेतृत्व संभाला। उन्होंने केवल सरकार बदलने की नहीं, बल्कि राजनीति, शिक्षा, समाज और अर्थव्यवस्था में बुनियादी नैतिक परिवर्तन के लिए ऐतिहासिक 'संपूर्ण क्रांति' (Total Revolution) का नारा दिया था (माओ की 'सांस्कृतिक क्रांति' नहीं), अतः कथन D असत्य है। जेपी ने संसद मार्च का नेतृत्व किया और सेना व पुलिस से असंवैधानिक आदेश न मानने की अपील की।</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33591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137/260</a:t>
            </a:r>
          </a:p>
        </p:txBody>
      </p:sp>
    </p:spTree>
  </p:cSld>
  <p:clrMapOvr>
    <a:masterClrMapping/>
  </p:clrMapOvr>
</p:sld>
</file>

<file path=ppt/slides/slide27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138</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मई 1974 में जॉर्ज फर्नांडिस के नेतृत्व में किस केंद्रीय सार्वजनिक क्षेत्र के कर्मचारियों ने अपनी सेवा शर्तों और बोनस की मांगों को लेकर 20 दिनों की ऐतिहासिक राष्ट्रव्यापी हड़ताल की थी?</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डाक एवं तार विभाग के कर्मचारी</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भारतीय रेलवे कर्मचारी (Railway Strike)</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एयर इंडिया के पायलट और कर्मचारी</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कोयला खदान श्रमिक</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38216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138/260</a:t>
            </a:r>
          </a:p>
        </p:txBody>
      </p:sp>
    </p:spTree>
  </p:cSld>
  <p:clrMapOvr>
    <a:masterClrMapping/>
  </p:clrMapOvr>
</p:sld>
</file>

<file path=ppt/slides/slide27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भारतीय रेलवे कर्मचारी (Railway Strike)</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डाक एवं तार विभाग के कर्मचारी</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एयर इंडिया के पायलट और कर्मचारी</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कोयला खदान श्रमिक</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मई 1974 में 'नेशनल कोऑर्डिनेशन कमेटी फॉर रेलवेमेन्स स्ट्रगल' (NCCRS) के संयोजक जॉर्ज फर्नांडिस के नेतृत्व में भारतीय रेल कर्मचारियों ने अपनी सेवा सुरक्षा, कार्य के निश्चित घंटों और बोनस की मांग को लेकर देशव्यापी हड़ताल कर दी। इस हड़ताल से देश भर में यात्री और मालगाड़ियों के पहिए पूरी तरह थम गए और आवश्यक वस्तुओं की भारी किल्लत हो गई। इंदिरा गांधी की सरकार ने इस हड़ताल को अवैध घोषित करते हुए राष्ट्रीय सुरक्षा को खतरा माना और अत्यंत कठोर दमनकारी नीति अपनाई। हजारों रेल कर्मचारियों और नेताओं को जेलों में ठूंस दिया गया, जिसके बाद 20 दिनों बाद बिना किसी समझौते के हड़ताल वापस लेनी पड़ी।</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38216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138/260</a:t>
            </a:r>
          </a:p>
        </p:txBody>
      </p:sp>
    </p:spTree>
  </p:cSld>
  <p:clrMapOvr>
    <a:masterClrMapping/>
  </p:clrMapOvr>
</p:sld>
</file>

<file path=ppt/slides/slide27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139</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12 जून 1975 को इलाहाबाद उच्च न्यायालय के ऐतिहासिक फैसले और 25 जून 1975 को आपातकाल की घोषणा के संदर्भ में निम्नलिखित कथनों पर विचार कीजिए: A. इलाहाबाद उच्च न्यायालय के न्यायमूर्ति जगमोहन लाल सिन्हा ने समाजवादी नेता राजनारायण की याचिका पर इंदिरा गांधी के लोकसभा निर्वाचन को अवैध घोषित कर दिया। B. 25 जून 1975 की रात प्रधानमंत्री इंदिरा गांधी की सिफारिश पर राष्ट्रपति फखरुद्दीन अली अहमद ने 'आंतरिक अशांति' के आधार पर अनुच्छेद 352 के तहत राष्ट्रीय आपातकाल की घोषणा की। C. आपातकाल की घोषणा से पूर्व केंद्रीय मंत्रिमंडल (Cabinet) की औपचारिक बैठक बुलाकर उनकी लिखित सहमति ली गई थी। D. 25-26 जून की रात को ही जयप्रकाश नारायण, मोरारजी देसाई, अटल बिहारी वाजपेयी सहित हजारों विपक्षी नेताओं को जेलों में डाल दिया गया और अखबारों पर प्रेस सेंसरशिप लगा दी गई।</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D</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42840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139/260</a:t>
            </a:r>
          </a:p>
        </p:txBody>
      </p:sp>
    </p:spTree>
  </p:cSld>
  <p:clrMapOvr>
    <a:masterClrMapping/>
  </p:clrMapOvr>
</p:sld>
</file>

<file path=ppt/slides/slide27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12 जून 1975 को जस्टिस जगमोहन लाल सिन्हा ने फैसला सुनाया कि 1971 के रायबरेली चुनाव में इंदिरा गांधी ने सरकारी मशीनरी और अफसरों का दुरुपयोग किया था, अतः उनका निर्वाचन रद्द किया जाता है और वे 6 वर्ष तक चुनाव नहीं लड़ सकतीं। सुप्रीम कोर्ट ने आंशिक स्थगन दिया कि वे सांसद रह सकती हैं किंतु वोट नहीं दे सकतीं। 25 जून को दिल्ली के रामलीला मैदान में जेपी की विशाल रैली के बाद इंदिरा गांधी ने रातों-रात आपातकाल का फैसला लिया। सबसे विवादित तथ्य यह था कि मंत्रिमंडल की कोई औपचारिक बैठक नहीं बुलाई गई थी; अगली सुबह 26 जून को सुबह 6 बजे कैबिनेट को केवल फैसले की सूचना दी गई, इसलिए कथन C असत्य है (44वें संशोधन 1978 द्वारा यह नियम बना कि राष्ट्रपति केवल कैबिनेट की लिखित सिफारिश पर ही आपातकाल घोषित करेंगे)।</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42840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139/260</a:t>
            </a:r>
          </a:p>
        </p:txBody>
      </p:sp>
    </p:spTree>
  </p:cSld>
  <p:clrMapOvr>
    <a:masterClrMapping/>
  </p:clrMapOvr>
</p:sld>
</file>

<file path=ppt/slides/slide27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140</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1975-1977 के 21 महीनों के आपातकाल की ज्यादतियों की जांच के लिए गठित 'शाह जाँच आयोग' (Shah Commission) के संदर्भ में निम्नलिखित कथनों पर विचार कीजिए: A. मई 1977 में नवनिर्वाचित जनता पार्टी सरकार ने सर्वोच्च न्यायालय के पूर्व मुख्य न्यायाधीश जे.सी. शाह की अध्यक्षता में आयोग गठित किया था। B. इस आयोग का कार्य आपातकाल के दौरान सत्ता के दुरुपयोग, अवैध गिरफ्तारियों, प्रेस सेंसरशिप और पुलिसिया अत्याचारों की निष्पक्ष जांच करना था। C. पूर्व प्रधानमंत्री इंदिरा गांधी आयोग के समक्ष उपस्थित हुईं और उन्होंने आयोग द्वारा पूछे गए सभी प्रश्नों के विस्तार से उत्तर दिए। D. शाह आयोग की रिपोर्ट ने रेखांकित किया कि आपातकाल के दौरान संविधान और विधिक प्रक्रियाओं की घोर अवहेलना की गई थी।</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47465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140/260</a:t>
            </a:r>
          </a:p>
        </p:txBody>
      </p:sp>
    </p:spTree>
  </p:cSld>
  <p:clrMapOvr>
    <a:masterClrMapping/>
  </p:clrMapOvr>
</p:sld>
</file>

<file path=ppt/slides/slide28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मार्च 1977 के चुनावों में जनता पार्टी के सत्ता में आने के बाद जस्टिस जे.सी. शाह की अध्यक्षता में तीन खंडों वाली ऐतिहासिक जांच समिति बनाई गई। आयोग ने हजारों गवाहों के बयान दर्ज किए और जबरन नसबंदी (संजय गांधी की भूमिका), दिल्ली में तुर्कमान गेट विध्वंस और मीसा (MISA) कानून के तहत नेताओं को प्रताड़ित करने के सैकड़ों मामलों का खुलासा किया। इंदिरा गांधी आयोग के सम्मुख हाजिर तो हुईं, किंतु उन्होंने आयोग की वैधता पर सवाल उठाते हुए किसी भी प्रश्न का उत्तर देने से साफ इनकार कर दिया, अतः कथन C असत्य है। शाह आयोग की रिपोर्ट ने भविष्य में आपातकाल के दुरुपयोग को रोकने के लिए कई सिफारिशें कीं।</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47465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140/260</a:t>
            </a:r>
          </a:p>
        </p:txBody>
      </p:sp>
    </p:spTree>
  </p:cSld>
  <p:clrMapOvr>
    <a:masterClrMapping/>
  </p:clrMapOvr>
</p:sld>
</file>

<file path=ppt/slides/slide28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मार्च 1977 के छठे लोकसभा आम चुनाव के परिणामों और पहली गैर-कांग्रेसी सरकार के संदर्भ में निम्नलिखित कथनों पर विचार कीजिए: A. स्वतंत्रता के बाद पहली बार भारतीय राष्ट्रीय कांग्रेस लोकसभा चुनाव में पराजित हुई और उसे केवल 154 सीटें प्राप्त हुईं। B. जनता पार्टी और उसके सहयोगी दलों ने कुल 542 सीटों में से 330 सीटें जीतकर ऐतिहासिक पूर्ण बहुमत प्राप्त किया। C. कांग्रेस को उत्तर भारत के राज्यों (उत्तर प्रदेश, बिहार, दिल्ली, हरियाणा, पंजाब) में एक भी लोकसभा सीट नहीं मिली। D. मोरारजी देसाई स्वतंत्र भारत के पहले गैर-कांग्रेसी प्रधानमंत्री बने।</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52090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141/260</a:t>
            </a:r>
          </a:p>
        </p:txBody>
      </p:sp>
    </p:spTree>
  </p:cSld>
  <p:clrMapOvr>
    <a:masterClrMapping/>
  </p:clrMapOvr>
</p:sld>
</file>

<file path=ppt/slides/slide28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जनवरी 1977 में आपातकाल हटाए जाने के बाद विपक्षी दलों (जनसंघ, संगठन कांग्रेस, भारतीय लोकदल, सोशलिस्ट पार्टी) ने मिलकर 'जनता पार्टी' का गठन किया और बाबू जगजीवन राम ने 'कांग्रेस फॉर डेमोक्रेसी' बनाकर इसका साथ दिया। यह चुनाव आपातकाल और लोकतंत्र के बीच जनमत संग्रह था। उत्तर भारत में नसबंदी और पुलिसिया दमन के खिलाफ ऐसा तीव्र जन-आक्रोश था कि उत्तर प्रदेश, बिहार, पंजाब, हरियाणा और दिल्ली में कांग्रेस का पूरी तरह सूपड़ा साफ हो गया (इंदिरा गांधी स्वयं रायबरेली से और संजय गांधी अमेठी से चुनाव हार गए)। जनता पार्टी ने 295 सीटें जीतीं और 24 मार्च 1977 को 81 वर्षीय मोरारजी देसाई ने देश के पहले गैर-कांग्रेसी प्रधानमंत्री के रूप में शपथ ली। अतः सभी चारों कथन पूर्णतः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52090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141/260</a:t>
            </a:r>
          </a:p>
        </p:txBody>
      </p:sp>
    </p:spTree>
  </p:cSld>
  <p:clrMapOvr>
    <a:masterClrMapping/>
  </p:clrMapOvr>
</p:sld>
</file>

<file path=ppt/slides/slide28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142</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1970 के दशक के प्रमुख राजनीतिक नारों और उनके प्रणेताओं का सही मिलान कीजिए: सूची-I (प्रसिद्ध नारा): सूची-I: A. 'गरीबी हटाओ' (1971 चुनाव) B. 'इंदिरा हटाओ' (1971 ग्रैंड अलायंस) C. 'संपूर्ण क्रांति' (1974 आंदोलन) D. 'जय जवान, जय किसान' (1965 युद्ध) सूची-II: 1. जयप्रकाश नारायण (JP) 2. लाल बहादुर शास्त्री 3. इंदिरा गांधी 4. विपक्षी महागठबंधन (Grand Alliance)</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B-4, C-1, D-2</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C-4, D-2</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B-3, C-1, D-2</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56715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142/260</a:t>
            </a:r>
          </a:p>
        </p:txBody>
      </p:sp>
    </p:spTree>
  </p:cSld>
  <p:clrMapOvr>
    <a:masterClrMapping/>
  </p:clrMapOvr>
</p:sld>
</file>

<file path=ppt/slides/slide28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A-3, B-4, C-1, D-2</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C-3,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B-1, C-4, D-2</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B-3, C-1, D-2</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1965 के भारत-पाक युद्ध और उसी समय देश में पड़े भीषण खाद्यान्न संकट के समय देश का मनोबल बढ़ाने के लिए प्रधानमंत्री लाल बहादुर शास्त्री ने रामलीला मैदान से अमर नारा दिया था-'जय जवान, जय किसान'। 1971 के लोकसभा चुनाव में विपक्ष के नकारात्मक नारे 'इंदिरा हटाओ' की काट के रूप में इंदिरा गांधी ने समाजवादी और जन-कल्याणकारी नीतियों से लैस प्रसिद्ध नारा दिया-'गरीबी हटाओ'। जून 1974 में पटना के गांधी मैदान में लाखों की भीड़ के सामने जयप्रकाश नारायण ने सामाजिक, राजनीतिक और नैतिक बदलाव के लिए 'संपूर्ण क्रांति' (Total Revolution) का नारा दिया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56715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142/260</a:t>
            </a:r>
          </a:p>
        </p:txBody>
      </p:sp>
    </p:spTree>
  </p:cSld>
  <p:clrMapOvr>
    <a:masterClrMapping/>
  </p:clrMapOvr>
</p:sld>
</file>

<file path=ppt/slides/slide28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143</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उत्तराखंड में 1973 में प्रारंभ हुए विश्व प्रसिद्ध 'चिपको आंदोलन' (Chipko Movement) के संदर्भ में निम्नलिखित कथनों पर विचार कीजिए: A. इस आंदोलन की शुरुआत तत्कालीन उत्तर प्रदेश (वर्तमान उत्तराखंड) के चमोली जिले में वनों की व्यावसायिक कटाई को रोकने के लिए हुई थी। B. जब ठेकेदारों के कुल्हाड़ीधारी मजदूर पेड़ काटने पहुंचे, तो ग्रामीण महिलाओं और पुरुषों ने पेड़ों से चिपककर (आलिंगनबद्ध होकर) उनकी रक्षा की। C. सुंदरलाल बहुगुणा, चंडी प्रसाद भट्ट और गौरा देवी इस पर्यावरण आंदोलन के प्रमुख अगुआ नेताओं में शामिल थे। D. यह आंदोलन मूलतः केवल शराबबंदी लागू करने के लिए शुरू किया गया एक धार्मिक आंदोलन था।</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61339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143/260</a:t>
            </a:r>
          </a:p>
        </p:txBody>
      </p:sp>
    </p:spTree>
  </p:cSld>
  <p:clrMapOvr>
    <a:masterClrMapping/>
  </p:clrMapOvr>
</p:sld>
</file>

<file path=ppt/slides/slide28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1973 में उत्तराखंड के अंगू के पेड़ों को खेल का सामान बनाने वाली एक बाहरी कंपनी को काटने की अनुमति दिए जाने पर स्थानीय ग्रामीणों ने अभूतपूर्व सत्याग्रह शुरू किया जिसे 'चिपको आंदोलन' कहा गया। गौरा देवी के नेतृत्व में महिलाओं ने पेड़ों को अपनी बाहों में घेर लिया। चंडी प्रसाद भट्ट (दशोली ग्राम स्वराज्य संघ) और सुंदरलाल बहुगुणा ने इसे हिमालयी पर्यावरण, मृदा और जल संरक्षण के एक अंतरराष्ट्रीय जन-आंदोलन में बदल दिया। ग्रामीणों की मुख्य मांग थी कि प्राकृतिक संसाधनों पर स्थानीय निवासियों का अधिकार हो। इस आंदोलन का शराबबंदी से कोई संबंध नहीं था (शराब विरोधी आंदोलन आंध्र प्रदेश में 'ताड़ी-विरोधी आंदोलन' था), अतः कथन D असत्य है। चिपको के प्रभाव से सरकार ने 15 वर्षों के लिए हिमालयी क्षेत्रों में वनों की कटाई पर पूर्ण प्रतिबंध लगा दिया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61339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143/260</a:t>
            </a:r>
          </a:p>
        </p:txBody>
      </p:sp>
    </p:spTree>
  </p:cSld>
  <p:clrMapOvr>
    <a:masterClrMapping/>
  </p:clrMapOvr>
</p:sld>
</file>

<file path=ppt/slides/slide28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144</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1980 के दशक के प्रमुख किसान आंदोलन और 'भारतीय किसान यूनियन' (BKU) के संदर्भ में निम्नलिखित कथनों पर विचार कीजिए: A. बीकेयू (BKU) पश्चिमी उत्तर प्रदेश और हरियाणा के समृद्ध और मझोले किसानों का एक शक्तिशाली गैर-दलीय दबाव समूह था। B. किसान नेता महेंद्र सिंह टिकैत के नेतृत्व में जनवरी 1988 में बिजली दरों में बढ़ोतरी के खिलाफ मेरठ कमिश्नरी का ऐतिहासिक घेराव किया गया था। C. इस संगठन की प्रमुख मांगों में गन्ने और गेहूं के लाभकारी सरकारी मूल्य, कृषि ऋणों की माफी और बिजली की निर्बाध आपूर्ति शामिल थी। D. बीकेयू ने अपने सभी लक्ष्यों की प्राप्ति के लिए एक औपचारिक राजनीतिक दल बनाकर सीधे संसदीय चुनाव लड़ा था।</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65964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144/260</a:t>
            </a:r>
          </a:p>
        </p:txBody>
      </p:sp>
    </p:spTree>
  </p:cSld>
  <p:clrMapOvr>
    <a:masterClrMapping/>
  </p:clrMapOvr>
</p:sld>
</file>

<file path=ppt/slides/slide28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1980 के दशक में हरित क्रांति के बाद खेती की बढ़ती लागत और गिरते कृषि मुनाफे के विरोध में किसान संगठनों का उभार हुआ। महेंद्र सिंह टिकैत के नेतृत्व में भारतीय किसान यूनियन (BKU) ने पश्चिमी यूपी में पारंपरिक खाप पंचायतों और जातिगत एकजुटता का उपयोग कर लाखों किसानों को संगठित किया। 1988 में मेरठ में 20 दिनों तक चला किसानों का अनुशासित डेरा और दिल्ली के वोट क्लब पर विशाल धरना ऐतिहासिक था। बीकेयू की विशेषता यह थी कि उसने खुद को चुनावी राजनीति से दूर रखा; यह एक विशुद्ध किसान दबाव समूह (Pressure Group) था जिसने दलीय राजनीति से परे रहकर रैलियों और धरनों के माध्यम से सरकारों को झुकने पर विवश किया, अतः कथन D असत्य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65964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144/260</a:t>
            </a:r>
          </a:p>
        </p:txBody>
      </p:sp>
    </p:spTree>
  </p:cSld>
  <p:clrMapOvr>
    <a:masterClrMapping/>
  </p:clrMapOvr>
</p:sld>
</file>

<file path=ppt/slides/slide28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145</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मध्य भारत में गुजरात, मध्य प्रदेश और महाराष्ट्र से गुजरने वाली नर्मदा नदी पर बन रहे बड़े बांधों (विशेषकर सरदार सरोवर बांध) के पर्यावरणीय विनाश और जन-विस्थापन के विरुद्ध चले 'नर्मदा बचाओ आंदोलन' (NBA) का नेतृत्व किसने किया था?</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वंदना शिवा</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मेधा पाटकर</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अरुणा रॉय</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इला भट्ट</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70589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145/260</a:t>
            </a:r>
          </a:p>
        </p:txBody>
      </p:sp>
    </p:spTree>
  </p:cSld>
  <p:clrMapOvr>
    <a:masterClrMapping/>
  </p:clrMapOvr>
</p:sld>
</file>

<file path=ppt/slides/slide29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मेधा पाटकर</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वंदना शिवा</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अरुणा रॉय</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इला भट्ट</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नर्मदा घाटी विकास परियोजना के तहत नर्मदा और उसकी सहायक नदियों पर 30 बड़े, 135 मंझोले और 3000 छोटे बांध बनाने की योजना थी। इसके कारण 240 से अधिक गांवों के डूबने और 2.5 लाख से अधिक आदिवासियों व किसानों के विस्थापन की त्रासदी के खिलाफ 1988-89 में सामाजिक कार्यकर्ता मेधा पाटकर और बाबा आमटे के नेतृत्व में 'नर्मदा बचाओ आंदोलन' (NBA) प्रारंभ हुआ। आंदोलन ने बड़े बांधों की विनाशकारी लागत, पुनर्वास की विफलता और पर्यावरणीय असंतुलन पर वैश्विक बहस छेड़ दी, जिसके परिणामस्वरूप विश्व बैंक को इस परियोजना से अपनी वित्तीय सहायता वापस लेने पर विवश होना पड़ा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70589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145/260</a:t>
            </a:r>
          </a:p>
        </p:txBody>
      </p:sp>
    </p:spTree>
  </p:cSld>
  <p:clrMapOvr>
    <a:masterClrMapping/>
  </p:clrMapOvr>
</p:sld>
</file>

<file path=ppt/slides/slide29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146</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1972 में महाराष्ट्र में गठित युवा दलितों के जुझारू संगठन 'दलित पैंथर्स' (Dalit Panthers) के संदर्भ में निम्नलिखित कथनों पर विचार कीजिए: A. दलित पैंथर्स का गठन नामदेव ढसाल, जे.वी. पवार और अर्जुन डांगले जैसे युवा मराठी दलित लेखकों और कवियों ने किया था। B. यह संगठन अमेरिकी 'ब्लैक पैंथर' (Black Panther) आंदोलन की क्रांतिकारी कार्यशैली से प्रेरित था। C. दलित पैंथर्स ने जातिगत उत्पीड़न, दलितों पर हो रही हिंसा और छुआछूत के विरुद्ध तीखा और जुझारू प्रतिरोध किया। D. दलित पैंथर्स की स्थापना डॉ. भीमराव अंबेडकर ने 1950 में अपने अंतिम दिनों में स्वयं अपने हाथों से की थी।</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75214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146/260</a:t>
            </a:r>
          </a:p>
        </p:txBody>
      </p:sp>
    </p:spTree>
  </p:cSld>
  <p:clrMapOvr>
    <a:masterClrMapping/>
  </p:clrMapOvr>
</p:sld>
</file>

<file path=ppt/slides/slide29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आजादी के ढाई दशक बाद भी ग्रामीण और शहरी इलाकों में दलितों पर हो रहे अत्याचारों और रिपब्लिकन पार्टी ऑफ इंडिया (RPI) के चुनावी पतन से निराश होकर मुंबई की झुग्गियों में 29 मई 1972 को 'दलित पैंथर्स' का गठन हुआ। इसके संस्थापक नामदेव ढसाल और जे.वी. पवार थे। यह संगठन अमेरिका के अश्वेत आंदोलनकारियों से प्रेरित था और इसने मराठी दलित साहित्य और जन-प्रतिरोध को नई धार दी। इनके दबाव के कारण आगे चलकर संसद को 1989 का कठोर अनुसूचित जाति/जनजाति अत्याचार निवारण कानून बनाना पड़ा। डॉ. अंबेडकर का महापरिनिर्वाण 1956 में हो चुका था, अतः 1972 में बने दलित पैंथर्स से उनका कोई सीधा संबंध नहीं था, इसलिए कथन D असत्य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75214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146/260</a:t>
            </a:r>
          </a:p>
        </p:txBody>
      </p:sp>
    </p:spTree>
  </p:cSld>
  <p:clrMapOvr>
    <a:masterClrMapping/>
  </p:clrMapOvr>
</p:sld>
</file>

<file path=ppt/slides/slide29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147</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भारत में 'सूचना का अधिकार' (RTI) कानून हासिल करने के लिए 1990 में राजस्थान के राजसमंद जिले की भीम तहसील से किस संगठन ने ऐतिहासिक जनांदोलन प्रारंभ किया था?</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सेवा (SEWA)</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मजदूर किसान शक्ति संगठन (MKSS)</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पीपुल्स यूनियन फॉर डेमोक्रेटिक राइट्स</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दलित मुक्ति वाहिनी</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79838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147/260</a:t>
            </a:r>
          </a:p>
        </p:txBody>
      </p:sp>
    </p:spTree>
  </p:cSld>
  <p:clrMapOvr>
    <a:masterClrMapping/>
  </p:clrMapOvr>
</p:sld>
</file>

<file path=ppt/slides/slide29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मजदूर किसान शक्ति संगठन (MKSS)</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सेवा (SEWA)</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पीपुल्स यूनियन फॉर डेमोक्रेटिक राइट्स</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दलित मुक्ति वाहिनी</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में अरुणा रॉय, निखिल डे और शंकर सिंह द्वारा स्थापित 'मजदूर किसान शक्ति संगठन' (MKSS) ने 1990 में सूखा राहत कार्यों में मजदूरों को न्यूनतम मजदूरी न मिलने और मस्टर रोल में हो रहे भ्रष्टाचार के खिलाफ 'हमारा पैसा, हमारा हिसाब' का ऐतिहासिक नारा दिया। संगठन ने गांवों में 'जनसुनवाई' (Public Hearing) कर सरकारी फाइलों और बिलों की जांच का अधिकार मांगा। इस जन-आंदोलन के दबाव में 2000 में राजस्थान ने पहला राज्य सूचना अधिकार कानून बनाया और राष्ट्रीय स्तर पर व्यापक अभियान के बाद केंद्र की मनमोहन सिंह सरकार ने संसद में 'सूचना का अधिकार अधिनियम, 2005' (RTI Act, 2005) पारित किया।</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79838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147/260</a:t>
            </a:r>
          </a:p>
        </p:txBody>
      </p:sp>
    </p:spTree>
  </p:cSld>
  <p:clrMapOvr>
    <a:masterClrMapping/>
  </p:clrMapOvr>
</p:sld>
</file>

<file path=ppt/slides/slide29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148</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पंजाब संकट, आनंदपुर साहिब प्रस्ताव और 'ऑपरेशन ब्लू स्टार' के संदर्भ में निम्नलिखित कथनों पर विचार कीजिए: A. वर्ष 1973 में अकाली दल ने आनंदपुर साहिब में एक प्रस्ताव पारित कर पंजाब के लिए व्यापक स्वायत्तता और केंद्र-राज्य संबंधों को पुनर्परिभाषित करने की मांग की। B. 1980 के दशक में जरनैल सिंह भिंडरावाले के नेतृत्व में उग्रवादी सिखों ने अमृतसर के पवित्र स्वर्ण मंदिर (हरमंदिर साहिब) को हथियारबंद किले में बदल दिया था। C. जून 1984 में इंदिरा गांधी सरकार ने स्वर्ण मंदिर से उग्रवादियों को बाहर निकालने के लिए भारतीय सेना का सैन्य अभियान चलाया जिसका कूट नाम 'ऑपरेशन ब्लू स्टार' था। D. ऑपरेशन ब्लू स्टार पूरी तरह रक्तहीन और शांतिपूर्ण अभियान था जिसमें स्वर्ण मंदिर परिसर या अकाल तख्त को कोई नुकसान नहीं पहुंचा था।</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84463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148/260</a:t>
            </a:r>
          </a:p>
        </p:txBody>
      </p:sp>
    </p:spTree>
  </p:cSld>
  <p:clrMapOvr>
    <a:masterClrMapping/>
  </p:clrMapOvr>
</p:sld>
</file>

<file path=ppt/slides/slide29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1970 के दशक में अकाली दल द्वारा राज्य की स्वायत्तता के लिए पारित आनंदपुर साहिब प्रस्ताव से उपजे तनाव ने 1980 के दशक में हिंसक उग्रवाद और खालिस्तान की अलगाववादी मांग का रूप ले लिया। भिंडरावाले के हथियारबंद चरमपंथियों ने अकाल तख्त पर कब्जा कर लिया। 1 से 8 जून 1984 के बीच भारतीय सेना ने 'ऑपरेशन ब्लू स्टार' चलाया। यद्यपि सेना ने उग्रवादियों का सफाया कर दिया, किंतु इस भीषण संघर्ष में भारी जनहानि हुई और ऐतिहासिक अकाल तख्त भवन को गंभीर क्षति पहुंची, जिससे दुनिया भर के सिख समुदाय में गहरा रोष फैल गया। इसी सैन्य कार्रवाई के प्रतिशोध में 31 अक्टूबर 1984 को प्रधानमंत्री इंदिरा गांधी की उनके ही सिख अंगरक्षकों द्वारा हत्या कर दी गई, अतः कथन D असत्य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84463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148/260</a:t>
            </a:r>
          </a:p>
        </p:txBody>
      </p:sp>
    </p:spTree>
  </p:cSld>
  <p:clrMapOvr>
    <a:masterClrMapping/>
  </p:clrMapOvr>
</p:sld>
</file>

<file path=ppt/slides/slide29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149</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1985 में प्रधानमंत्री राजीव गांधी और अकाली दल के अध्यक्ष संत हरचंद सिंह लोंगोवाल के बीच हुए ऐतिहासिक शांति समझौते (पंजाब समझौते) में निम्नलिखित में से कौन-सा बिंदु शामिल नहीं था?</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चंडीगढ़ को पंजाब राज्य को सौंपने पर सहमति</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पंजाब और हरियाणा के बीच सीमा विवाद को सुलझाने के लिए अलग आयोग का गठन</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रावी-व्यास जल विवाद के निपटारे के लिए एक न्यायिक न्यायाधिकरण (Tribunal) की स्थापना</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पंजाब को भारतीय संघ से अलग कर एक स्वतंत्र संप्रभु राष्ट्र का दर्जा प्रदान करना</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89088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149/260</a:t>
            </a:r>
          </a:p>
        </p:txBody>
      </p:sp>
    </p:spTree>
  </p:cSld>
  <p:clrMapOvr>
    <a:masterClrMapping/>
  </p:clrMapOvr>
</p:sld>
</file>

<file path=ppt/slides/slide29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पंजाब को भारतीय संघ से अलग कर एक स्वतंत्र संप्रभु राष्ट्र का दर्जा प्रदान करना</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चंडीगढ़ को पंजाब राज्य को सौंपने पर सहमति</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पंजाब और हरियाणा के बीच सीमा विवाद को सुलझाने के लिए अलग आयोग का गठन</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रावी-व्यास जल विवाद के निपटारे के लिए एक न्यायिक न्यायाधिकरण (Tribunal) की स्थापना</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24 जुलाई 1985 को प्रधानमंत्री राजीव गांधी और अकाली दल के उदारवादी नेता हरचंद सिंह लोंगोवाल के बीच 'पंजाब समझौता' (राजीव-लोंगोवाल समझौता) हुआ, जिसका उद्देश्य पंजाब में सामान्य स्थिति और शांति बहाल करना था। इस समझौते में सहमति बनी कि: (1) चंडीगढ़ पंजाब को दिया जाएगा, (2) सीमा विवाद के लिए आयोग बनेगा, (3) रावी-व्यास नदियों के पानी के बंटवारे के लिए ट्रिब्यूनल (इराडी ट्रिब्यूनल) बनेगा, और (4) विशेष न्यायालयों और सैन्य अधिनियम को धीरे-धीरे वापस लिया जाएगा। अलगाव या स्वतंत्र राष्ट्र की कोई मांग कभी स्वीकार नहीं की गई थी; यह समझौता भारतीय संविधान के दायरे में ही शांति का प्रयास था, अतः विकल्प D गलत है। समझौते के कुछ ही सप्ताह बाद उग्रवादियों ने संत लोंगोवाल की हत्या कर दी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89088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149/260</a:t>
            </a:r>
          </a:p>
        </p:txBody>
      </p:sp>
    </p:spTree>
  </p:cSld>
  <p:clrMapOvr>
    <a:masterClrMapping/>
  </p:clrMapOvr>
</p:sld>
</file>

<file path=ppt/slides/slide29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150</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पूर्वोत्तर भारत के राज्यों, जनजातीय स्वायत्तता और क्षेत्रीय आंदोलनों के संदर्भ में निम्नलिखित कथनों पर विचार कीजिए: A. पूर्वोत्तर के सात राज्यों (असम, मेघालय, त्रिपुरा, मिजोरम, मणिपुर, नागालैंड, अरुणाचल प्रदेश) को सामूहिक रूप से 'सात बहनें' (Seven Sisters) कहा जाता है। B. 1947 में आजादी के समय पूर्वोत्तर में मणिपुर और त्रिपुरा की देशी रियासतों को छोड़कर शेष अधिकांश विशाल भू-भाग असम राज्य का हिस्सा था। C. असम के जनजातीय समुदायों की मांगों के समाधान के लिए संविधान की छठी अनुसूची के तहत स्वायत्त जिला परिषदों (Autonomous District Councils) का गठन किया गया। D. पूर्वोत्तर के सभी राज्यों ने 1947 में बिना किसी आंदोलन या प्रतिरोध के भारतीय संघ की सामान्य प्रशासनिक व्यवस्था को पूर्णतः स्वीकार कर लिया था।</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93713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150/260</a:t>
            </a:r>
          </a:p>
        </p:txBody>
      </p:sp>
    </p:spTree>
  </p:cSld>
  <p:clrMapOvr>
    <a:masterClrMapping/>
  </p:clrMapOvr>
</p:sld>
</file>

<file path=ppt/slides/slide30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Q.150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पूर्वोत्तर भारत अपनी भौगोलिक, सांस्कृतिक और जनजातीय विविधता के कारण विशिष्ट है। आजादी के समय असम एक विशाल राज्य था, जिसे बाद में जनजातीय पहचान के आधार पर विभाजित कर नागालैंड (1963), मेघालय (1972), मिजोरम (1987) और अरुणाचल प्रदेश (1987) अलग राज्य बने, जबकि मणिपुर और त्रिपुरा 1972 में पूर्ण राज्य बने। संविधान की छठी अनुसूची असम, मेघालय, त्रिपुरा और मिजोरम के जनजातीय इलाकों को स्वशासन और रूढ़िवादी कानूनों के संचालन के लिए स्वायत्त जिला परिषदें देती है। पूर्वोत्तर में नागालैंड (अंगामी जापू फिजो) और मिजोरम (लालडेंगा) में दशकों लंबा भीषण सशस्त्र अलगाववादी संघर्ष चला था; यह कहना कि कोई प्रतिरोध नहीं था, इतिहास के सर्वथा विपरीत है, अतः कथन D असत्य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93713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150/260</a:t>
            </a:r>
          </a:p>
        </p:txBody>
      </p:sp>
    </p:spTree>
  </p:cSld>
  <p:clrMapOvr>
    <a:masterClrMapping/>
  </p:clrMapOvr>
</p:sld>
</file>

<file path=ppt/slides/slide30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151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मिजोरम में अलगाववादी आंदोलन और 1986 के मिजो शांति समझौते के संदर्भ में निम्नलिखित कथनों पर विचार कीजिए: A. वर्ष 1959 में असम के मिजो पर्वतीय क्षेत्र में भीषण 'मौतम अकाल' (Mautam Famine) पड़ा, जिसमें असम सरकार की उदासीनता से भारी असंतोष फैला। B. लालडेंगा के नेतृत्व में 'मिजो नेशनल फ्रंट' (MNF) का गठन हुआ जिसने मार्च 1966 में सशस्त्र बगावत कर स्वतंत्र राष्ट्र की घोषणा की। C. भारतीय सेना और मिजो विद्रोहियों के बीच लगभग दो दशकों तक चले खूनी गुरिल्ला युद्ध में पाकिस्तान ने विद्रोहियों को हथियार और ठिकाने दिए। D. वर्ष 1986 में प्रधानमंत्री राजीव गांधी और लालडेंगा के बीच ऐतिहासिक शांति समझौता हुआ, जिसके बाद लालडेंगा मिजोरम के मुख्यमंत्री बने।</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98337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151/260</a:t>
            </a:r>
          </a:p>
        </p:txBody>
      </p:sp>
    </p:spTree>
  </p:cSld>
  <p:clrMapOvr>
    <a:masterClrMapping/>
  </p:clrMapOvr>
</p:sld>
</file>

<file path=ppt/slides/slide30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Q.151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1959 के मौतम अकाल में बांस के खिलने से चूहों की संख्या बेतहाशा बढ़ गई और पूरी फसल नष्ट हो गई। असम सरकार की संवेदनहीनता से नाराज होकर लालडेंगा ने राहत संगठन को 1961 में MNF नामक राजनीतिक-सैन्य मोर्चे में बदल दिया। 1966 में विद्रोहियों ने सरकारी ठिकानों पर कब्जा कर लिया, जिसे दबाने के लिए भारतीय वायुसेना तक का प्रयोग करना पड़ा। विद्रोही पूर्वी पाकिस्तान (वर्तमान बांग्लादेश) के चटगांव से गुरिल्ला हमले करते रहे। दो दशकों के रक्तपात के बाद 30 जून 1986 को भारत सरकार और MNF के बीच शांति समझौता हुआ। विद्रोहियों ने हथियार डाले, भारतीय संविधान की संप्रभुता स्वीकार की और 1987 में मिजोरम पूर्ण राज्य बना; लालडेंगा मुख्यमंत्री बने। आज मिजोरम पूर्वोत्तर का सबसे शांत और विकसित राज्य है। अतः सभी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98337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151/260</a:t>
            </a:r>
          </a:p>
        </p:txBody>
      </p:sp>
    </p:spTree>
  </p:cSld>
  <p:clrMapOvr>
    <a:masterClrMapping/>
  </p:clrMapOvr>
</p:sld>
</file>

<file path=ppt/slides/slide30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152</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असम आंदोलन (1979-1985) और 'ऑल असम स्टूडेंट्स यूनियन' (AASU) के संदर्भ में निम्नलिखित कथनों पर विचार कीजिए: A. वर्ष 1979 में छात्र संगठन 'आसू' (AASU) के नेतृत्व में अवैध बांग्लादेशी अप्रवासियों की पहचान और उनके निर्वासन के लिए ऐतिहासिक आंदोलन छिड़ा। B. आंदोलनकारियों का मुख्य भय यह था कि लाखों विदेशी अप्रवासियों के कारण असमिया मूल निवासी अपनी ही जमीन पर भाषाई और राजनीतिक रूप से अल्पसंख्यक बन जाएंगे। C. 15 अगस्त 1985 को प्रधानमंत्री राजीव गांधी और आसू नेतृत्व के बीच ऐतिहासिक 'असम समझौता' (Assam Accord) हुआ। D. असम समझौते के तहत 1991 के बाद असम में आने वाले सभी विदेशी अप्रवासियों को बिना शर्त भारतीय नागरिकता प्रदान करने की घोषणा की गई।</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02962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152/260</a:t>
            </a:r>
          </a:p>
        </p:txBody>
      </p:sp>
    </p:spTree>
  </p:cSld>
  <p:clrMapOvr>
    <a:masterClrMapping/>
  </p:clrMapOvr>
</p:sld>
</file>

<file path=ppt/slides/slide30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Q.152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1971 के बांग्लादेश मुक्ति संग्राम के समय से पूर्वी पाकिस्तान से लाखों शरणार्थी असम में आए थे। 1979 में जब मंगलदोई उपचुनाव में मतदाता सूची में हजारों संदिग्ध विदेशियों के नाम पाए गए, तो आसू और 'असम गण संग्राम परिषद' ने 6 वर्षों तक व्यापक आंदोलन चलाया। 15 अगस्त 1985 को लाल किले की प्राचीर से राजीव गांधी ने 'असम समझौते' की घोषणा की। समझौते के तहत कट-ऑफ डेट तय की गई: 1 जनवरी 1966 से पहले आए लोगों को नियमित माना गया; 1966 से 24 मार्च 1971 के बीच आए लोगों को 10 वर्ष तक मताधिकार से वंचित रखकर नागरिकता दी गई; तथा 25 मार्च 1971 के बाद आने वाले सभी अवैध अप्रवासियों की पहचान कर उन्हें निर्वासित करने का नियम बना (1991 के बाद वालों को नागरिकता देने की बात पूरी तरह असत्य है), अतः कथन D असत्य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02962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152/260</a:t>
            </a:r>
          </a:p>
        </p:txBody>
      </p:sp>
    </p:spTree>
  </p:cSld>
  <p:clrMapOvr>
    <a:masterClrMapping/>
  </p:clrMapOvr>
</p:sld>
</file>

<file path=ppt/slides/slide30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153</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1985 के असम समझौते के पश्चात 'आसू' (AASU) के पूर्व छात्र नेताओं ने मिलकर किस क्षेत्रीय राजनीतिक दल का गठन किया, जिसने 1985 के विधानसभा चुनावों में पूर्ण बहुमत हासिल कर सरकार बनाई और 31 वर्षीय प्रफुल्ल कुमार महंत मुख्यमंत्री बने?</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बोडोलैंड पीपुल्स फ्रंट</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असम गण परिषद (AGP)</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यूनाइटेड माइनॉरिटीज फ्रंट</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असम प्रदेश कांग्रेस कमेटी</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07587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153/260</a:t>
            </a:r>
          </a:p>
        </p:txBody>
      </p:sp>
    </p:spTree>
  </p:cSld>
  <p:clrMapOvr>
    <a:masterClrMapping/>
  </p:clrMapOvr>
</p:sld>
</file>

<file path=ppt/slides/slide30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Q.153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असम गण परिषद (AGP)</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बोडोलैंड पीपुल्स फ्रंट</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यूनाइटेड माइनॉरिटीज फ्रंट</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असम प्रदेश कांग्रेस कमेटी</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ऐतिहासिक असम समझौते के तुरंत बाद आंदोलनकारी छात्र नेताओं ने चुनावी राजनीति में उतरने का फैसला किया। अक्टूबर 1985 में गोलाघाट में आयोजित सम्मेलन में 'असम गण परिषद' (AGP) नामक नए क्षेत्रीय दल का गठन किया गया। दिसंबर 1985 के असम विधानसभा चुनावों में असम गण परिषद ने भारी जीत दर्ज की और मात्र 31 वर्ष की आयु में प्रफुल्ल कुमार महंत देश के सबसे युवा मुख्यमंत्री बने। भ्रगु कुमार फूकन गृहमंत्री बने। इस घटना ने साबित किया कि भारतीय लोकतंत्र क्षेत्रीय आंदोलनों और छात्रों के आक्रोश को लोकतांत्रिक संस्थाओं के भीतर समाहित करने की असाधारण क्षमता रखता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07587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153/260</a:t>
            </a:r>
          </a:p>
        </p:txBody>
      </p:sp>
    </p:spTree>
  </p:cSld>
  <p:clrMapOvr>
    <a:masterClrMapping/>
  </p:clrMapOvr>
</p:sld>
</file>

<file path=ppt/slides/slide30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154</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भारतीय संघ में 'सिक्किम के विलय' (Merger of Sikkim, 1975) की ऐतिहासिक प्रक्रिया के संदर्भ में निम्नलिखित कथनों पर विचार कीजिए: A. आजादी के समय 1947 में सिक्किम भारत का पूर्ण अंग नहीं था, बल्कि 1950 की संधि के तहत यह भारत का एक 'संरक्षित राज्य' (Protectorate) था। B. सिक्किम के आंतरिक प्रशासन की बागडोर वहाँ के पारंपरिक राजा 'चोग्याल' (Chogyal) के हाथों में थी, जबकि रक्षा और विदेश मामले भारत सरकार के पास थे। C. 1974 के प्रथम लोकतांत्रिक चुनावों में भारी बहुमत पाने वाली सिक्किम कांग्रेस पार्टी ने भारत के साथ पूर्ण विलय का प्रस्ताव पारित किया। D. भारत सरकार ने सिक्किम के राजा और जनता की इच्छा के विरुद्ध सेना भेजकर जबरन सिक्किम को एक केंद्रशासित प्रदेश बना दिया था।</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12212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154/260</a:t>
            </a:r>
          </a:p>
        </p:txBody>
      </p:sp>
    </p:spTree>
  </p:cSld>
  <p:clrMapOvr>
    <a:masterClrMapping/>
  </p:clrMapOvr>
</p:sld>
</file>

<file path=ppt/slides/slide30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Q.154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सिक्किम हिमालयी राजशाही थी जहाँ लेप्चा-भूटिया अल्पसंख्यक और नेपाली मूल की जनता बहुसंख्यक थी। चोग्याल के सामंती शासन के खिलाफ काजी लेंडुप दोरजी के नेतृत्व में जनता ने लोकतंत्र के लिए आंदोलन किया। 1974 में 35वें संशोधन द्वारा सिक्किम को 'सह-युक्त राज्य' (Associate State) बनाया गया। अप्रैल 1975 में सिक्किम विधानसभा ने राजशाही समाप्त कर भारत में विलय का प्रस्ताव पास किया, जिस पर तुरंत जनमत संग्रह कराया गया जिसमें 97.5% जनता ने भारत में पूर्ण विलय के पक्ष में वोट दिया। 36वें संविधान संशोधन 1975 द्वारा सिक्किम को भारतीय संघ का 22वाँ पूर्ण राज्य बनाया गया (केंद्रशासित प्रदेश नहीं, और न ही यह सैन्य जबरदस्ती थी), अतः कथन D असत्य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12212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154/260</a:t>
            </a:r>
          </a:p>
        </p:txBody>
      </p:sp>
    </p:spTree>
  </p:cSld>
  <p:clrMapOvr>
    <a:masterClrMapping/>
  </p:clrMapOvr>
</p:sld>
</file>

<file path=ppt/slides/slide30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155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गोवा, दमन और दीव की औपनिवेशिक दासता से मुक्ति (1961) के संदर्भ में निम्नलिखित कथनों पर विचार कीजिए: A. 1947 में अंग्रेजों के चले जाने के बावजूद पुर्तगाली साम्राज्य ने गोवा, दमन और दीव से अपना औपनिवेशिक शासन हटाने से साफ इनकार कर दिया था। B. डॉ. राममनोहर लोहिया और महाराष्ट्र के समाजवादी सत्याग्रहियों ने गोवा के स्वतंत्रता संग्राम को राष्ट्रीय स्तर पर धार दी। C. 18-19 दिसंबर 1961 को भारत सरकार ने 'ऑपरेशन विजय' (Operation Vijay) सैन्य कार्रवाई चलाकर गोवा को पुर्तगालियों से मुक्त कराया। D. पुर्तगाल की सरकार ने 1961 में भारत के आग्रह पर बिना किसी सैन्य कार्रवाई के शांतिपूर्वक गोवा की चाबियां भारत को सौंप दी थीं।</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16836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155/260</a:t>
            </a:r>
          </a:p>
        </p:txBody>
      </p:sp>
    </p:spTree>
  </p:cSld>
  <p:clrMapOvr>
    <a:masterClrMapping/>
  </p:clrMapOvr>
</p:sld>
</file>

<file path=ppt/slides/slide31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Q.155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पुर्तगालियों ने 1510 में गोवा पर कब्जा किया था (वे भारत में अंग्रेजों से पहले आए और सबसे बाद में गए)। आजादी के बाद नेहरू ने शांतिपूर्ण वार्ता से गोवा खाली करने के कड़े प्रयास किए किंतु पुर्तगाली तानाशाह सालाजार ने गोवा को पुर्तगाल का अभिन्न अंग बताते हुए दमन तेज कर दिया। भारतीय सत्याग्रहियों पर पुर्तगाली पुलिस ने गोलियां चलाईं। आखिरकार धैर्य समाप्त होने पर पंडित नेहरू ने सेना भेजी; 18-19 दिसंबर 1961 को 36 घंटे के 'ऑपरेशन विजय' में पुर्तगाली गवर्नर ने बिना किसी बड़ी लड़ाई के आत्मसमर्पण कर दिया और गोवा भारतीय संघ का हिस्सा बना। पुर्तगाल ने स्वेच्छा से कभी चाबियां नहीं सौंपी थीं बल्कि सैन्य दबाव में भागा था, अतः कथन D असत्य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16836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155/260</a:t>
            </a:r>
          </a:p>
        </p:txBody>
      </p:sp>
    </p:spTree>
  </p:cSld>
  <p:clrMapOvr>
    <a:masterClrMapping/>
  </p:clrMapOvr>
</p:sld>
</file>

<file path=ppt/slides/slide31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156</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जनवरी 1967 में केंद्र सरकार द्वारा गोवा में कराए गए ऐतिहासिक 'जनमत सर्वेक्षण' (Opinion Poll) का मुख्य परिणाम क्या रहा था?</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गोवा ने पाकिस्तान में शामिल होने का निर्णय लिया</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गोवा की बहुसंख्यक जनता ने महाराष्ट्र राज्य में विलय के पक्ष में मतदान किया</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गोवा की जनता ने महाराष्ट्र में विलय को अस्वीकार कर दिया और एक पृथक केंद्रशासित प्रदेश बने रहने के पक्ष में मतदान किया</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जनमत सर्वेक्षण के बाद गोवा को तुरंत पुर्तगाल को वापस सौंप दिया गया</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21461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156/260</a:t>
            </a:r>
          </a:p>
        </p:txBody>
      </p:sp>
    </p:spTree>
  </p:cSld>
  <p:clrMapOvr>
    <a:masterClrMapping/>
  </p:clrMapOvr>
</p:sld>
</file>

<file path=ppt/slides/slide31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Q.156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गोवा की जनता ने महाराष्ट्र में विलय को अस्वीकार कर दिया और एक पृथक केंद्रशासित प्रदेश बने रहने के पक्ष में मतदान किया</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गोवा ने पाकिस्तान में शामिल होने का निर्णय लिया</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गोवा की बहुसंख्यक जनता ने महाराष्ट्र राज्य में विलय के पक्ष में मतदान किया</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जनमत सर्वेक्षण के बाद गोवा को तुरंत पुर्तगाल को वापस सौंप दिया गया</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गोवा की मुक्ति के बाद महाराष्ट्रवादी गोमांतक पार्टी (MGP) चाहती थी कि चूंकि कोंकणी मराठी की उपबोली है, अतः गोवा का विलय पड़ोसी महाराष्ट्र में कर दिया जाए। किंतु यूनाइटेड गोअंस पार्टी और स्थानीय बुद्धिजीवियों ने कोंकणी की स्वतंत्र अस्मिता और गोवा की विशिष्ट बहु-धार्मिक संस्कृति की रक्षा के लिए विरोध किया। केंद्र सरकार ने भारत के इतिहास में एकमात्र आधिकारिक 'ओपिनियन पोल' (जनमत सर्वेक्षण) जनवरी 1967 में कराया। गोवावासियों ने महाराष्ट्र में विलय के प्रस्ताव को 54% से अधिक मतों से खारिज कर दिया और अलग पहचान बनाए रखने के लिए केंद्रशासित प्रदेश बने रहना चुना। आगे चलकर 30 मई 1987 को गोवा को भारत का 25वाँ पूर्ण राज्य बना दिया गया।</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21461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156/260</a:t>
            </a:r>
          </a:p>
        </p:txBody>
      </p:sp>
    </p:spTree>
  </p:cSld>
  <p:clrMapOvr>
    <a:masterClrMapping/>
  </p:clrMapOvr>
</p:sld>
</file>

<file path=ppt/slides/slide31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157</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जम्मू और कश्मीर राज्य के ऐतिहासिक संदर्भ, अनुच्छेद 370 और शेख अब्दुल्ला के संबंध में निम्नलिखित कथनों पर विचार कीजिए: A. 1947 से पूर्व कश्मीर के हिंदू डोगरा शासक महाराजा हरि सिंह थे, जिन्होंने पाकिस्तान समर्थित कबायली आक्रमण के बाद भारत में विलय किया। B. नेशनल कॉन्फ्रेंस के नेता शेख मोहम्मद अब्दुल्ला महाराजा के शासन के खिलाफ जन-आंदोलन चला रहे थे और वे धर्मनिरपेक्षता के समर्थक थे। C. संविधान के अनुच्छेद 370 के तहत जम्मू-कश्मीर को व्यापक आंतरिक स्वायत्तता और अपना अलग संविधान रखने का विशेष दर्जा दिया गया था। D. शेख अब्दुल्ला प्रारंभ से ही मुस्लिम लीग के 'द्वि-राष्ट्र सिद्धांत' के कट्टर समर्थक थे और कश्मीर का पाकिस्तान में पूर्ण विलय चाहते थे।</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26086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157/260</a:t>
            </a:r>
          </a:p>
        </p:txBody>
      </p:sp>
    </p:spTree>
  </p:cSld>
  <p:clrMapOvr>
    <a:masterClrMapping/>
  </p:clrMapOvr>
</p:sld>
</file>

<file path=ppt/slides/slide31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Q.157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1947 में जम्मू-कश्मीर मुस्लिम बहुल राज्य था किंतु इसके शासक महाराजा हरि सिंह स्वतंत्र रहना चाहते थे। पाकिस्तान ने जब कबायलियों के भेष में हमला किया, तो महाराजा ने भारत से सैन्य सहायता मांगी और 26 अक्टूबर 1947 को विलय पत्र पर हस्ताक्षर किए। लोकप्रिय कश्मीरी नेता शेख अब्दुल्ला ने जिन्ना के द्वि-राष्ट्र सिद्धांत और सांप्रदायिकता को सिरे से खारिज किया और वे गांधी-नेहरू के धर्मनिरपेक्ष भारत के साथ जुड़े (वे पाकिस्तान में विलय के सख्त खिलाफ थे), अतः कथन D असत्य है। अनुच्छेद 370 के तहत राज्य को अपना संविधान बनाने की छूट दी गई, जिसे आगे चलकर अगस्त 2019 में संसद द्वारा निष्प्रभावी कर दिया गया।</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26086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157/260</a:t>
            </a:r>
          </a:p>
        </p:txBody>
      </p:sp>
    </p:spTree>
  </p:cSld>
  <p:clrMapOvr>
    <a:masterClrMapping/>
  </p:clrMapOvr>
</p:sld>
</file>

<file path=ppt/slides/slide31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158</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1974 के ऐतिहासिक 'इंदिरा-शेख समझौते' (Indira-Sheikh Accord) के संदर्भ में सही परिणाम क्या रहा था?</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शेख अब्दुल्ला को हमेशा के लिए भारत से निष्कासित कर दिया गया</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शेख अब्दुल्ला ने कश्मीर के भारत में पूर्ण विलय को स्वीकार किया और वे जम्मू-कश्मीर के मुख्यमंत्री बने</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जम्मू-कश्मीर को भारत संघ से पूरी तरह स्वतंत्र देश घोषित कर दिया गया</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कश्मीर में जनमत संग्रह कराने की पाकिस्तान की मांग को स्वीकार कर लिया गया</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30711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158/260</a:t>
            </a:r>
          </a:p>
        </p:txBody>
      </p:sp>
    </p:spTree>
  </p:cSld>
  <p:clrMapOvr>
    <a:masterClrMapping/>
  </p:clrMapOvr>
</p:sld>
</file>

<file path=ppt/slides/slide31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Q.158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शेख अब्दुल्ला ने कश्मीर के भारत में पूर्ण विलय को स्वीकार किया और वे जम्मू-कश्मीर के मुख्यमंत्री बने</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शेख अब्दुल्ला को हमेशा के लिए भारत से निष्कासित कर दिया गया</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जम्मू-कश्मीर को भारत संघ से पूरी तरह स्वतंत्र देश घोषित कर दिया गया</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कश्मीर में जनमत संग्रह कराने की पाकिस्तान की मांग को स्वीकार कर लिया गया</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वर्ष 1953 में केंद्र सरकार से मतभेदों के चलते प्रधानमंत्री पद से हटाए जाने और लंबे समय तक नजरबंद रहने के बाद, 1971 के भारत-पाक युद्ध (जिसमें बांग्लादेश बना और पाकिस्तान की सैन्य शक्ति क्षीण हुई) के यथार्थ को देखते हुए शेख अब्दुल्ला ने केंद्र से वार्ता शुरू की। 1974-75 में प्रधानमंत्री इंदिरा गांधी और शेख अब्दुल्ला के बीच ऐतिहासिक समझौता हुआ। शेख अब्दुल्ला ने भारत के साथ कश्मीर के संवैधानिक संबंध और अंतिम विलय को बिना शर्त स्वीकार किया, जनमत संग्रह की मांग को हमेशा के लिए दफन कर दिया और कांग्रेस के समर्थन से वे पुनः जम्मू-कश्मीर के मुख्यमंत्री बने। 1982 में उनके निधन तक कश्मीर में अभूतपूर्व शांति और स्थिरता रही।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30711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158/260</a:t>
            </a:r>
          </a:p>
        </p:txBody>
      </p:sp>
    </p:spTree>
  </p:cSld>
  <p:clrMapOvr>
    <a:masterClrMapping/>
  </p:clrMapOvr>
</p:sld>
</file>

<file path=ppt/slides/slide31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159</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दक्षिण भारत में द्रविड़ आंदोलन और पेरियार ई.वी. रामास्वामी नायकर के सामाजिक-राजनीतिक विचारों के संदर्भ में निम्नलिखित कथनों पर विचार कीजिए: A. पेरियार ई.वी. रामास्वामी ने गैर-ब्राह्मणों के आत्मसम्मान, तर्कवाद और जाति उन्मूलन के लिए ऐतिहासिक 'आत्मसम्मान आंदोलन' (Self-Respect Movement) चलाया। B. उन्होंने उत्तर भारतीय सांस्कृतिक प्रभुत्व, वर्ण व्यवस्था और हिंदी भाषा को थोपने का कड़ा विरोध किया। C. सी.एन. अन्नादुरई के नेतृत्व में द्रविड़ मुनेत्र कड़गम (DMK) ने 1967 के मद्रास विधानसभा चुनावों में कांग्रेस को हराकर गैर-कांग्रेसी सरकार बनाई। D. पेरियार ने आजीवन कट्टर हिंदू वर्ण व्यवस्था, वैदिक कर्मकांडों और संस्कृत भाषा का अंध-समर्थन किया था।</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35335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159/260</a:t>
            </a:r>
          </a:p>
        </p:txBody>
      </p:sp>
    </p:spTree>
  </p:cSld>
  <p:clrMapOvr>
    <a:masterClrMapping/>
  </p:clrMapOvr>
</p:sld>
</file>

<file path=ppt/slides/slide31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Q.159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पेरियार (1879-1973) दक्षिण भारत के महान समाज सुधारक थे जिन्होंने 'द्रविड़ कड़गम' की स्थापना की। उन्होंने ब्राह्मणवादी पुरोहिताई वर्चस्व, मूर्ति पूजा, मनुस्मृति और जातिगत भेदभाव के खिलाफ उग्र नास्तिक और तर्कवादी आंदोलन चलाया। वे किसी भी रूप में वैदिक वर्ण व्यवस्था के समर्थक नहीं बल्कि उसके सबसे प्रखर विरोधी थे, अतः कथन D असत्य है। 1965 के हिंदी विरोधी आंदोलनों के बाद उनके शिष्य सी.एन. अन्नादुरई ने DMK को चुनावी राजनीति में उतारा और 1967 में कांग्रेस को करारी शिकस्त दी। यह पहला मौका था जब किसी राज्य में एक विशुद्ध क्षेत्रीय दल ने अपने दम पर पूर्ण बहुमत प्राप्त किया। बाद में मद्रास राज्य का नाम बदलकर 'तमिलनाडु' रखा गया।</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35335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159/260</a:t>
            </a:r>
          </a:p>
        </p:txBody>
      </p:sp>
    </p:spTree>
  </p:cSld>
  <p:clrMapOvr>
    <a:masterClrMapping/>
  </p:clrMapOvr>
</p:sld>
</file>

<file path=ppt/slides/slide31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160</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भारत के प्रमुख क्षेत्रीय दलों और उनके गृह राज्यों का सही मिलान कीजिए: सूची-I (क्षेत्रीय दल): सूची-I: A. शिरोमणि अकाली दल (SAD) B. द्रविड़ मुनेत्र कड़गम (DMK) C. असम गण परिषद (AGP) D. नेशनल कॉन्फ्रेंस (NC) सूची-II: 1. तमिलनाडु 2. पंजाब 3. जम्मू और कश्मीर 4. असम</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C-1, D-3</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C-4, D-2</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39960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160/260</a:t>
            </a:r>
          </a:p>
        </p:txBody>
      </p:sp>
    </p:spTree>
  </p:cSld>
  <p:clrMapOvr>
    <a:masterClrMapping/>
  </p:clrMapOvr>
</p:sld>
</file>

<file path=ppt/slides/slide32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Q.160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B-1, C-4,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C-3,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B-4, C-1,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B-1, C-4, D-2</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भारतीय संघवाद की जीवंतता का प्रमाण क्षेत्रीय दलों का उभार है: शिरोमणि अकाली दल पंजाब में सिखों और किसानों की अस्मिता की नुमाइंदगी करने वाला ऐतिहासिक दल है जिसकी स्थापना 1920 में हुई। DMK (और बाद में AIADMK) तमिलनाडु में द्रविड़ पहचान और सामाजिक न्याय की राजनीति का अगुआ रहा है। असम गण परिषद (AGP) 1985 में छात्र आंदोलन से उपजी असमिया अस्मिता की पार्टी है। नेशनल कॉन्फ्रेंस (NC) जम्मू-कश्मीर में शेख अब्दुल्ला और फारूक अब्दुल्ला के नेतृत्व वाला प्रमुख ऐतिहासिक क्षेत्रीय दल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39960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160/260</a:t>
            </a:r>
          </a:p>
        </p:txBody>
      </p:sp>
    </p:spTree>
  </p:cSld>
  <p:clrMapOvr>
    <a:masterClrMapping/>
  </p:clrMapOvr>
</p:sld>
</file>

<file path=ppt/slides/slide32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161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भारतीय राजनीति में 1989 के बाद के 'गठबंधन युग' (Coalition Era) के संदर्भ में निम्नलिखित कथनों पर विचार कीजिए: A. 1989 के नौवें लोकसभा चुनाव के बाद से 2014 तक केंद्र में किसी भी एक अकेले राजनीतिक दल को स्पष्ट बहुमत नहीं मिला। B. 1989 में वी.पी. सिंह के नेतृत्व में 'राष्ट्रीय मोर्चा' (National Front) की सरकार बनी जिसे भाजपा और वाममोर्चा दोनों ने बाहर से समर्थन दिया। C. गठबंधन राजनीति के दौर में क्षेत्रीय दलों (Regional Parties) का राष्ट्रीय राजनीति और केंद्रीय सरकारों के निर्माण में प्रभाव अत्यधिक बढ़ गया। D. गठबंधन युग के दौरान देश में बहुदलीय लोकतंत्र पूरी तरह समाप्त हो गया और सैनिक तानाशाही कायम हो गई।</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44585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161/260</a:t>
            </a:r>
          </a:p>
        </p:txBody>
      </p:sp>
    </p:spTree>
  </p:cSld>
  <p:clrMapOvr>
    <a:masterClrMapping/>
  </p:clrMapOvr>
</p:sld>
</file>

<file path=ppt/slides/slide32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Q.161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1989 का चुनाव कांग्रेस प्रणाली (Congress System) के अंत और गठबंधन राजनीति के स्वर्ण युग की शुरुआत था। 1989 से 2014 के बीच 25 वर्षों तक देश में गठबंधन या अल्पमत की सरकारें रहीं (राष्ट्रीय मोर्चा, संयुक्त मोर्चा, राजग और संप्रग)। वी.पी. सिंह की सरकार वैचारिक रूप से विरोधी दो ध्रुवों-भारतीय जनता पार्टी और वामपंथी दलों (Left Front) के बाहरी समर्थन पर टिकी थी। क्षेत्रीय क्षत्रपों (जैसे सपा, बसपा, जदयू, द्रमुक, अन्नाद्रमुक, तृणमूल, बीजद) के बिना केंद्र में कोई सरकार नहीं बन सकती थी। इस युग ने भारतीय लोकतंत्र को अधिक सहभागी, संवादी और संघात्मक बनाया; भारत में कभी कोई सैनिक तानाशाही नहीं आई, अतः कथन D असत्य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44585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161/260</a:t>
            </a:r>
          </a:p>
        </p:txBody>
      </p:sp>
    </p:spTree>
  </p:cSld>
  <p:clrMapOvr>
    <a:masterClrMapping/>
  </p:clrMapOvr>
</p:sld>
</file>

<file path=ppt/slides/slide32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162</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1978 में सरकारी कर्मचारियों के बीच सामाजिक न्याय और 'बहुजन' अस्मिता को जगाने के लिए मान्यवर कांशीराम द्वारा किस ऐतिहासिक गैर-राजनीतिक संगठन की स्थापना की गई थी?</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दलित पैंथर्स</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बामसेफ (BAMCEF - The All India Backward and Minority Communities Employees Federation)</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बहुजन समाज पार्टी (BSP)</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दलित मुक्ति मोर्चा</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49210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162/260</a:t>
            </a:r>
          </a:p>
        </p:txBody>
      </p:sp>
    </p:spTree>
  </p:cSld>
  <p:clrMapOvr>
    <a:masterClrMapping/>
  </p:clrMapOvr>
</p:sld>
</file>

<file path=ppt/slides/slide32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Q.162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बामसेफ (BAMCEF - The All India Backward and Minority Communities Employees Federation)</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दलित पैंथर्स</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बहुजन समाज पार्टी (BSP)</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दलित मुक्ति मोर्चा</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मान्यवर कांशीराम (1934-2006) ने दलितों और पिछड़ों के सशक्तिकरण के लिए वैज्ञानिक सांगठनिक दृष्टिकोण अपनाया। उन्होंने महसूस किया कि शिक्षित और संपन्न दलित सरकारी कर्मचारियों को अपने शोषित समाज को लौटाना चाहिए (Pay back to society)। 6 दिसंबर 1978 को उन्होंने 'बामसेफ' (BAMCEF) का गठन किया। यह कोई सामान्य ट्रेड यूनियन नहीं था; इसका उद्देश्य अनुसूचित जातियों, अनुसूचित जनजातियों, अन्य पिछड़े वर्गों (OBC) और अल्पसंख्यकों के पढ़े-लिखे कर्मचारियों का एक मजबूत बौद्धिक और वित्तीय आधार तैयार करना था, जिसने आगे चलकर DS-4 (1981) और अंततः 1984 में बहुजन समाज पार्टी (BSP) की राजनीतिक जमीन तैयार की।</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49210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162/260</a:t>
            </a:r>
          </a:p>
        </p:txBody>
      </p:sp>
    </p:spTree>
  </p:cSld>
  <p:clrMapOvr>
    <a:masterClrMapping/>
  </p:clrMapOvr>
</p:sld>
</file>

<file path=ppt/slides/slide32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163</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मान्यवर कांशीराम और बहुजन समाज पार्टी (BSP) की राजनीतिक विचारधारा के संदर्भ में निम्नलिखित कथनों पर विचार कीजिए: A. कांशीराम ने सामाजिक-राजनीतिक कार्य के लिए केंद्र सरकार के रक्षा अनुसंधान प्रयोगशाला की अपनी स्थायी सरकारी नौकरी से त्यागपत्र दे दिया था। B. कांशीराम का यह स्पष्ट मानना था कि राजनीतिक सत्ता ही सामाजिक समानता और मुक्ति प्राप्त करने की 'मास्टर चाबी' (Master Key) है। C. 14 अप्रैल 1984 को डॉ. भीमराव अंबेडकर की जयंती पर बहुजन समाज पार्टी (BSP) की औपचारिक स्थापना की गई। D. बहुजन समाज पार्टी का मुख्य लक्ष्य केवल उद्योगपतियों और जमींदारों के आर्थिक हितों को बढ़ावा देना था।</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53834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163/260</a:t>
            </a:r>
          </a:p>
        </p:txBody>
      </p:sp>
    </p:spTree>
  </p:cSld>
  <p:clrMapOvr>
    <a:masterClrMapping/>
  </p:clrMapOvr>
</p:sld>
</file>

<file path=ppt/slides/slide32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Q.163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पंजाब के रोपड़ में जन्मे कांशीराम ने पूना में सरकारी नौकरी के दौरान जातिगत उत्पीड़न देखकर नौकरी छोड़ दी और अपना पूरा जीवन फुले-पेरियार-अंबेडकर की विचारधारा के प्रसार में समर्पित कर दिया। उनका प्रसिद्ध विचार था कि "राजनीतिक सत्ता वह चाबी है जिससे विकास और सम्मान के सारे बंद ताले खोले जा सकते हैं।" 1984 में स्थापित बसपा ने उत्तर भारत (विशेषकर उत्तर प्रदेश) में दलितों को एक स्वतंत्र और आक्रामक राजनीतिक ताकत में बदल दिया और 1995 में सुश्री मायावती देश की पहली दलित महिला मुख्यमंत्री बनीं। बसपा दलितों, आदिवासियों, पिछड़ों और धार्मिक अल्पसंख्यकों (जिन्हें वे बहुजन कहते थे) के सशक्तिकरण की पार्टी थी, पूंजीपतियों की नहीं; अतः कथन D असत्य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53834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163/260</a:t>
            </a:r>
          </a:p>
        </p:txBody>
      </p:sp>
    </p:spTree>
  </p:cSld>
  <p:clrMapOvr>
    <a:masterClrMapping/>
  </p:clrMapOvr>
</p:sld>
</file>

<file path=ppt/slides/slide32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164</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भारतीय संविधान में अन्य पिछड़ा वर्ग (OBC) की पहचान और आरक्षण के संदर्भ में कौन-सा तथ्य संवैधानिक दृष्टि से सही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संविधान का अनुच्छेद 15</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संविधान का अनुच्छेद 15(4) और 16(4) सामाजिक और शैक्षणिक रूप से पिछड़े वर्गों (Socially and Educationally Backward Classes) के उत्थान के लिए विशेष प्रावधान करता है</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संविधान में जाति के आधार पर पिछड़ेपन की पहचान करने पर पूर्ण प्रतिबंध लगाया गया है</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ओबीसी को केवल निजी क्षेत्र की नौकरियों में 50% अनिवार्य आरक्षण प्राप्त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58459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164/260</a:t>
            </a:r>
          </a:p>
        </p:txBody>
      </p:sp>
    </p:spTree>
  </p:cSld>
  <p:clrMapOvr>
    <a:masterClrMapping/>
  </p:clrMapOvr>
</p:sld>
</file>

<file path=ppt/slides/slide32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Q.164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संविधान का अनुच्छेद 15(4) और 16(4) सामाजिक और शैक्षणिक रूप से पिछड़े वर्गों (Socially and Educationally Backward Classes) के उत्थान के लिए विशेष प्रावधान करता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संविधान का अनुच्छेद 15</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संविधान में जाति के आधार पर पिछड़ेपन की पहचान करने पर पूर्ण प्रतिबंध लगाया गया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ओबीसी को केवल निजी क्षेत्र की नौकरियों में 50% अनिवार्य आरक्षण प्राप्त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भारतीय संविधान के अनुच्छेद 15(4), 15(5) और 16(4) के मूल पाठ में प्रयुक्त शब्द 'सामाजिक और शैक्षणिक रूप से पिछड़े वर्ग' (Socially and Educationally Backward Classes) हैं, न कि 'सामाजिक और आर्थिक'। संविधान निर्माताओं ने माना था कि भारत में आर्थिक गरीबी का मूल कारण सामाजिक जातिगत पदसोपान और अशिक्षा है। मंडल आयोग और इंदिरा साहनी वाद (1992) में स्पष्ट किया गया कि जाति पिछड़ेपन की पहचान का एक प्रमुख घटक हो सकती है। 103वें संविधान संशोधन 2019 द्वारा पहली बार 'आर्थिक रूप से कमजोर वर्ग' (EWS) को अलग से 10% आरक्षण दिया गया, किंतु पारंपरिक पिछड़ा वर्ग सामाजिक व शैक्षणिक पिछड़ेपन पर आधारित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58459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164/260</a:t>
            </a:r>
          </a:p>
        </p:txBody>
      </p:sp>
    </p:spTree>
  </p:cSld>
  <p:clrMapOvr>
    <a:masterClrMapping/>
  </p:clrMapOvr>
</p:sld>
</file>

<file path=ppt/slides/slide32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165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1990 के दशक में भारतीय राजनीति के प्रमुख बदलावों और सहमति के नए बिंदुओं के संदर्भ में निम्नलिखित कथनों पर विचार कीजिए: A. नई आर्थिक नीति (1991) के तहत उदारीकरण, निजीकरण और वैश्वीकरण (LPG) के मॉडल पर अधिकांश दलों के बीच आम सहमति बनी। B. अन्य पिछड़े वर्गों (OBC) के राजनीतिक और सामाजिक दावों की सर्वदलीय स्वीकृति बढ़ी और संसद में उनका प्रतिनिधित्व बढ़ा। C. शासन में प्रांतीय और क्षेत्रीय दलों की केंद्रीय भूमिका और संघवाद का वास्तविक सुदृढ़ीकरण हुआ। D. इस दौर में विचारधारा की कट्टरता की जगह व्यावहारिक सत्ता-साझेदारी (Pragmatic Politics) ने ले ली।</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63084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165/260</a:t>
            </a:r>
          </a:p>
        </p:txBody>
      </p:sp>
    </p:spTree>
  </p:cSld>
  <p:clrMapOvr>
    <a:masterClrMapping/>
  </p:clrMapOvr>
</p:sld>
</file>

<file path=ppt/slides/slide33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Q.165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1990 का दशक भारतीय राजनीति का निर्णायक संक्रमण काल था जिसे चार प्रमुख घटनाओं ने गढ़ा: (1) आर्थिक सुधार-नरसिम्हा राव व मनमोहन सिंह द्वारा शुरू किए गए बाजार सुधारों को बाद में वाजपेयी, देवगौड़ा और गुजराल सरकारों ने भी निरंतर आगे बढ़ाया; (2) मंडल मुद्दा-पिछड़ी जातियों की सत्ता में हिस्सेदारी एक अनिवार्य सच्चाई बनी; (3) गठबंधन राजनीति-वैचारिक मतभेदों के बावजूद क्षेत्रीय दलों के साथ मिलकर साझा न्यूनतम कार्यक्रम (CMP) पर सरकारें चलीं; और (4) संघवाद की मजबूती-केंद्र अब राज्यों की सरकारों को चुटकी में बर्खास्त नहीं कर सकता था। इस प्रकार सभी चारों कथन 1990 के दशक की नई राजनीतिक सहमति को सही दर्शाते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63084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165/260</a:t>
            </a:r>
          </a:p>
        </p:txBody>
      </p:sp>
    </p:spTree>
  </p:cSld>
  <p:clrMapOvr>
    <a:masterClrMapping/>
  </p:clrMapOvr>
</p:sld>
</file>

<file path=ppt/slides/slide33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166</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भारतीय संविधान के अनुच्छेद 19 के तहत प्रदत्त 'छह स्वतंत्रताओं' के संदर्भ में निम्नलिखित कथनों पर विचार कीजिए: A. अनुच्छेद 19(1)(a) वाक् एवं अभिव्यक्ति की स्वतंत्रता प्रदान करता है जिसमें प्रेस की स्वतंत्रता भी अंतर्निहित है। B. अनुच्छेद 19(1)(b) शांतिपूर्वक और बिना हथियारों के सम्मेलन करने की स्वतंत्रता देता है। C. अनुच्छेद 19(1)(c) संगम, संघ या सहकारी समितियां (Co-operative Societies) बनाने का अधिकार देता है। D. अनुच्छेद 19 के तहत नागरिकों को देश में कहीं भी हड़ताल करने और चक्का जाम कर राष्ट्रीय राजमार्गों को अनिश्चितकाल तक बंद करने का निरपेक्ष मूल अधिकार प्राप्त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67709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166/260</a:t>
            </a:r>
          </a:p>
        </p:txBody>
      </p:sp>
    </p:spTree>
  </p:cSld>
  <p:clrMapOvr>
    <a:masterClrMapping/>
  </p:clrMapOvr>
</p:sld>
</file>

<file path=ppt/slides/slide33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Q.166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44वें संशोधन 1978 द्वारा संपत्ति अर्जित करने की स्वतंत्रता (19(1)(f)) को हटाए जाने के बाद अब अनुच्छेद 19(1) में कुल 6 स्वतंत्रताएं हैं: (a) वाक्-अभिव्यक्ति, (b) शांतिपूर्ण व निरायुध सम्मेलन, (c) संघ/संगठन बनाना (97वें संशोधन 2011 से सहकारी समितियां भी जुड़ीं), (d) भारत में सर्वत्र अबाध संचरण, (e) कहीं भी बसने/निवास की स्वतंत्रता, और (g) कोई भी वृत्ति, व्यापार या आजीविका चुनने का अधिकार। सर्वोच्च न्यायालय ने कामेश्वर सिंह वाद और टीके रंगराजन वाद में स्पष्ट किया है कि नागरिकों या सरकारी कर्मचारियों को हड़ताल करने, सार्वजनिक संपत्ति को नुकसान पहुंचाने या दूसरों के आवागमन को पंगु करने का कोई मौलिक अधिकार नहीं है; अतः कथन D असत्य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67709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166/260</a:t>
            </a:r>
          </a:p>
        </p:txBody>
      </p:sp>
    </p:spTree>
  </p:cSld>
  <p:clrMapOvr>
    <a:masterClrMapping/>
  </p:clrMapOvr>
</p:sld>
</file>

<file path=ppt/slides/slide33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167</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संविधान के अनुच्छेद 20 के तहत अपराधों के लिए दोषसिद्धि के संबंध में दिए गए तीन प्रमुख संरक्षकों का सही मिलान कीजिए: सूची-I (संवैधानिक संरक्षण): सूची-I: A. कार्योत्तर विधियों से संरक्षण (Ex-Post Facto Law) B. दोहरे दंड से संरक्षण (Double Jeopardy) C. आत्म-अभिशंसन से संरक्षण (Protection against Self-Incrimination) सूची-II: 1. किसी भी आरोपी व्यक्ति को अपने ही विरुद्ध गवाह बनने के लिए विवश नहीं किया जा सकता 2. किसी व्यक्ति को एक ही अपराध के लिए एक बार से अधिक अभियोजित और दंडित नहीं किया जाएगा 3. किसी व्यक्ति को केवल उसी कानून के उल्लंघन पर दंड मिलेगा जो अपराध करते समय लागू था (पिछली तारीख से आपराधिक कानून नहीं बनेगा)</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B-2, C-1</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C-2</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B-3, C-1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72333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167/260</a:t>
            </a:r>
          </a:p>
        </p:txBody>
      </p:sp>
    </p:spTree>
  </p:cSld>
  <p:clrMapOvr>
    <a:masterClrMapping/>
  </p:clrMapOvr>
</p:sld>
</file>

<file path=ppt/slides/slide33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Q.167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A-3, B-2, C-1</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B-1, C-2</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B-3, C-1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अनुच्छेद 20 नागरिकों और गैर-नागरिकों दोनों को मनमाने और अत्यधिक दंड से तीन अनूठे संरक्षण प्रदान करता है: (1) अनुच्छेद 20(1) - कोई भी आपराधिक कानून पिछली तारीख से लागू कर किसी पुराने कार्य को अपराध घोषित नहीं कर सकता और न ही उस समय लागू सजा से अधिक सजा दे सकता है; (2) अनुच्छेद 20(2) - अमेरिकी संविधान के 'डबल जियोपार्डी' सिद्धांत की तरह एक अपराध के लिए एक से अधिक बार मुकदमा चलाकर दंड नहीं दिया जा सकता; (3) अनुच्छेद 20(3) - किसी भी अभियुक्त को अपने खिलाफ बयान या अंगूठा/दस्तावेज देने के लिए पुलिस प्रताड़ित नहीं कर सकती। सेल्वी वाद (2010) में सुप्रीम कोर्ट ने कहा कि बिना सहमति के नार्को टेस्ट या लाई-डिटेक्टर टेस्ट कराना अनुच्छेद 20(3) का उल्लंघन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72333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167/260</a:t>
            </a:r>
          </a:p>
        </p:txBody>
      </p:sp>
    </p:spTree>
  </p:cSld>
  <p:clrMapOvr>
    <a:masterClrMapping/>
  </p:clrMapOvr>
</p:sld>
</file>

<file path=ppt/slides/slide33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168</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संविधान के अनुच्छेद 21 में निहित 'प्राण एवं दैहिक स्वतंत्रता' के अधिकार के विस्तार के संदर्भ में निम्नलिखित कथनों पर विचार कीजिए: A. ए.के. गोपालन वाद (1950) में सर्वोच्च न्यायालय ने अनुच्छेद 21 की संकीर्ण व्याख्या करते हुए केवल 'विधि द्वारा स्थापित प्रक्रिया' को ही माना था। B. मेनका गांधी बनाम भारत संघ (1978) वाद में न्यायालय ने 'विधि की उचित प्रक्रिया' (Due Process of Law) को अपनाकर अनुच्छेद 21 का व्यापक विस्तार किया। C. सर्वोच्च न्यायालय के विभिन्न निर्णयों के अनुसार शिक्षा, स्वास्थ्य, स्वच्छ पर्यावरण, त्वरित न्याय और निजता (Privacy) का अधिकार अनुच्छेद 21 का अभिन्न अंग हैं। D. अनुच्छेद 21 के अनुसार राज्य किसी भी परिस्थिति में किसी व्यक्ति को मृत्युदंड (फांसी की सजा) नहीं दे सकता क्योंकि जीवन अनमोल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76958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168/260</a:t>
            </a:r>
          </a:p>
        </p:txBody>
      </p:sp>
    </p:spTree>
  </p:cSld>
  <p:clrMapOvr>
    <a:masterClrMapping/>
  </p:clrMapOvr>
</p:sld>
</file>

<file path=ppt/slides/slide33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Q.168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अनुच्छेद 21 कहता है: "विधि द्वारा स्थापित प्रक्रिया के अनुसार ही किसी व्यक्ति को उसके प्राण या दैहिक स्वतंत्रता से वंचित किया जाएगा, अन्यथा नहीं।" 1950 के गोपालन वाद में कोर्ट ने माना कि कानून उचित हो या अनुचित, यदि संसद ने प्रक्रिया पूरी की है तो कोर्ट हस्तक्षेप नहीं करेगा। किंतु 1978 के मेनका गांधी पासपोर्ट मामले में सुप्रीम कोर्ट ने ऐतिहासिक फैसला दिया कि कानून केवल प्रक्रियात्मक रूप से सही नहीं होना चाहिए, बल्कि वह 'न्यायसंगत, निष्पक्ष और तार्किक' (Just, Fair and Reasonable) भी होना चाहिए। कोर्ट ने अनुच्छेद 21 में गरिमापूर्ण जीवन के दर्जनों आयाम जोड़े। किंतु संविधान और भारतीय दंड संहिता (IPC) में विधिक प्रक्रिया का पालन करते हुए 'दुर्लभ से दुर्लभतम मामलों' (Rarest of Rare cases) में मृत्युदंड देने की वैधानिक अनुमति मौजूद है, अतः कथन D असत्य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76958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168/260</a:t>
            </a:r>
          </a:p>
        </p:txBody>
      </p:sp>
    </p:spTree>
  </p:cSld>
  <p:clrMapOvr>
    <a:masterClrMapping/>
  </p:clrMapOvr>
</p:sld>
</file>

<file path=ppt/slides/slide33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169</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86वें संविधान संशोधन अधिनियम, 2002 द्वारा संविधान में नया अनुच्छेद 21A (21क) जोड़कर किस अधिकार को मौलिक अधिकार बनाया गया?</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उच्च शिक्षा प्राप्त करने का अधिकार</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6 से 14 वर्ष की आयु के सभी बच्चों के लिए निःशुल्क और अनिवार्य प्रारंभिक शिक्षा का अधिकार</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बाल श्रम करने वाले बच्चों के पुनर्वास का अधिकार</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खेलकूद और पोषण का मौलिक अधिकार</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81583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169/260</a:t>
            </a:r>
          </a:p>
        </p:txBody>
      </p:sp>
    </p:spTree>
  </p:cSld>
  <p:clrMapOvr>
    <a:masterClrMapping/>
  </p:clrMapOvr>
</p:sld>
</file>

<file path=ppt/slides/slide33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Q.169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6 से 14 वर्ष की आयु के सभी बच्चों के लिए निःशुल्क और अनिवार्य प्रारंभिक शिक्षा का अधिकार</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उच्च शिक्षा प्राप्त करने का अधिकार</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बाल श्रम करने वाले बच्चों के पुनर्वास का अधिकार</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खेलकूद और पोषण का मौलिक अधिकार</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86वें संविधान संशोधन अधिनियम, 2002 ने भारत के इतिहास में शिक्षा के क्षेत्र में युगांतकारी परिवर्तन किया। इसने तीन बड़े बदलाव किए: (1) भाग-3 में नया अनुच्छेद 21A जोड़कर 6 से 14 वर्ष तक के सभी बच्चों के लिए मुफ्त व अनिवार्य शिक्षा को मौलिक अधिकार बनाया; (2) अनुच्छेद 45 (DPSP) को संशोधित कर 6 वर्ष से कम आयु के शिशुओं की देखभाल व पूर्व-प्राथमिक शिक्षा का निर्देश दिया; और (3) अनुच्छेद 51A में 11वाँ मौलिक कर्तव्य जोड़ा कि माता-पिता अपने बच्चों को शिक्षा का अवसर दें। इस संशोधन को लागू करने के लिए संसद ने ऐतिहासिक 'शिक्षा का अधिकार अधिनियम, 2009' (RTE Act, 2009) पारित किया, जो 1 अप्रैल 2010 से प्रभावी हुआ।</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81583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169/260</a:t>
            </a:r>
          </a:p>
        </p:txBody>
      </p:sp>
    </p:spTree>
  </p:cSld>
  <p:clrMapOvr>
    <a:masterClrMapping/>
  </p:clrMapOvr>
</p:sld>
</file>

<file path=ppt/slides/slide33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170</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निवारक निरोध कानून (Preventive Detention Law) और अनुच्छेद 22 के संवैधानिक सुरक्षा उपायों के संदर्भ में निम्नलिखित कथनों पर विचार कीजिए: A. निवारक निरोध का अर्थ किसी व्यक्ति को अपराध करने के बाद दंडित करना नहीं, बल्कि अपराध करने की आशंका के आधार पर पहले ही हिरासत में लेना है। B. सामान्य परिस्थिति में किसी व्यक्ति को निवारक निरोध कानून के तहत बिना किसी सलाहकार बोर्ड की समीक्षा के अधिकतम 3 महीने तक हिरासत में रखा जा सकता है। C. हिरासत में लिए गए व्यक्ति को निरोध के आधार जानने और निरोध आदेश के विरुद्ध अभ्यावेदन (Representation) करने का अधिकार होता है। D. भारतीय संविधान दुनिया का एकमात्र ऐसा लोकतांत्रिक संविधान है जो शांति काल में भी निवारक निरोध के प्रावधानों को मौलिक अधिकारों के अध्याय में मान्यता देता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86208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170/260</a:t>
            </a:r>
          </a:p>
        </p:txBody>
      </p:sp>
    </p:spTree>
  </p:cSld>
  <p:clrMapOvr>
    <a:masterClrMapping/>
  </p:clrMapOvr>
</p:sld>
</file>

<file path=ppt/slides/slide34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Q.170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अनुच्छेद 22 के खंड (4) से (7) तक निवारक निरोध से जुड़े उपबंध हैं। निवारक निरोध राज्य सुरक्षा, लोक व्यवस्था और आवश्यक आपूर्ति बनाए रखने के लिए एहतियातन उठाया गया कदम होता है। सामान्यतः इसे 3 माह तक बढ़ाया जा सकता है; 3 माह से अधिक रखने के लिए उच्च न्यायालय के जजों वाले 'सलाहकार बोर्ड' (Advisory Board) की पूर्व संस्तुति अनिवार्य होती है। निरुद्ध व्यक्ति को आधार बताए जाने चाहिए (जब तक कि वे सार्वजनिक हित के खिलाफ न हों)। आलोचक रेखांकित करते हैं कि अमेरिका या ब्रिटेन जैसे लोकतांत्रिक देशों में शांति काल में निवारक निरोध नहीं होता, केवल युद्धकाल में होता है; भारत का संविधान शांति काल में भी इसे भाग-3 में वैध ठहराता है, अतः सभी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86208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170/260</a:t>
            </a:r>
          </a:p>
        </p:txBody>
      </p:sp>
    </p:spTree>
  </p:cSld>
  <p:clrMapOvr>
    <a:masterClrMapping/>
  </p:clrMapOvr>
</p:sld>
</file>

<file path=ppt/slides/slide34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171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धार्मिक स्वतंत्रता के अधिकार (अनुच्छेद 25 से 28) के तहत दिए गए विभिन्न अधिकारों का सही मिलान कीजिए: सूची-I (अनुच्छेद): सूची-I: A. अनुच्छेद 25 B. अनुच्छेद 26 C. अनुच्छेद 27 D. अनुच्छेद 28 सूची-II: 1. किसी विशिष्ट धर्म की अभिवृद्धि के लिए कर देने से स्वतंत्रता (धर्म के नाम पर कर निषेध) 2. धार्मिक कार्यों और संस्थाओं के प्रबंधन की स्वतंत्रता 3. राज्य निधि से पूर्णतः वित्त-पोषित शिक्षण संस्थाओं में धार्मिक शिक्षा देने पर प्रतिबंध 4. अंतःकरण की स्वतंत्रता और धर्म को अबाध रूप से मानने, आचरण व प्रचार करने का अधिकार</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B-2, C-1, D-3</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B-1, C-2, D-3</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C-1, D-3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90832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171/260</a:t>
            </a:r>
          </a:p>
        </p:txBody>
      </p:sp>
    </p:spTree>
  </p:cSld>
  <p:clrMapOvr>
    <a:masterClrMapping/>
  </p:clrMapOvr>
</p:sld>
</file>

<file path=ppt/slides/slide34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Q.171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A-4, B-2, C-1,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C-3,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B-1, C-2,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B-4, C-1, D-3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अनुच्छेद 25 व्यक्तिगत धार्मिक स्वतंत्रता देता है (जिसमें अंतःकरण की आजादी शामिल है, किंतु जबरन धर्मांतरण का अधिकार शामिल नहीं है)। अनुच्छेद 26 धार्मिक संप्रदायों या वर्गों को सामूहिक रूप से अपने धार्मिक मामलों का प्रबंधन करने, चल-अचल संपत्ति अर्जित करने और धार्मिक संस्थाएं बनाने का अधिकार देता है। अनुच्छेद 27 धर्मनिरपेक्षता की रक्षा करता है कि सरकार जनता के टैक्स के पैसे का इस्तेमाल किसी एक धर्म के प्रचार या पोषण में नहीं करेगी। अनुच्छेद 28 स्पष्ट करता है कि सरकारी खजाने से चलने वाले स्कूलों/कॉलेजों में किसी भी प्रकार की धार्मिक शिक्षा नहीं दी जाएगी, तथा गैर-सरकारी मान्यता प्राप्त स्कूलों में किसी बच्चे को प्रार्थना या धार्मिक शिक्षा में भाग लेने के लिए बाध्य नहीं किया जा सकता।</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90832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171/260</a:t>
            </a:r>
          </a:p>
        </p:txBody>
      </p:sp>
    </p:spTree>
  </p:cSld>
  <p:clrMapOvr>
    <a:masterClrMapping/>
  </p:clrMapOvr>
</p:sld>
</file>

<file path=ppt/slides/slide34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172</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अल्पसंख्यकों के सांस्कृतिक एवं शैक्षिक अधिकारों (अनुच्छेद 29 व 30) के संदर्भ में निम्नलिखित कथनों पर विचार कीजिए: A. अनुच्छेद 29(1) भारत के राज्यक्षेत्र के किसी भी नागरिक वर्ग को अपनी विशिष्ट भाषा, लिपि या संस्कृति को सुरक्षित रखने का अधिकार देता है। B. अनुच्छेद 30 केवल धार्मिक और भाषाई अल्पसंख्यकों (Religious and Linguistic Minorities) को अपनी पसंद के शिक्षण संस्थान खोलने का अधिकार देता है। C. राज्य किसी शिक्षण संस्थान को वित्तीय सहायता देने में इस आधार पर भेदभाव नहीं करेगा कि वह किसी अल्पसंख्यक समुदाय के प्रबंधन में है। D. संविधान में 'अल्पसंख्यक' (Minority) शब्द की स्पष्ट और विस्तृत संख्यात्मक परिभाषा दी गई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95457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172/260</a:t>
            </a:r>
          </a:p>
        </p:txBody>
      </p:sp>
    </p:spTree>
  </p:cSld>
  <p:clrMapOvr>
    <a:masterClrMapping/>
  </p:clrMapOvr>
</p:sld>
</file>

<file path=ppt/slides/slide34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Q.172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अनुच्छेद 29 और 30 भारतीय संविधान के अत्यंत अनूठे और प्रगतिशील प्रावधान हैं। अनुच्छेद 29(1) में 'नागरिकों का कोई भी अनुभाग' शब्द है जो अल्पसंख्यकों के साथ बहुसंख्यकों पर भी लागू हो सकता है। अनुच्छेद 30 केवल दो प्रकार के अल्पसंख्यकों को मान्यता देता है-धार्मिक और भाषाई (जातिगत या नस्लीय अल्पसंख्यक संविधान में मान्य नहीं हैं)। टी.एम.ए. पाई फाउंडेशन वाद (2002) में सुप्रीम कोर्ट ने तय किया कि किसी राज्य में अल्पसंख्यक का निर्धारण राज्य की जनसंख्या के अनुपात में किया जाएगा। महत्वपूर्ण तथ्य यह है कि भारतीय संविधान में 'अल्पसंख्यक' शब्द की कोई औपचारिक परिभाषा या न्यूनतम जनसंख्या प्रतिशत तय नहीं किया गया है, अतः कथन D असत्य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95457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172/260</a:t>
            </a:r>
          </a:p>
        </p:txBody>
      </p:sp>
    </p:spTree>
  </p:cSld>
  <p:clrMapOvr>
    <a:masterClrMapping/>
  </p:clrMapOvr>
</p:sld>
</file>

<file path=ppt/slides/slide34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173</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44वें संविधान संशोधन अधिनियम, 1978 के पश्चात वर्तमान में संपत्ति के अधिकार (Right to Property) की वास्तविक संवैधानिक स्थिति क्या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यह अब भी भाग-3 में अनुच्छेद 19(1)(f) के तहत एक मौलिक अधिकार है</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यह संविधान के भाग-12 में अनुच्छेद 300A के अंतर्गत केवल एक विधिक/कानूनी अधिकार है</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संपत्ति का अधिकार पूरी तरह समाप्त कर दिया गया है और भारत में कोई निजी संपत्ति नहीं रख सकता</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यह नीति-निदेशक तत्वों के अंतर्गत अनुच्छेद 39 में शामिल किया गया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00082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173/260</a:t>
            </a:r>
          </a:p>
        </p:txBody>
      </p:sp>
    </p:spTree>
  </p:cSld>
  <p:clrMapOvr>
    <a:masterClrMapping/>
  </p:clrMapOvr>
</p:sld>
</file>

<file path=ppt/slides/slide34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Q.173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यह संविधान के भाग-12 में अनुच्छेद 300A के अंतर्गत केवल एक विधिक/कानूनी अधिकार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यह अब भी भाग-3 में अनुच्छेद 19(1)(f) के तहत एक मौलिक अधिकार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संपत्ति का अधिकार पूरी तरह समाप्त कर दिया गया है और भारत में कोई निजी संपत्ति नहीं रख सकता</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यह नीति-निदेशक तत्वों के अंतर्गत अनुच्छेद 39 में शामिल किया गया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मूल संविधान में संपत्ति का अधिकार अनुच्छेद 19(1)(f) और अनुच्छेद 31 के तहत एक मजबूत मौलिक अधिकार था, जिसके कारण भूमि सुधारों, जमींदारी उन्मूलन और बैंकों के राष्ट्रीयकरण में न्यायपालिका और सरकार के बीच बार-बार टकराव हुआ। 1978 में जनता पार्टी सरकार ने 44वें संविधान संशोधन द्वारा इसे मौलिक अधिकारों के भाग-3 से पूरी तरह बाहर निकाल दिया। अब इसे संविधान के भाग-12, अध्याय-4 में अनुच्छेद 300A (300क) के रूप में रखा गया है जिसका शीर्षक है: "विधि के प्राधिकार के बिना किसी व्यक्ति को उसकी संपत्ति से वंचित नहीं किया जाएगा।" इसका अर्थ है कि सरकार संसद के वैध कानून और उचित मुआवजे के बिना किसी की संपत्ति नहीं छीन सकती, किंतु अब यह मूल अधिकार नहीं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00082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173/260</a:t>
            </a:r>
          </a:p>
        </p:txBody>
      </p:sp>
    </p:spTree>
  </p:cSld>
  <p:clrMapOvr>
    <a:masterClrMapping/>
  </p:clrMapOvr>
</p:sld>
</file>

<file path=ppt/slides/slide34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174</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के राष्ट्रपति के निर्वाचक मंडल (Electoral College under Article 54) के संदर्भ में निम्नलिखित कथनों पर विचार कीजिए: A. संसद के दोनों सदनों (लोकसभा और राज्यसभा) के केवल निर्वाचित सदस्य इसमें भाग लेते हैं। B. सभी राज्यों की विधानसभाओं के केवल निर्वाचित सदस्य इसमें भाग लेते हैं। C. दिल्ली और पुदुच्चेरी केंद्रशासित प्रदेशों की विधानसभाओं के निर्वाचित सदस्य (70वें संशोधन 1992 से) भाग लेते हैं। D. संसद के दोनों सदनों के मनोनीत सदस्य और राज्य विधान परिषदों (Legislative Councils) के सदस्य भी राष्ट्रपति के चुनाव में मतदान करते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04707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174/260</a:t>
            </a:r>
          </a:p>
        </p:txBody>
      </p:sp>
    </p:spTree>
  </p:cSld>
  <p:clrMapOvr>
    <a:masterClrMapping/>
  </p:clrMapOvr>
</p:sld>
</file>

<file path=ppt/slides/slide34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Q.174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राष्ट्रपति भारत का सर्वोच्च संवैधानिक पद है अतः इसके निर्वाचक मंडल में जनता के सीधे चुने हुए जनप्रतिनिधि ही बैठते हैं। अनुच्छेद 54 के तहत इसमें शामिल हैं: संसद के दोनों सदनों के केवल निर्वाचित सदस्य (राज्यसभा के 12 मनोनीत सदस्य भाग नहीं लेते), सभी राज्यों की विधानसभाओं के निर्वाचित सदस्य, तथा 70वें संशोधन 1992 द्वारा दिल्ली व पुदुच्चेरी विधानसभा के निर्वाचित सदस्य। संसद के दोनों सदनों के मनोनीत सदस्य, राज्यों की विधानसभाओं के मनोनीत सदस्य तथा राज्यों की विधान परिषदों (MLCs) के सभी सदस्य राष्ट्रपति के चुनाव में वोट नहीं डाल सकते (क्योंकि विधान परिषदें सभी राज्यों में नहीं हैं), अतः कथन D असत्य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04707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174/260</a:t>
            </a:r>
          </a:p>
        </p:txBody>
      </p:sp>
    </p:spTree>
  </p:cSld>
  <p:clrMapOvr>
    <a:masterClrMapping/>
  </p:clrMapOvr>
</p:sld>
</file>

<file path=ppt/slides/slide34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175</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संविधान के किस अनुच्छेद के तहत राष्ट्रपति पर संविधान के अतिक्रमण (Violation of the Constitution) के एकमात्र आधार पर महाभियोग (Impeachment) चलाकर पद से हटाया जा सकता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अनुच्छेद 56</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अनुच्छेद 61</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अनुच्छेद 72</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अनुच्छेद 123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09331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175/260</a:t>
            </a:r>
          </a:p>
        </p:txBody>
      </p:sp>
    </p:spTree>
  </p:cSld>
  <p:clrMapOvr>
    <a:masterClrMapping/>
  </p:clrMapOvr>
</p:sld>
</file>

<file path=ppt/slides/slide35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Q.175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अनुच्छेद 61</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अनुच्छेद 56</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अनुच्छेद 72</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अनुच्छेद 123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संविधान का अनुच्छेद 61 राष्ट्रपति पर महाभियोग चलाने की विशेष अर्ध-न्यायिक प्रक्रिया का प्रावधान करता है। महाभियोग का प्रस्ताव संसद के किसी भी सदन (लोकसभा या राज्यसभा) में लाया जा सकता है। इसके लिए उस सदन की कुल सदस्य संख्या के 1/4 सदस्यों के हस्ताक्षर और राष्ट्रपति को 14 दिन की लिखित पूर्व सूचना अनिवार्य है। प्रस्ताव को उस सदन की कुल सदस्य संख्या के कम से कम दो-तिहाई बहुमत से पारित होना चाहिए। इसके बाद दूसरा सदन आरोपों की जांच करता है जहाँ राष्ट्रपति को स्वयं या अपने वकील के माध्यम से उपस्थित होकर पक्ष रखने का अधिकार होता है। यदि दूसरा सदन भी कुल सदस्य संख्या के दो-तिहाई विशेष बहुमत से प्रस्ताव पारित कर दे, तो उसी तिथि से राष्ट्रपति पदमुक्त माना जाता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09331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175/260</a:t>
            </a:r>
          </a:p>
        </p:txBody>
      </p:sp>
    </p:spTree>
  </p:cSld>
  <p:clrMapOvr>
    <a:masterClrMapping/>
  </p:clrMapOvr>
</p:sld>
</file>

<file path=ppt/slides/slide35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176</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के राष्ट्रपति की अध्यादेश जारी करने की शक्ति (Ordinance Making Power under Article 123) के संदर्भ में निम्नलिखित कथनों पर विचार कीजिए: A. राष्ट्रपति केवल तभी अध्यादेश जारी कर सकता है जब संसद का कम से कम एक सदन सत्र में न चल रहा हो। B. राष्ट्रपति की अध्यादेश निर्माण की शक्ति संसद की कानून बनाने की शक्ति के पूरी तरह समानांतर और सह-विस्तृत (Co-extensive) है। C. अध्यादेश संसद का अगला सत्र प्रारंभ होने की तारीख से 6 सप्ताह के भीतर संसद द्वारा अनुमोदित होना अनिवार्य है, अन्यथा यह स्वतः समाप्त हो जाता है। D. सर्वोच्च न्यायालय के कूपर वाद (1970) और डी.सी. वाधवा वाद (1987) के अनुसार राष्ट्रपति द्वारा अध्यादेश जारी करने की न्यायिक समीक्षा नहीं की जा सकती।</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13956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176/260</a:t>
            </a:r>
          </a:p>
        </p:txBody>
      </p:sp>
    </p:spTree>
  </p:cSld>
  <p:clrMapOvr>
    <a:masterClrMapping/>
  </p:clrMapOvr>
</p:sld>
</file>

<file path=ppt/slides/slide35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Q.176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अनुच्छेद 123 आपातकालीन परिस्थितियों में कानून बनाने की एक असाधारण कार्यपालिका शक्ति है जिसका प्रयोग केवल मंत्रिपरिषद की सलाह पर होता है जब संसद सत्र में न हो। अध्यादेश का प्रभाव संसद के अधिनियम जैसा ही होता है। संसद के पुनः समवेत होने पर 6 सप्ताह (अधिकतम 6 माह + 6 सप्ताह) में इसे दोनों सदनों से पास कराना होता है। 1987 के ऐतिहासिक 'डी.सी. वाधवा बनाम बिहार राज्य' मामले में सुप्रीम कोर्ट ने फैसला दिया कि बार-बार बिना विधायिका की मंजूरी के अध्यादेशों को पुनर्जापित (Re-promulgate) करना संविधान के साथ एक 'कपट' (Fraud on the Constitution) है और अध्यादेश जारी करने के राष्ट्रपति/राज्यपाल के फैसले की न्यायालय में दुर्भावना के आधार पर न्यायिक समीक्षा की जा सकती है, अतः कथन D असत्य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13956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176/260</a:t>
            </a:r>
          </a:p>
        </p:txBody>
      </p:sp>
    </p:spTree>
  </p:cSld>
  <p:clrMapOvr>
    <a:masterClrMapping/>
  </p:clrMapOvr>
</p:sld>
</file>

<file path=ppt/slides/slide35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177</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के राष्ट्रपति की क्षमादान शक्तियों (Pardoning Power under Article 72) के संदर्भ में निम्नलिखित कथनों पर विचार कीजिए: A. राष्ट्रपति को संघ की कार्यपालिका शक्ति के अधीन विधियों, सैन्य न्यायालयों (Court Martial) द्वारा दिए गए दंड और सभी मृत्युदंड के मामलों में क्षमादान की शक्ति प्राप्त है। B. 'क्षमा' (Pardon) दंड और दोषसिद्धि दोनों को पूरी तरह समाप्त कर देती है और अपराधी को ऐसी स्थिति में ला देती है मानो उसने कोई अपराध किया ही न हो। C. 'लघुकरण' (Commutation) का अर्थ दंड के स्वरूप को बदलकर कम कठोर करना है (जैसे मृत्युदंड को आजीवन कारावास में बदलना)। D. राष्ट्रपति अपनी व्यक्तिगत इच्छा से बिना मंत्रिपरिषद की सलाह के अपने एकल विवेक से किसी भी अपराधी को सीधे क्षमादान दे सकता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18581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177/260</a:t>
            </a:r>
          </a:p>
        </p:txBody>
      </p:sp>
    </p:spTree>
  </p:cSld>
  <p:clrMapOvr>
    <a:masterClrMapping/>
  </p:clrMapOvr>
</p:sld>
</file>

<file path=ppt/slides/slide35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Q.177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अनुच्छेद 72 राष्ट्रपति को पांच प्रकार की क्षमादान शक्तियां देता है: क्षमा (Pardon), लघुकरण (Commutation - स्वरूप बदलना), परिहार (Remission - दंड की प्रकृति बदले बिना अवधि कम करना), विराम (Respite - गर्भावस्था या बीमारी के आधार पर विशेष राहत), और प्रविलंबन (Reprieve - अस्थायी रोक)। मारू राम वाद (1980) और केहर सिंह वाद (1989) में सर्वोच्च न्यायालय ने स्पष्ट शब्दों में व्यवस्था दी है कि राष्ट्रपति की क्षमादान शक्ति कोई व्यक्तिगत कृपा या स्वेच्छाचारी अधिकार नहीं है; राष्ट्रपति केंद्रीय गृह मंत्रालय और मंत्रिपरिषद की लिखित सलाह के अनुसार ही क्षमादान का प्रयोग करता है और यह निर्णय मनमाना पाए जाने पर न्यायिक समीक्षा के अधीन है, अतः कथन D असत्य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18581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177/260</a:t>
            </a:r>
          </a:p>
        </p:txBody>
      </p:sp>
    </p:spTree>
  </p:cSld>
  <p:clrMapOvr>
    <a:masterClrMapping/>
  </p:clrMapOvr>
</p:sld>
</file>

<file path=ppt/slides/slide35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178</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संसद में बजट (वार्षिक वित्तीय विवरण - Annual Financial Statement) पारित करने की संवैधानिक प्रक्रिया के संदर्भ में निम्नलिखित कथनों पर विचार कीजिए: A. संविधान के अनुच्छेद 112 के अनुसार राष्ट्रपति प्रत्येक वित्तीय वर्ष के संबंध में संसद के समक्ष भारत सरकार की अनुमानित प्राप्तियों और व्यय का विवरण रखवाता है। B. बजट में 'भारत की संचित निधि पर भारित व्यय' (Expenditure Charged on CFI) पर संसद में केवल चर्चा हो सकती है, मतदान नहीं कराया जा सकता। C. लोकसभा द्वारा अनुदान मांगों (Demands for Grants) पर मतदान के बाद संसद में 'विनियोग विधेयक' (Appropriation Bill - अनुच्छेद 114) पेश किया जाता है। D. यदि लोकसभा में सरकार का बजट या कोई भी अनुदान मांग गिर जाती है, तो सरकार को त्यागपत्र देने की कोई आवश्यकता नहीं होती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23206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178/260</a:t>
            </a:r>
          </a:p>
        </p:txBody>
      </p:sp>
    </p:spTree>
  </p:cSld>
  <p:clrMapOvr>
    <a:masterClrMapping/>
  </p:clrMapOvr>
</p:sld>
</file>

<file path=ppt/slides/slide35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Q.178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अनुच्छेद 112 में 'बजट' शब्द नहीं है, इसे 'वार्षिक वित्तीय विवरण' कहा गया है। संचित निधि पर भारित व्यय (जैसे राष्ट्रपति, सुप्रीम कोर्ट के जजों के वेतन, राष्ट्रीय ऋण का भुगतान) पर संसद में बहस हो सकती है किंतु मतदान नहीं होता ताकि इन संस्थाओं की वित्तीय स्वतंत्रता सुरक्षित रहे। संचित निधि से वैधानिक रूप से धन निकालने के लिए अनुच्छेद 114 के तहत विनियोग विधेयक पारित होना अनिवार्य है। संसदीय व्यवस्था में वित्तीय मामलों पर लोकसभा का पूर्ण नियंत्रण होता है; यदि सरकार का वार्षिक बजट, वित्त विधेयक या कोई भी महत्वपूर्ण कटौती प्रस्ताव लोकसभा में गिर जाता है, तो यह माना जाता है कि सरकार ने सदन का विश्वास खो दिया है और प्रधानमंत्री सहित पूरी मंत्रिपरिषद को तुरंत इस्तीफा देना पड़ता है, अतः कथन D असत्य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23206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178/260</a:t>
            </a:r>
          </a:p>
        </p:txBody>
      </p:sp>
    </p:spTree>
  </p:cSld>
  <p:clrMapOvr>
    <a:masterClrMapping/>
  </p:clrMapOvr>
</p:sld>
</file>

<file path=ppt/slides/slide35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179</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संसद में विपक्ष द्वारा सरकार पर नियंत्रण रखने के लिए लाए जाने वाले प्रमुख प्रस्तावों और उनके अर्थ का सही मिलान कीजिए: सूची-I (प्रस्ताव): सूची-I: A. अविश्वास प्रस्ताव (No-Confidence Motion) B. काम रोको / स्थगन प्रस्ताव (Adjournment Motion) C. ध्यानाकर्षण प्रस्ताव (Calling Attention Motion) D. निंदा प्रस्ताव (Censure Motion) सूची-II: 1. अविलंबनीय लोक महत्व के निश्चित और गंभीर विषय पर सदन की सामान्य कार्यवाही रोककर तुरंत चर्चा करना 2. सरकार की किसी विशिष्ट नीति या मंत्री की विफलता की औपचारिक आलोचना करना 3. केवल लोकसभा में न्यूनतम 50 सदस्यों के समर्थन से सरकार के बहुमत और अस्तित्व को चुनौती देना 4. किसी मंत्री का ध्यान अत्यंत अविलंबनीय सार्वजनिक मामले की ओर आकर्षित कर आधिकारिक बयान मांगना</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C-4, D-2</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C-4, D-2</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B-4, C-1, D-2</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27830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179/260</a:t>
            </a:r>
          </a:p>
        </p:txBody>
      </p:sp>
    </p:spTree>
  </p:cSld>
  <p:clrMapOvr>
    <a:masterClrMapping/>
  </p:clrMapOvr>
</p:sld>
</file>

<file path=ppt/slides/slide35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Q.179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A-3, B-1, C-4, D-2</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B-3, C-4, D-2</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B-4, C-1, D-2</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अविश्वास प्रस्ताव (लोकसभा नियम 198) केवल लोकसभा में ही लाया जा सकता है और इसके लिए कारण बताना आवश्यक नहीं होता; यदि यह पारित हो जाए तो सरकार गिर जाती है। स्थगन प्रस्ताव एक असाधारण साधन है जिसके लिए कम से कम 50 सदस्यों का समर्थन चाहिए; यह सदन के पूर्व-निर्धारित एजेंडे को रोककर किसी आपातकालीन राष्ट्रीय घटना पर 2.5 घंटे से अधिक गंभीर चर्चा कराता है। ध्यानाकर्षण प्रस्ताव भारतीय संसद का 1954 से विकसित स्वदेशी नवाचार है जिसमें मंत्री से तुरंत आधिकारिक बयान मांगा जाता है। निंदा प्रस्ताव किसी मंत्री या मंत्रिपरिषद की विशिष्ट गलतियों पर असंतोष जताने के लिए लाया जाता है; इसके लिए कारण बताना अनिवार्य है और इसके पारित होने पर सरकार को इस्तीफा देना बाध्यकारी नहीं होता।</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27830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179/260</a:t>
            </a:r>
          </a:p>
        </p:txBody>
      </p:sp>
    </p:spTree>
  </p:cSld>
  <p:clrMapOvr>
    <a:masterClrMapping/>
  </p:clrMapOvr>
</p:sld>
</file>

<file path=ppt/slides/slide35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180</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52वें संविधान संशोधन 1985 और 91वें संशोधन 2003 के तहत संविधान की दसवीं अनुसूची (दल-बदल विरोधी कानून) के अंतर्गत किसी सदस्य की अयोग्यता पर अंतिम निर्णय लेने का अधिकार किसे प्राप्त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भारत का राष्ट्रपति</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भारत का निर्वाचन आयोग</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संबंधित सदन का पीठासीन अधिकारी (अध्यक्ष अथवा सभापति)</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सर्वोच्च न्यायालय का मुख्य न्यायाधीश</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32455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180/260</a:t>
            </a:r>
          </a:p>
        </p:txBody>
      </p:sp>
    </p:spTree>
  </p:cSld>
  <p:clrMapOvr>
    <a:masterClrMapping/>
  </p:clrMapOvr>
</p:sld>
</file>

<file path=ppt/slides/slide36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Q.180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संबंधित सदन का पीठासीन अधिकारी (अध्यक्ष अथवा सभापति)</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भारत का राष्ट्रपति</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भारत का निर्वाचन आयोग</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सर्वोच्च न्यायालय का मुख्य न्यायाधीश</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संविधान की 10वीं अनुसूची के पैरा 6 के अनुसार, किसी सांसद या विधायक द्वारा स्वेच्छा से अपनी पार्टी की सदस्यता छोड़ने या पार्टी के आधिकारिक व्हिप के विरुद्ध जाकर मतदान करने/अनुपस्थित रहने पर अयोग्यता का निर्णय लेने का अनन्य अधिकार संबंधित सदन के पीठासीन अधिकारी-अर्थात लोकसभा/विधानसभा में अध्यक्ष (Speaker) तथा राज्यसभा/विधान परिषद में सभापति (Chairman) के पास होता है। 1992 के ऐतिहासिक 'किहोटो होलोहन बनाम ज़ाचिल्हू' वाद में सर्वोच्च न्यायालय ने फैसला दिया कि पीठासीन अधिकारी का यह निर्णय एक 'ट्रिब्यूनल' (अधिकरण) के रूप में होता है, अतः इसके निर्णय की दुर्भावना या मनमानेपन के आधार पर उच्च न्यायालय और सर्वोच्च न्यायालय द्वारा न्यायिक समीक्षा (Judicial Review) की जा सकती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32455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180/260</a:t>
            </a:r>
          </a:p>
        </p:txBody>
      </p:sp>
    </p:spTree>
  </p:cSld>
  <p:clrMapOvr>
    <a:masterClrMapping/>
  </p:clrMapOvr>
</p:sld>
</file>

<file path=ppt/slides/slide36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181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उच्च न्यायालयों (High Courts) की शक्तियों और रिट अधिकारिता के संदर्भ में निम्नलिखित कथनों पर विचार कीजिए: A. संविधान के अनुच्छेद 226 के तहत उच्च न्यायालय को मौलिक अधिकारों के साथ-साथ अन्य सामान्य विधिक अधिकारों को लागू करने के लिए भी रिट जारी करने की शक्ति प्राप्त है। B. रिट अधिकारिता के मामले में उच्च न्यायालय का क्षेत्राधिकार सर्वोच्च न्यायालय (अनुच्छेद 32) की तुलना में अधिक व्यापक है। C. अनुच्छेद 227 के तहत उच्च न्यायालय को अपने अधीनस्थ सभी न्यायालयों और अधिकरणों (Tribunals) का प्रशासनिक और न्यायिक अधीक्षण (Superintendence) करने की शक्ति है। D. उच्च न्यायालय को संसद द्वारा बनाए गए किसी भी केंद्रीय कानून की संवैधानिकता की जांच करने का कोई अधिकार नहीं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37080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181/260</a:t>
            </a:r>
          </a:p>
        </p:txBody>
      </p:sp>
    </p:spTree>
  </p:cSld>
  <p:clrMapOvr>
    <a:masterClrMapping/>
  </p:clrMapOvr>
</p:sld>
</file>

<file path=ppt/slides/slide36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Q.181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संविधान का अनुच्छेद 32 सुप्रीम कोर्ट को केवल मौलिक अधिकारों के प्रवर्तन के लिए रिट जारी करने की शक्ति देता है, जबकि अनुच्छेद 226 के तहत हाई कोर्ट मूल अधिकारों के साथ-साथ 'किसी अन्य प्रयोजन' (Any other purpose) यानी सामान्य प्रशासनिक व विधिक अधिकारों के उल्लंघन पर भी रिट जारी कर सकता है; इसलिए रिट का दायरा हाई कोर्ट का व्यापक है। अनुच्छेद 227 के तहत राज्य के भीतर सैन्य अदालतों को छोड़कर सभी निचली अदालतों पर हाई कोर्ट का अधीक्षण होता है। उच्च न्यायालय राज्य कानूनों के साथ-साथ संसद द्वारा बनाए गए किसी भी केंद्रीय कानून की संवैधानिकता की पूरी तरह जांच कर सकता है और असंवैधानिक होने पर उसे रद्द कर सकता है (चंद्र कुमार वाद, 1997), अतः कथन D असत्य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37080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181/260</a:t>
            </a:r>
          </a:p>
        </p:txBody>
      </p:sp>
    </p:spTree>
  </p:cSld>
  <p:clrMapOvr>
    <a:masterClrMapping/>
  </p:clrMapOvr>
</p:sld>
</file>

<file path=ppt/slides/slide36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182</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अधीनस्थ न्यायपालिका (Subordinate Judiciary) की संरचना और कार्यप्रणाली के संदर्भ में निम्नलिखित कथनों पर विचार कीजिए: A. जिला स्तर पर सर्वोच्च न्यायिक अधिकारी 'जिला एवं सत्र न्यायाधीश' (District and Sessions Judge) होता है। B. जब वह दीवानी (Civil) मामलों की सुनवाई करता है तो उसे जिला न्यायाधीश और जब वह आपराधिक (Criminal) मामलों की सुनवाई करता है तो सत्र न्यायाधीश कहा जाता है। C. सत्र न्यायाधीश किसी अपराधी को कानून द्वारा निर्धारित कोई भी सजा, जिसमें आजीवन कारावास और मृत्युदंड (फांसी) भी शामिल है, दे सकता है। D. सत्र न्यायाधीश द्वारा दी गई किसी भी मृत्युदंड की सजा को तब तक निष्पादित नहीं किया जा सकता जब तक कि संबंधित उच्च न्यायालय द्वारा उसकी पुष्टि (Confirmation) न कर दी जाए।</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41705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182/260</a:t>
            </a:r>
          </a:p>
        </p:txBody>
      </p:sp>
    </p:spTree>
  </p:cSld>
  <p:clrMapOvr>
    <a:masterClrMapping/>
  </p:clrMapOvr>
</p:sld>
</file>

<file path=ppt/slides/slide36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Q.182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संविधान के भाग-6 (अनुच्छेद 233-237) में अधीनस्थ न्यायालयों का ढांचा दिया गया है। जिला जज को दीवानी और फौजदारी दोनों प्रकार का व्यापक क्षेत्राधिकार होता है। वह जिले की सबसे बड़ी अदालत है। आपराधिक मामलों में सत्र न्यायाधीश के पास किसी गंभीर अपराध में फांसी (मृत्युदंड) की सजा सुनाने का पूरा कानूनी अधिकार होता है। किंतु दंड प्रक्रिया संहिता (CrPC) की धारा 366 के तहत यह अनिवार्य कानूनी सुरक्षा उपाय है कि निचली अदालत द्वारा दिए गए मृत्युदंड की सजा का निष्पादन तब तक नहीं हो सकता जब तक कि उच्च न्यायालय का एक विशेष खंडपीठ उस मामले की पूर्ण समीक्षा कर उस फांसी की सजा की औपचारिक पुष्टि (Confirm) न कर दे। अतः सभी चारों कथन पूर्णतः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41705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182/260</a:t>
            </a:r>
          </a:p>
        </p:txBody>
      </p:sp>
    </p:spTree>
  </p:cSld>
  <p:clrMapOvr>
    <a:masterClrMapping/>
  </p:clrMapOvr>
</p:sld>
</file>

<file path=ppt/slides/slide36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183</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मुकदमों के त्वरित, सुलभ और आपसी समझौते से समाधान के लिए भारत में 'लोक अदालतों' (Lok Adalats) को किस अधिनियम के तहत वैधानिक दर्जा प्रदान किया गया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सिविल प्रक्रिया संहिता, 1908</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विधिक सेवा प्राधिकरण अधिनियम, 1987 (Legal Services Authorities Act, 1987)</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मध्यस्थता एवं सुलह अधिनियम, 1996</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ग्राम न्यायालय अधिनियम, 2008</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46330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183/260</a:t>
            </a:r>
          </a:p>
        </p:txBody>
      </p:sp>
    </p:spTree>
  </p:cSld>
  <p:clrMapOvr>
    <a:masterClrMapping/>
  </p:clrMapOvr>
</p:sld>
</file>

<file path=ppt/slides/slide36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Q.183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विधिक सेवा प्राधिकरण अधिनियम, 1987 (Legal Services Authorities Act, 1987)</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सिविल प्रक्रिया संहिता, 1908</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मध्यस्थता एवं सुलह अधिनियम, 1996</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ग्राम न्यायालय अधिनियम, 2008</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भारतीय न्याय प्रणाली में मुकदमों के भारी बोझ और गरीबों तक न्याय पहुंचाने के लिए गांधीवादी सिद्धांतों पर आधारित लोक अदालतों की शुरुआत हुई (पहली लोक अदालत 1982 में गुजरात में लगी थी)। संसद ने 'विधिक सेवा प्राधिकरण अधिनियम, 1987' पारित कर लोक अदालतों को संवैधानिक और पूर्ण वैधानिक दर्जा दिया। लोक अदालत के पास सिविल कोर्ट जैसी शक्तियां होती हैं। लोक अदालत द्वारा दिए गए फैसले (Award) को सिविल कोर्ट की डिक्री माना जाता है। इसकी सबसे बड़ी विशेषता यह है कि यह दोनों पक्षों की आपसी रजामंदी से होता है, इसमें कोई कोर्ट फीस नहीं लगती और इसके निर्णय के विरुद्ध किसी भी अदालत में कोई अपील नहीं की जा सकती; इसका फैसला अंतिम और बाध्यकारी होता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46330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183/260</a:t>
            </a:r>
          </a:p>
        </p:txBody>
      </p:sp>
    </p:spTree>
  </p:cSld>
  <p:clrMapOvr>
    <a:masterClrMapping/>
  </p:clrMapOvr>
</p:sld>
</file>

<file path=ppt/slides/slide36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184</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भारतीय संविधान के भाग-18 में उल्लिखित 'आपातकालीन उपबंधों' (Emergency Provisions) के संदर्भ में निम्नलिखित कथनों पर विचार कीजिए: A. अनुच्छेद 352 के तहत 'युद्ध', 'बाह्य आक्रमण' या 'सशस्त्र विद्रोह' के आधार पर राष्ट्रपति राष्ट्रीय आपातकाल घोषित कर सकता है। B. 44वें संविधान संशोधन अधिनियम, 1978 द्वारा अनुच्छेद 352 से अस्पष्ट शब्द 'आंतरिक अशांति' को हटाकर उसके स्थान पर 'सशस्त्र विद्रोह' शब्द जोड़ा गया। C. राष्ट्रीय आपातकाल के दौरान संसद राज्य सूची के विषयों पर भी पूरे देश या उसके किसी भाग के लिए कानून बना सकती है। D. अनुच्छेद 360 के तहत घोषित 'वित्तीय आपातकाल' स्वतंत्र भारत में अब तक कुल तीन बार (1962, 1971 और 1991 में) लगाया जा चुका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50954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184/260</a:t>
            </a:r>
          </a:p>
        </p:txBody>
      </p:sp>
    </p:spTree>
  </p:cSld>
  <p:clrMapOvr>
    <a:masterClrMapping/>
  </p:clrMapOvr>
</p:sld>
</file>

<file path=ppt/slides/slide36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Q.184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1975 में इंदिरा गांधी सरकार द्वारा 'आंतरिक अशांति' के आधार पर लगाए गए आपातकाल के दुरुपयोग से सीख लेते हुए 44वें संशोधन ने प्रावधान किया कि जब तक वास्तविक सशस्त्र विद्रोह न हो, आपातकाल नहीं लग सकता। साथ ही कैबिनेट की लिखित सिफारिश और संसद के दोनों सदनों में 2/3 विशेष बहुमत अनिवार्य किया गया। आपातकाल में भारत का संघीय ढांचा बिना किसी संशोधन के एकात्मक (Unitary) ढांचे में बदल जाता है। अनुच्छेद 360 के तहत जब देश की वित्तीय साख खतरे में हो तो राष्ट्रपति वित्तीय आपातकाल लगा सकता है; किंतु भारत के इतिहास में आज तक एक बार भी वित्तीय आपातकाल लागू नहीं किया गया है (1991 के गंभीर विदेशी मुद्रा संकट में भी नहीं), अतः कथन D असत्य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50954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184/260</a:t>
            </a:r>
          </a:p>
        </p:txBody>
      </p:sp>
    </p:spTree>
  </p:cSld>
  <p:clrMapOvr>
    <a:masterClrMapping/>
  </p:clrMapOvr>
</p:sld>
</file>

<file path=ppt/slides/slide36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185</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भारतीय संविधान के आपातकालीन प्रावधानों और उनके आधारों का सही मिलान कीजिए: सूची-I (आपातकाल): सूची-I: A. राष्ट्रीय आपातकाल (National Emergency) B. राज्यों में राष्ट्रपति शासन (President's Rule) C. वित्तीय आपातकाल (Financial Emergency) D. संघ के निर्देशों का पालन न करने पर संवैधानिक विफलता सूची-II: 1. अनुच्छेद 356 2. अनुच्छेद 352 3. अनुच्छेद 365 4. अनुच्छेद 360</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C-1, D-3</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C-4, D-2</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55579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185/260</a:t>
            </a:r>
          </a:p>
        </p:txBody>
      </p:sp>
    </p:spTree>
  </p:cSld>
  <p:clrMapOvr>
    <a:masterClrMapping/>
  </p:clrMapOvr>
</p:sld>
</file>

<file path=ppt/slides/slide37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Q.185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B-1, C-4,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C-3,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B-4, C-1,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B-1, C-4, D-2</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अनुच्छेद 352 युद्ध, विदेशी आक्रमण या सशस्त्र विद्रोह पर लागू होता है। अनुच्छेद 356 राज्यपाल की रिपोर्ट या राष्ट्रपति के समाधान पर लगाया जाता है जब राज्य का शासन संविधान के उपबंधों के अनुसार न चल सके। अनुच्छेद 365 अत्यंत महत्वपूर्ण संघवाद संबंधी प्रावधान है जो कहता है कि यदि कोई राज्य सरकार केंद्र द्वारा दिए गए वैध संवैधानिक निर्देशों (जैसे संचार साधनों की सुरक्षा या रेलवे) का पालन करने में विफल रहती है, तो राष्ट्रपति यह मान सकता है कि राज्य में संवैधानिक तंत्र विफल हो गया है और अनुच्छेद 356 लगाया जा सकता है। अनुच्छेद 360 देश की वित्तीय स्थिरता को खतरा होने पर लगाया जाता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55579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185/260</a:t>
            </a:r>
          </a:p>
        </p:txBody>
      </p:sp>
    </p:spTree>
  </p:cSld>
  <p:clrMapOvr>
    <a:masterClrMapping/>
  </p:clrMapOvr>
</p:sld>
</file>

<file path=ppt/slides/slide37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186</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के वित्त आयोग (Finance Commission under Article 280) के गठन और कार्यों के संदर्भ में निम्नलिखित कथनों पर विचार कीजिए: A. राष्ट्रपति द्वारा प्रत्येक 5 वर्ष की समाप्ति पर या उससे पूर्व एक अध्यक्ष और चार अन्य सदस्यों वाले वित्त आयोग का गठन किया जाता है। B. वित्त आयोग का मुख्य कार्य केंद्र और राज्यों के बीच करों की शुद्ध प्राप्तियों के वितरण (Vertical Devolution) और राज्यों के आपसी हिस्से (Horizontal Devolution) की सिफारिश करना है। C. वित्त आयोग राज्यों को भारत की संचित निधि में से दिए जाने वाले सहायता अनुदान (Grants-in-Aid) के सिद्धांतों की संस्तुति करता है। D. वित्त आयोग की सभी सिफारिशें केंद्र सरकार के लिए विधिक रूप से पूर्णतः बाध्यकारी (Binding) होती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60204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186/260</a:t>
            </a:r>
          </a:p>
        </p:txBody>
      </p:sp>
    </p:spTree>
  </p:cSld>
  <p:clrMapOvr>
    <a:masterClrMapping/>
  </p:clrMapOvr>
</p:sld>
</file>

<file path=ppt/slides/slide37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Q.186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अनुच्छेद 280 के तहत वित्त आयोग एक अर्ध-न्यायिक संवैधानिक संस्था है जो भारत में 'राजकोषीय संघवाद' (Fiscal Federalism) का संतुलन चक्र है। यह केंद्रीय विभाज्य कर पूल में राज्यों का हिस्सा तय करता है (जैसे 15वें वित्त आयोग ने 41% हिस्सेदारी तय की)। यह पंचायतों और नगरपालिकाओं के वित्तीय संसाधनों की पूर्ति के लिए राज्य संचित निधि बढ़ाने के उपाय भी सुझाता है। संविधान के अनुसार वित्त आयोग की सिफारिशें केवल सलाहकारी (Advisory) प्रकृति की होती हैं, वे केंद्र सरकार पर बाध्यकारी नहीं होतीं; हालांकि लोकतांत्रिक परंपरा के अनुसार सरकार इसकी अधिकांश वित्तीय सिफारिशों को स्वीकार कर लेती है, अतः कथन D असत्य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60204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186/260</a:t>
            </a:r>
          </a:p>
        </p:txBody>
      </p:sp>
    </p:spTree>
  </p:cSld>
  <p:clrMapOvr>
    <a:masterClrMapping/>
  </p:clrMapOvr>
</p:sld>
</file>

<file path=ppt/slides/slide37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187</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संविधान के अनुच्छेद 263 के तहत केंद्र और राज्यों तथा विभिन्न राज्यों के बीच विवादों के समाधान और नीतिगत समन्वय के लिए 'अंतर-राज्यीय परिषद' (Inter-State Council) की स्थापना किसके आदेश द्वारा की जाती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सर्वोच्च न्यायालय के मुख्य न्यायाधीश द्वारा</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भारत के राष्ट्रपति द्वारा</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नीति आयोग के उपाध्यक्ष द्वारा</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संसद के साधारण अधिनियम द्वारा</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64829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187/260</a:t>
            </a:r>
          </a:p>
        </p:txBody>
      </p:sp>
    </p:spTree>
  </p:cSld>
  <p:clrMapOvr>
    <a:masterClrMapping/>
  </p:clrMapOvr>
</p:sld>
</file>

<file path=ppt/slides/slide37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Q.187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भारत के राष्ट्रपति द्वारा</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सर्वोच्च न्यायालय के मुख्य न्यायाधीश द्वारा</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नीति आयोग के उपाध्यक्ष द्वारा</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संसद के साधारण अधिनियम द्वारा</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संविधान के अनुच्छेद 263 में यह उपबंध है कि यदि किसी समय राष्ट्रपति को यह प्रतीत हो कि लोकहित में अंतर-राज्यीय परिषद का गठन आवश्यक है, तो राष्ट्रपति अपने आदेश द्वारा ऐसी परिषद की स्थापना कर सकता है और उसके कर्तव्यों की रूपरेखा तय कर सकता है। सरकारिया आयोग की सिफारिशों पर अमल करते हुए राष्ट्रपति ने 1990 में पहली बार अंतर-राज्यीय परिषद का विधिवत गठन किया था। प्रधानमंत्री इसके पदेन अध्यक्ष होते हैं तथा सभी राज्यों के मुख्यमंत्री, केंद्रशासित प्रदेशों के प्रशासक और 6 केंद्रीय कैबिनेट मंत्री इसके सदस्य होते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64829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187/260</a:t>
            </a:r>
          </a:p>
        </p:txBody>
      </p:sp>
    </p:spTree>
  </p:cSld>
  <p:clrMapOvr>
    <a:masterClrMapping/>
  </p:clrMapOvr>
</p:sld>
</file>

<file path=ppt/slides/slide37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188</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अंतर-राज्यीय नदी जल विवादों (Inter-State River Water Disputes under Article 262) के संदर्भ में निम्नलिखित कथनों पर विचार कीजिए: A. अनुच्छेद 262 संसद को कानून बनाकर अंतर-राज्यीय नदियों या नदी घाटियों के जल के प्रयोग, वितरण और नियंत्रण संबंधी विवादों के न्याय-निर्णयन का अधिकार देता है। B. संसद कानून बनाकर ऐसे नदी जल विवादों में सर्वोच्च न्यायालय अथवा किसी अन्य अदालत के क्षेत्राधिकार को पूरी तरह रोक सकती है। C. संसद ने 'अंतर-राज्यीय नदी जल विवाद अधिनियम, 1956' पारित किया जिसके तहत कावेरी, कृष्णा, गोदावरी और रावी-व्यास जैसे जल पंचाट (Tribunals) बनाए गए। D. संविधान में स्पष्ट लिखा गया है कि अंतर-राज्यीय नदी जल विवादों का अंतिम निपटारा केवल और केवल संबंधित राज्यों की जिला अदालतें करेंगी।</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69453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188/260</a:t>
            </a:r>
          </a:p>
        </p:txBody>
      </p:sp>
    </p:spTree>
  </p:cSld>
  <p:clrMapOvr>
    <a:masterClrMapping/>
  </p:clrMapOvr>
</p:sld>
</file>

<file path=ppt/slides/slide37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Q.188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 में नदियों का प्रवाह कई राज्यों से होकर होता है (जैसे कावेरी-कर्नाटक व तमिलनाडु; कृष्णा-महाराष्ट्र, कर्नाटक, आंध्र)। अनुच्छेद 262(2) संसद को असाधारण अधिकार देता है कि वह कानून द्वारा यह तय कर सकती है कि ऐसे विवाद में न तो सुप्रीम कोर्ट और न ही कोई अन्य अदालत हस्तक्षेप करेगी। 1956 के अधिनियम के तहत केंद्र सरकार तदर्थ जल विवाद न्यायाधिकरण (Water Disputes Tribunal) गठित करती है जिसकी अध्यक्षता सुप्रीम कोर्ट के वर्तमान या सेवानिवृत्त जज करते हैं। इसका फैसला सुप्रीम कोर्ट की डिक्री के समान होता है। जिला अदालतों को इसमें कोई अधिकार नहीं है, अतः कथन D असत्य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69453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188/260</a:t>
            </a:r>
          </a:p>
        </p:txBody>
      </p:sp>
    </p:spTree>
  </p:cSld>
  <p:clrMapOvr>
    <a:masterClrMapping/>
  </p:clrMapOvr>
</p:sld>
</file>

<file path=ppt/slides/slide37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189</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भारत के नियंत्रक एवं महालेखापरीक्षक (CAG) तथा अटॉर्नी जनरल के संवैधानिक पदों का सही मिलान कीजिए: सूची-I (संवैधानिक पद): सूची-I: A. भारत का नियंत्रक एवं महालेखापरीक्षक (CAG) B. भारत का महान्यायवादी (Attorney General) C. राज्य का महाधिवक्ता (Advocate General) D. भारत की संचित निधि (Consolidated Fund of India) सूची-II: 1. अनुच्छेद 76 2. अनुच्छेद 148 3. अनुच्छेद 266 4. अनुच्छेद 165</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C-1, D-3</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C-4, D-2</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74078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189/260</a:t>
            </a:r>
          </a:p>
        </p:txBody>
      </p:sp>
    </p:spTree>
  </p:cSld>
  <p:clrMapOvr>
    <a:masterClrMapping/>
  </p:clrMapOvr>
</p:sld>
</file>

<file path=ppt/slides/slide37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Q.189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B-1, C-4,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C-3,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B-4, C-1,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B-1, C-4, D-2</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अनुच्छेद 148 के तहत CAG की नियुक्ति राष्ट्रपति द्वारा होती है; डॉ. अंबेडकर ने CAG को भारतीय संविधान के तहत सबसे महत्वपूर्ण अधिकारी कहा था क्योंकि वह सार्वजनिक धन का संरक्षक (Guardian of Public Purse) है और सरकार के सभी खर्चों की ऑडिटिंग करता है। अनुच्छेद 76 के तहत अटॉर्नी जनरल भारत का सर्वोच्च विधिक अधिकारी होता है, जिसे संसद के दोनों सदनों में बोलने और कार्यवाही में भाग लेने का अधिकार होता है (अनुच्छेद 88), किंतु मतदान का अधिकार नहीं होता। अनुच्छेद 165 के तहत राज्य का महाधिवक्ता राज्य सरकार का शीर्ष कानूनी सलाहकार होता है। अनुच्छेद 266 भारत और राज्यों की संचित निधि का प्रावधान करता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74078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189/260</a:t>
            </a:r>
          </a:p>
        </p:txBody>
      </p:sp>
    </p:spTree>
  </p:cSld>
  <p:clrMapOvr>
    <a:masterClrMapping/>
  </p:clrMapOvr>
</p:sld>
</file>

<file path=ppt/slides/slide37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190</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संघ लोक सेवा आयोग (UPSC) और राज्य लोक सेवा आयोगों (SPSC) के संदर्भ में निम्नलिखित कथनों पर विचार कीजिए: A. संविधान के भाग-14 में अनुच्छेद 315 से 323 तक संघ और राज्यों के लिए लोक सेवा आयोगों के गठन, स्वतंत्रता और कार्यों का उल्लेख है। B. यूपीएससी के अध्यक्ष और सदस्यों की नियुक्ति भारत के राष्ट्रपति द्वारा की जाती है। C. यूपीएससी के किसी सदस्य को उसके पद से केवल सर्वोच्च न्यायालय द्वारा की गई जांच और रिपोर्ट के आधार पर ही राष्ट्रपति द्वारा हटाया जा सकता है। D. यूपीएससी केंद्रीय कर्मचारियों की नियुक्तियों, पदोन्नति और अनुशासनात्मक मामलों में जो भी सिफारिश देता है, वह सरकार पर विधिक रूप से बाध्यकारी होती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78703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190/260</a:t>
            </a:r>
          </a:p>
        </p:txBody>
      </p:sp>
    </p:spTree>
  </p:cSld>
  <p:clrMapOvr>
    <a:masterClrMapping/>
  </p:clrMapOvr>
</p:sld>
</file>

<file path=ppt/slides/slide38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Q.190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अनुच्छेद 315 के तहत केंद्र में UPSC और राज्यों में State PSC की स्थापना की गई है। अनुच्छेद 316 के तहत अध्यक्ष व सदस्यों की नियुक्ति क्रमशः राष्ट्रपति और राज्यपाल करते हैं। कार्यकाल की सुरक्षा के लिए अनुच्छेद 317 में यह सख्त नियम है कि कदाचार के आरोप पर राष्ट्रपति मामले को सुप्रीम कोर्ट के पास जांच के लिए भेजेगा; यदि सुप्रीम कोर्ट हटाने की सिफारिश करता है, तो राष्ट्रपति उसे हटाने के लिए बाध्य होता है। यूपीएससी केवल एक परामर्शदात्री (Consultative) संस्था है; इसकी सिफारिशें सरकार पर बाध्यकारी नहीं होती हैं, किंतु सरकार को संसद में स्पष्टीकरण देना पड़ता है कि उसने आयोग की सलाह क्यों नहीं मानी, अतः कथन D असत्य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78703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190/260</a:t>
            </a:r>
          </a:p>
        </p:txBody>
      </p:sp>
    </p:spTree>
  </p:cSld>
  <p:clrMapOvr>
    <a:masterClrMapping/>
  </p:clrMapOvr>
</p:sld>
</file>

<file path=ppt/slides/slide38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191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102वें संविधान संशोधन अधिनियम, 2018 द्वारा 'राष्ट्रीय पिछड़ा वर्ग आयोग' (NCBC) को दिए गए संवैधानिक दर्जे के संदर्भ में निम्नलिखित कथनों पर विचार कीजिए: A. 102वें संविधान संशोधन द्वारा संविधान में नया अनुच्छेद 338B (338ख) जोड़कर राष्ट्रीय पिछड़ा वर्ग आयोग को पूर्ण संवैधानिक दर्जा प्रदान किया गया। B. इससे पूर्व राष्ट्रीय पिछड़ा वर्ग आयोग केवल 1993 के एक साधारण संसदीय अधिनियम द्वारा स्थापित एक सांविधिक (Statutory) निकाय था। C. इसी संशोधन द्वारा अनुच्छेद 342A जोड़ा गया, जो राष्ट्रपति को सामाजिक और शैक्षणिक रूप से पिछड़े वर्गों की केंद्रीय सूची विनिर्दिष्ट करने का अधिकार देता है। D. संवैधानिक दर्जा मिलने के बाद यह आयोग अब किसी भी नागरिक को सीधे जेल भेजने और दंडात्मक आपराधिक सजा सुनाने का पूर्ण अधिकार रखता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83328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191/260</a:t>
            </a:r>
          </a:p>
        </p:txBody>
      </p:sp>
    </p:spTree>
  </p:cSld>
  <p:clrMapOvr>
    <a:masterClrMapping/>
  </p:clrMapOvr>
</p:sld>
</file>

<file path=ppt/slides/slide38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Q.191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पूर्व में इंदिरा साहनी वाद के बाद 1993 में NCBC एक वैधानिक संस्था के रूप में बना था। मोदी सरकार ने 102वें संशोधन 2018 द्वारा इसे राष्ट्रीय अनुसूचित जाति आयोग (अनुच्छेद 338) और राष्ट्रीय अनुसूचित जनजाति आयोग (अनुच्छेद 338A) की भांति अनुच्छेद 338B के तहत संवैधानिक दर्जा दिया। इसमें एक अध्यक्ष, उपाध्यक्ष और तीन सदस्य होते हैं। आयोग को पिछड़े वर्गों के अधिकारों के हनन की शिकायतों की जांच करते समय सिविल कोर्ट (दीवानी अदालत) की शक्तियां (समन जारी करना, दस्तावेज मांगना) प्राप्त हैं; किंतु यह कोई आपराधिक अदालत नहीं है और यह किसी को सीधे जेल या सजा नहीं दे सकता, अतः कथन D असत्य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83328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191/260</a:t>
            </a:r>
          </a:p>
        </p:txBody>
      </p:sp>
    </p:spTree>
  </p:cSld>
  <p:clrMapOvr>
    <a:masterClrMapping/>
  </p:clrMapOvr>
</p:sld>
</file>

<file path=ppt/slides/slide38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192</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भारत में भ्रष्टाचार पर अंकुश लगाने और केंद्र सरकार के कर्मचारियों की सत्यनिष्ठा सुनिश्चित करने के लिए के. संथानम समिति (1962-64) की सिफारिशों पर किस शीर्ष सतर्कता संस्था की स्थापना की गई थी?</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केंद्रीय अन्वेषण ब्यूरो (CBI)</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केंद्रीय सतर्कता आयोग (Central Vigilance Commission - CVC)</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लोकपाल</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राष्ट्रीय जांच एजेंसी (NIA)</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87952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192/260</a:t>
            </a:r>
          </a:p>
        </p:txBody>
      </p:sp>
    </p:spTree>
  </p:cSld>
  <p:clrMapOvr>
    <a:masterClrMapping/>
  </p:clrMapOvr>
</p:sld>
</file>

<file path=ppt/slides/slide38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Q.192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केंद्रीय सतर्कता आयोग (Central Vigilance Commission - CVC)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केंद्रीय अन्वेषण ब्यूरो (CBI)</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लोकपाल</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राष्ट्रीय जांच एजेंसी (NIA)</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वर्ष 1964 में भ्रष्टाचार निवारण पर गठित के. संथानम समिति की ऐतिहासिक रिपोर्ट के आधार पर केंद्र सरकार के एक कार्यकारी प्रस्ताव द्वारा 'केंद्रीय सतर्कता आयोग' (CVC) की स्थापना की गई थी। आगे चलकर सर्वोच्च न्यायालय के विनीत नारायण वाद (1997) के निर्देशों के बाद संसद ने 'केंद्रीय सतर्कता आयोग अधिनियम, 2003' पारित कर इसे पूर्ण सांविधिक (Statutory) निकाय का दर्जा दिया। सीवीसी किसी मंत्रालय के अधीन नहीं है, यह केवल संसद के प्रति जवाबदेह एक स्वतंत्र निकाय है जो केंद्र सरकार के अधिकारियों के खिलाफ भ्रष्टाचार निवारण अधिनियम के तहत सतर्कता जांच का अधीक्षण करता है और सीबीआई के भ्रष्टाचार निरोधक विंग पर निगरानी रखता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87952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192/260</a:t>
            </a:r>
          </a:p>
        </p:txBody>
      </p:sp>
    </p:spTree>
  </p:cSld>
  <p:clrMapOvr>
    <a:masterClrMapping/>
  </p:clrMapOvr>
</p:sld>
</file>

<file path=ppt/slides/slide38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193</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में 'केंद्रीय सूचना आयोग' (Central Information Commission - CIC) के गठन और शक्तियों के संदर्भ में निम्नलिखित कथनों पर विचार कीजिए: A. केंद्रीय सूचना आयोग की स्थापना वर्ष 2005 में 'सूचना का अधिकार अधिनियम, 2005' के प्रावधानों के तहत की गई थी। B. मुख्य सूचना आयुक्त (CIC) और अन्य सूचना आयुक्तों की नियुक्ति राष्ट्रपति द्वारा एक उच्चस्तरीय चयन समिति की सिफारिश पर की जाती है। C. इस चयन समिति में प्रधानमंत्री (अध्यक्ष), लोकसभा में विपक्ष का नेता और प्रधानमंत्री द्वारा मनोनीत एक केंद्रीय कैबिनेट मंत्री शामिल होते हैं। D. केंद्रीय सूचना आयोग संविधान के अनुच्छेद 324 के तहत स्थापित एक स्थायी संवैधानिक निकाय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92577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193/260</a:t>
            </a:r>
          </a:p>
        </p:txBody>
      </p:sp>
    </p:spTree>
  </p:cSld>
  <p:clrMapOvr>
    <a:masterClrMapping/>
  </p:clrMapOvr>
</p:sld>
</file>

<file path=ppt/slides/slide38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Q.193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केंद्रीय सूचना आयोग RTI Act, 2005 की धारा 12 के तहत स्थापित एक स्वतंत्र वैधानिक (Statutory) निकाय है, न कि संवैधानिक निकाय (संविधान के किसी मूल अनुच्छेद में इसका कोई उल्लेख नहीं है), इसलिए कथन D असत्य है। आयोग में एक मुख्य सूचना आयुक्त और अधिकतम 10 सूचना आयुक्त हो सकते हैं। इनकी नियुक्ति के लिए प्रधानमंत्री, लोकसभा में विपक्ष के सबसे बड़े दल के नेता और एक कैबिनेट मंत्री की उच्चस्तरीय समिति संस्तुति करती है। यह आयोग सरकारी विभागों द्वारा सूचना न देने, अधूरी या भ्रामक सूचना देने पर दोषी जन सूचना अधिकारी (PIO) पर प्रतिदिन 250 रुपये से लेकर अधिकतम 25,000 रुपये तक का आर्थिक जुर्माना लगाने की विधिक शक्ति रखता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92577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193/260</a:t>
            </a:r>
          </a:p>
        </p:txBody>
      </p:sp>
    </p:spTree>
  </p:cSld>
  <p:clrMapOvr>
    <a:masterClrMapping/>
  </p:clrMapOvr>
</p:sld>
</file>

<file path=ppt/slides/slide38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194</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भारत की प्रमुख संवैधानिक एवं वैधानिक संस्थाओं तथा उनके स्वरूप का सही मिलान कीजिए: सूची-I (संस्था): सूची-I: A. भारत का निर्वाचन आयोग B. भारत का वित्त आयोग C. राष्ट्रीय मानवाधिकार आयोग (NHRC) D. नीति आयोग (NITI Aayog) सूची-II: 1. वैधानिक/सांविधिक निकाय (संसद के 1993 के अधिनियम द्वारा निर्मित) 2. गैर-संवैधानिक एवं संविधानेतर निकाय (कार्यपालिका के प्रस्ताव द्वारा निर्मित) 3. संवैधानिक निकाय (संविधान के अनुच्छेद 324 द्वारा स्थापित) 4. संवैधानिक निकाय (संविधान के अनुच्छेद 280 द्वारा स्थापित)</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B-4, C-1, D-2</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B-3, C-1, D-2</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C-4, D-2</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C-1, D-3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97202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194/260</a:t>
            </a:r>
          </a:p>
        </p:txBody>
      </p:sp>
    </p:spTree>
  </p:cSld>
  <p:clrMapOvr>
    <a:masterClrMapping/>
  </p:clrMapOvr>
</p:sld>
</file>

<file path=ppt/slides/slide38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Q.194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A-3, B-4, C-1, D-2</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B-3, C-1, D-2</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B-1, C-4, D-2</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B-4, C-1, D-3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संस्थाओं की कानूनी प्रकृति को समझना लोक प्रशासन का मूल आधार है: (1) संवैधानिक निकाय (Constitutional Bodies) वे हैं जिनका स्पष्ट उल्लेख संविधान के अनुच्छेदों में है, जैसे निर्वाचन आयोग (अनुच्छेद 324), वित्त आयोग (अनुच्छेद 280), यूपीएससी (अनुच्छेद 315), सीएजी (अनुच्छेद 148); (2) सांविधिक/वैधानिक निकाय (Statutory Bodies) वे हैं जिन्हें संसद ने कानून बनाकर स्थापित किया है, जैसे राष्ट्रीय मानवाधिकार आयोग (1993), राष्ट्रीय महिला आयोग (1990), केंद्रीय सूचना आयोग (2005); (3) गैर-संवैधानिक/कार्यकारी निकाय वे हैं जो केवल मंत्रिमंडल के आदेश से बने हैं, जैसे नीति आयोग (2015) और पूर्व का योजना आयोग।</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97202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194/260</a:t>
            </a:r>
          </a:p>
        </p:txBody>
      </p:sp>
    </p:spTree>
  </p:cSld>
  <p:clrMapOvr>
    <a:masterClrMapping/>
  </p:clrMapOvr>
</p:sld>
</file>

<file path=ppt/slides/slide38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195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भारतीय संविधान में नागरिकता अर्जन (Acquisition of Citizenship) के वैधानिक आधारों (नागरिकता अधिनियम, 1955) के संदर्भ में निम्नलिखित कथनों पर विचार कीजिए: A. संविधान के भाग-2 (अनुच्छेद 5 से 11) में नागरिकता का उल्लेख है, जिसमें अनुच्छेद 11 संसद को नागरिकता के संबंध में कानून बनाने का पूर्ण अधिकार देता है। B. नागरिकता अधिनियम, 1955 के तहत भारतीय नागरिकता पांच तरीकों-जन्म द्वारा, वंशानुगत, पंजीकरण द्वारा, देशीयकरण द्वारा तथा भू-भाग के विलय द्वारा प्राप्त की जा सकती है। C. भारतीय संविधान केंद्र और राज्यों के लिए संयुक्त राज्य अमेरिका की तरह 'दोहरी नागरिकता' (Dual Citizenship) की व्यवस्था करता है। D. नागरिकता अधिनियम के तहत यदि कोई भारतीय नागरिक स्वेच्छा से किसी अन्य विदेशी देश की नागरिकता ग्रहण कर लेता है, तो उसकी भारतीय नागरिकता स्वतः समाप्त हो जाती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01827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195/260</a:t>
            </a:r>
          </a:p>
        </p:txBody>
      </p:sp>
    </p:spTree>
  </p:cSld>
  <p:clrMapOvr>
    <a:masterClrMapping/>
  </p:clrMapOvr>
</p:sld>
</file>

<file path=ppt/slides/slide39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Q.195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संविधान निर्माताओं ने नागरिकता के स्थायी नियम स्वयं नहीं बनाए बल्कि अनुच्छेद 11 द्वारा यह दायित्व संसद को सौंपा, जिसने 1955 का नागरिकता कानून बनाया। इसमें नागरिकता प्राप्त करने के 5 आधार हैं: जन्म (Birth), वंश (Descent), पंजीकरण (Registration), देशीयकरण (Naturalization), और क्षेत्र समाविष्टि (Incorporation of Territory)। अमेरिका और स्विट्जरलैंड में देश और प्रांत की अलग-अलग दोहरी नागरिकता होती है, किंतु भारत में राष्ट्रीय एकता और भाईचारे को अक्षुण्ण रखने के लिए केवल 'एकल नागरिकता' (Single Citizenship) का प्रावधान है, अतः कथन C असत्य है। अनुच्छेद 9 स्पष्ट करता है कि विदेशी नागरिकता लेते ही भारतीय नागरिकता समाप्त हो जाती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01827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195/260</a:t>
            </a:r>
          </a:p>
        </p:txBody>
      </p:sp>
    </p:spTree>
  </p:cSld>
  <p:clrMapOvr>
    <a:masterClrMapping/>
  </p:clrMapOvr>
</p:sld>
</file>

<file path=ppt/slides/slide39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196</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भारतीय संसद की संप्रभुता (Sovereignty of Parliament) और ब्रिटिश संसद के तुलनात्मक अध्ययन के संदर्भ में निम्नलिखित कथनों पर विचार कीजिए: A. ब्रिटिश संसद पूरी तरह संप्रभु और सर्वोच्च है; वहां किसी कानून को न्यायालय में असंवैधानिक घोषित नहीं किया जा सकता। B. भारत में संसद संप्रभु नहीं है, बल्कि भारत में 'संविधान की सर्वोच्चता' (Supremacy of the Constitution) का सिद्धांत लागू है। C. भारतीय संसद की विधायी शक्तियां एक लिखित संविधान, संघीय व्यवस्था, मौलिक अधिकारों और स्वतंत्र न्यायपालिका की न्यायिक समीक्षा द्वारा सीमित हैं। D. भारतीय संसद ब्रिटिश संसद की तरह संविधान में कोई भी मनमाना कानून बनाकर किसी भी मौलिक अधिकार को शून्य घोषित कर सकती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06451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196/260</a:t>
            </a:r>
          </a:p>
        </p:txBody>
      </p:sp>
    </p:spTree>
  </p:cSld>
  <p:clrMapOvr>
    <a:masterClrMapping/>
  </p:clrMapOvr>
</p:sld>
</file>

<file path=ppt/slides/slide39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Q.196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ब्रिटिश न्यायविद डायसी ने कहा था कि "ब्रिटिश संसद एक पुरुष को महिला और महिला को पुरुष बनाने के सिवाय सब कुछ कर सकती है", क्योंकि ब्रिटेन में कोई लिखित संविधान या न्यायिक समीक्षा नहीं है। इसके विपरीत, भारत में संसद की शक्तियां असीमित नहीं हैं। भारत में संप्रभुता संविधान में निहित है। संसद केवल वही कानून बना सकती है जो संविधान के दायरे में हों। यदि संसद कोई ऐसा कानून बनाती है जो मौलिक अधिकारों (अनुच्छेद 13) या संविधान के मूल ढांचे (केशवानंद भारती वाद) का उल्लंघन करता है, तो भारत का सर्वोच्च न्यायालय उसे तुरंत असंवैधानिक और निरस्त घोषित कर देता है, अतः कथन D असत्य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06451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196/260</a:t>
            </a:r>
          </a:p>
        </p:txBody>
      </p:sp>
    </p:spTree>
  </p:cSld>
  <p:clrMapOvr>
    <a:masterClrMapping/>
  </p:clrMapOvr>
</p:sld>
</file>

<file path=ppt/slides/slide39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197</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भारतीय संविधान के किस अनुच्छेद में यह स्पष्ट व्यवस्था की गई है कि उच्चतम न्यायालय द्वारा घोषित विधि भारत के राज्यक्षेत्र के भीतर सभी न्यायालयों पर बाध्यकारी होगी?</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अनुच्छेद 136</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अनुच्छेद 141</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अनुच्छेद 142</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अनुच्छेद 144</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11076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197/260</a:t>
            </a:r>
          </a:p>
        </p:txBody>
      </p:sp>
    </p:spTree>
  </p:cSld>
  <p:clrMapOvr>
    <a:masterClrMapping/>
  </p:clrMapOvr>
</p:sld>
</file>

<file path=ppt/slides/slide39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Q.197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अनुच्छेद 141</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अनुच्छेद 136</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अनुच्छेद 142</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अनुच्छेद 144</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संविधान का अनुच्छेद 141 (Law declared by Supreme Court to be binding on all courts) घोषित करता है कि सर्वोच्च न्यायालय द्वारा निर्धारित सिद्धांत, कानूनी व्याख्या और निर्णय भारत के संपूर्ण राज्यक्षेत्र के सभी उच्च न्यायालयों, जिला न्यायालयों, न्यायाधिकरणों और अधीनस्थ अदालतों पर पूर्णतः बाध्यकारी कानून का दर्जा रखते हैं। अनुच्छेद 142 सर्वोच्च न्यायालय को किसी भी लंबित मामले में 'पूर्ण न्याय' (Complete Justice) करने के लिए असाधारण परमाधिकार आदेश पारित करने की शक्ति देता है। अनुच्छेद 144 कहता है कि भारत के सभी सिविल और न्यायिक प्राधिकारी सुप्रीम कोर्ट की सहायता में कार्य करेंगे।</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11076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197/260</a:t>
            </a:r>
          </a:p>
        </p:txBody>
      </p:sp>
    </p:spTree>
  </p:cSld>
  <p:clrMapOvr>
    <a:masterClrMapping/>
  </p:clrMapOvr>
</p:sld>
</file>

<file path=ppt/slides/slide39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198</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भारतीय संविधान के अनुच्छेद 142 की असाधारण शक्तियों के संदर्भ में निम्नलिखित कथनों पर विचार कीजिए: A. अनुच्छेद 142(1) सर्वोच्च न्यायालय को अपने समक्ष लंबित किसी भी मुकदमे में 'पूर्ण न्याय' (Complete Justice) करने के लिए कोई भी आवश्यक आदेश या डिक्री पारित करने का अधिकार देता है। B. इस अनुच्छेद के तहत दिए गए आदेश तब तक पूरे देश में लागू रहते हैं जब तक संसद इस संबंध में कोई नया कानून न बना दे। C. सर्वोच्च न्यायालय ने यूनियन कार्बाइड (भोपाल गैस त्रासदी), अयोध्या विवाद और बाहुबलियों के मुकदमों के स्थानांतरण में अनुच्छेद 142 का ऐतिहासिक प्रयोग किया है। D. अनुच्छेद 142 सर्वोच्च न्यायालय को यह अधिकार देता है कि वह संविधान के किसी भी हिस्से या अनुच्छेद को हमेशा के लिए समाप्त कर दे।</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15701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198/260</a:t>
            </a:r>
          </a:p>
        </p:txBody>
      </p:sp>
    </p:spTree>
  </p:cSld>
  <p:clrMapOvr>
    <a:masterClrMapping/>
  </p:clrMapOvr>
</p:sld>
</file>

<file path=ppt/slides/slide39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Q.198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अनुच्छेद 142 भारतीय न्यायपालिका का सबसे शक्तिशाली विशेषाधिकार है। जब विधायिका का कोई स्पष्ट कानून न हो या तकनीकी कानूनी अड़चनों के कारण किसी पीड़ित को न्याय न मिल पा रहा हो, तो सुप्रीम कोर्ट सीधे न्याय के प्राकृतिक सिद्धांतों (Equity and Good Conscience) के तहत कार्यपालिका जैसी राहत दे सकता है। 1989 में यूनियन कार्बाइड से 470 मिलियन डॉलर का मुआवजा दिलवाने में, बाबरी मस्जिद-राम जन्मभूमि फैसले में मंदिर निर्माण ट्रस्ट और मस्जिद हेतु 5 एकड़ जमीन देने में इसी अनुच्छेद का प्रयोग हुआ। किंतु सुप्रीम कोर्ट ने स्वयं माना है कि अनुच्छेद 142 की शक्ति संविधान के मूल पाठ या मौलिक अधिकारों को नष्ट करने के लिए प्रयुक्त नहीं हो सकती, अतः कथन D असत्य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15701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198/260</a:t>
            </a:r>
          </a:p>
        </p:txBody>
      </p:sp>
    </p:spTree>
  </p:cSld>
  <p:clrMapOvr>
    <a:masterClrMapping/>
  </p:clrMapOvr>
</p:sld>
</file>

<file path=ppt/slides/slide39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199</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के संविधान की प्रस्तावना (Preamble) में प्रतिष्ठापित न्याय, स्वतंत्रता, समानता और बंधुत्व के आदर्शों के संदर्भ में निम्नलिखित कथनों पर विचार कीजिए: A. प्रस्तावना में तीन प्रकार के न्याय का संकल्प है-'सामाजिक, आर्थिक और राजनीतिक न्याय' (यह विचार 1917 की रूसी क्रांति से प्रेरित है)। B. प्रस्तावना में पांच प्रकार की स्वतंत्रता का उल्लेख है-'विचार, अभिव्यक्ति, विश्वास, धर्म और उपासना की स्वतंत्रता'। C. प्रस्तावना में दो प्रकार की समानता की बात की गई है-'प्रतिष्ठा और अवसर की समता'। D. प्रस्तावना संविधान का अंग नहीं है और इसमें संसद कभी कोई संशोधन नहीं कर सकती।</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20326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199/260</a:t>
            </a:r>
          </a:p>
        </p:txBody>
      </p:sp>
    </p:spTree>
  </p:cSld>
  <p:clrMapOvr>
    <a:masterClrMapping/>
  </p:clrMapOvr>
</p:sld>
</file>

<file path=ppt/slides/slide39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Q.199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प्रस्तावना संविधान के महान दर्शन का निचोड़ है। 1960 के बेरुबारी मामले में कोर्ट ने इसे संविधान का अंग नहीं माना था, किंतु 1973 के ऐतिहासिक 'केशवानंद भारती वाद' में सर्वोच्च न्यायालय ने अपने पूर्व फैसले को बदलते हुए स्पष्ट निर्णय दिया कि "प्रस्तावना संविधान का एक अत्यंत महत्वपूर्ण और अभिन्न अंग है।" कोर्ट ने यह भी तय किया कि संसद अनुच्छेद 368 के तहत प्रस्तावना में संशोधन कर सकती है, बशर्ते वह उसके मूल ढांचे को नष्ट न करे। इसी अधिकार का प्रयोग करते हुए 42वें संशोधन 1976 द्वारा प्रस्तावना में संशोधन किया गया था, अतः कथन D पूरी तरह असत्य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20326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199/260</a:t>
            </a:r>
          </a:p>
        </p:txBody>
      </p:sp>
    </p:spTree>
  </p:cSld>
  <p:clrMapOvr>
    <a:masterClrMapping/>
  </p:clrMapOvr>
</p:sld>
</file>

<file path=ppt/slides/slide39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200</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1978 में 44वें संविधान संशोधन अधिनियम द्वारा भारतीय संविधान के अनुच्छेद 359 में कौन-सा ऐतिहासिक संशोधन किया गया, जिससे नागरिकों के नागरिक अधिकार आपातकाल में भी सुरक्षित हो गए?</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आपातकाल में किसी भी अदालत जाने पर पूर्ण प्रतिबंध लगा दिया गया</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राष्ट्रपति को किसी भी नागरिक को बिना कारण आजीवन जेल में रखने की शक्ति दी गई</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राष्ट्रीय आपातकाल (अनुच्छेद 352) के दौरान भी अनुच्छेद 20 और 21 के तहत प्रदत्त मौलिक अधिकारों का निलंबन नहीं किया जा सकता</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आपातकाल में केवल संसद के सदस्यों के ही अधिकार सुरक्षित रहेंगे, आम नागरिकों के नहीं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24950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200/260</a:t>
            </a:r>
          </a:p>
        </p:txBody>
      </p:sp>
    </p:spTree>
  </p:cSld>
  <p:clrMapOvr>
    <a:masterClrMapping/>
  </p:clrMapOvr>
</p:sld>
</file>

<file path=ppt/slides/slide40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Q.200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राष्ट्रीय आपातकाल (अनुच्छेद 352) के दौरान भी अनुच्छेद 20 और 21 के तहत प्रदत्त मौलिक अधिकारों का निलंबन नहीं किया जा सकता</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आपातकाल में किसी भी अदालत जाने पर पूर्ण प्रतिबंध लगा दिया गया</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राष्ट्रपति को किसी भी नागरिक को बिना कारण आजीवन जेल में रखने की शक्ति दी गई</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आपातकाल में केवल संसद के सदस्यों के ही अधिकार सुरक्षित रहेंगे, आम नागरिकों के नहीं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1975-77 के आपातकाल के दौरान कुख्यात 'एडीएम जबलपुर बनाम शिवकांत शुक्ला वाद' (Habeas Corpus Case) में सुप्रीम कोर्ट के बहुमत ने यह भयावह फैसला सुनाया था कि आपातकाल के दौरान राज्य किसी भी नागरिक को बिना किसी विधिक प्रक्रिया के जीवन से वंचित कर सकता है और नागरिक अदालत नहीं जा सकता। आपातकाल समाप्त होने के बाद मोरारजी देसाई की सरकार ने 44वें संविधान संशोधन 1978 के जरिए अनुच्छेद 359 में यह ऐतिहासिक और गैर-परिवर्तनीय ढाल जोड़ दी कि राष्ट्रपति आपातकाल के दौरान भी नागरिकों के अनुच्छेद 20 (अपराधों के लिए दोषसिद्धि से संरक्षण) और अनुच्छेद 21 (प्राण एवं दैहिक स्वतंत्रता) के अधिकार को कभी भी निलंबित नहीं कर सकता।</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24950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200/260</a:t>
            </a:r>
          </a:p>
        </p:txBody>
      </p:sp>
    </p:spTree>
  </p:cSld>
  <p:clrMapOvr>
    <a:masterClrMapping/>
  </p:clrMapOvr>
</p:sld>
</file>

<file path=ppt/slides/slide40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201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भारतीय संविधान के संघात्मक ढांचे में केंद्र को शक्तिशाली बनाने वाले प्रमुख एकात्मक लक्षणों (Unitary Features) के संदर्भ में निम्नलिखित कथनों पर विचार कीजिए: A. संविधान में केंद्र और राज्यों दोनों के लिए केवल एक ही एकीकृत संविधान और एकल नागरिकता है। B. राज्यों के संवैधानिक प्रमुख के रूप में राज्यपालों की नियुक्ति राष्ट्रपति (केंद्र सरकार) द्वारा की जाती है और वे राष्ट्रपति के प्रसादपर्यंत पद धारण करते हैं। C. आपातकालीन प्रावधानों (अनुच्छेद 352, 356, 360) के लागू होने पर समस्त राज्य सरकारें केंद्र के प्रत्यक्ष नियंत्रण में आ जाती हैं। D. भारतीय संविधान में राज्यों को अपनी सीमाएं और नाम स्वयं अपनी मर्जी से बदलने की पूर्ण संप्रभु शक्ति प्राप्त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29575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201/260</a:t>
            </a:r>
          </a:p>
        </p:txBody>
      </p:sp>
    </p:spTree>
  </p:cSld>
  <p:clrMapOvr>
    <a:masterClrMapping/>
  </p:clrMapOvr>
</p:sld>
</file>

<file path=ppt/slides/slide40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Q.201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प्रसिद्ध संविधानविद के.सी. व्हीयर ने भारतीय संविधान को 'अर्ध-संघीय' (Quasi-Federal) कहा था क्योंकि सामान्य काल में यह संघीय है किंतु संकट काल में एकात्मक हो जाता है। एकल न्यायपालिका, अखिल भारतीय सेवाएं (IAS/IPS), एकीकृत लेखा परीक्षा (CAG) और राज्यपाल की नियुक्ति केंद्र को असाधारण शक्ति देते हैं। अमेरिकी संघ में राज्य अविनाशी हैं, किंतु भारत को "विनाशी राज्यों का अविभाज्य संघ" (Indestructible Union of Destructible States) कहा जाता है; संविधान के अनुच्छेद 3 के तहत संसद राष्ट्रपति की संस्तुति से साधारण बहुमत से किसी भी राज्य का नाम, क्षेत्र या सीमाएं बिना राज्य की सहमति के बदल सकती है, अतः कथन D असत्य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29575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201/260</a:t>
            </a:r>
          </a:p>
        </p:txBody>
      </p:sp>
    </p:spTree>
  </p:cSld>
  <p:clrMapOvr>
    <a:masterClrMapping/>
  </p:clrMapOvr>
</p:sld>
</file>

<file path=ppt/slides/slide40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202</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स्वतंत्र भारत की प्रमुख राष्ट्रीय जांच समितियों और उनके अध्ययन के विषयों का सही मिलान कीजिए: सूची-I (समिति/आयोग): सूची-I: A. बलवंत राय मेहता समिति (1957) B. अशोक मेहता समिति (1977) C. के. संथानम समिति (1962) D. स्वर्ण सिंह समिति (1976) सूची-II: 1. भ्रष्टाचार निवारण एवं केंद्रीय सतर्कता आयोग (CVC) का गठन 2. त्रि-स्तरीय पंचायती राज व्यवस्था की सिफारिश 3. संविधान में 'मौलिक कर्तव्यों' को शामिल करने की सिफारिश 4. द्वि-स्तरीय पंचायती राज (मंडल पंचायत व जिला परिषद) की सिफारिश</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C-1, D-3</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B-2, C-1, D-3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34200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202/260</a:t>
            </a:r>
          </a:p>
        </p:txBody>
      </p:sp>
    </p:spTree>
  </p:cSld>
  <p:clrMapOvr>
    <a:masterClrMapping/>
  </p:clrMapOvr>
</p:sld>
</file>

<file path=ppt/slides/slide40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Q.202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B-4, C-1,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C-3,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B-2, C-1, D-3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लोकतांत्रिक विकेंद्रीकरण के लिए बलवंत राय मेहता समिति ने ग्राम, ब्लॉक और जिला स्तर पर त्रिस्तरीय पंचायती राज की सिफारिश की, जिसके आधार पर 2 अक्टूबर 1959 को राजस्थान के नागौर में पहली बार पंचायती राज शुरू हुआ। जनता पार्टी काल में अशोक मेहता समिति ने ग्राम पंचायत के स्थान पर 15,000 आबादी वाली 'मंडल पंचायत' और जिला परिषद का द्विस्तरीय मॉडल सुझाया। संथानम समिति की रिपोर्ट ने प्रशासनिक भ्रष्टाचार को रोकने के लिए CVC का मार्ग प्रशस्त किया। सरदार स्वर्ण सिंह समिति की सिफारिश पर 42वें संशोधन द्वारा 10 मूल कर्तव्य संविधान में जोड़े गए।</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34200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202/260</a:t>
            </a:r>
          </a:p>
        </p:txBody>
      </p:sp>
    </p:spTree>
  </p:cSld>
  <p:clrMapOvr>
    <a:masterClrMapping/>
  </p:clrMapOvr>
</p:sld>
</file>

<file path=ppt/slides/slide40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203</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भारतीय संविधान के अनुच्छेद 32 के महत्व और डॉ. भीमराव अंबेडकर के दृष्टिकोण के संदर्भ में निम्नलिखित कथनों पर विचार कीजिए: A. अनुच्छेद 32 नागरिकों के मौलिक अधिकारों के प्रवर्तन के लिए सीधे सर्वोच्च न्यायालय में जाने के अधिकार को स्वयं एक 'मौलिक अधिकार' बनाता है। B. डॉ. अंबेडकर ने कहा था कि "यदि मुझसे पूछा जाए कि संविधान का कौन-सा अनुच्छेद सबसे महत्वपूर्ण है जिसके बिना संविधान शून्य हो जाएगा, तो मैं अनुच्छेद 32 की ओर इशारा करूँगा; यह संविधान का हृदय और आत्मा है।" C. सर्वोच्च न्यायालय अनुच्छेद 32 के तहत किसी भी कानून की संवैधानिकता की जांच कर सकता है किंतु कार्यपालिका के किसी प्रशासनिक आदेश को रद्द नहीं कर सकता। D. संसद किसी अन्य अदालत को भी अपने स्थानीय क्षेत्राधिकार के भीतर इन रिटों को जारी करने की शक्ति कानून द्वारा सौंप सकती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38825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203/260</a:t>
            </a:r>
          </a:p>
        </p:txBody>
      </p:sp>
    </p:spTree>
  </p:cSld>
  <p:clrMapOvr>
    <a:masterClrMapping/>
  </p:clrMapOvr>
</p:sld>
</file>

<file path=ppt/slides/slide40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Q.203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अधिकारों की केवल घोषणा कर देना व्यर्थ है जब तक उन्हें लागू कराने का प्रभावी विधिक साधन न हो। अनुच्छेद 32 अधिकारों का अधिकार (Right to constitutional remedies) है जो नागरिकों को सीधे देश की शीर्ष अदालत का दरवाजा खटखटाने का गारंटीशुदा हक देता है। अनुच्छेद 32(3) संसद को यह अधिकार देता है कि वह किसी अन्य अदालत को भी रिट जारी करने की शक्ति दे सकती है। अनुच्छेद 32 के तहत सर्वोच्च न्यायालय संसद के कानूनों के साथ-साथ कार्यपालिका के किसी भी मनमाने प्रशासनिक, पुलिसिया या सरकारी आदेश को पूरी तरह खारिज और रद्द (Quash) कर सकता है, अतः कथन C असत्य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38825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203/260</a:t>
            </a:r>
          </a:p>
        </p:txBody>
      </p:sp>
    </p:spTree>
  </p:cSld>
  <p:clrMapOvr>
    <a:masterClrMapping/>
  </p:clrMapOvr>
</p:sld>
</file>

<file path=ppt/slides/slide40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204</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73वें संविधान संशोधन अधिनियम, 1992 द्वारा संविधान में जोड़ी गई 11वीं अनुसूची में पंचायतों के सुचारू कार्यकरण के लिए कुल कितने विषयों की सूची सौंपी गई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18 विषय</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21 विषय</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29 विषय</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33 विषय</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43449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204/260</a:t>
            </a:r>
          </a:p>
        </p:txBody>
      </p:sp>
    </p:spTree>
  </p:cSld>
  <p:clrMapOvr>
    <a:masterClrMapping/>
  </p:clrMapOvr>
</p:sld>
</file>

<file path=ppt/slides/slide40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Q.204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29 विषय</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18 विषय</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21 विषय</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33 विषय</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73वें संविधान संशोधन अधिनियम ने संविधान में एक नई '11वीं अनुसूची' (Eleventh Schedule - अनुच्छेद 243G) जोड़ी, जिसमें पंचायतों के आर्थिक विकास और सामाजिक न्याय के लिए कुल 29 कार्यकारी विषय शामिल किए गए हैं। इन विषयों में कृषि, भूमि सुधार, लघु सिंचाई, पशुपालन, मत्स्य पालन, सामाजिक वानिकी, खादी व ग्रामोद्योग, ग्रामीण पेयजल, सड़कें व पुल, ग्रामीण विद्युतीकरण, गरीबी उन्मूलन कार्यक्रम, प्राथमिक व माध्यमिक शिक्षा और प्राथमिक स्वास्थ्य केंद्र शामिल हैं। वहीं 74वें संशोधन द्वारा नगरपालिकाओं के लिए जोड़ी गई 12वीं अनुसूची में कुल 18 विषय शामिल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43449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204/260</a:t>
            </a:r>
          </a:p>
        </p:txBody>
      </p:sp>
    </p:spTree>
  </p:cSld>
  <p:clrMapOvr>
    <a:masterClrMapping/>
  </p:clrMapOvr>
</p:sld>
</file>

<file path=ppt/slides/slide40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205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पंचायती राज संस्थाओं में आरक्षण और स्थानीय लोकतंत्र की कार्यप्रणाली के संदर्भ में निम्नलिखित कथनों पर विचार कीजिए: A. पंचायतों के तीनों स्तरों (ग्राम, ब्लॉक, जिला) पर अनुसूचित जातियों और अनुसूचित जनजातियों के लिए उनकी जनसंख्या के अनुपात में सीटें आरक्षित हैं। B. पंचायतों में महिलाओं के लिए कुल सीटों की कम से कम एक-तिहाई (33%) सीटें आरक्षित हैं, जिसमें SC/ST महिलाओं का आरक्षण भी शामिल है। C. पंचायतों के तीनों स्तरों के अध्यक्षों (सरपंच, प्रधान, जिला प्रमुख) के पदों पर भी आरक्षण की यही व्यवस्था लागू होती है। D. किसी राज्य में पंचायतों का चुनाव कराने की अधिसूचना और तारीखों का निर्धारण भारत का केंद्रीय चुनाव आयोग करता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48074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205/260</a:t>
            </a:r>
          </a:p>
        </p:txBody>
      </p:sp>
    </p:spTree>
  </p:cSld>
  <p:clrMapOvr>
    <a:masterClrMapping/>
  </p:clrMapOvr>
</p:sld>
</file>

<file path=ppt/slides/slide41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Q.205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अनुच्छेद 243D स्थानीय स्वशासन में सामाजिक और लैंगिक समावेशिता की क्रांतिकारी गारंटी देता है। देश भर में लगभग 32 लाख निर्वाचित पंचायत प्रतिनिधियों में से 14 लाख से अधिक महिलाएं हैं, जो दुनिया में महिला राजनीतिक प्रतिनिधित्व का सबसे बड़ा उदाहरण है। अनुसूचित जातियों और जनजातियों को जनसंख्या के अनुपात में और महिलाओं को 1/3 अनिवार्य आरक्षण मिलता है (अध्यक्ष पदों पर भी आरक्षण रोस्टर प्रणाली से लागू होता है)। अनुच्छेद 243K के तहत पंचायतों और नगरपालिकाओं के चुनाव कराने, मतदाता सूची तैयार करने और तारीखों का निर्धारण करने का अनन्य अधिकार राज्य निर्वाचन आयोग (State Election Commission) के पास होता है, केंद्रीय चुनाव आयोग का इसमें कोई कार्यक्षेत्र नहीं है, अतः कथन D असत्य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48074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205/260</a:t>
            </a:r>
          </a:p>
        </p:txBody>
      </p:sp>
    </p:spTree>
  </p:cSld>
  <p:clrMapOvr>
    <a:masterClrMapping/>
  </p:clrMapOvr>
</p:sld>
</file>

<file path=ppt/slides/slide41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206</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में राज्य वित्त आयोग (State Finance Commission under Article 243-I) के संदर्भ में निम्नलिखित कथनों पर विचार कीजिए: A. प्रत्येक राज्य का राज्यपाल प्रत्येक 5 वर्ष की समाप्ति पर राज्य वित्त आयोग का गठन करता है। B. यह आयोग राज्य सरकार द्वारा लगाए गए करों, शुल्कों और पथकरों की शुद्ध प्राप्तियों का राज्य और पंचायतों के बीच बंटवारा तय करता है। C. यह राज्य की संचित निधि में से ग्राम पंचायतों और नगरपालिकाओं को सहायता अनुदान देने के सिद्धांतों की संस्तुति करता है। D. राज्य वित्त आयोग अपनी रिपोर्ट सीधे भारत के राष्ट्रपति को भेजता है और संसद में इस पर चर्चा होती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52699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206/260</a:t>
            </a:r>
          </a:p>
        </p:txBody>
      </p:sp>
    </p:spTree>
  </p:cSld>
  <p:clrMapOvr>
    <a:masterClrMapping/>
  </p:clrMapOvr>
</p:sld>
</file>

<file path=ppt/slides/slide41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Q.206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स्थानीय स्वशासन को आर्थिक रूप से स्वावलंबी बनाने के लिए 73वें संशोधन ने अनुच्छेद 243-I और 74वें संशोधन ने 243-Y के तहत राज्य वित्त आयोग की स्थापना की। राज्यपाल द्वारा 5 वर्ष में गठित यह आयोग पंचायतों और नगरपालिकाओं की वित्तीय स्थिति की समीक्षा करता है और करों के हस्तांतरण के फार्मूले सुझाता है। अनुच्छेद 243-I(4) के अनुसार राज्य वित्त आयोग अपनी रिपोर्ट और सिफारिशें राज्यपाल को प्रस्तुत करता है, और राज्यपाल उस रिपोर्ट को राज्य के विधानमंडल (विधानसभा) के पटल पर रखवाता है (राष्ट्रपति या संसद को नहीं भेजी जाती), अतः कथन D असत्य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52699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206/260</a:t>
            </a:r>
          </a:p>
        </p:txBody>
      </p:sp>
    </p:spTree>
  </p:cSld>
  <p:clrMapOvr>
    <a:masterClrMapping/>
  </p:clrMapOvr>
</p:sld>
</file>

<file path=ppt/slides/slide41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207</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74वें संविधान संशोधन अधिनियम, 1992 के अंतर्गत शहरी स्थानीय निकायों (नगरपालिकाओं) को जनसंख्या और विकास के स्तर के आधार पर किन तीन स्तरों में विभाजित किया गया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ग्राम सभा, पंचायत समिति और जिला परिषद</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नगर पंचायत (संक्रमणशील क्षेत्र), नगरपालिका परिषद (छोटे शहरी क्षेत्र) और नगर निगम (बड़े महानगर)</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वार्ड समिति, छावनी बोर्ड और पोर्ट ट्रस्ट</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क्षेत्रीय विकास प्राधिकरण, सुधार न्यास और टाउनशिप</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57324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207/260</a:t>
            </a:r>
          </a:p>
        </p:txBody>
      </p:sp>
    </p:spTree>
  </p:cSld>
  <p:clrMapOvr>
    <a:masterClrMapping/>
  </p:clrMapOvr>
</p:sld>
</file>

<file path=ppt/slides/slide41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Q.207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नगर पंचायत (संक्रमणशील क्षेत्र), नगरपालिका परिषद (छोटे शहरी क्षेत्र) और नगर निगम (बड़े महानगर)</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ग्राम सभा, पंचायत समिति और जिला परिषद</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वार्ड समिति, छावनी बोर्ड और पोर्ट ट्रस्ट</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क्षेत्रीय विकास प्राधिकरण, सुधार न्यास और टाउनशिप</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संविधान के अनुच्छेद 243Q के अनुसार प्रत्येक राज्य में तीन प्रकार के शहरी स्थानीय निकाय गठित किए जाते हैं: (1) 'नगर पंचायत' (Nagar Panchayat) - ऐसे ग्रामीण क्षेत्र के लिए जो ग्रामीण से नगरीय क्षेत्र में परिवर्तित हो रहा हो (Transitional Area); (2) 'नगरपालिका परिषद' (Municipal Council) - किसी छोटे शहरी क्षेत्र या कस्बे के लिए; और (3) 'नगर निगम' (Municipal Corporation) - किसी विशाल महानगर या बड़े औद्योगिक नगर (जैसे मुंबई, दिल्ली, जयपुर, अहमदाबाद) के लिए जहाँ जनसंख्या और राजस्व बहुत अधिक होता है। नगर निगम का राजनीतिक प्रमुख 'मेयर' (महापौर) तथा प्रशासनिक प्रमुख आईएएस संवर्ग का 'नगर निगम आयुक्त' (Municipal Commissioner) होता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57324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207/260</a:t>
            </a:r>
          </a:p>
        </p:txBody>
      </p:sp>
    </p:spTree>
  </p:cSld>
  <p:clrMapOvr>
    <a:masterClrMapping/>
  </p:clrMapOvr>
</p:sld>
</file>

<file path=ppt/slides/slide41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208</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संविधान संशोधन की प्रक्रिया (अनुच्छेद 368) के विभिन्न चरणों और नियमों के संदर्भ में निम्नलिखित कथनों पर विचार कीजिए: A. संविधान संशोधन विधेयक संसद के किसी भी सदन (लोकसभा या राज्यसभा) में पेश किया जा सकता है, इसे राज्य विधानमंडल में पेश नहीं किया जा सकता। B. इस विधेयक को संसद में पेश करने के लिए राष्ट्रपति की पूर्व अनुमति की आवश्यकता नहीं होती है। C. संविधान संशोधन विधेयक को संसद के दोनों सदनों द्वारा अलग-अलग विशेष बहुमत से पारित होना अनिवार्य है; इसमें संयुक्त बैठक (Joint Sitting) का कोई प्रावधान नहीं है। D. जब संविधान संशोधन विधेयक संसद से पारित होकर राष्ट्रपति के समक्ष जाता है, तो राष्ट्रपति उस पर अपनी अनुमति रोकने या पुनर्विचार के लिए लौटाने का पूर्ण अधिकार रखता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61948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208/260</a:t>
            </a:r>
          </a:p>
        </p:txBody>
      </p:sp>
    </p:spTree>
  </p:cSld>
  <p:clrMapOvr>
    <a:masterClrMapping/>
  </p:clrMapOvr>
</p:sld>
</file>

<file path=ppt/slides/slide41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Q.208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संविधान का भाग-20 केवल एक अनुच्छेद 368 से युक्त है जो संशोधन प्रक्रिया तय करता है। संशोधन की शुरुआत केवल संसद में हो सकती है। इसे कोई मंत्री या गैर-सरकारी सदस्य बिना राष्ट्रपति की पूर्व अनुमति के पेश कर सकता है। दोनों सदनों में अलग-अलग विशेष बहुमत (सदन की कुल सदस्य संख्या का बहुमत + उपस्थित व मतदान करने वाले सदस्यों का 2/3) अनिवार्य है। यदि एक भी सदन इसे अस्वीकार कर दे तो विधेयक समाप्त हो जाता है, गतिरोध सुलझाने के लिए अनुच्छेद 108 वाली संयुक्त बैठक नहीं बुलाई जा सकती। 24वें संविधान संशोधन अधिनियम, 1971 द्वारा अनुच्छेद 368(2) में स्पष्ट संशोधन किया गया कि राष्ट्रपति संविधान संशोधन विधेयक पर अपनी अनुमति देने के लिए 'बाध्य' होगा, वह इसे न तो रोक सकता है और न लौटा सकता है; अतः कथन D असत्य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61948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208/260</a:t>
            </a:r>
          </a:p>
        </p:txBody>
      </p:sp>
    </p:spTree>
  </p:cSld>
  <p:clrMapOvr>
    <a:masterClrMapping/>
  </p:clrMapOvr>
</p:sld>
</file>

<file path=ppt/slides/slide41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209</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के विभिन्न राज्यों में द्विसदनीय विधानमंडल (Bicameral Legislature - विधानसभा और विधान परिषद) से संबंधित तथ्यों का सही मिलान कीजिए: सूची-I: सूची-I: A. विधान परिषद (Legislative Council) के सृजन या उत्सादन का अनुच्छेद B. विधान परिषद की अधिकतम सदस्य संख्या C. विधान परिषद की न्यूनतम सदस्य संख्या D. वर्तमान में विधान परिषद वाले राज्यों की कुल संख्या सूची-II: 1. संबंधित राज्य विधानसभा की कुल सदस्य संख्या का एक-तिहाई (1/3) 2. 6 राज्य (उत्तर प्रदेश, बिहार, महाराष्ट्र, कर्नाटक, आंध्र प्रदेश, तेलंगाना) 3. 40 सदस्य 4. अनुच्छेद 169</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B-1, C-3, D-2</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B-3, C-1, D-2</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66573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209/260</a:t>
            </a:r>
          </a:p>
        </p:txBody>
      </p:sp>
    </p:spTree>
  </p:cSld>
  <p:clrMapOvr>
    <a:masterClrMapping/>
  </p:clrMapOvr>
</p:sld>
</file>

<file path=ppt/slides/slide41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Q.209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A-4, B-1, C-3, D-2</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C-3,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B-3, C-1, D-2</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संविधान के अनुच्छेद 169 के अनुसार यदि किसी राज्य की विधानसभा अपनी कुल सदस्य संख्या के बहुमत तथा उपस्थित व मतदान करने वाले सदस्यों के दो-तिहाई विशेष बहुमत से प्रस्ताव पारित कर दे, तो संसद साधारण बहुमत से कानून बनाकर उस राज्य में विधान परिषद का गठन कर सकती है या उसे समाप्त कर सकती है। अनुच्छेद 171 के अनुसार विधान परिषद में सदस्यों की अधिकतम संख्या विधानसभा की कुल सदस्य संख्या के एक-तिहाई से अधिक नहीं होगी, किंतु किसी भी दशा में 40 से कम नहीं होगी। जम्मू-कश्मीर के केंद्रशासित प्रदेश बनने के बाद वर्तमान में भारत के केवल 6 राज्यों (यूपी, बिहार, महाराष्ट्र, कर्नाटक, आंध्र प्रदेश और तेलंगाना) में द्विसदनीय व्यवस्था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66573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209/260</a:t>
            </a:r>
          </a:p>
        </p:txBody>
      </p:sp>
    </p:spTree>
  </p:cSld>
  <p:clrMapOvr>
    <a:masterClrMapping/>
  </p:clrMapOvr>
</p:sld>
</file>

<file path=ppt/slides/slide41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210</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भारतीय संविधान के अनुच्छेद 143 के तहत सर्वोच्च न्यायालय के परामर्शदात्री क्षेत्राधिकार (Advisory Jurisdiction) के संदर्भ में निम्नलिखित कथनों पर विचार कीजिए: A. राष्ट्रपति विधि या सार्वजनिक महत्व के किसी ऐसे तथ्य पर, जिस पर न्यायालय की राय प्राप्त करना समीचीन हो, सुप्रीम कोर्ट से सलाह मांग सकते हैं। B. संविधान-पूर्व की संधियों, समझौतों या सनदों से उत्पन्न विवादों पर भी राष्ट्रपति सर्वोच्च न्यायालय से परामर्श मांग सकते हैं। C. सर्वोच्च न्यायालय राष्ट्रपति द्वारा पूछे गए किसी भी प्रश्न पर अपनी सलाह देने के लिए विधिक रूप से बाध्य नहीं है (वह परामर्श देने से इनकार कर सकता है)। D. सर्वोच्च न्यायालय द्वारा दी गई सलाह राष्ट्रपति (केंद्र सरकार) के लिए एक बाध्यकारी न्यायिक आदेश की तरह लागू होती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71198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210/260</a:t>
            </a:r>
          </a:p>
        </p:txBody>
      </p:sp>
    </p:spTree>
  </p:cSld>
  <p:clrMapOvr>
    <a:masterClrMapping/>
  </p:clrMapOvr>
</p:sld>
</file>

<file path=ppt/slides/slide42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Q.210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अनुच्छेद 143 के दो खंड हैं: अनुच्छेद 143(1) के तहत सार्वजनिक महत्व के कानूनी प्रश्न पर राष्ट्रपति राय मांगते हैं; इस मामले में सुप्रीम कोर्ट राय देने से इनकार भी कर सकता है (जैसे 1993 में अयोध्या संदर्भ में सुप्रीम कोर्ट ने यह कहकर राय देने से मना कर दिया था कि यह सवाल ऐतिहासिक है कि मंदिर तोड़कर मस्जिद बनी थी या नहीं)। अनुच्छेद 143(2) के तहत संविधान-पूर्व की संधियों पर कोर्ट को सलाह देना बाध्यकारी है। किंतु सबसे महत्वपूर्ण सिद्धांत यह है कि सुप्रीम कोर्ट द्वारा दी गई राय केवल एक 'परामर्श' (Opinion) होती है, यह कोई न्यायिक निर्णय या डिक्री नहीं है, अतः राष्ट्रपति या सरकार इसे मानने के लिए विधिक रूप से बाध्य नहीं होती है, इसलिए कथन D असत्य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71198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210/260</a:t>
            </a:r>
          </a:p>
        </p:txBody>
      </p:sp>
    </p:spTree>
  </p:cSld>
  <p:clrMapOvr>
    <a:masterClrMapping/>
  </p:clrMapOvr>
</p:sld>
</file>

<file path=ppt/slides/slide42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211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वर्ष 1967 के चौथे आम चुनाव को भारतीय राजनीति में 'राजनीतिक भूकंप' (Political Earthquake) कहे जाने के कारणों के संदर्भ में निम्नलिखित कथनों पर विचार कीजिए: A. आजादी के बाद पहली बार कांग्रेस को राष्ट्रीय स्तर पर लोकसभा में बहुत कम बहुमत (283 सीटें) मिला और उसका मत प्रतिशत तेजी से गिरा। B. देश के 9 प्रमुख राज्यों (पंजाब, हरियाणा, उत्तर प्रदेश, मध्य प्रदेश, बिहार, पश्चिम बंगाल, उड़ीसा, मद्रास और केरल) में कांग्रेस सत्ता से बाहर हो गई। C. मद्रास (तमिलनाडु) में हिंदी-विरोधी आंदोलन के बाद द्रविड़ मुनेत्र कड़गम (DMK) ने पूर्ण बहुमत प्राप्त कर पहली गैर-कांग्रेसी सरकार बनाई। D. 1967 के चुनावों के बाद देश में बहुदलीय लोकतंत्र पूरी तरह समाप्त हो गया और राष्ट्रपति ने संसद को स्थायी रूप से भंग कर दिया।</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75823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211/260</a:t>
            </a:r>
          </a:p>
        </p:txBody>
      </p:sp>
    </p:spTree>
  </p:cSld>
  <p:clrMapOvr>
    <a:masterClrMapping/>
  </p:clrMapOvr>
</p:sld>
</file>

<file path=ppt/slides/slide42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Q.211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1967 का चुनाव भारतीय लोकतंत्र का पहला बड़ा वाटरशेड था। जवाहरलाल नेहरू के बिना हुए इस पहले आम चुनाव में महंगाई, खाद्यान्न संकट और रुपये के अवमूल्यन से जनता में गहरा असंतोष था। डॉ. राममनोहर लोहिया के 'गैर-कांग्रेसवाद' के नारे के तहत विपक्षी दल एकजुट हुए। कांग्रेस केंद्र में जैसे-तैसे बची किंतु उत्तर से दक्षिण तक 9 राज्यों में उसकी सरकारें गिर गईं। तमिलनाडु में अन्नादुरई के नेतृत्व में DMK ने अपने दम पर सरकार बनाई, जबकि उत्तर भारत में संयुक्त विधायक दल (SVD) की गठबंधन सरकारें बनीं। इस चुनाव ने साबित किया कि कांग्रेस अजेय नहीं है और भारतीय मतदाता जागरूक है; लोकतंत्र समाप्त नहीं हुआ बल्कि और अधिक प्रतिस्पर्धी व जीवंत बना, अतः कथन D असत्य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75823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211/260</a:t>
            </a:r>
          </a:p>
        </p:txBody>
      </p:sp>
    </p:spTree>
  </p:cSld>
  <p:clrMapOvr>
    <a:masterClrMapping/>
  </p:clrMapOvr>
</p:sld>
</file>

<file path=ppt/slides/slide42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212</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1967 के चुनावों के बाद भारतीय राजनीति में बहुचर्चित हुए मुहावरे 'आया राम, गया राम' (Aaya Ram, Gaya Ram) की उत्पत्ति हरियाणा के किस विधायक द्वारा एक ही पखवाड़े में तीन बार दल बदलने की घटना से हुई थी?</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बंसी लाल</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गया लाल</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भजन लाल</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देवी लाल</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80447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212/260</a:t>
            </a:r>
          </a:p>
        </p:txBody>
      </p:sp>
    </p:spTree>
  </p:cSld>
  <p:clrMapOvr>
    <a:masterClrMapping/>
  </p:clrMapOvr>
</p:sld>
</file>

<file path=ppt/slides/slide42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Q.212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गया लाल</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बंसी लाल</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भजन लाल</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देवी लाल</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1967 के चुनाव के बाद हरियाणा के एक निर्दलीय/विधायक 'गया लाल' (Gaya Lal) ने 15 दिनों के भीतर तीन बार अपनी निष्ठा बदलते हुए कांग्रेस से यूनाइटेड फ्रंट और पुनः यूनाइटेड फ्रंट से कांग्रेस में पलटी मारी। जब वे कांग्रेस में वापस लौटे तो कांग्रेस नेता राव बीरेंद्र सिंह ने चंडीगढ़ में प्रेस कॉन्फ्रेंस में कहा-"गया राम अब आया राम हैं।" इसके बाद से भारतीय राजनीति में निजी स्वार्थ, पैसे और मंत्री पद के लालच में दल-बदल करने वाले अवसरवादी नेताओं के लिए 'आया राम, गया राम' का मुहावरा राजनीतिक शब्दावली का स्थायी हिस्सा बन गया, जिसे रोकने के लिए आगे चलकर 1985 में 52वां संविधान संशोधन कानून बनाया गया।</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80447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212/260</a:t>
            </a:r>
          </a:p>
        </p:txBody>
      </p:sp>
    </p:spTree>
  </p:cSld>
  <p:clrMapOvr>
    <a:masterClrMapping/>
  </p:clrMapOvr>
</p:sld>
</file>

<file path=ppt/slides/slide42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213</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अगस्त 1971 में हस्ताक्षरित 20-वर्षीय 'भारत-सोवियत शांति, मैत्री और सहयोग संधि' (Indo-Soviet Treaty of Friendship) के संदर्भ में निम्नलिखित कथनों पर विचार कीजिए: A. यह संधि पूर्वी पाकिस्तान (वर्तमान बांग्लादेश) के संकट के समय अमेरिका-चीन-पाकिस्तान के उभरते कूटनीतिक त्रिकोण के प्रत्युत्तर में की गई थी। B. इस संधि की धारा 9 में यह प्रावधान था कि किसी तीसरे देश द्वारा किसी पक्ष पर हमला होने की स्थिति में दोनों देश आपसी परामर्श से प्रभावी कदम उठाएंगे। C. इस संधि ने दिसंबर 1971 के भारत-पाक युद्ध में भारत को संयुक्त राष्ट्र और अंतरराष्ट्रीय मंचों पर सोवियत वीटो (Veto) का ठोस रणनीतिक संबल प्रदान किया। D. इस संधि पर हस्ताक्षर करने के तुरंत बाद भारत ने अपनी गुटनिरपेक्षता की नीति को औपचारिक रूप से समाप्त कर सोवियत संघ के 'वारसा पैक्ट' की सदस्यता ले ली थी।</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85072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213/260</a:t>
            </a:r>
          </a:p>
        </p:txBody>
      </p:sp>
    </p:spTree>
  </p:cSld>
  <p:clrMapOvr>
    <a:masterClrMapping/>
  </p:clrMapOvr>
</p:sld>
</file>

<file path=ppt/slides/slide42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Q.213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1971 में जब अमेरिकी राष्ट्रपति निक्सन और उनके राष्ट्रीय सुरक्षा सलाहकार हेनरी किसिंजर ने पाकिस्तान की मदद से गुप्त रूप से बीजिंग की यात्रा कर अमेरिका-चीन धुरी बनाई, तो भारत पर भारी भू-राजनीतिक दबाव था। 9 अगस्त 1971 को विदेश मंत्री स्वर्ण सिंह और सोवियत विदेश मंत्री आंद्रेई ग्रोमिको ने नई दिल्ली में 20-वर्षीय ऐतिहासिक मैत्री संधि की। इसने 1971 के युद्ध के समय अमेरिकी युद्धपोत 'टास्क फोर्स 74' (USS Enterprise) के दबाव को सोवियत नौसेना की उपस्थिति से निष्प्रभावी किया। भारत ने कभी गुटनिरपेक्षता का त्याग नहीं किया और न ही वह किसी सैन्य गुट (वारसा पैक्ट) में शामिल हुआ; भारत ने स्पष्ट किया कि यह संधि आक्रमण के विरुद्ध एक रक्षात्मक कूटनीति थी, अतः कथन D असत्य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85072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213/260</a:t>
            </a:r>
          </a:p>
        </p:txBody>
      </p:sp>
    </p:spTree>
  </p:cSld>
  <p:clrMapOvr>
    <a:masterClrMapping/>
  </p:clrMapOvr>
</p:sld>
</file>

<file path=ppt/slides/slide42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214</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16 दिसंबर 1971 को ढाका में पाकिस्तानी सेना के पूर्वी कमान के कमांडर लेफ्टिनेंट जनरल ए.ए.के. नियाजी ने भारतीय सेना के किस पूर्वी कमान कमांडर के समक्ष 93,000 सैनिकों के साथ ऐतिहासिक आत्मसमर्पण पत्र पर हस्ताक्षर किए थे?</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फील्ड मार्शल सैम मानेकशॉ</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लेफ्टिनेंट जनरल जगजीत सिंह अरोड़ा</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जनरल जे.एन. चौधरी</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मेजर जनरल जे.एफ.आर. जैकब</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89697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214/260</a:t>
            </a:r>
          </a:p>
        </p:txBody>
      </p:sp>
    </p:spTree>
  </p:cSld>
  <p:clrMapOvr>
    <a:masterClrMapping/>
  </p:clrMapOvr>
</p:sld>
</file>

<file path=ppt/slides/slide42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Q.214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लेफ्टिनेंट जनरल जगजीत सिंह अरोड़ा</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फील्ड मार्शल सैम मानेकशॉ</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जनरल जे.एन. चौधरी</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मेजर जनरल जे.एफ.आर. जैकब</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दिसंबर 1971 के 13 दिनों के भारत-पाक युद्ध में भारतीय सशस्त्र बलों और बांग्लादेश की मुक्ति वाहिनी ने अदम्य साहस का परिचय देते हुए ढाका को चारों तरफ से घेर लिया। 16 दिसंबर 1971 को ढाका के ऐतिहासिक रेसकोर्स मैदान में लेफ्टिनेंट जनरल जगजीत सिंह अरोड़ा (जनरल ऑफिसर कमांडिंग-इन-चीफ, ईस्टर्न कमांड) के सम्मुख पाकिस्तानी सेना के प्रमुख जनरल नियाजी ने विश्व इतिहास में द्वितीय विश्व युद्ध के बाद के सबसे बड़े सार्वजनिक सैन्य आत्मसमर्पण (Instrument of Surrender) पर हस्ताक्षर किए। इसके साथ ही स्वतंत्र 'बांग्लादेश' का जन्म हुआ और भारत ने दक्षिण एशिया के नक्शे को हमेशा के लिए बदल दिया।</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89697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214/260</a:t>
            </a:r>
          </a:p>
        </p:txBody>
      </p:sp>
    </p:spTree>
  </p:cSld>
  <p:clrMapOvr>
    <a:masterClrMapping/>
  </p:clrMapOvr>
</p:sld>
</file>

<file path=ppt/slides/slide42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215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आपातकाल (1975-1977) के दौरान नागरिकों के प्रतिरोध और प्रेस की भूमिका के संदर्भ में निम्नलिखित कथनों पर विचार कीजिए: A. सरकार ने अखबारों पर पूर्व-सेंसरशिप (Pre-censorship) लगा दी थी जिसके तहत समाचार छपने से पहले सरकारी सेंसर अधिकारी की अनुमति अनिवार्य थी। B. 'द इंडियन एक्सप्रेस' और 'द स्टेट्समैन' जैसे साहसी अखबारों ने सरकारी सेंसरशिप का विरोध करने के लिए अपने संपादकीय पन्ने को पूरी तरह खाली (Blank Space) छोड़ दिया था। C. 'सेमिनार' और 'मेनस्ट्रीम' जैसी गंभीर बौद्धिक पत्रिकाओं ने सरकारी दबाव के आगे झुकने के बजाय अपना प्रकाशन ही बंद करने का फैसला किया। D. आपातकाल के दौरान देश के सभी विपक्षी नेताओं ने बिना किसी विरोध के जेलों के भीतर से ही सर्वसम्मति से आपातकाल का लिखित समर्थन किया था।</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94322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215/260</a:t>
            </a:r>
          </a:p>
        </p:txBody>
      </p:sp>
    </p:spTree>
  </p:cSld>
  <p:clrMapOvr>
    <a:masterClrMapping/>
  </p:clrMapOvr>
</p:sld>
</file>

<file path=ppt/slides/slide43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Q.215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25 जून 1975 की रात दिल्ली के बहादुर शाह जफर मार्ग स्थित प्रमुख अखबारों की बिजली काट दी गई थी ताकि अगली सुबह अखबार न छप सकें। प्रेस इंफॉर्मेशन ब्यूरो में सेंसरशिप कार्यालय बनाए गए। साहसी पत्रकारों (जैसे कुलदीप नायर, सी.आर. ईरानी) ने विरोध दर्ज कराया; खाली संपादकीय विरोध का प्रतीक बने। भूमिगत प्रतिरोध में जॉर्ज फर्नांडिस (बड़ौदा डायनामाइट केस), नानाजी देशमुख और सुब्रमण्यम स्वामी ने जनता को संगठित किया। लालकृष्ण आडवाणी ने बाद में मीडिया के समर्पण पर कहा था-"जब आपसे झुकने के लिए कहा गया, तो आप रेंगने लगे।" विपक्षी नेताओं ने जेलों के भीतर भीषण यातनाएं सहीं किंतु तानाशाही के सामने कभी घुटने नहीं टेके, अतः कथन D असत्य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94322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215/260</a:t>
            </a:r>
          </a:p>
        </p:txBody>
      </p:sp>
    </p:spTree>
  </p:cSld>
  <p:clrMapOvr>
    <a:masterClrMapping/>
  </p:clrMapOvr>
</p:sld>
</file>

<file path=ppt/slides/slide43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216</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42वें संविधान संशोधन अधिनियम, 1976 द्वारा संविधान में किए गए व्यापक परिवर्तनों के संदर्भ में निम्नलिखित कथनों पर विचार कीजिए: A. इसे व्यापकता और गहरे प्रभाव के कारण भारतीय संविधान का 'लघु संविधान' (Mini-Constitution) कहा जाता है। B. इसने लोकसभा और राज्य विधानसभाओं के कार्यकाल को 5 वर्ष से बढ़ाकर 6 वर्ष कर दिया था। C. इसने अनुच्छेद 74(1) में संशोधन कर राष्ट्रपति के लिए केंद्रीय कैबिनेट की सलाह को मानना पूरी तरह बाध्यकारी बना दिया। D. इसने न्यायपालिका की न्यायिक समीक्षा की शक्ति का अभूतपूर्व विस्तार कर दिया और संसद के कानूनों को अदालत के पूर्ण नियंत्रण में ला दिया।</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98946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216/260</a:t>
            </a:r>
          </a:p>
        </p:txBody>
      </p:sp>
    </p:spTree>
  </p:cSld>
  <p:clrMapOvr>
    <a:masterClrMapping/>
  </p:clrMapOvr>
</p:sld>
</file>

<file path=ppt/slides/slide43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Q.216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स्वर्ण सिंह समिति की सिफारिशों पर आपातकाल के दौरान पारित 42वें संशोधन ने संविधान का हुलिया बदलने का प्रयास किया था। इसने प्रस्तावना में संशोधन किया, भाग-4A (मूल कर्तव्य) जोड़े, केंद्र को राज्यों में सेना भेजने का अधिकार दिया और लोकसभा का कार्यकाल 6 वर्ष किया। किंतु सबसे खतरनाक प्रहार न्यायपालिका पर किया गया था; अनुच्छेद 368 में खंड (4) और (5) जोड़कर यह घोषित किया गया कि संसद द्वारा किए गए संविधान संशोधनों को किसी भी अदालत में किसी भी आधार पर चुनौती नहीं दी जा सकती (यानी न्यायिक समीक्षा को लगभग समाप्त करने का प्रयास हुआ, न कि विस्तार), अतः कथन D असत्य है। 44वें संशोधन 1978 ने इनमें से अधिकांश अलोकतांत्रिक धाराओं को पलट दिया।</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98946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216/260</a:t>
            </a:r>
          </a:p>
        </p:txBody>
      </p:sp>
    </p:spTree>
  </p:cSld>
  <p:clrMapOvr>
    <a:masterClrMapping/>
  </p:clrMapOvr>
</p:sld>
</file>

<file path=ppt/slides/slide43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217</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वर्ष 1977 से 1979 तक जनता पार्टी सरकार के पतन और आंतरिक अंतर्विरोधों के संदर्भ में निम्नलिखित कथनों पर विचार कीजिए: A. जनता पार्टी सरकार में आंतरिक कलह और प्रधानमंत्री पद की महत्वाकांक्षा को लेकर मोरारजी देसाई, चरण सिंह और जगजीवन राम के बीच तीखा संघर्ष था। B. भारतीय जनसंघ के नेताओं की 'राष्ट्रीय स्वयंसेवक संघ' (RSS) के साथ 'दोहरी सदस्यता' (Dual Membership) का मुद्दा जनता पार्टी के टूटने का मुख्य कारण बना। C. जुलाई 1979 में मोरारजी देसाई के इस्तीफे के बाद कांग्रेस के बाहरी समर्थन से चौधरी चरण सिंह प्रधानमंत्री बने। D. चौधरी चरण सिंह ने संसद के पटल पर पूरे 5 वर्ष तक प्रचंड बहुमत का आनंद लिया और एक भी दिन सरकार अल्पमत में नहीं आई।</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03571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217/260</a:t>
            </a:r>
          </a:p>
        </p:txBody>
      </p:sp>
    </p:spTree>
  </p:cSld>
  <p:clrMapOvr>
    <a:masterClrMapping/>
  </p:clrMapOvr>
</p:sld>
</file>

<file path=ppt/slides/slide43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Q.217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जनता पार्टी कई परस्पर विरोधी विचारधाराओं (समाजवादी, जनसंघी, दक्षिणपंथी, लोकदल) का बेमेल चुनावी गठबंधन थी जो केवल इंदिरा गांधी के विरोध पर टिकी थी। सत्ता में आते ही मधु लिमये जैसे समाजवादियों ने मांग उठाई कि वाजपेयी और आडवाणी को या तो जनसंघ/आरएसएस छोड़ना होगा या सरकार। मतभेदों के चलते मोरारजी सरकार 28 माह में गिर गई। चौधरी चरण सिंह कांग्रेस (आई) के समर्थन से प्रधानमंत्री बने, किंतु जब वे संसद में विश्वास मत हासिल करने वाले थे, उससे ठीक पहले इंदिरा गांधी ने समर्थन वापस ले लिया। इसके परिणामस्वरूप चौधरी चरण सिंह ने मात्र 4 माह बाद इस्तीफा दे दिया और वे स्वतंत्र भारत के एकमात्र ऐसे प्रधानमंत्री बने जिन्होंने अपने पूरे कार्यकाल में संसद का एक भी दिन सामना नहीं किया, अतः कथन D असत्य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03571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217/260</a:t>
            </a:r>
          </a:p>
        </p:txBody>
      </p:sp>
    </p:spTree>
  </p:cSld>
  <p:clrMapOvr>
    <a:masterClrMapping/>
  </p:clrMapOvr>
</p:sld>
</file>

<file path=ppt/slides/slide43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218</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31 अक्टूबर 1984 को प्रधानमंत्री इंदिरा गांधी की उनके सिख अंगरक्षकों (सतवंत सिंह और बेअंत सिंह) द्वारा हत्या किए जाने के तुरंत बाद दिल्ली और देश के अन्य भागों में भड़के सिख-विरोधी दंगों की जांच के लिए कौन-सा प्रमुख न्यायिक आयोग गठित किया गया था?</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शाह आयोग</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नानावती आयोग (Justice Nanavati Commission)</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लिब्राहन आयोग</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ठक्कर आयोग</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08196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218/260</a:t>
            </a:r>
          </a:p>
        </p:txBody>
      </p:sp>
    </p:spTree>
  </p:cSld>
  <p:clrMapOvr>
    <a:masterClrMapping/>
  </p:clrMapOvr>
</p:sld>
</file>

<file path=ppt/slides/slide43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Q.218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नानावती आयोग (Justice Nanavati Commission)</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शाह आयोग</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लिब्राहन आयोग</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ठक्कर आयोग</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ऑपरेशन ब्लू स्टार के प्रतिशोध में 31 अक्टूबर 1984 को प्रधानमंत्री इंदिरा गांधी की नृशंस हत्या कर दी गई। इसके तुरंत बाद दिल्ली, कानपुर और अन्य शहरों में योजनाबद्ध तरीके से निर्दोष सिखों का कत्लेआम किया गया जिसमें 3000 से अधिक सिख नागरिक मारे गए। लंबे समय तक न्याय न मिलने और पुलिस की मिलीभगत के आरोपों के बाद वर्ष 2000 में वाजपेयी सरकार ने सर्वोच्च न्यायालय के सेवानिवृत्त न्यायाधीश जी.टी. नानावती की अध्यक्षता में 'नानावती आयोग' का गठन किया। आयोग ने 2005 में अपनी रिपोर्ट सौंपी जिसमें तत्कालीन पुलिस अधिकारियों और कई प्रमुख कांग्रेसी नेताओं (जैसे जगदीश टाइटलर, सज्जन कुमार) की संदिग्ध और भड़काऊ भूमिका की कड़ी निंदा की गई।</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08196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218/260</a:t>
            </a:r>
          </a:p>
        </p:txBody>
      </p:sp>
    </p:spTree>
  </p:cSld>
  <p:clrMapOvr>
    <a:masterClrMapping/>
  </p:clrMapOvr>
</p:sld>
</file>

<file path=ppt/slides/slide43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219</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दिसंबर 1984 के आठवें लोकसभा आम चुनाव और राजीव गांधी के प्रधानमंत्री काल के संदर्भ में निम्नलिखित कथनों पर विचार कीजिए: A. इंदिरा गांधी की शहादत से उपजी राष्ट्रव्यापी सहानुभूति की लहर के कारण कांग्रेस ने 543 में से 415 सीटें जीतकर स्वतंत्र भारत के इतिहास का सबसे बड़ा बहुमत प्राप्त किया। B. राजीव गांधी ने देश में दूरसंचार, कंप्यूटर क्रांति और सूचना प्रौद्योगिकी (IT) के आधुनिकीकरण की नींव रखी। C. 1987 में भारत सरकार ने श्रीलंका सरकार के अनुरोध पर सिंहली-तमिल गृहयुद्ध को शांत कराने के लिए 'भारतीय शांति सेना' (IPKF) भेजी थी। D. लिट्टे (LTTE) ने भारतीय शांति सेना का खुले दिल से स्वागत किया और अपने सभी आधुनिक हथियार तुरंत भारतीय सेना को सौंप दिए थे।</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12821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219/260</a:t>
            </a:r>
          </a:p>
        </p:txBody>
      </p:sp>
    </p:spTree>
  </p:cSld>
  <p:clrMapOvr>
    <a:masterClrMapping/>
  </p:clrMapOvr>
</p:sld>
</file>

<file path=ppt/slides/slide43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Q.219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1984 के चुनावों में राजीव गांधी के नेतृत्व में कांग्रेस ने 48% से अधिक वोट और 415 सीटें जीतीं (नेहरू के दौर में भी ऐसा प्रचंड बहुमत कभी नहीं मिला था)। राजीव गांधी ने सैम पित्रोदा के साथ मिलकर सी-डॉट और टेलीकॉम क्रांति शुरू की। जुलाई 1987 के भारत-श्रीलंका समझौते (राजीव-जयवर्धने समझौता) के तहत श्रीलंका के तमिल बहुल जाफना में शांति बनाए रखने और तमिलों को स्वायत्तता दिलाने के लिए 'ऑपरेशन पवन' के तहत भारतीय शांति सेना (IPKF) भेजी गई। किंतु वेलुपिल्लई प्रभाकरन के नेतृत्व वाले आतंकी संगठन लिट्टे ने समझौते को धोखा माना और उलटे भारतीय सेना पर ही भीषण गुरिल्ला हमले शुरू कर दिए, जिसमें 1100 से अधिक भारतीय जवान शहीद हुए। 1989 में वी.पी. सिंह सरकार ने IPKF को वापस बुला लिया, अतः कथन D असत्य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12821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219/260</a:t>
            </a:r>
          </a:p>
        </p:txBody>
      </p:sp>
    </p:spTree>
  </p:cSld>
  <p:clrMapOvr>
    <a:masterClrMapping/>
  </p:clrMapOvr>
</p:sld>
</file>

<file path=ppt/slides/slide43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220</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21 मई 1991 को तमिलनाडु के श्रीपेरंबुदूर में चुनावी रैली के दौरान पूर्व प्रधानमंत्री राजीव गांधी की एक आत्मघाती महिला हमलावर (धनु) द्वारा बम विस्फोट कर किस चरमपंथी संगठन ने नृशंस हत्या कर दी थी?</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उल्फा (ULFA)</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लिट्टे (LTTE - Liberation Tigers of Tamil Eelam)</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बब्बर खालसा</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पीपुल्स वॉर ग्रुप (PWG)</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17445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220/260</a:t>
            </a:r>
          </a:p>
        </p:txBody>
      </p:sp>
    </p:spTree>
  </p:cSld>
  <p:clrMapOvr>
    <a:masterClrMapping/>
  </p:clrMapOvr>
</p:sld>
</file>

<file path=ppt/slides/slide44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Q.220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लिट्टे (LTTE - Liberation Tigers of Tamil Eelam)</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उल्फा (ULFA)</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बब्बर खालसा</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पीपुल्स वॉर ग्रुप (PWG)</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21 मई 1991 की रात लोकसभा चुनाव प्रचार के दौरान तमिलनाडु के चेन्नई के पास श्रीपेरंबुदूर में श्रीलंका के तमिल अलगाववादी संगठन 'लिट्टे' (LTTE) के आत्मघाती दस्ते की सदस्य 'धनु' (थेनमोझी राजरत्नम) ने राजीव गांधी के पैर छूने के बहाने अपनी कमर में बंधे आरडीएक्स बेल्ट बम में विस्फोट कर दिया। इस वीभत्स धमाके में राजीव गांधी सहित 16 निर्दोष लोग मारे गए। लिट्टे का मुख्य षड्यंत्र यह था कि यदि राजीव गांधी पुनः सत्ता में आए, तो वे लिट्टे के खिलाफ पुनः कठोर सैन्य कार्रवाई कर सकते हैं। इस घटना के बाद भारत में लिट्टे को आतंकवादी संगठन घोषित कर दिया गया और जैन आयोग तथा वर्मा आयोग ने सुरक्षा चूक और षड्यंत्र की जांच की।</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17445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220/260</a:t>
            </a:r>
          </a:p>
        </p:txBody>
      </p:sp>
    </p:spTree>
  </p:cSld>
  <p:clrMapOvr>
    <a:masterClrMapping/>
  </p:clrMapOvr>
</p:sld>
</file>

<file path=ppt/slides/slide44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221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1980 के दशक के उत्तरार्ध में 'अयोध्या विवाद' और भारतीय राजनीति पर इसके प्रभावों के संदर्भ में निम्नलिखित कथनों पर विचार कीजिए: A. फरवरी 1986 में फैजाबाद जिला न्यायालय के आदेश पर ऐतिहासिक बाबरी मस्जिद/विवादित ढांचे के ताले हिंदू श्रद्धालुओं की पूजा-अर्चना के लिए खोल दिए गए थे। B. भारतीय जनता पार्टी (BJP) ने राम जन्मभूमि आंदोलन को राष्ट्रीय राजनीतिक मुद्दा बनाया और सितंबर 1990 में लालकृष्ण आडवाणी ने सोमनाथ से अयोध्या तक ऐतिहासिक 'रथ यात्रा' निकाली। C. 6 दिसंबर 1992 को देश भर से जुटे हजारों कारसेवकों द्वारा अयोध्या में विवादित ढांचे (बाबरी मस्जिद) को ढहा दिया गया। D. विवादित ढांचा ढहाए जाने के बाद केंद्र की नरसिम्हा राव सरकार ने उत्तर प्रदेश के साथ-साथ राजस्थान, मध्य प्रदेश और हिमाचल प्रदेश की भाजपा सरकारों को तुरंत बर्खास्त कर दिया था।</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22070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221/260</a:t>
            </a:r>
          </a:p>
        </p:txBody>
      </p:sp>
    </p:spTree>
  </p:cSld>
  <p:clrMapOvr>
    <a:masterClrMapping/>
  </p:clrMapOvr>
</p:sld>
</file>

<file path=ppt/slides/slide44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Q.221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अयोध्या का विवाद 1986 में ताले खुलने के बाद अचानक राष्ट्रीय राजनीति का केंद्रबिंदु बन गया। वी.पी. सिंह सरकार द्वारा मंडल आयोग लागू करने के बाद भाजपा ने 'कमंडल' की राजनीति से हिंदू एकजुटता का अभियान तेज किया। अक्टूबर 1990 में बिहार के समस्तीपुर में तत्कालीन मुख्यमंत्री लालू प्रसाद यादव ने आडवाणी की रथयात्रा रोककर उन्हें गिरफ्तार कर लिया, जिसके बाद भाजपा ने वी.पी. सिंह सरकार से समर्थन वापस ले लिया और केंद्र सरकार गिर गई। 6 दिसंबर 1992 की घटना के बाद देश भर में भीषण सांप्रदायिक दंगे भड़के। कल्याण सिंह ने इस्तीफा दिया और केंद्र ने उत्तर प्रदेश में राष्ट्रपति शासन लगाया। कुछ ही दिनों बाद धर्मनिरपेक्षता के उल्लंघन के आधार पर कोर्ट के फैसले (एस.आर. बोम्मई वाद) के तहत शेष 3 भाजपा सरकारों (मध्य प्रदेश, राजस्थान, हिमाचल) को भी बर्खास्त कर दिया गया। अतः सभी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22070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221/260</a:t>
            </a:r>
          </a:p>
        </p:txBody>
      </p:sp>
    </p:spTree>
  </p:cSld>
  <p:clrMapOvr>
    <a:masterClrMapping/>
  </p:clrMapOvr>
</p:sld>
</file>

<file path=ppt/slides/slide44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222</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6 दिसंबर 1992 को अयोध्या में बाबरी मस्जिद विध्वंस की परिस्थितियों, सुरक्षा चूकों और राजनीतिक षड्यंत्र की जांच के लिए केंद्र सरकार द्वारा किस न्यायिक जांच आयोग का गठन किया गया था, जिसने लगभग 17 वर्षों बाद अपनी रिपोर्ट सौंपी?</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नानावती आयोग</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लिब्राहन आयोग (Justice M.S. Liberhan Commission)</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शाह आयोग</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सरकारिया आयोग</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26695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222/260</a:t>
            </a:r>
          </a:p>
        </p:txBody>
      </p:sp>
    </p:spTree>
  </p:cSld>
  <p:clrMapOvr>
    <a:masterClrMapping/>
  </p:clrMapOvr>
</p:sld>
</file>

<file path=ppt/slides/slide44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Q.222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लिब्राहन आयोग (Justice M.S. Liberhan Commission)</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नानावती आयोग</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शाह आयोग</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सरकारिया आयोग</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बाबरी मस्जिद गिराए जाने के मात्र 10 दिन बाद 16 दिसंबर 1992 को नरसिम्हा राव सरकार ने पंजाब व हरियाणा उच्च न्यायालय के तत्कालीन मुख्य न्यायाधीश न्यायमूर्ति मनमोहन सिंह लिब्राहन की अध्यक्षता में 'लिब्राहन आयोग' का गठन किया। इस आयोग को मूलतः 3 माह का समय दिया गया था, किंतु 48 बार कार्यकाल विस्तार मिलने के बाद इसने 17 वर्षों की लंबी जांच के उपरांत जून 2009 में अपनी अंतिम रिपोर्ट मनमोहन सिंह सरकार को सौंपी। यह स्वतंत्र भारत के इतिहास का सबसे लंबा चलने वाला जांच आयोग था। रिपोर्ट में कल्याण सिंह, लालकृष्ण आडवाणी, मुरली मनोहर जोशी, उमा भारती और संघ परिवार के संगठनों को विध्वंस के लिए सुनियोजित रूप से उत्तरदायी ठहराया गया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26695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222/260</a:t>
            </a:r>
          </a:p>
        </p:txBody>
      </p:sp>
    </p:spTree>
  </p:cSld>
  <p:clrMapOvr>
    <a:masterClrMapping/>
  </p:clrMapOvr>
</p:sld>
</file>

<file path=ppt/slides/slide44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223</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जून 1991 में पी.वी. नरसिम्हा राव के नेतृत्व वाली कांग्रेस सरकार द्वारा शुरू की गई 'नई आर्थिक नीति' (New Economic Policy - NEP) के संदर्भ में निम्नलिखित कथनों पर विचार कीजिए: A. भारत को 1991 में अपने इतिहास के सबसे गंभीर 'भुगतान संतुलन संकट' (Balance of Payments Crisis) और विदेशी मुद्रा भंडार के रसातल में जाने का सामना करना पड़ा था। B. तत्कालीन वित्त मंत्री डॉ. मनमोहन सिंह ने उदारीकरण (Liberalisation), निजीकरण (Privatisation) और वैश्वीकरण (Globalisation - LPG) की ऐतिहासिक नीतियों की घोषणा की। C. इस संकट से निपटने के लिए भारत सरकार को बैंक ऑफ इंग्लैंड और स्विट्जरलैंड के बैंकों में अपना सोना गिरवी रखना पड़ा था। D. 1991 के आर्थिक सुधारों के बाद भारत ने विदेशी पूंजी निवेश और बहुराष्ट्रीय कंपनियों के भारत में प्रवेश पर आजीवन पूर्ण प्रतिबंध लगा दिया था।</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31320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223/260</a:t>
            </a:r>
          </a:p>
        </p:txBody>
      </p:sp>
    </p:spTree>
  </p:cSld>
  <p:clrMapOvr>
    <a:masterClrMapping/>
  </p:clrMapOvr>
</p:sld>
</file>

<file path=ppt/slides/slide44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Q.223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1991 में खाड़ी युद्ध के कारण तेल की कीमतें आसमान छू रही थीं और भारत के पास मात्र दो सप्ताह के आयात का विदेशी मुद्रा भंडार (लगभग 1 अरब डॉलर) बचा था। चंद्रशेखर सरकार को सोना हवाई जहाज से लंदन भेजकर गिरवी रखना पड़ा था। जून 1991 में प्रधानमंत्री नरसिम्हा राव और वित्त मंत्री मनमोहन सिंह ने क्रांतिकारी कदम उठाते हुए 1951 से चले आ रहे 'लाइसेंस-परमिट-कोटा राज' को समाप्त किया। व्यापार उदारीकरण, रुपये का दो चरणों में अवमूल्यन, आयात शुल्क में भारी कटौती और प्रत्यक्ष विदेशी निवेश (FDI) के दरवाजे खोले गए (प्रतिबंध नहीं लगाया गया, बल्कि खोला गया), अतः कथन D असत्य है। इन सुधारों ने भारतीय अर्थव्यवस्था को दुनिया की सबसे तेज गति से बढ़ने वाली अर्थव्यवस्थाओं की कतार में ला खड़ा किया।</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31320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223/260</a:t>
            </a:r>
          </a:p>
        </p:txBody>
      </p:sp>
    </p:spTree>
  </p:cSld>
  <p:clrMapOvr>
    <a:masterClrMapping/>
  </p:clrMapOvr>
</p:sld>
</file>

<file path=ppt/slides/slide44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224</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स्वतंत्र भारत में कांग्रेस पार्टी के सांगठनिक स्वरूप और ऐतिहासिक 'विचारधारात्मक गठबंधन' (Ideological Coalition) के संदर्भ में निम्नलिखित कथनों पर विचार कीजिए: A. आजादी से पूर्व और उसके बाद के शुरुआती दशकों में कांग्रेस केवल एक राजनीतिक दल नहीं, बल्कि विभिन्न परस्पर विरोधी विचारधाराओं का एक विशाल 'सतरंगी गठबंधन' थी। B. इसमें गरमपंथी, नरमपंथी, पूंजीपति, समाजवादी, दक्षिणपंथी, वामपंथी और किसान-मजदूर नेता सभी एक ही संगठन की छतरी के नीचे समाहित थे। C. कांग्रेस के भीतर गुटबाजी (Factionalism) पार्टी की कमजोरी न बनकर उसकी मजबूती साबित हुई क्योंकि आंतरिक संतुलन से आम सहमति बन जाती थी। D. कांग्रेस पार्टी के सभी सदस्यों की विचारधारा, सामाजिक पृष्ठभूमि और आर्थिक नीतियां प्रारंभ से ही पूरी तरह एक समान और समरूप थीं।</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35944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224/260</a:t>
            </a:r>
          </a:p>
        </p:txBody>
      </p:sp>
    </p:spTree>
  </p:cSld>
  <p:clrMapOvr>
    <a:masterClrMapping/>
  </p:clrMapOvr>
</p:sld>
</file>

<file path=ppt/slides/slide44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Q.224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प्रख्यात राजनीति विज्ञानी रजनी कोठारी ने 1950 और 60 के दशक की भारतीय राजनीति को 'कांग्रेस प्रणाली' (The Congress System) कहा था। कांग्रेस का चरित्र एक जन-आंदोलन से उभरा था जहाँ हर वर्ग, जाति और धर्म के लोग शामिल थे। पार्टी के भीतर दक्षिणपंथी (जैसे पटेल, राजगोपालाचारी, मोरारजी) और समाजवादी (जैसे नेहरू, नरेंद्र देव, लोहिया) दोनों मौजूद थे। जब भी कोई मतभेद होता था, तो बाहर जाने के बजाय पार्टी के आंतरिक मंचों पर बहस कर मध्यमार्ग निकाल लिया जाता था। इसे 'सहमति की राजनीति' कहा जाता था। कांग्रेस कोई एक-रंगी या समरूप दल कभी नहीं थी, यह विविधताओं का महासंगम थी, अतः कथन D असत्य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35944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224/260</a:t>
            </a:r>
          </a:p>
        </p:txBody>
      </p:sp>
    </p:spTree>
  </p:cSld>
  <p:clrMapOvr>
    <a:masterClrMapping/>
  </p:clrMapOvr>
</p:sld>
</file>

<file path=ppt/slides/slide44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225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के स्वतंत्रता आंदोलन और स्वतंत्र भारत के प्रमुख नेताओं के विशिष्ट योगदानों का सही मिलान कीजिए: सूची-I (प्रमुख नेता): सूची-I: A. रफी अहमद किदवई B. राजकुमारी अमृत कौर C. जगजीवन राम D. सी.एन. अन्नादुरई सूची-II: 1. स्वतंत्र भारत के प्रथम मंत्रिमंडल में स्वास्थ्य मंत्री (AIIMS की स्थापना में योगदान) 2. प्रथम अंतरिम सरकार में संचार मंत्री एवं कुशल खाद्य संकट प्रबंधक 3. तमिलनाडु के पूर्व मुख्यमंत्री एवं द्रविड़ मुनेत्र कड़गम (DMK) के संस्थापक 4. स्वतंत्र भारत के पहले श्रम मंत्री, पूर्व उप-प्रधानमंत्री एवं दिग्गज दलित नेता</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C-1, D-3</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C-4, D-2</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40569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225/260</a:t>
            </a:r>
          </a:p>
        </p:txBody>
      </p:sp>
    </p:spTree>
  </p:cSld>
  <p:clrMapOvr>
    <a:masterClrMapping/>
  </p:clrMapOvr>
</p:sld>
</file>

<file path=ppt/slides/slide45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Q.225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B-1, C-4,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C-3,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B-4, C-1,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B-1, C-4, D-2</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रफी अहमद किदवई नेहरू मंत्रिमंडल के सबसे कुशल और धर्मनिरपेक्ष प्रशासक थे जिन्होंने संचार और खाद्य आपूर्ति में क्रांतिकारी सुधार किए। कपूरथला राजपरिवार से ताल्लुक रखने वाली राजकुमारी अमृत कौर भारत की पहली महिला कैबिनेट मंत्री (स्वास्थ्य मंत्री) बनीं और उन्होंने नई दिल्ली में 'अखिल भारतीय आयुर्विज्ञान संस्थान' (AIIMS) की स्थापना की। बाबू जगजीवन राम ने संविधान सभा के सदस्य, स्वतंत्र भारत के पहले श्रम मंत्री तथा 1971 के युद्ध के समय भारत के रक्षा मंत्री के रूप में ऐतिहासिक योगदान दिया और 1977 में उप-प्रधानमंत्री बने। सी.एन. अन्नादुरई (अन्ना) प्रख्यात लेखक और वक्ता थे जिन्होंने 1949 में DMK की स्थापना की और 1967 में मद्रास में पहली गैर-कांग्रेसी सरकार बनाई।</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40569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225/260</a:t>
            </a:r>
          </a:p>
        </p:txBody>
      </p:sp>
    </p:spTree>
  </p:cSld>
  <p:clrMapOvr>
    <a:masterClrMapping/>
  </p:clrMapOvr>
</p:sld>
</file>

<file path=ppt/slides/slide45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226</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स्वतंत्र भारत में 'योजना अवकाश' (Plan Holiday, 1966-1969) और आर्थिक संकट के संदर्भ में निम्नलिखित कथनों पर विचार कीजिए: A. तीसरी पंचवर्षीय योजना (1961-1966) के दौरान 1962 में चीन युद्ध, 1965 में पाकिस्तान युद्ध और लगातार दो वर्षों (1965-66) के भीषण सूखे का सामना करना पड़ा। B. वित्तीय संसाधनों की भारी कमी और मुद्रास्फीति के कारण चौथी पंचवर्षीय योजना को 1966 में समय पर लागू नहीं किया जा सका। C. वर्ष 1966 से 1969 के बीच सरकार ने तीन 'एक-वर्षीय वार्षिक योजनाएं' (Annual Plans) बनाकर विकास कार्यों को आगे बढ़ाया, जिसे 'योजना अवकाश' कहा जाता है। D. 1966 में भारत सरकार ने विदेशी मुद्रा संकट से निपटने के लिए अमेरिकी डॉलर की तुलना में भारतीय रुपये के मूल्य में 100% की वृद्धि (अधिवृद्धि) की थी।</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45194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226/260</a:t>
            </a:r>
          </a:p>
        </p:txBody>
      </p:sp>
    </p:spTree>
  </p:cSld>
  <p:clrMapOvr>
    <a:masterClrMapping/>
  </p:clrMapOvr>
</p:sld>
</file>

<file path=ppt/slides/slide45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Q.226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1960 का दशक भारत के लिए 'खतरनाक दशक' (Dangerous Decade) माना जाता है। दो युद्धों, नेहरू और शास्त्री के असामयिक निधन और भयंकर अकाल ने अर्थव्यवस्था की कमर तोड़ दी। खाद्यान्न उत्पादन में 8% की गिरावट आई और विदेशी सहायता रुक गई। इस कारण पांच वर्षीय योजनाओं की निरंतरता टूट गई और 1966-69 तक तीन वार्षिक योजनाएं बनानी पड़ीं जिसे 'प्लान हॉलिडे' कहा जाता है। जून 1966 में विश्व बैंक और अमेरिका के दबाव में इंदिरा गांधी सरकार ने भारतीय रुपये का भारी 'अवमूल्यन' (Devaluation) किया था (रुपये का मूल्य 1 डॉलर = 4.76 रुपये से घटाकर 1 डॉलर = 7.50 रुपये कर दिया गया था, यानी अवमूल्यन हुआ था न कि मूल्य वृद्धि), अतः कथन D असत्य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45194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226/260</a:t>
            </a:r>
          </a:p>
        </p:txBody>
      </p:sp>
    </p:spTree>
  </p:cSld>
  <p:clrMapOvr>
    <a:masterClrMapping/>
  </p:clrMapOvr>
</p:sld>
</file>

<file path=ppt/slides/slide45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227</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1967 के चुनावों में उत्तर भारत के कई राज्यों में कांग्रेस को सत्ता से बाहर रखने के लिए विभिन्न परस्पर विरोधी विचारधाराओं वाले गैर-कांग्रेसी दलों द्वारा बनाए गए संयुक्त मोर्चों की सरकारों को क्या नाम दिया गया था?</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राष्ट्रीय लोकतांत्रिक मोर्चा सरकार</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संयुक्त विधायक दल (SVD - Samyukt Vidhayak Dal) सरकारें</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प्रगतिशील लोकतांत्रिक मोर्चा</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जनता गठबंधन सरकार</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49819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227/260</a:t>
            </a:r>
          </a:p>
        </p:txBody>
      </p:sp>
    </p:spTree>
  </p:cSld>
  <p:clrMapOvr>
    <a:masterClrMapping/>
  </p:clrMapOvr>
</p:sld>
</file>

<file path=ppt/slides/slide45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Q.227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संयुक्त विधायक दल (SVD - Samyukt Vidhayak Dal) सरकारें</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राष्ट्रीय लोकतांत्रिक मोर्चा सरकार</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प्रगतिशील लोकतांत्रिक मोर्चा</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जनता गठबंधन सरकार</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1967 के विधानसभा चुनावों में जब किसी एक दल को बहुमत नहीं मिला, तो उत्तर प्रदेश, बिहार, मध्य प्रदेश, पंजाब और हरियाणा में कांग्रेस को सत्ता से दूर रखने के लिए वैचारिक रूप से धुर-विरोधी दलों-जैसे भारतीय जनसंघ (दक्षिणपंथी), सीपीआई और एसएसपी (वामपंथी/समाजवादी) तथा कांग्रेस के बागी नेताओं (जैसे चौधरी चरण सिंह की भारतीय क्रांति दल)-ने मिलकर गठबंधन बनाए जिन्हें 'संयुक्त विधायक दल' (संविद / SVD) कहा गया। उत्तर प्रदेश में चौधरी चरण सिंह पहली बार संविद सरकार के मुख्यमंत्री बने। यद्यपि ये सरकारें आंतरिक अंतर्विरोधों और अवसरवादी दल-बदल के कारण बहुत दिनों तक नहीं टिक सकीं, किंतु इन्होंने भारत में गठबंधन राजनीति का बीजारोपण किया।</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49819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227/260</a:t>
            </a:r>
          </a:p>
        </p:txBody>
      </p:sp>
    </p:spTree>
  </p:cSld>
  <p:clrMapOvr>
    <a:masterClrMapping/>
  </p:clrMapOvr>
</p:sld>
</file>

<file path=ppt/slides/slide45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228</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में पिछड़े वर्गों के लिए बने प्रथम पिछड़ा वर्ग आयोग (काका कालेलकर आयोग, 1953) के संदर्भ में निम्नलिखित कथनों पर विचार कीजिए: A. संविधान के अनुच्छेद 340 के प्रावधानों के तहत जनवरी 1953 में काका साहब कालेलकर की अध्यक्षता में प्रथम पिछड़ा वर्ग आयोग गठित किया गया था। B. इस आयोग ने सामाजिक और शैक्षणिक पिछड़ेपन के निर्धारण के लिए मुख्य रूप से पारंपरिक 'जाति' (Caste) को बुनियादी मापदंड माना था। C. कालेलकर आयोग ने अपनी 1955 की रिपोर्ट में 2,399 जातियों को पिछड़ा घोषित करते हुए नौकरियों में आरक्षण की सिफारिश की थी। D. केंद्र सरकार ने कालेलकर आयोग की रिपोर्ट को तुरंत पूरी तरह स्वीकार कर 1956 में पूरे देश में 50% आरक्षण लागू कर दिया था।</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54443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228/260</a:t>
            </a:r>
          </a:p>
        </p:txBody>
      </p:sp>
    </p:spTree>
  </p:cSld>
  <p:clrMapOvr>
    <a:masterClrMapping/>
  </p:clrMapOvr>
</p:sld>
</file>

<file path=ppt/slides/slide45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Q.228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अनुच्छेद 340 राष्ट्रपति को पिछड़े वर्गों की दशा की जांच के लिए आयोग गठित करने की शक्ति देता है। प्रसिद्ध गांधीवादी काका कालेलकर के नेतृत्व में बने इस पहले आयोग ने जातियों को पिछड़ेपन का मुख्य आधार माना। किंतु आयोग के अध्यक्ष काका कालेलकर ने स्वयं अंतिम समय में रिपोर्ट के साथ अपना एक असहमत पत्र (Dissenting Note) नत्थी कर दिया जिसमें उन्होंने आशंका जताई कि जातिगत आरक्षण से समाज में जातीय विद्वेष और विभाजन बढ़ेगा। इस अंतर्विरोध और तत्कालीन केंद्रीय गृह मंत्रालय की अनिच्छा के कारण केंद्र की नेहरू सरकार ने कालेलकर आयोग की सिफारिशों को ठंडे बस्ते में डाल दिया और केंद्र स्तर पर कोई आरक्षण लागू नहीं किया (आरक्षण का मामला राज्यों के विवेक पर छोड़ दिया गया था), अतः कथन D असत्य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54443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228/260</a:t>
            </a:r>
          </a:p>
        </p:txBody>
      </p:sp>
    </p:spTree>
  </p:cSld>
  <p:clrMapOvr>
    <a:masterClrMapping/>
  </p:clrMapOvr>
</p:sld>
</file>

<file path=ppt/slides/slide45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229</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पूर्वोत्तर में मिजो पर्वतीय क्षेत्र और असम के पुनर्गठन से जुड़े ऐतिहासिक घटनाक्रमों के संदर्भ में निम्नलिखित कथनों पर विचार कीजिए: A. 1972 में असम से अलग करके मेघालय को एक पृथक पूर्ण राज्य का दर्जा प्रदान किया गया था। B. 1972 में ही मणिपुर और त्रिपुरा को केंद्रशासित प्रदेश से उन्नत कर पूर्ण राज्य बनाया गया था। C. 1987 में मिजोरम और अरुणाचल प्रदेश दोनों को भारतीय संघ के पूर्ण राज्य का संवैधानिक दर्जा दिया गया। D. 1963 में असम से अलग होकर मेघालय भारत का 16वाँ राज्य बना था।</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C और D</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59068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229/260</a:t>
            </a:r>
          </a:p>
        </p:txBody>
      </p:sp>
    </p:spTree>
  </p:cSld>
  <p:clrMapOvr>
    <a:masterClrMapping/>
  </p:clrMapOvr>
</p:sld>
</file>

<file path=ppt/slides/slide45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Q.229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पूर्वोत्तर राज्य पुनर्गठन अधिनियम, 1971 के तहत 21 जनवरी 1972 को पूर्वोत्तर का बड़ा प्रशासनिक पुनर्गठन हुआ: असम के भीतर उप-राज्य रहे मेघालय को तथा केंद्रशासित प्रदेश रहे मणिपुर और त्रिपुरा को पूर्ण राज्य बनाया गया। 20 फरवरी 1987 को 53वें संशोधन से मिजोरम (23वां राज्य) तथा 55वें संशोधन से अरुणाचल प्रदेश (24वां राज्य) पूर्ण राज्य बने। 1 दिसंबर 1963 को असम से अलग होकर बनने वाला भारत का 16वाँ राज्य 'नागालैंड' था (मेघालय नहीं, मेघालय 1972 में बना था), इसलिए कथन D पूरी तरह असत्य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59068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229/260</a:t>
            </a:r>
          </a:p>
        </p:txBody>
      </p:sp>
    </p:spTree>
  </p:cSld>
  <p:clrMapOvr>
    <a:masterClrMapping/>
  </p:clrMapOvr>
</p:sld>
</file>

<file path=ppt/slides/slide45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230</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1975 में घोषित आपातकाल के दौरान संविधान में जोड़े गए किस विवादित अनुच्छेद द्वारा यह प्रावधान करने की कोशिश की गई थी कि राष्ट्रपति, उपराष्ट्रपति, प्रधानमंत्री और लोकसभा अध्यक्ष के चुनाव को किसी भी अदालत में चुनौती नहीं दी जा सकती?</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39वाँ संविधान संशोधन अधिनियम (अनुच्छेद 329A)</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42वाँ संविधान संशोधन अधिनियम (अनुच्छेद 31C)</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38वाँ संविधान संशोधन अधिनियम</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40वाँ संविधान संशोधन अधिनियम</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63693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230/260</a:t>
            </a:r>
          </a:p>
        </p:txBody>
      </p:sp>
    </p:spTree>
  </p:cSld>
  <p:clrMapOvr>
    <a:masterClrMapping/>
  </p:clrMapOvr>
</p:sld>
</file>

<file path=ppt/slides/slide46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Q.230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39वाँ संविधान संशोधन अधिनियम (अनुच्छेद 329A)</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42वाँ संविधान संशोधन अधिनियम (अनुच्छेद 31C)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38वाँ संविधान संशोधन अधिनियम</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40वाँ संविधान संशोधन अधिनियम</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12 जून 1975 को इलाहाबाद उच्च न्यायालय द्वारा इंदिरा गांधी के निर्वाचन को अवैध ठहराए जाने के फैसले को निष्प्रभावी करने और अदालत से हमेशा के लिए ऊपर उठने के लिए इंदिरा गांधी सरकार ने अगस्त 1975 में बिजली की गति से '39वाँ संविधान संशोधन अधिनियम, 1975' पारित किया। इसने संविधान में नया 'अनुच्छेद 329A' जोड़ा जिसके अनुसार राष्ट्रपति, उपराष्ट्रपति, प्रधानमंत्री और स्पीकर के चुनाव संबंधी किसी भी विवाद को भारत की किसी भी अदालत (सुप्रीम कोर्ट सहित) में चुनौती नहीं दी जा सकती थी। किंतु 1975 के ऐतिहासिक 'इंदिरा नेहरू गांधी बनाम राजनारायण वाद' में सर्वोच्च न्यायालय ने अनुच्छेद 329A के इस खंड को संविधान के मूल ढांचे (कानून के शासन, स्वतंत्र चुनाव व न्यायिक समीक्षा) का घोर उल्लंघन मानते हुए असंवैधानिक घोषित कर निरस्त कर दिया।</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63693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230/260</a:t>
            </a:r>
          </a:p>
        </p:txBody>
      </p:sp>
    </p:spTree>
  </p:cSld>
  <p:clrMapOvr>
    <a:masterClrMapping/>
  </p:clrMapOvr>
</p:sld>
</file>

<file path=ppt/slides/slide46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231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मई 1967 में कांग्रेस कार्यसमिति द्वारा सिंडिकेट के प्रभाव से मुक्त होकर सामाजिक परिवर्तन के लिए घोषित ऐतिहासिक 'दस-सूत्री कार्यक्रम' (Ten-Point Programme) के संदर्भ में निम्नलिखित कथनों पर विचार कीजिए: A. इसमें देश के वाणिज्यिक बैंकों पर सामाजिक नियंत्रण और सामान्य बीमा का राष्ट्रीयकरण शामिल था। B. इसमें शहरी संपत्ति और आय के परिसीमन (Ceiling on Urban Property) का प्रावधान था। C. इसमें खाद्यान्न का सार्वजनिक वितरण और ग्रामीण गरीबों को आवासीय भूखंड उपलब्ध कराने का संकल्प था। D. इस कार्यक्रम में सभी प्रकार के भूमि सुधारों को हमेशा के लिए रद्द करने का निर्णय लिया गया था।</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68318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231/260</a:t>
            </a:r>
          </a:p>
        </p:txBody>
      </p:sp>
    </p:spTree>
  </p:cSld>
  <p:clrMapOvr>
    <a:masterClrMapping/>
  </p:clrMapOvr>
</p:sld>
</file>

<file path=ppt/slides/slide46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Q.231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1967 के चुनावी झटके के बाद इंदिरा गांधी ने कांग्रेस को वामपंथी झुकाव देकर जन-कल्याणकारी पार्टी बनाने के लिए मई 1967 में 10-सूत्री कार्यक्रम पेश किया। इसमें बैंकों पर सामाजिक नियंत्रण, साधारण बीमा का राष्ट्रीयकरण, विदेशी व्यापार में सरकारी भूमिका, शहरी संपदा पर सीलिंग, सार्वजनिक वितरण प्रणाली (PDS) और ग्रामीण गरीबों के लिए आवासीय भूमि आवंटन शामिल था। इसमें भूमि सुधारों को रद्द करने की कोई बात नहीं थी बल्कि भूमि सुधारों और भूमि की हदबंदी को तेजी से लागू करने का कड़ा संकल्प लिया गया था, अतः कथन D असत्य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68318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231/260</a:t>
            </a:r>
          </a:p>
        </p:txBody>
      </p:sp>
    </p:spTree>
  </p:cSld>
  <p:clrMapOvr>
    <a:masterClrMapping/>
  </p:clrMapOvr>
</p:sld>
</file>

<file path=ppt/slides/slide46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232</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के चौथे राष्ट्रपति वराहगिरी वेंकट गिरि (वी.वी. गिरि) के राजनीतिक जीवन के संदर्भ में निम्नलिखित कथनों पर विचार कीजिए: A. वी.वी. गिरि आंध्र प्रदेश के प्रख्यात श्रमिक व मजदूर नेता थे और उन्होंने ऑल इंडिया ट्रेड यूनियन कांग्रेस (AITUC) का नेतृत्व किया था। B. वे सीलोन (वर्तमान श्रीलंका) में भारत के प्रथम उच्चायुक्त तथा केंद्र सरकार में केंद्रीय श्रम मंत्री रहे थे। C. वे उत्तर प्रदेश, केरल और मैसूर (कर्नाटक) के राज्यपाल भी रहे थे। D. 1969 में वे कांग्रेस पार्टी के आधिकारिक उम्मीदवार के रूप में सिंडिकेट के पूर्ण समर्थन से राष्ट्रपति निर्वाचित हुए थे।</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72942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232/260</a:t>
            </a:r>
          </a:p>
        </p:txBody>
      </p:sp>
    </p:spTree>
  </p:cSld>
  <p:clrMapOvr>
    <a:masterClrMapping/>
  </p:clrMapOvr>
</p:sld>
</file>

<file path=ppt/slides/slide46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Q.232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वी.वी. गिरि (1894-1980) ने श्रमिक अधिकारों के लिए ऐतिहासिक संघर्ष किए। वे आयरलैंड में कानून की पढ़ाई के दौरान सिन फेन आंदोलन से जुड़े थे। उन्होंने सीलोन में उच्चायुक्त और नेहरू मंत्रिमंडल में श्रम मंत्री के रूप में कार्य किया। वे केरल, मैसूर और यूपी के राज्यपाल रहे। 1969 में वे सिंडिकेट के आधिकारिक उम्मीदवार नहीं थे बल्कि सिंडिकेट के उम्मीदवार नीलम संजीव रेड्डी थे; वी.वी. गिरि ने स्वतंत्र (निर्दलीय) उम्मीदवार के रूप में चुनाव लड़ा और इंदिरा गांधी के अंतरात्मा की आवाज के समर्थन से ऐतिहासिक द्वितीय वरीयता के मतों से जीत दर्ज की, अतः कथन D असत्य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72942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232/260</a:t>
            </a:r>
          </a:p>
        </p:txBody>
      </p:sp>
    </p:spTree>
  </p:cSld>
  <p:clrMapOvr>
    <a:masterClrMapping/>
  </p:clrMapOvr>
</p:sld>
</file>

<file path=ppt/slides/slide46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233</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के दूसरे प्रधानमंत्री लाल बहादुर शास्त्री के जीवन और सिद्धांतों के संदर्भ में निम्नलिखित कथनों पर विचार कीजिए: A. शास्त्री जी ने 1930 के सविनय अवज्ञा आंदोलन से लेकर भारत छोड़ो आंदोलन तक स्वतंत्रता संग्राम में सक्रिय भाग लिया और कई बार जेल गए। B. 1951-56 के दौरान वे केंद्रीय रेल मंत्री थे, किंतु एक भीषण रेल दुर्घटना की नैतिक जिम्मेदारी लेते हुए उन्होंने अपने पद से त्यागपत्र दे दिया था। C. वे जून 1964 से जनवरी 1966 तक भारत के प्रधानमंत्री रहे और उन्होंने 1965 के भारत-पाक युद्ध में देश का सफल नेतृत्व किया। D. 10 जनवरी 1966 को तत्कालीन सोवियत संघ के ताशकंद (वर्तमान उज्बेकिस्तान की राजधानी) में ताशकंद समझौते पर हस्ताक्षर के बाद उनका आकस्मिक निधन हुआ।</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77567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233/260</a:t>
            </a:r>
          </a:p>
        </p:txBody>
      </p:sp>
    </p:spTree>
  </p:cSld>
  <p:clrMapOvr>
    <a:masterClrMapping/>
  </p:clrMapOvr>
</p:sld>
</file>

<file path=ppt/slides/slide46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Q.233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लाल बहादुर शास्त्री (1904-1966) सादगी, शुचिता और नैतिक मूल्यों के प्रतीक थे। 1956 में तमिलनाडु के अरियालुर में हुए भीषण रेल हादसे के बाद उन्होंने नैतिक जिम्मेदारी लेते हुए रेल मंत्री पद से इस्तीफा देकर लोकतांत्रिक जवाबदेही का अनुपम उदाहरण पेश किया। नेहरू के निधन के बाद 1964 में वे सर्वसम्मति से प्रधानमंत्री बने। 1965 के युद्ध और अकाल में उनका नारा 'जय जवान, जय किसान' राष्ट्रीय प्रेरणा बना। सोवियत प्रधानमंत्री कोसिगिन की मध्यस्थता से पाकिस्तान के राष्ट्रपति अयूब खान के साथ शांति समझौते पर दस्तखत करने के कुछ ही घंटों बाद दिल का दौरा पड़ने से ताशकंद में उनका असामयिक देहांत हो गया। अतः सभी चारों कथन पूर्णतः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77567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233/260</a:t>
            </a:r>
          </a:p>
        </p:txBody>
      </p:sp>
    </p:spTree>
  </p:cSld>
  <p:clrMapOvr>
    <a:masterClrMapping/>
  </p:clrMapOvr>
</p:sld>
</file>

<file path=ppt/slides/slide46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234</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के पूर्व प्रधानमंत्री चौधरी चरण सिंह के राजनीतिक विचारों और योगदान के संदर्भ में निम्नलिखित कथनों पर विचार कीजिए: A. चौधरी चरण सिंह उत्तर भारत में किसानों के अधिकारों, ग्रामीण अर्थव्यवस्था और कृषि विकास के सबसे प्रमुख पैरोकार थे। B. उन्होंने 1967 में कांग्रेस से अलग होकर 'भारतीय क्रांति दल' (BKD) और बाद में 'लोकदल' की स्थापना की। C. वे उत्तर प्रदेश के दो बार मुख्यमंत्री रहे तथा 1977-79 की जनता पार्टी सरकार में उप-प्रधानमंत्री और केंद्रीय गृहमंत्री रहे। D. वे जुलाई 1979 से जनवरी 1980 तक भारत के प्रधानमंत्री रहे।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82192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234/260</a:t>
            </a:r>
          </a:p>
        </p:txBody>
      </p:sp>
    </p:spTree>
  </p:cSld>
  <p:clrMapOvr>
    <a:masterClrMapping/>
  </p:clrMapOvr>
</p:sld>
</file>

<file path=ppt/slides/slide46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Q.234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चौधरी चरण सिंह (1902-1987) का भारतीय ग्रामीण राजनीति में अप्रतिम स्थान है। उन्होंने 1939 में संयुक्त प्रांत में ऋण मोचन विधेयक और 1950 में ऐतिहासिक 'उत्तर प्रदेश जमींदारी उन्मूलन अधिनियम' का खाका तैयार किया। उन्होंने नेहरू की भारी औद्योगिकीकरण नीति की आलोचना करते हुए ग्रामीण कुटीर उद्योग और कृषि को सर्वोच्च प्राथमिकता देने का विचार रखा। वे 1967 और 1970 में यूपी के मुख्यमंत्री रहे। 1977 में गृहमंत्री रहते हुए उन्होंने शाह आयोग का गठन किया। जुलाई 1979 में वे कांग्रेस के समर्थन से देश के 5वें प्रधानमंत्री बने। उनकी जयंती (23 दिसंबर) को पूरे भारत में 'राष्ट्रीय किसान दिवस' के रूप में मनाया जाता है। अतः सभी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82192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234/260</a:t>
            </a:r>
          </a:p>
        </p:txBody>
      </p:sp>
    </p:spTree>
  </p:cSld>
  <p:clrMapOvr>
    <a:masterClrMapping/>
  </p:clrMapOvr>
</p:sld>
</file>

<file path=ppt/slides/slide46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235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बाबू जगजीवन राम के सार्वजनिक जीवन और ऐतिहासिक भूमिका के संदर्भ में निम्नलिखित कथनों पर विचार कीजिए: A. बाबू जगजीवन राम संविधान सभा के सदस्य थे और उन्होंने प्रारूप में दलितों और श्रमिकों के अधिकारों को शामिल करवाने में अग्रणी भूमिका निभाई। B. वे स्वतंत्र भारत के प्रथम मंत्रिमंडल में सबसे युवा सदस्य के रूप में देश के पहले 'श्रम मंत्री' बने। C. 1971 के भारत-पाक युद्ध और बांग्लादेश मुक्ति संग्राम के समय वे भारत के रक्षा मंत्री थे। D. फरवरी 1977 में उन्होंने आपातकाल के विरोध में इंदिरा गांधी से अलग होकर 'कांग्रेस फॉर डेमोक्रेसी' (CFD) का गठन किया था।</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86817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235/260</a:t>
            </a:r>
          </a:p>
        </p:txBody>
      </p:sp>
    </p:spTree>
  </p:cSld>
  <p:clrMapOvr>
    <a:masterClrMapping/>
  </p:clrMapOvr>
</p:sld>
</file>

<file path=ppt/slides/slide47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Q.235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बाबू जगजीवन राम (1908-1986) बिहार से आने वाले महान स्वतंत्रता सेनानी और भारत के सबसे लंबे समय तक (लगातार 30 वर्ष से अधिक) केंद्रीय मंत्री रहने वाले कुशल प्रशासक थे। श्रम मंत्री के रूप में उन्होंने 'कर्मचारी राज्य बीमा अधिनियम' (ESI Act, 1948) और 'न्यूनतम मजदूरी अधिनियम, 1948' जैसे ऐतिहासिक श्रम कानूनों को पारित कराया। 1971 के युद्ध में रक्षा मंत्री के रूप में उनके कुशल नेतृत्व में भारतीय सेना ने विजय प्राप्त की। आपातकाल हटने के बाद फरवरी 1977 में हेमवती नंदन बहुगुणा और नंदिनी सत्पथी के साथ उन्होंने CFD बनाई जिसने जनता पार्टी के साथ मिलकर चुनाव लड़ा और वे 1979 में भारत के उप-प्रधानमंत्री बने। अतः सभी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86817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235/260</a:t>
            </a:r>
          </a:p>
        </p:txBody>
      </p:sp>
    </p:spTree>
  </p:cSld>
  <p:clrMapOvr>
    <a:masterClrMapping/>
  </p:clrMapOvr>
</p:sld>
</file>

<file path=ppt/slides/slide47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236</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1970 के दशक के पूर्वार्ध में भारतीय अर्थव्यवस्था में भीषण संकट, मुद्रास्फीति और बेरोजगारी के कारणों के संदर्भ में निम्नलिखित में से कौन-सा कथन असत्य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1971 के बांग्लादेश संकट के दौरान पूर्वी पाकिस्तान से लगभग 80 लाख शरणार्थियों के भारत आने से अर्थव्यवस्था पर भारी बोझ पड़ा</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1973 के अरब-इजरायल युद्ध के बाद अंतरराष्ट्रीय बाजार में कच्चे तेल की कीमतों में बेतहाशा वृद्धि से मुद्रास्फीति बढ़ी</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वर्ष 1972 और 1973 में लगातार दो साल मानसून की विफलता के कारण देश में खाद्यान्न उत्पादन में 8% की भारी गिरावट आई</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1973 में भारत में सभी प्रकार के कल-कारखानों का उत्पादन 100% बढ़ गया और बेरोजगारी पूरी तरह समाप्त हो गई थी</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91441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236/260</a:t>
            </a:r>
          </a:p>
        </p:txBody>
      </p:sp>
    </p:spTree>
  </p:cSld>
  <p:clrMapOvr>
    <a:masterClrMapping/>
  </p:clrMapOvr>
</p:sld>
</file>

<file path=ppt/slides/slide47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Q.236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1973 में भारत में सभी प्रकार के कल-कारखानों का उत्पादन 100% बढ़ गया और बेरोजगारी पूरी तरह समाप्त हो गई थी</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1971 के बांग्लादेश संकट के दौरान पूर्वी पाकिस्तान से लगभग 80 लाख शरणार्थियों के भारत आने से अर्थव्यवस्था पर भारी बोझ पड़ा</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1973 के अरब-इजरायल युद्ध के बाद अंतरराष्ट्रीय बाजार में कच्चे तेल की कीमतों में बेतहाशा वृद्धि से मुद्रास्फीति बढ़ी</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वर्ष 1972 और 1973 में लगातार दो साल मानसून की विफलता के कारण देश में खाद्यान्न उत्पादन में 8% की भारी गिरावट आई</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1971-1974 का काल भारत के लिए भीषण आर्थिक संकट का दौर था। 1971 के युद्ध और 80 लाख शरणार्थियों के भरण-पोषण ने बजट को हिला दिया। अंतरराष्ट्रीय स्तर पर तेल संकट से कीमतें आसमान छूने लगीं-1973 में 23% और 1974 में 30% तक की भारी मूल्य वृद्धि दर्ज हुई। मानसून की विफलता से अनाज की कमी हुई। औद्योगिक उत्पादन पूरी तरह सुस्त पड़ गया और ग्रामीण व शहरी दोनों क्षेत्रों में शिक्षित बेरोजगारी चरम पर पहुंच गई। खर्चों को रोकने के लिए सरकार को अपने कर्मचारियों के भत्तों और वेतन को रोकना पड़ा था। यह दावा करना कि बेरोजगारी समाप्त हो गई थी, इतिहास के सर्वथा विपरीत है, अतः विकल्प D गलत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91441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236/260</a:t>
            </a:r>
          </a:p>
        </p:txBody>
      </p:sp>
    </p:spTree>
  </p:cSld>
  <p:clrMapOvr>
    <a:masterClrMapping/>
  </p:clrMapOvr>
</p:sld>
</file>

<file path=ppt/slides/slide47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237</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बिहार छात्र आंदोलन (1974) और जयप्रकाश नारायण (JP) के संदर्भ में निम्नलिखित कथनों पर विचार कीजिए: A. मार्च 1974 में बिहार के छात्रों ने बढ़ती महंगाई, खाद्यान्न की कमी, बेरोजगारी और भ्रष्टाचार के विरोध में आंदोलन शुरू किया था। B. छात्रों के निमंत्रण पर जेपी ने आंदोलन का नेतृत्व संभालते हुए बिहार सरकार और विधानसभा के इस्तीफे की मांग की। C. जेपी ने समाज के सभी वर्गों-छात्रों, किसानों, मजदूरों और बुद्धिजीवियों को एकजुट करने के लिए 'संपूर्ण क्रांति' का आह्वान किया। D. जेपी के आंदोलन को तत्कालीन कांग्रेस सरकार और भारतीय कम्युनिस्ट पार्टी (CPI) दोनों का पूर्ण और सक्रिय समर्थन प्राप्त था।</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96066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237/260</a:t>
            </a:r>
          </a:p>
        </p:txBody>
      </p:sp>
    </p:spTree>
  </p:cSld>
  <p:clrMapOvr>
    <a:masterClrMapping/>
  </p:clrMapOvr>
</p:sld>
</file>

<file path=ppt/slides/slide47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Q.237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1974 का बिहार आंदोलन स्वतंत्रता के बाद का सबसे बड़ा जन-आंदोलन था। अब्दुल गफूर की कांग्रेस सरकार के खिलाफ छात्रों ने मोर्चा खोला। जयप्रकाश नारायण ने गैर-दलीय सर्वोदय आंदोलन से बाहर आकर इसका राष्ट्रीय नेतृत्व किया। उन्होंने सामाजिक न्याय, आर्थिक समानता और चुनावी सुधारों को मिलाकर 'संपूर्ण क्रांति' का दर्शन दिया। किंतु कांग्रेस ने इसे लोकतंत्र को अस्थिर करने की 'विदेशी साजिश' और फासीवादी आंदोलन करार दिया; वहीं भारतीय कम्युनिस्ट पार्टी (CPI) उस समय इंदिरा गांधी की सहयोगी थी और उसने जेपी आंदोलन को दक्षिणपंथी और प्रतिगामी शक्तियों का जमावड़ा कहकर इसका कड़ा विरोध किया था, अतः कथन D असत्य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96066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237/260</a:t>
            </a:r>
          </a:p>
        </p:txBody>
      </p:sp>
    </p:spTree>
  </p:cSld>
  <p:clrMapOvr>
    <a:masterClrMapping/>
  </p:clrMapOvr>
</p:sld>
</file>

<file path=ppt/slides/slide47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238</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25 जून 1975 की आधी रात को जब भारत में आपातकाल की घोषणा की गई, उस समय भारत के राष्ट्रपति कौन थे जिन्होंने प्रधानमंत्री इंदिरा गांधी की सिफारिश पर आपातकाल उद्घोषणा पर हस्ताक्षर किए थे?</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वी.वी. गिरि</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फखरुद्दीन अली अहमद</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नीलम संजीव रेड्डी</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डॉ. ज्ञानी जैल सिंह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00691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238/260</a:t>
            </a:r>
          </a:p>
        </p:txBody>
      </p:sp>
    </p:spTree>
  </p:cSld>
  <p:clrMapOvr>
    <a:masterClrMapping/>
  </p:clrMapOvr>
</p:sld>
</file>

<file path=ppt/slides/slide47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Q.238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फखरुद्दीन अली अहमद</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वी.वी. गिरि</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नीलम संजीव रेड्डी</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डॉ. ज्ञानी जैल सिंह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25 जून 1975 को जब आंतरिक अशांति के आधार पर अनुच्छेद 352 लगाया गया, उस समय भारत के राष्ट्रपति फखरुद्दीन अली अहमद (1905-1977) थे। इंदिरा गांधी ने पश्चिम बंगाल के तत्कालीन मुख्यमंत्री सिद्धार्थ शंकर रे की सलाह पर कैबिनेट की औपचारिक पूर्व बैठक और मंजूरी के बिना सीधे राष्ट्रपति को आपातकाल की संस्तुति भेजी थी। राष्ट्रपति फखरुद्दीन अली अहमद ने बिना किसी सवाल या देरी के उसी आधी रात को उद्घोषणा पत्र पर दस्तखत कर दिए। फखरुद्दीन अली अहमद भारत के दूसरे ऐसे राष्ट्रपति थे जिनका देहांत पद पर रहते हुए (फरवरी 1977 में) हुआ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00691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238/260</a:t>
            </a:r>
          </a:p>
        </p:txBody>
      </p:sp>
    </p:spTree>
  </p:cSld>
  <p:clrMapOvr>
    <a:masterClrMapping/>
  </p:clrMapOvr>
</p:sld>
</file>

<file path=ppt/slides/slide47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239</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मार्च 1977 के ऐतिहासिक छठे लोकसभा आम चुनाव के परिणामों के संदर्भ में निम्नलिखित कथनों पर विचार कीजिए: A. कांग्रेस पार्टी को कुल 542 लोकसभा सीटों में से मात्र 154 सीटें मिलीं और उसका मत प्रतिशत घटकर 34.5% रह गया। B. जनता पार्टी और उसके सहयोगी दलों को 330 सीटें मिलीं, जिसमें अकेले जनता पार्टी को 295 सीटें प्राप्त हुईं। C. उत्तर प्रदेश और बिहार जैसे विशाल राज्यों में कांग्रेस 85 और 54 सीटों में से शून्य (0) सीटों पर सिमट गई थी। D. दक्षिण भारत के राज्यों (आंध्र प्रदेश, कर्नाटक, केरल और तमिलनाडु) में भी कांग्रेस का पूरी तरह सूपड़ा साफ हो गया था और जनता पार्टी ने वहां 100% सीटें जीती थीं।</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05316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239/260</a:t>
            </a:r>
          </a:p>
        </p:txBody>
      </p:sp>
    </p:spTree>
  </p:cSld>
  <p:clrMapOvr>
    <a:masterClrMapping/>
  </p:clrMapOvr>
</p:sld>
</file>

<file path=ppt/slides/slide47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Q.239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1977 के चुनाव में उत्तर और दक्षिण भारत के चुनावी रुझान में गहरा विभाजन देखने को मिला। उत्तर भारत में नसबंदी की ज्यादतियां, मीसा के तहत गिरफ्तारियां और संजय गांधी के आतंक के कारण कांग्रेस का पूरी तरह सफाया हो गया (यूपी, बिहार, हरियाणा, दिल्ली, पंजाब में कांग्रेस को एक भी सीट नहीं मिली)। किंतु दक्षिण भारत (आंध्र प्रदेश, कर्नाटक, केरल) में आपातकाल का दमनकारी असर बहुत कम था और वहाँ इंदिरा गांधी के 20-सूत्रीय कार्यक्रम (भूमि सुधार, आवास) से गरीबों को लाभ हुआ था; इसलिए दक्षिण भारत में कांग्रेस ने शानदार प्रदर्शन किया और अपनी अधिकांश 154 सीटें दक्षिण से ही जीतीं; जनता पार्टी वहां कमजोर रही, अतः कथन D असत्य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05316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239/260</a:t>
            </a:r>
          </a:p>
        </p:txBody>
      </p:sp>
    </p:spTree>
  </p:cSld>
  <p:clrMapOvr>
    <a:masterClrMapping/>
  </p:clrMapOvr>
</p:sld>
</file>

<file path=ppt/slides/slide47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240</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भारतीय संविधान के 44वें संविधान संशोधन अधिनियम, 1978 द्वारा किए गए प्रमुख सुधारों के संदर्भ में निम्नलिखित कथनों पर विचार कीजिए: A. इसने लोकसभा और राज्य विधानसभाओं के कार्यकाल को पुनः 6 वर्ष से घटाकर पूर्ववत 5 वर्ष कर दिया। B. इसने अनुच्छेद 352 में संशोधन कर यह अनिवार्य बनाया कि राष्ट्रपति केवल केंद्रीय मंत्रिमंडल की 'लिखित सिफारिश' मिलने पर ही आपातकाल घोषित कर सकता है। C. इसने राष्ट्रीय आपातकाल के अनुमोदन के लिए संसद के दोनों सदनों में साधारण बहुमत के स्थान पर 'विशेष बहुमत' (2/3) अनिवार्य किया। D. इसने न्यायपालिका के अधिकारों को पूरी तरह समाप्त कर दिया और संसद को किसी भी नागरिक को बिना अपील फांसी देने की छूट दे दी।</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09940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240/260</a:t>
            </a:r>
          </a:p>
        </p:txBody>
      </p:sp>
    </p:spTree>
  </p:cSld>
  <p:clrMapOvr>
    <a:masterClrMapping/>
  </p:clrMapOvr>
</p:sld>
</file>

<file path=ppt/slides/slide48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Q.240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1977 में सत्ता में आई मोरारजी देसाई की जनता पार्टी सरकार ने 44वें संशोधन द्वारा 42वें संशोधन की तानाशाही धाराओं को खत्म किया। इसने आपातकाल लगाने के आधार के रूप में 'आंतरिक अशांति' को हटाकर 'सशस्त्र विद्रोह' किया। मनमाने आपातकाल को रोकने के लिए कैबिनेट की लिखित संस्तुति अनिवार्य की गई और संसद के अनुमोदन का समय 2 माह से घटाकर 1 माह तथा बहुमत विशेष बहुमत (2/3) किया गया। अनुच्छेद 20 और 21 को कभी भी निलंबित न किए जाने की सुरक्षा दी गई। इसने न्यायपालिका की स्वतंत्रता और नागरिकों के अधिकारों को सुदृढ़ किया, न कि समाप्त किया; अतः कथन D असत्य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09940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240/260</a:t>
            </a:r>
          </a:p>
        </p:txBody>
      </p:sp>
    </p:spTree>
  </p:cSld>
  <p:clrMapOvr>
    <a:masterClrMapping/>
  </p:clrMapOvr>
</p:sld>
</file>

<file path=ppt/slides/slide48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241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1991 के बाद भारत की विदेश नीति में आए बड़े बदलावों और 'पूर्व की ओर देखो नीति' (Look East Policy) के संदर्भ में निम्नलिखित कथनों पर विचार कीजिए: A. शीतयुद्ध की समाप्ति और सोवियत संघ के विघटन के बाद भारत ने अमेरिका और पश्चिमी देशों के साथ अपने संबंधों को बेहतर बनाया। B. प्रधानमंत्री पी.वी. नरसिम्हा राव ने 1991-92 में दक्षिण-पूर्व एशियाई देशों (ASEAN) के साथ व्यापार और सामरिक रिश्ते मजबूत करने के लिए 'लुक ईस्ट पॉलिसी' प्रारंभ की। C. वर्ष 2014 में वर्तमान सरकार ने इस नीति को अधिक सक्रिय और गतिशील बनाते हुए 'एक्ट ईस्ट पॉलिसी' (Act East Policy) में परिवर्तित किया। D. 1991 के बाद भारत ने अपने सभी पड़ोसी देशों के साथ सीमा व्यापार और कूटनीतिक संबंध पूरी तरह समाप्त कर लिए थे।</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14565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241/260</a:t>
            </a:r>
          </a:p>
        </p:txBody>
      </p:sp>
    </p:spTree>
  </p:cSld>
  <p:clrMapOvr>
    <a:masterClrMapping/>
  </p:clrMapOvr>
</p:sld>
</file>

<file path=ppt/slides/slide48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Q.241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1991 में सोवियत संघ के पतन के बाद वैश्विक राजनीति एकध्रुवीय हो गई थी। भारत ने अपनी विदेश नीति को व्यावहारिक और आर्थिक प्राथमिकताओं के अनुरूप ढाला। नरसिम्हा राव ने पूर्वी एशिया के 'एशियन टाइगर्स' (सिंगापुर, मलेशिया, थाईलैंड आदि) के साथ आर्थिक एकीकरण के लिए 'लुक ईस्ट पॉलिसी' शुरू की, जिसे 2014 में म्यांमार शिखर सम्मेलन में प्रधानमंत्री नरेंद्र मोदी ने 'एक्ट ईस्ट पॉलिसी' का विस्तार दिया। भारत आसियान (ASEAN) का पूर्ण संवाद साझेदार बना और पूर्वोत्तर भारत को दक्षिण-पूर्व एशिया का प्रवेश द्वार बनाया गया। भारत ने पड़ोसियों से रिश्ते तोड़े नहीं बल्कि 'पड़ोसी प्रथम' (Neighbourhood First) की नीति को केंद्र में रखा, अतः कथन D असत्य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14565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241/260</a:t>
            </a:r>
          </a:p>
        </p:txBody>
      </p:sp>
    </p:spTree>
  </p:cSld>
  <p:clrMapOvr>
    <a:masterClrMapping/>
  </p:clrMapOvr>
</p:sld>
</file>

<file path=ppt/slides/slide48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242</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में 73वें और 74वें संविधान संशोधन के तीन दशकों के कार्यान्वयन और स्थानीय स्वशासन की चुनौतियों के संदर्भ में निम्नलिखित कथनों पर विचार कीजिए: A. स्थानीय निकायों ने 14 लाख से अधिक निर्वाचित महिलाओं के माध्यम से भारत में दुनिया का सबसे बड़ा जमीनी महिला राजनीतिक सशक्तिकरण किया है। B. ग्रामीण क्षेत्रों में महिलाओं के वास्तविक अधिकारों का प्रयोग कई बार उनके पतियों द्वारा किए जाने की सामाजिक बुराई को 'सरपंच पति' (Pati Panchayat) कहा गया। C. स्थानीय स्वशासन की सबसे बड़ी विफलता 3F-अर्थात धन (Funds), कार्य (Functions) और कर्मियों (Functionaries) का राज्य सरकारों द्वारा पर्याप्त हस्तांतरण न करना रहा है। D. संविधान में यह स्पष्ट नियम है कि स्थानीय पंचायतें स्वयं बिना किसी कानून के असीमित विदेशी ऋण सीधे विश्व बैंक से ले सकती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19190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242/260</a:t>
            </a:r>
          </a:p>
        </p:txBody>
      </p:sp>
    </p:spTree>
  </p:cSld>
  <p:clrMapOvr>
    <a:masterClrMapping/>
  </p:clrMapOvr>
</p:sld>
</file>

<file path=ppt/slides/slide48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Q.242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स्थानीय स्वशासन ने लोकतंत्र को दिल्ली और राज्य की राजधानियों से निकालकर गांव की चौपाल तक पहुंचाया है। हाशिए के वर्गों और महिलाओं को अभूतपूर्व नेतृत्व मिला है। किंतु व्यावहारिक रूप से राज्यों के नौकरशाह और विधायक अपनी शक्तियाँ पंचायतों को देने से कतराते रहे हैं, जिससे पंचायतों के पास पर्याप्त बजट और कर्मचारियों की भारी कमी रहती है। 'सरपंच पति' की सामंती पितृसत्तात्मक प्रवृत्ति के खिलाफ जागरूकता बढ़ी है। संविधान के अनुच्छेद 292-293 के अनुसार केवल भारत सरकार ही विदेशी ऋण ले सकती है, राज्य सरकारों को भी केंद्र की अनुमति लेनी होती है; पंचायतें सीधे कोई विदेशी कर्ज नहीं ले सकतीं, अतः कथन D असत्य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19190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242/260</a:t>
            </a:r>
          </a:p>
        </p:txBody>
      </p:sp>
    </p:spTree>
  </p:cSld>
  <p:clrMapOvr>
    <a:masterClrMapping/>
  </p:clrMapOvr>
</p:sld>
</file>

<file path=ppt/slides/slide48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243</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1989 से 1998 के गठबंधन युग के प्रधानमंत्रियों और उनके कार्यकाल/राजनीतिक मोर्चों का सही मिलान कीजिए: सूची-I (प्रधानमंत्री): सूची-I: A. विश्वनाथ प्रताप सिंह (V.P. Singh) B. चन्द्रशेखर C. एच.डी. देवगौड़ा D. इंद्र कुमार गुजराल (I.K. Gujral) सूची-II: 1. संयुक्त मोर्चा (1996-1997) - कर्नाटक के पूर्व मुख्यमंत्री, कांग्रेस व वाममोर्चा का बाहरी समर्थन 2. राष्ट्रीय मोर्चा (1989-1990) - मंडल आयोग लागू किया, भाजपा व वामदलों का समर्थन 3. समाजवादी जनता पार्टी (1990-1991) - कांग्रेस के बाहरी समर्थन से अल्पमत सरकार 4. संयुक्त मोर्चा (1997-1998) - पड़ोसी देशों के प्रति एकतरफा रियायतों का 'गुजराल सिद्धांत'</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B-3, C-1, D-4</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B-2, C-1, D-4</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23815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243/260</a:t>
            </a:r>
          </a:p>
        </p:txBody>
      </p:sp>
    </p:spTree>
  </p:cSld>
  <p:clrMapOvr>
    <a:masterClrMapping/>
  </p:clrMapOvr>
</p:sld>
</file>

<file path=ppt/slides/slide48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Q.243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B-3, C-1,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C-3,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B-2, C-1, D-4</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1989-1998 का दशक राजनीतिक अस्थिरता और गठबंधन सरकारों का अनूठा दौर था: (1) वी.पी. सिंह (1989-90) ने राष्ट्रीय मोर्चे का नेतृत्व किया और मंडल आयोग लागू किया; (2) चंद्रशेखर (1990-91) ने राजीव गांधी की कांग्रेस के समर्थन से मात्र 64 सांसदों के साथ सरकार चलाई; (3) 1996 के खंडित जनादेश के बाद 13 दलों के 'संयुक्त मोर्चा' (United Front) की सरकार बनी जिसके प्रधानमंत्री कर्नाटक के 'धरती पुत्र' एच.डी. देवगौड़ा बने; और (4) 1997 में आई.के. गुजराल प्रधानमंत्री बने जिन्होंने विदेश नीति में प्रसिद्ध 'गुजराल डॉक्ट्रिन' (Gujral Doctrine) दिया, जिसके अनुसार भारत को अपने छोटे पड़ोसी देशों (नेपाल, भूटान, बांग्लादेश, श्रीलंका) को बिना किसी पारस्परिक लाभ की शर्त के एकतरफा उदारता दिखानी चाहिए।</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23815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243/260</a:t>
            </a:r>
          </a:p>
        </p:txBody>
      </p:sp>
    </p:spTree>
  </p:cSld>
  <p:clrMapOvr>
    <a:masterClrMapping/>
  </p:clrMapOvr>
</p:sld>
</file>

<file path=ppt/slides/slide48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244</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भारतीय राजनीति में 'संयुक्त प्रगतिशील गठबंधन' (UPA) और 'राष्ट्रीय जनतांत्रिक गठबंधन' (NDA) के तुलनात्मक संदर्भ में निम्नलिखित कथनों पर विचार कीजिए: A. 1998 में अटल बिहारी वाजपेयी के नेतृत्व में विभिन्न गैर-कांग्रेसी और क्षेत्रीय दलों को मिलाकर 'राजग' (NDA) का गठन हुआ जिसने 1999 से 2004 तक सरकार चलाई। B. 2004 के लोकसभा चुनाव के बाद कांग्रेस के नेतृत्व में वामदलों के बाहरी समर्थन से 'संप्रग' (UPA) की सरकार बनी और डॉ. मनमोहन सिंह लगातार 10 वर्ष (2004-2014) प्रधानमंत्री रहे। C. यूपीए सरकार के कार्यकाल में 'सूचना का अधिकार' (RTI 2005) और 'महात्मा गांधी राष्ट्रीय ग्रामीण रोजगार गारंटी अधिनियम' (MGNREGA 2005) जैसे ऐतिहासिक अधिकार-आधारित कानून बने। D. 2014 और 2019 के आम चुनावों में भारतीय जनता पार्टी ने तीन दशकों के गठबंधन युग को समाप्त करते हुए लोकसभा में अपने दम पर स्पष्ट बहुमत प्राप्त किया।</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28439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244/260</a:t>
            </a:r>
          </a:p>
        </p:txBody>
      </p:sp>
    </p:spTree>
  </p:cSld>
  <p:clrMapOvr>
    <a:masterClrMapping/>
  </p:clrMapOvr>
</p:sld>
</file>

<file path=ppt/slides/slide48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Q.244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वाजपेयी के नेतृत्व में राजग ने दिखाया कि 20 से अधिक दलों का गठबंधन भी परमाणु परीक्षण (1998), कारगिल युद्ध (1999) और स्वर्णिम चतुर्भुज योजना जैसे साहसिक कदम उठा सकता है। 2004 में सोनिया गांधी द्वारा पद त्याग के बाद अर्थशास्त्री डॉ. मनमोहन सिंह संप्रग के प्रधानमंत्री बने। यूपीए-1 और 2 ने 'कल्याणकारी अधिकार-आधारित दृष्टिकोण' (Rights-based approach) अपनाकर मनरेगा (रोजगार का अधिकार), आरटीआई, शिक्षा का अधिकार (RTE 2009) और राष्ट्रीय खाद्य सुरक्षा अधिनियम (NFSA 2013) लागू किए। मई 2014 में नरेंद्र मोदी के नेतृत्व में भाजपा ने 282 सीटें (और 2019 में 303 सीटें) जीतकर 1984 के बाद पहली बार किसी एकल दल को पूर्ण बहुमत दिलाया। अतः सभी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28439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244/260</a:t>
            </a:r>
          </a:p>
        </p:txBody>
      </p:sp>
    </p:spTree>
  </p:cSld>
  <p:clrMapOvr>
    <a:masterClrMapping/>
  </p:clrMapOvr>
</p:sld>
</file>

<file path=ppt/slides/slide48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245</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वर्ष 2014 में संसद द्वारा पारित 99वें संविधान संशोधन अधिनियम द्वारा न्यायाधीशों की कॉलेजियम प्रणाली के स्थान पर किस आयोग की स्थापना की गई थी, जिसे सर्वोच्च न्यायालय ने 2015 में 'न्यायपालिका की स्वतंत्रता' का उल्लंघन मानते हुए पूर्णतः असंवैधानिक घोषित कर दिया था?</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राष्ट्रीय विधि आयोग</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राष्ट्रीय न्यायिक नियुक्ति आयोग (NJAC - National Judicial Appointments Commission)</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केंद्रीय न्यायिक सेवा प्राधिकरण</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अखिल भारतीय उच्च न्यायिक आयोग</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33064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245/260</a:t>
            </a:r>
          </a:p>
        </p:txBody>
      </p:sp>
    </p:spTree>
  </p:cSld>
  <p:clrMapOvr>
    <a:masterClrMapping/>
  </p:clrMapOvr>
</p:sld>
</file>

<file path=ppt/slides/slide49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Q.245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राष्ट्रीय न्यायिक नियुक्ति आयोग (NJAC - National Judicial Appointments Commission)</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राष्ट्रीय विधि आयोग</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केंद्रीय न्यायिक सेवा प्राधिकरण</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अखिल भारतीय उच्च न्यायिक आयोग</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न्यायाधीशों द्वारा ही न्यायाधीशों की नियुक्ति की स्व-नियुक्ति कॉलेजियम प्रणाली की अपारदर्शिता को समाप्त करने के लिए संसद ने सर्वसम्मति से 99वाँ संविधान संशोधन अधिनियम, 2014 पारित कर 'राष्ट्रीय न्यायिक नियुक्ति आयोग' (NJAC) बनाया। इसमें मुख्य न्यायाधीश, दो वरिष्ठ जज, विधि मंत्री और दो प्रख्यात नागरिक शामिल थे। किंतु अक्टूबर 2015 में सर्वोच्च न्यायालय की 5 जजों की संविधान पीठ ने 'सुप्रीम कोर्ट एडवोकेट्स-ऑन-रिकॉर्ड एसोसिएशन वाद' (Fourth Judges Case) में 4-1 के बहुमत से NJAC कानून को असंवैधानिक करार देकर रद्द कर दिया। न्यायालय ने तर्क दिया कि जजों की नियुक्ति में कार्यपालिका (विधि मंत्री) की वीटो शक्ति न्यायपालिका की स्वतंत्रता (संविधान का मूल ढांचा) पर सीधा आघात है; परिणामस्वरूप पुरानी कॉलेजियम प्रणाली पुनः बहाल हो गई।</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33064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245/260</a:t>
            </a:r>
          </a:p>
        </p:txBody>
      </p:sp>
    </p:spTree>
  </p:cSld>
  <p:clrMapOvr>
    <a:masterClrMapping/>
  </p:clrMapOvr>
</p:sld>
</file>

<file path=ppt/slides/slide49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246</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भारतीय चुनाव प्रणाली में सुधारों और सर्वोच्च न्यायालय के ऐतिहासिक निर्णयों के संदर्भ में निम्नलिखित कथनों पर विचार कीजिए: A. 'लिली थॉमस बनाम भारत संघ' (2013) वाद में सुप्रीम कोर्ट ने फैसला दिया कि दो वर्ष या उससे अधिक की सजा पाने वाले सांसद/विधायक सदन की सदस्यता से तुरंत अयोग्य हो जाएंगे। B. पीपुल्स यूनियन फॉर सिविल लिबर्टीज (PUCL) वाद (2013) में शीर्ष अदालत के आदेश पर इलेक्ट्रॉनिक वोटिंग मशीन (EVM) में 'नोटा' (NOTA - None of the Above) का विकल्प जोड़ा गया। C. चुनावी प्रक्रिया में पारदर्शिता के लिए मतों के सत्यापन हेतु 'वीवीपैट' (VVPAT - Voter Verifiable Paper Audit Trail) मशीनों का प्रयोग अनिवार्य किया गया। D. सर्वोच्च न्यायालय ने फरवरी 2024 में सर्वसम्मति से ऐतिहासिक फैसला सुनाते हुए राजनीतिक दलों को गुप्त चंदा देने वाली 'चुनावी बॉन्ड योजना' (Electoral Bonds Scheme) को असंवैधानिक घोषित कर रद्द कर दिया।</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37689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246/260</a:t>
            </a:r>
          </a:p>
        </p:txBody>
      </p:sp>
    </p:spTree>
  </p:cSld>
  <p:clrMapOvr>
    <a:masterClrMapping/>
  </p:clrMapOvr>
</p:sld>
</file>

<file path=ppt/slides/slide49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Q.246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भारतीय न्यायपालिका ने चुनावी शुचिता के लिए युगांतकारी निर्णय दिए हैं: लिली थॉमस फैसले ने जनप्रतिनिधित्व कानून की धारा 8(4) को रद्द कर दागी नेताओं की तुरंत अयोग्यता सुनिश्चित की। नोटा (NOTA) ने मतदाताओं को सभी उम्मीदवारों को नकारने का संवैधानिक अधिकार दिया। वीवीपैट पर्ची ने मतदाता के विश्वास को सुदृढ़ किया कि उसका वोट सही प्रत्याशी को गया है। 15 फरवरी 2024 को भारत के मुख्य न्यायाधीश डी.वाई. चंद्रचूड़ की अध्यक्षता वाली 5 जजों की संविधान पीठ ने 2018 की चुनावी बॉन्ड योजना को अनुच्छेद 19(1)(a) के तहत नागरिकों के 'जानने के अधिकार' (Right to Information) का खुला उल्लंघन मानते हुए असंवैधानिक करार दिया और राजनीतिक फंडिंग में पूर्ण पारदर्शिता का आदेश दिया। अतः सभी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37689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246/260</a:t>
            </a:r>
          </a:p>
        </p:txBody>
      </p:sp>
    </p:spTree>
  </p:cSld>
  <p:clrMapOvr>
    <a:masterClrMapping/>
  </p:clrMapOvr>
</p:sld>
</file>

<file path=ppt/slides/slide49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247</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पूर्वोत्तर भारत में स्थायी शांति के लिए हाल के वर्षों में किए गए ऐतिहासिक समझौतों के संदर्भ में निम्नलिखित कथनों पर विचार कीजिए: A. जनवरी 2020 में केंद्र सरकार, असम सरकार और बोडो उग्रवादी संगठनों (NDFB) के बीच ऐतिहासिक 'तृतीय बोडो शांति समझौता' (Bodo Accord) हुआ। B. जनवरी 2020 में मिजोरम से विस्थापित होकर त्रिपुरा के शरणार्थी शिविरों में 23 वर्षों से रह रहे 37,000 'ब्रू-रियांग' (Bru-Reang) आदिवासियों के पुनर्वास का ऐतिहासिक समझौता हुआ। C. असम में सशस्त्र उग्रवादी संगठन 'उल्फा' (ULFA) के साथ दिसंबर 2023 में त्रिपक्षीय शांति समझौते पर हस्ताक्षर किए गए। D. पूर्वोत्तर में केंद्र सरकार ने सभी स्थानीय जनजातीय रूढ़िवादी कानूनों और स्वायत्त जिला परिषदों को पूरी तरह समाप्त कर दिया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42314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247/260</a:t>
            </a:r>
          </a:p>
        </p:txBody>
      </p:sp>
    </p:spTree>
  </p:cSld>
  <p:clrMapOvr>
    <a:masterClrMapping/>
  </p:clrMapOvr>
</p:sld>
</file>

<file path=ppt/slides/slide49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Q.247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पूर्वोत्तर में दशकों पुराने उग्रवाद को समाप्त करने के लिए हाल के वर्षों में व्यापक शांति प्रक्रियाएं पूरी हुई हैं। बोडो समझौते ने बोडोलैंड टेरिटोरियल काउंसिल (BTC) को आर्थिक पैकेज और विधायी स्वायत्तता देकर दशकों पुरानी हिंसा समाप्त की। जातीय हिंसा से बेघर हुए ब्रू शरणार्थियों को त्रिपुरा में स्थायी रूप से बसाकर नागरिक अधिकार दिए गए। 29 दिसंबर 2023 को उल्फा के अरविंद राजखोवा गुट ने हिंसा त्यागकर हथियार डाले। संविधान की छठी अनुसूची के तहत जनजातियों की स्वायत्त परिषदों (ADCs) को समाप्त नहीं किया गया है बल्कि उनके अधिकारों और वित्तीय संसाधनों को और अधिक सशक्त बनाया गया है, अतः कथन D असत्य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42314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247/260</a:t>
            </a:r>
          </a:p>
        </p:txBody>
      </p:sp>
    </p:spTree>
  </p:cSld>
  <p:clrMapOvr>
    <a:masterClrMapping/>
  </p:clrMapOvr>
</p:sld>
</file>

<file path=ppt/slides/slide49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248</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वर्ष 1976 में 42वें संविधान संशोधन अधिनियम द्वारा राज्य सूची से समवर्ती सूची में स्थानांतरित किए गए 5 महत्वपूर्ण विषय कौन-से थे?</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रेलवे, डाक, तार, विदेशी व्यापार और मुद्रा</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शिक्षा, वन, वन्य जीवों एवं पक्षियों का संरक्षण, नाप-तौल, तथा अधीनस्थ न्यायालयों का प्रशासन</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पुलिस, कृषि, कारागार, लोक स्वास्थ्य और स्वच्छता</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आयकर, निगम कर, सीमा शुल्क और केंद्रीय उत्पाद शुल्क</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46939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248/260</a:t>
            </a:r>
          </a:p>
        </p:txBody>
      </p:sp>
    </p:spTree>
  </p:cSld>
  <p:clrMapOvr>
    <a:masterClrMapping/>
  </p:clrMapOvr>
</p:sld>
</file>

<file path=ppt/slides/slide49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Q.248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शिक्षा, वन, वन्य जीवों एवं पक्षियों का संरक्षण, नाप-तौल, तथा अधीनस्थ न्यायालयों का प्रशासन</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रेलवे, डाक, तार, विदेशी व्यापार और मुद्रा</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पुलिस, कृषि, कारागार, लोक स्वास्थ्य और स्वच्छता</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आयकर, निगम कर, सीमा शुल्क और केंद्रीय उत्पाद शुल्क</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42वें संविधान संशोधन अधिनियम, 1976 द्वारा भारतीय संघवाद के शक्ति संतुलन में एक बड़ा विधायी बदलाव किया गया। राष्ट्रीय महत्व और एकरूपता को ध्यान में रखते हुए राज्य सूची के 5 महत्वपूर्ण विषयों को समवर्ती सूची (Concurrent List) में स्थानांतरित किया गया: (1) शिक्षा (Education), (2) वन (Forests), (3) वन्य जीवों और पक्षियों का संरक्षण (Protection of wild animals and birds), (4) नाप और तौल (Weights and measures), तथा (5) उच्चतम न्यायालय और उच्च न्यायालयों को छोड़कर अन्य सभी अधीनस्थ न्यायालयों का गठन और संगठन (प्रशासन)। इसके बाद से संसद और राज्य विधानमंडल दोनों को शिक्षा और वनों पर कानून बनाने का अधिकार मिला, जिसमें केंद्र का कानून सर्वोपरि होता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46939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248/260</a:t>
            </a:r>
          </a:p>
        </p:txBody>
      </p:sp>
    </p:spTree>
  </p:cSld>
  <p:clrMapOvr>
    <a:masterClrMapping/>
  </p:clrMapOvr>
</p:sld>
</file>

<file path=ppt/slides/slide49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249</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भारतीय संविधान के अनुच्छेद 368 की सीमाओं और संसद की संशोधन शक्ति के न्यायिक इतिहास के संदर्भ में निम्नलिखित कथनों पर विचार कीजिए: A. शंकरी प्रसाद वाद (1951) में सुप्रीम कोर्ट ने माना था कि संसद अनुच्छेद 368 के तहत मौलिक अधिकारों सहित किसी भी भाग में संशोधन कर सकती है। B. गोलकनाथ बनाम पंजाब राज्य (1967) वाद में न्यायालय ने निर्णय दिया कि संसद मौलिक अधिकारों में कटौती या संशोधन नहीं कर सकती। C. 24वें संविधान संशोधन 1971 द्वारा संसद ने घोषणा की कि अनुच्छेद 368 के तहत संसद मौलिक अधिकारों सहित किसी भी उपबंध को संशोधित कर सकती है। D. केशवानंद भारती वाद (1973) में सर्वोच्च न्यायालय ने गोलकनाथ फैसले को दोहराते हुए संसद की संविधान संशोधन की शक्ति को पूरी तरह शून्य घोषित कर दिया था।</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51563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249/260</a:t>
            </a:r>
          </a:p>
        </p:txBody>
      </p:sp>
    </p:spTree>
  </p:cSld>
  <p:clrMapOvr>
    <a:masterClrMapping/>
  </p:clrMapOvr>
</p:sld>
</file>

<file path=ppt/slides/slide49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Q.249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संसद और न्यायपालिका के बीच संशोधन की सीमा पर ऐतिहासिक टकराव हुआ: 1951 में कोर्ट ने संसद को संप्रभु माना; किंतु 1967 में 11 जजों की पीठ ने गोलकनाथ मामले में 6-5 से फैसला दिया कि मौलिक अधिकार 'पारलौकिक और अपरिवर्तनीय' (Transcendental) हैं और संसद उन्हें नहीं छीन सकती। इंदिरा गांधी सरकार ने 24वें संशोधन से संसद की शक्ति पुनः बहाल की। 1973 के केशवानंद भारती फैसले में कोर्ट ने एक संतुलन साधा-उसने गोलकनाथ फैसले को पलट दिया और माना कि संसद मौलिक अधिकारों सहित किसी भी भाग में संशोधन कर सकती है, किंतु संसद पर यह बुनियादी संवैधानिक लक्ष्मण रेखा खींच दी कि वह 'मूल ढांचे' (Basic Structure) को नष्ट नहीं कर सकती; संशोधन शक्ति को शून्य नहीं किया गया था, अतः कथन D असत्य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51563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249/260</a:t>
            </a:r>
          </a:p>
        </p:txBody>
      </p:sp>
    </p:spTree>
  </p:cSld>
  <p:clrMapOvr>
    <a:masterClrMapping/>
  </p:clrMapOvr>
</p:sld>
</file>

<file path=ppt/slides/slide49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250</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भारतीय संविधान के समग्र दर्शन और जीवंत लोकतांत्रिक यात्रा (1950 से अब तक) के संदर्भ में निम्नलिखित कथनों पर विचार कीजिए: A. भारतीय संविधान का मूल राजनीतिक दर्शन व्यक्तिगत स्वतंत्रता, सामाजिक न्याय, बहुलवादी विविधता के सम्मान और राष्ट्रीय एकता पर आधारित है। B. इसने औपनिवेशिक दासता और सामंती ऊँच-नीच के बंधनों को तोड़कर प्रत्येक भारतीय नागरिक को गरिमा, समानता और आत्म-निर्णय का संप्रभु अधिकार दिया। C. विश्व के कई नव-स्वतंत्र देशों में जहां संविधान और लोकतंत्र तानाशाही या सैनिक तख्तापलट के आगे ढह गए, वहीं भारतीय लोकतंत्र चुनौतियों के बावजूद निरंतर सुदृढ़ हुआ है। D. भारतीय संविधान का अंतिम लक्ष्य केवल एक राजनीतिक व्यवस्था चलाना नहीं, बल्कि समाज के सबसे अंतिम व्यक्ति तक न्याय और समता पहुँचाना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56188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250/260</a:t>
            </a:r>
          </a:p>
        </p:txBody>
      </p:sp>
    </p:spTree>
  </p:cSld>
  <p:clrMapOvr>
    <a:masterClrMapping/>
  </p:clrMapOvr>
</p:sld>
</file>

<file path=ppt/slides/slide50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Q.250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26 जनवरी 1950 को लागू हुआ भारत का संविधान आधुनिक विश्व के इतिहास का सबसे महान सामाजिक-राजनीतिक दस्तावेज है। ग्रेनविले ऑस्टिन ने इसे 'सामाजिक क्रांति को साधने वाला दस्तावेज' कहा था। एशिया और अफ्रीका के अधिकांश देश आजादी के बाद सैनिक तानाशाही में चले गए, किंतु भारत में 18 आम चुनाव, दर्जनों राज्यों में शांतिपूर्ण सत्ता परिवर्तन, आपातकाल की ज्यादतियों को जनता द्वारा खारिज करना और वंचित वर्गों (दलितों, पिछड़ों, आदिवासियों और महिलाओं) का निरंतर बढ़ता राजनीतिक सशक्तिकरण इस संविधान की अप्रतिम जीवंतता का प्रमाण है। यह केवल वकीलों का स्वर्ग नहीं है, बल्कि करोड़ों भारतीयों की सामूहिक आकांक्षाओं, मानवीय गरिमा और बंधुत्व की अमर गाथा है। अतः सभी चारों कथन पूर्णतः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56188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250/260</a:t>
            </a:r>
          </a:p>
        </p:txBody>
      </p:sp>
    </p:spTree>
  </p:cSld>
  <p:clrMapOvr>
    <a:masterClrMapping/>
  </p:clrMapOvr>
</p:sld>
</file>

<file path=ppt/slides/slide50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251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भारतीय संविधान की अनुसूचियों (Schedules) के विकास और उनकी विषय-वस्तु के संदर्भ में निम्नलिखित कथनों पर विचार कीजिए: A. 26 जनवरी 1950 को लागू हुए मूल संविधान में कुल 8 अनुसूचियां थीं, जबकि वर्तमान में इनकी संख्या बढ़कर 12 हो गई है। B. प्रथम संविधान संशोधन अधिनियम, 1951 द्वारा संविधान में 9वीं अनुसूची जोड़ी गई थी जिसका मुख्य उद्देश्य भूमि सुधार कानूनों को न्यायिक समीक्षा से संरक्षण देना था। C. संविधान की 5वीं अनुसूची देश के 10 राज्यों के अनुसूचित क्षेत्रों व जनजातियों के प्रशासन से संबंधित है, जबकि 6वीं अनुसूची केवल 4 पूर्वोत्तर राज्यों (असम, मेघालय, त्रिपुरा, मिजोरम) के जनजातीय क्षेत्रों के लिए स्वायत्त जिला परिषदों का उपबंध करती है। D. 73वें और 74वें संविधान संशोधन 1992 द्वारा क्रमशः 11वीं अनुसूची (पंचायतों के 29 विषय) और 12वीं अनुसूची (नगरपालिकाओं के 18 विषय) जोड़ी गईं।</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60813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251/260</a:t>
            </a:r>
          </a:p>
        </p:txBody>
      </p:sp>
    </p:spTree>
  </p:cSld>
  <p:clrMapOvr>
    <a:masterClrMapping/>
  </p:clrMapOvr>
</p:sld>
</file>

<file path=ppt/slides/slide50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Q.251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भारतीय संविधान में अनुसूचियों का ऐतिहासिक विस्तार शासन और संघीय व्यवस्था के विकास को दर्शाता है। मूल संविधान में 8 अनुसूचियां थीं। 1951 में पहले संशोधन द्वारा जमींदारी उन्मूलन और भूमि सुधार कानूनों को संरक्षण देने हेतु अनुच्छेद 31B के साथ 9वीं अनुसूची जोड़ी गई (यद्यपि 2007 के आई.आर. कोएल्हो वाद में सुप्रीम कोर्ट ने तय किया कि 24 अप्रैल 1973 के बाद 9वीं अनुसूची में डाले गए कानून मूल ढांचे के उल्लंघन पर न्यायिक समीक्षा के अधीन हैं)। 52वें संशोधन 1985 द्वारा दलबदल विरोधी कानून हेतु 10वीं अनुसूची जोड़ी गई। 5वीं अनुसूची सामान्य अनुसूचित क्षेत्रों में जनजातीय सलाहकार परिषदों (TAC) की व्यवस्था करती है, जबकि 6वीं अनुसूची पूर्वोत्तर के चार राज्यों (AMTM - असम, मेघालय, त्रिपुरा, मिजोरम) में स्वायत्त जिला परिषदों (ADCs) को विधायी, प्रशासनिक और न्यायिक स्वायत्तता देती है। 73वें व 74वें संशोधन ने क्रमशः 11वीं अनुसूची (29 विषय) और 12वीं अनुसूची (18 विषय) जोड़ी। अतः सभी चारों कथन पूर्णतः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60813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251/260</a:t>
            </a:r>
          </a:p>
        </p:txBody>
      </p:sp>
    </p:spTree>
  </p:cSld>
  <p:clrMapOvr>
    <a:masterClrMapping/>
  </p:clrMapOvr>
</p:sld>
</file>

<file path=ppt/slides/slide50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252</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भारतीय संविधान के विभिन्न प्रावधानों और उनके विदेशी स्रोतों (Borrowed Features) का सही मिलान कीजिए: सूची-I (संवैधानिक प्रावधान): सूची-I: A. राज्य के नीति-निदेशक सिद्धांत (DPSP) एवं राज्यसभा में 12 सदस्यों का मनोनयन B. संसद के दोनों सदनों की संयुक्त बैठक (अनुच्छेद 108) एवं समवर्ती सूची C. विधि का शासन (Rule of Law), एकल नागरिकता एवं विधायी प्रक्रिया D. मौलिक अधिकार, न्यायिक पुनरावलोकन (Judicial Review) एवं संविधान की सर्वोच्चता सूची-II: 1. संयुक्त राज्य अमेरिका (USA) 2. आयरलैंड (Ireland) 3. यूनाइटेड किंगडम (UK / ब्रिटेन) 4. ऑस्ट्रेलिया (Australia)</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C-3, D-1</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B-3, C-4, D-1</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B-2, C-1, D-3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65438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252/260</a:t>
            </a:r>
          </a:p>
        </p:txBody>
      </p:sp>
    </p:spTree>
  </p:cSld>
  <p:clrMapOvr>
    <a:masterClrMapping/>
  </p:clrMapOvr>
</p:sld>
</file>

<file path=ppt/slides/slide50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Q.252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B-4, C-3, D-1</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C-3,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B-3, C-4, D-1</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B-2, C-1, D-3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भारतीय संविधान निर्माताओं ने दुनिया भर के लोकतांत्रिक संविधानों के सर्वोत्तम तत्वों को भारत की विशिष्ट परिस्थितियों के अनुसार अंगीकार किया: (1) आयरलैंड के संविधान से राज्य के नीति-निदेशक सिद्धांत (DPSP), राष्ट्रपति के निर्वाचक मंडल की पद्धति तथा कला, साहित्य, विज्ञान व समाज सेवा के क्षेत्र से राज्यसभा में 12 सदस्यों को मनोनीत करने की व्यवस्था ली गई; (2) ऑस्ट्रेलिया से समवर्ती सूची, दोनों सदनों की संयुक्त बैठक (अनुच्छेद 108) तथा अंतर-राज्यीय व्यापार, वाणिज्य और समागम की स्वतंत्रता ली गई; (3) ब्रिटेन से संसदीय शासन प्रणाली, विधि का शासन (Rule of Law), एकल नागरिकता, द्विसदनीय व्यवस्था, कैबिनेट प्रणाली और विधायी प्रक्रिया ली गई; (4) अमेरिका से संविधान की सर्वोच्चता, भाग-3 में मौलिक अधिकार, स्वतंत्र न्यायपालिका, न्यायिक पुनरावलोकन (Judicial Review) तथा राष्ट्रपति पर महाभियोग (अनुच्छेद 61) की प्रक्रिया ग्रहण की गई।</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65438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252/260</a:t>
            </a:r>
          </a:p>
        </p:txBody>
      </p:sp>
    </p:spTree>
  </p:cSld>
  <p:clrMapOvr>
    <a:masterClrMapping/>
  </p:clrMapOvr>
</p:sld>
</file>

<file path=ppt/slides/slide50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253</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भारतीय संसद की तीन प्रमुख वित्तीय स्थायी समितियों (Financial Standing Committees) के संदर्भ में निम्नलिखित कथनों पर विचार कीजिए: A. 'लोक लेखा समिति' (PAC) में कुल 22 सदस्य (15 लोकसभा से और 7 राज्यसभा से) होते हैं तथा 1967 से स्थापित परंपरा के अनुसार इसका अध्यक्ष अनिवार्य रूप से विपक्षी दल का कोई वरिष्ठ सदस्य होता है। B. 'प्राकलन समिति' (Estimates Committee) संसद की सबसे बड़ी वित्तीय समिति है जिसमें कुल 30 सदस्य होते हैं और इसके सभी 30 सदस्य केवल और केवल लोकसभा से ही निर्वाचित होते हैं (राज्यसभा का कोई प्रतिनिधित्व नहीं होता)। C. 'सार्वजनिक उपक्रमों पर समिति' (COPU) की स्थापना 1964 में कृष्ण मेनन समिति की सिफारिशों के आधार पर की गई थी जिसमें 22 सदस्य होते हैं। D. संसद की इन वित्तीय समितियों में मंत्रियों को भी सदस्य के रूप में निर्वाचित किया जा सकता है ताकि सरकार का सीधा नियंत्रण बना रहे।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70062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253/260</a:t>
            </a:r>
          </a:p>
        </p:txBody>
      </p:sp>
    </p:spTree>
  </p:cSld>
  <p:clrMapOvr>
    <a:masterClrMapping/>
  </p:clrMapOvr>
</p:sld>
</file>

<file path=ppt/slides/slide50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Q.253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संसद में कार्यपालिका की वित्तीय जवाबदेही सुनिश्चित करने के लिए ये तीन वित्तीय समितियां अत्यंत शक्तिशाली हैं। 1921 में पहली बार गठित लोक लेखा समिति (PAC) सीएजी (CAG) की ऑडिट रिपोर्टों की गहन जांच करती है; इसे सीएजी का 'मित्र, दार्शनिक और मार्गदर्शक' कहा जाता है। 1950 में जॉन मथाई की सिफारिश पर बनी प्राकलन समिति सरकारी खर्चों में मितव्ययिता सुझाती है, इसलिए इसे 'स्थायी मितव्ययिता समिति' भी कहा जाता है; इसमें केवल लोकसभा के सदस्य होते हैं। 1964 में गठित सार्वजनिक उपक्रम समिति सरकारी कंपनियों और निगमों के लेखों की जांच करती है। इन तीनों समितियों का सबसे महत्वपूर्ण संवैधानिक नियम यह है कि कोई भी मंत्री (Minister) इनका सदस्य नहीं चुना जा सकता, और यदि कोई सदस्य बाद में मंत्री बन जाता है तो उसी दिन से उसकी सदस्यता स्वतः समाप्त हो जाती है ताकि जांच की निष्पक्षता बनी रहे; अतः कथन D असत्य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70062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253/260</a:t>
            </a:r>
          </a:p>
        </p:txBody>
      </p:sp>
    </p:spTree>
  </p:cSld>
  <p:clrMapOvr>
    <a:masterClrMapping/>
  </p:clrMapOvr>
</p:sld>
</file>

<file path=ppt/slides/slide50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254</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के निर्वाचन आयोग (ECI) द्वारा किसी राजनीतिक दल को 'राष्ट्रीय दल' (National Party) के रूप में मान्यता दिए जाने के विधिक मापदंडों के संदर्भ में निम्नलिखित कथनों पर विचार कीजिए: A. चुनाव चिन्ह (आरक्षण और आवंटन) आदेश, 1968 के तहत निर्वाचन आयोग राजनीतिक दलों को मान्यता प्रदान करता है। B. यदि कोई राजनीतिक दल कम से कम 4 अलग-अलग राज्यों में 'राज्य स्तरीय दल' (State Party) के रूप में मान्यता प्राप्त कर लेता है, तो उसे राष्ट्रीय दल का दर्जा मिल जाता है। C. यदि कोई दल लोकसभा अथवा विधानसभा के आम चुनाव में कम से कम 4 राज्यों में कुल वैध मतों का न्यूनतम 6% मत प्राप्त करे और साथ ही लोकसभा की कम से कम 4 सीटें जीते, तो वह राष्ट्रीय दल बन सकता है। D. किसी भी दल को राष्ट्रीय दल की मान्यता पाने के लिए यह अनिवार्य शर्त है कि वह पूरे देश के सभी राज्यों में कम से कम 50% लोकसभा सीटों पर चुनाव अवश्य लड़े।</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74687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254/260</a:t>
            </a:r>
          </a:p>
        </p:txBody>
      </p:sp>
    </p:spTree>
  </p:cSld>
  <p:clrMapOvr>
    <a:masterClrMapping/>
  </p:clrMapOvr>
</p:sld>
</file>

<file path=ppt/slides/slide50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Q.254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राजनीतिक दलों की मान्यता चुनाव आयोग के 1968 के आदेश के तहत तीन वैकल्पिक शर्तों में से किसी एक को पूरा करने पर दी जाती है: (1) दल कम से कम चार राज्यों में राज्य स्तरीय दल (State Party) के रूप में मान्यता प्राप्त हो (जैसे आम आदमी पार्टी को गुजरात, पंजाब, दिल्ली और गोवा में मान्यता के आधार पर राष्ट्रीय दर्जा मिला); अथवा (2) लोकसभा या विधानसभा चुनाव में 4 या अधिक राज्यों में पड़े कुल वैध मतों का कम से कम 6% प्राप्त करे तथा किसी एक या अधिक राज्यों से लोकसभा की न्यूनतम 4 सीटें जीते; अथवा (3) लोकसभा की कुल सीटों का कम से कम 2% सीटें (वर्तमान 543 में से 11 सीटें) जीते और ये सीटें कम से कम तीन अलग-अलग राज्यों से जीती गई हों। पूरे देश के सभी राज्यों में 50% सीटों पर चुनाव लड़ने की कोई अनिवार्य शर्त कानून में नहीं है, अतः कथन D असत्य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74687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254/260</a:t>
            </a:r>
          </a:p>
        </p:txBody>
      </p:sp>
    </p:spTree>
  </p:cSld>
  <p:clrMapOvr>
    <a:masterClrMapping/>
  </p:clrMapOvr>
</p:sld>
</file>

<file path=ppt/slides/slide50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255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में केंद्र-राज्य विधायी संबंधों और 'अवशिष्ट शक्तियों' (Residuary Powers) के संवैधानिक वितरण के संदर्भ में निम्नलिखित कथनों पर विचार कीजिए: A. संविधान के अनुच्छेद 248 के अनुसार, ऐसे विषय जो सातवीं अनुसूची की तीनों सूचियों (संघ, राज्य, समवर्ती) में से किसी में भी शामिल नहीं हैं, उन पर कानून बनाने की 'अवशिष्ट शक्ति' केवल संसद (केंद्र) में निहित है। B. संयुक्त राज्य अमेरिका और ऑस्ट्रेलिया के संविधानों में अवशिष्ट शक्तियां राज्यों (प्रान्तों) को दी गई हैं, जबकि भारत ने कनाडाई मॉडल का अनुसरण करते हुए अवशिष्ट शक्तियां केंद्र को सौंपी हैं। C. अनुच्छेद 253 के अनुसार, किसी अंतरराष्ट्रीय संधि, समझौते या अभिसमय को लागू करने के लिए संसद को राज्य सूची के किसी भी विषय पर पूरे देश या उसके किसी भाग के लिए कानून बनाने का पूर्ण अधिकार है (इसमें राज्यों की सहमति की आवश्यकता नहीं होती)। D. अनुच्छेद 252 के तहत संसद किसी भी राज्य सूची के विषय पर उस राज्य के राज्यपाल की व्यक्तिगत मौखिक सहमति से सीधे कानून बना सकती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79312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255/260</a:t>
            </a:r>
          </a:p>
        </p:txBody>
      </p:sp>
    </p:spTree>
  </p:cSld>
  <p:clrMapOvr>
    <a:masterClrMapping/>
  </p:clrMapOvr>
</p:sld>
</file>

<file path=ppt/slides/slide51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Q.255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भारतीय संघवाद में विधायी संतुलन केंद्र के पक्ष में झुका हुआ है। अनुच्छेद 248 अवशिष्ट शक्तियां (जैसे साइबर कानून, अंतरिक्ष अनुसंधान, सरोगेसी) केंद्र की संसद को सौंपता है; यह कनाडा के संविधान से प्रेरित है जबकि अमेरिकी संविधान में 10वें संशोधन द्वारा अवशिष्ट शक्तियां राज्यों को दी गई हैं। अनुच्छेद 253 संसद को अंतरराष्ट्रीय संधियों के क्रियान्वयन हेतु राज्य सूची (जैसे कृषि, व्यापार, पर्यावरण) पर भी अबाध कानून निर्माण की शक्ति देता है। अनुच्छेद 252 के अनुसार संसद तभी राज्य सूची पर विधि बना सकती है जब दो या दो से अधिक राज्यों की विधानसभाएं इस आशय का औपचारिक वैधानिक प्रस्ताव (Resolution) पारित कर संसद से अनुरोध करें; राज्यपाल की मौखिक सहमति से ऐसा नहीं हो सकता, अतः कथन D असत्य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79312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255/260</a:t>
            </a:r>
          </a:p>
        </p:txBody>
      </p:sp>
    </p:spTree>
  </p:cSld>
  <p:clrMapOvr>
    <a:masterClrMapping/>
  </p:clrMapOvr>
</p:sld>
</file>

<file path=ppt/slides/slide51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256</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42वें संविधान संशोधन 1976 द्वारा संविधान में जोड़े गए अनुच्छेद 39A (समान न्याय और निःशुल्क विधिक सहायता) को प्रभावी बनाने के लिए संसद ने किस अधिनियम के तहत 'राष्ट्रीय विधिक सेवा प्राधिकरण' (NALSA) की स्थापना की?</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मध्यस्थता एवं सुलह अधिनियम, 1996</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विधिक सेवा प्राधिकरण अधिनियम, 1987 (Legal Services Authorities Act, 1987)</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ग्राम न्यायालय अधिनियम, 2008</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उपभोक्ता संरक्षण अधिनियम, 1986</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83937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256/260</a:t>
            </a:r>
          </a:p>
        </p:txBody>
      </p:sp>
    </p:spTree>
  </p:cSld>
  <p:clrMapOvr>
    <a:masterClrMapping/>
  </p:clrMapOvr>
</p:sld>
</file>

<file path=ppt/slides/slide51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Q.256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विधिक सेवा प्राधिकरण अधिनियम, 1987 (Legal Services Authorities Act, 1987)</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मध्यस्थता एवं सुलह अधिनियम, 1996</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ग्राम न्यायालय अधिनियम, 2008</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उपभोक्ता संरक्षण अधिनियम, 1986</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भारतीय संविधान का अनुच्छेद 39A राज्य को यह सुनिश्चित करने का निर्देश देता है कि आर्थिक या किसी अन्य अक्षमता के कारण कोई भी गरीब या वंचित नागरिक न्याय पाने के अवसर से वंचित न रहे। इसे धरातल पर उतारने के लिए संसद ने 'विधिक सेवा प्राधिकरण अधिनियम, 1987' पारित किया, जिसके तहत 9 नवंबर 1995 को 'राष्ट्रीय विधिक सेवा प्राधिकरण' (NALSA) की स्थापना की गई। भारत के मुख्य न्यायाधीश (CJI) इसके मुख्य संरक्षक (Patron-in-Chief) होते हैं तथा उच्चतम न्यायालय के दूसरे वरिष्ठतम न्यायाधीश इसके कार्यकारी अध्यक्ष (Executive Chairman) होते हैं। नालसा का मुख्य कार्य महिलाओं, बच्चों, अनुसूचित जातियों/जनजातियों, जेल में बंद विचाराधीन कैदियों और आर्थिक रूप से कमजोर नागरिकों को मुकदमों में मुफ्त वकील और कानूनी सहायता उपलब्ध कराना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83937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256/260</a:t>
            </a:r>
          </a:p>
        </p:txBody>
      </p:sp>
    </p:spTree>
  </p:cSld>
  <p:clrMapOvr>
    <a:masterClrMapping/>
  </p:clrMapOvr>
</p:sld>
</file>

<file path=ppt/slides/slide51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257</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नीति आयोग (NITI Aayog) की संस्थागत संरचना और सहकारी संघवाद (Cooperative Federalism) के संदर्भ में निम्नलिखित कथनों पर विचार कीजिए: A. नीति आयोग की स्थापना 1 जनवरी 2015 को केंद्रीय मंत्रिमंडल के एक कार्यकारी प्रस्ताव द्वारा की गई थी (यह न तो संवैधानिक निकाय है और न ही वैधानिक निकाय)। B. प्रधानमंत्री नीति आयोग के पदेन अध्यक्ष होते हैं तथा उपाध्यक्ष की नियुक्ति प्रधानमंत्री द्वारा की जाती है जिसे कैबिनेट मंत्री का दर्जा प्राप्त होता है। C. नीति आयोग की 'शासी परिषद' (Governing Council) में प्रधानमंत्री के साथ-साथ सभी राज्यों के मुख्यमंत्री तथा केंद्रशासित प्रदेशों के उपराज्यपाल शामिल होते हैं। D. नीति आयोग केंद्र सरकार के विभिन्न मंत्रालयों और राज्य सरकारों को वार्षिक बजट का वित्तीय आवंटन करने का विधिक अधिकार रखता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88561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257/260</a:t>
            </a:r>
          </a:p>
        </p:txBody>
      </p:sp>
    </p:spTree>
  </p:cSld>
  <p:clrMapOvr>
    <a:masterClrMapping/>
  </p:clrMapOvr>
</p:sld>
</file>

<file path=ppt/slides/slide51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Q.257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65 वर्ष पुराने योजना आयोग को समाप्त कर बनाए गए नीति आयोग (National Institution for Transforming India) का मुख्य उद्देश्य 'सहकारी संघवाद' को मजबूत करना और राज्यों को राष्ट्रीय विकास की प्राथमिकताओं में बराबर का साझेदार बनाना है। पुराने योजना आयोग का दृष्टिकोण 'ऊपर से नीचे' (Top-Down) था और वह राज्यों को वित्तीय अनुदान और फंड आवंटित करता था, जिससे राज्य असंतुष्ट रहते थे। नीति आयोग को कोई वित्तीय आवंटन शक्ति (Financial Allocation Power) नहीं दी गई है; वित्तीय संसाधनों का आवंटन केवल केंद्रीय वित्त मंत्रालय का कार्य है। नीति आयोग केवल एक रणनीतिक थिंक-टैंक (Think Tank) है जो साक्ष्य-आधारित नीति निर्माण, तकनीकी सलाह और आकांक्षी जिला कार्यक्रम जैसी नवाचारी योजनाएं संचालित करता है, अतः कथन D असत्य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88561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257/260</a:t>
            </a:r>
          </a:p>
        </p:txBody>
      </p:sp>
    </p:spTree>
  </p:cSld>
  <p:clrMapOvr>
    <a:masterClrMapping/>
  </p:clrMapOvr>
</p:sld>
</file>

<file path=ppt/slides/slide51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258</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अनुसूचित जाति एवं अनुसूचित जनजाति (अत्याचार निवारण) अधिनियम, 1989 (SC/ST Prevention of Atrocities Act) के प्रमुख प्रावधानों के संदर्भ में निम्नलिखित कथनों पर विचार कीजिए: A. यह अधिनियम संविधान के अनुच्छेद 17 (अस्पृश्यता का अंत) और अनुच्छेद 21 (गरिमापूर्ण जीवन) के संवैधानिक लक्ष्यों को साकार करने के लिए बनाया गया एक विशेष दंडात्मक कानून है। B. इसमें अनुसूचित जातियों और अनुसूचित जनजातियों के सदस्यों के विरुद्ध गैर-एससी/एसटी व्यक्तियों द्वारा किए जाने वाले जातिगत अपमान, हिंसा, सामाजिक बहिष्कार और भूमि हड़पने जैसे कृत्यों को कठोर दंडनीय अपराध बनाया गया है। C. पीड़ितों को त्वरित न्याय दिलाने के लिए प्रत्येक जिले में विशेष सत्र न्यायालय (Special Courts) स्थापित करने और विशेष लोक अभियोजकों की नियुक्ति का प्रावधान है। D. 2018 में संसद द्वारा पारित संशोधन (धारा 18A) के तहत अभियुक्त को किसी भी मामले में अनिवार्य रूप से पहले अग्रिम जमानत (Anticipatory Bail) पाने का विधिक अधिकार दिया गया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93186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258/260</a:t>
            </a:r>
          </a:p>
        </p:txBody>
      </p:sp>
    </p:spTree>
  </p:cSld>
  <p:clrMapOvr>
    <a:masterClrMapping/>
  </p:clrMapOvr>
</p:sld>
</file>

<file path=ppt/slides/slide51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Q.258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1989 का POA कानून दलितों और आदिवासियों पर होने वाले अत्याचारों को रोकने के लिए भारत का सबसे कठोर सामाजिक न्याय कानून है। इसमें जातिसूचक गालियां देना, जबरन अखाद्य पदार्थ खिलाना, महिलाओं का शीलभंग करना और भूमि से बेदखल करना गैर-जमानती अपराध घोषित किया गया है। मार्च 2018 में सुप्रीम कोर्ट ने सुभाष काशीनाथ महाजन वाद में गिरफ्तारी से पूर्व जांच और अग्रिम जमानत की अनुमति दी थी, जिसके विरोध में 2 अप्रैल 2018 को देशव्यापी भारत बंद और जन-आंदोलन हुआ। इसके बाद संसद ने अनुसूचित जाति एवं अनुसूचित जनजाति (अत्याचार निवारण) संशोधन अधिनियम, 2018 पारित कर धारा 18A जोड़ी, जिसमें स्पष्ट किया गया कि प्राथमिकी दर्ज करने से पूर्व किसी प्रारंभिक जांच की आवश्यकता नहीं होगी और दंड प्रक्रिया संहिता की धारा 438 के तहत 'अग्रिम जमानत' का निषेध पूर्ववत जारी रहेगा (अग्रिम जमानत का अधिकार नहीं दिया गया बल्कि उस पर रोक को बहाल किया गया), अतः कथन D असत्य है। 2020 में सुप्रीम कोर्ट (पृथ्वी राज चौहान वाद) ने धारा 18A की संवैधानिकता को पूर्णतः सही ठहराया।</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93186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258/260</a:t>
            </a:r>
          </a:p>
        </p:txBody>
      </p:sp>
    </p:spTree>
  </p:cSld>
  <p:clrMapOvr>
    <a:masterClrMapping/>
  </p:clrMapOvr>
</p:sld>
</file>

<file path=ppt/slides/slide51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259</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के नियंत्रक एवं महालेखापरीक्षक (CAG under Article 148-151) की स्वतंत्रता और संवैधानिक उत्तरदायित्व के संदर्भ में निम्नलिखित कथनों पर विचार कीजिए: A. सीएजी (CAG) की नियुक्ति भारत के राष्ट्रपति द्वारा अपने हस्ताक्षर और मुद्रा सहित अधिपत्र द्वारा की जाती है और उसका कार्यकाल 6 वर्ष या 65 वर्ष की आयु (जो भी पहले हो) तक होता है। B. सीएजी को उसके पद से केवल उसी रीति से और उन्हीं आधारों पर हटाया जा सकता है जिस प्रकार उच्चतम न्यायालय के किसी न्यायाधीश को संसद द्वारा विशेष बहुमत से हटाया जाता है। C. सीएजी पद से सेवानिवृत्ति के पश्चात भारत सरकार या किसी राज्य सरकार के अधीन किसी अन्य लाभ के पद का पात्र नहीं होता है। D. सीएजी अपनी वार्षिक लेखा-परीक्षा रिपोर्ट सीधे निजी कंपनियों के शेयरधारकों को भेजता है और संसद के प्रति उसकी कोई संवैधानिक जवाबदेही नहीं होती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97811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259/260</a:t>
            </a:r>
          </a:p>
        </p:txBody>
      </p:sp>
    </p:spTree>
  </p:cSld>
  <p:clrMapOvr>
    <a:masterClrMapping/>
  </p:clrMapOvr>
</p:sld>
</file>

<file path=ppt/slides/slide51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Q.259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डॉ. भीमराव अंबेडकर ने संविधान सभा में सीएजी को 'भारतीय संविधान के तहत सबसे महत्वपूर्ण अधिकारी' कहा था क्योंकि वह देश के समस्त सार्वजनिक वित्त और करदाताओं के धन का सर्वोच्च प्रहरी (Watchdog of Public Purse) है। उसकी स्वतंत्रता की रक्षा के लिए संविधान ने असाधारण सुरक्षा उपाय किए हैं: कार्यपालिका उसे मनमाने ढंग से नहीं हटा सकती; उसका वेतन संचित निधि पर भारित होता है जिस पर संसद में मतदान नहीं होता; और पद छोड़ने के बाद वह किसी भी सरकारी पद पर पुनः नियुक्त नहीं हो सकता ताकि वह बिना किसी लोभ या भय के निष्पक्ष ऑडिट कर सके। अनुच्छेद 151 के अनुसार सीएजी अपनी तीनों रिपोर्टें (विनियोग लेखे, वित्त लेखे और सार्वजनिक उपक्रम) राष्ट्रपति को सौंपता है, जिसे राष्ट्रपति संसद के समक्ष रखवाते हैं और संसद की लोक लेखा समिति (PAC) उनकी गहन जांच करती है; शेयरधारकों को रिपोर्ट भेजने की बात मनगढ़ंत है, अतः कथन D असत्य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97811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259/260</a:t>
            </a:r>
          </a:p>
        </p:txBody>
      </p:sp>
    </p:spTree>
  </p:cSld>
  <p:clrMapOvr>
    <a:masterClrMapping/>
  </p:clrMapOvr>
</p:sld>
</file>

<file path=ppt/slides/slide51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260</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भारतीय संविधान के समग्र दर्शन, पंथनिरपेक्षता और लोकतांत्रिक यात्रा (1950 से वर्तमान) के संदर्भ में निम्नलिखित कथनों पर विचार कीजिए: A. भारतीय पंथनिरपेक्षता (Secularism) पश्चिमी मॉडल (धर्म और राज्य के बीच पूर्ण अलगाव / 'दीवार') से भिन्न है; यह सभी धर्मों के प्रति समान आदर (सर्वधर्म समभाव) और सामाजिक सुधार हेतु राज्य के सकारात्मक हस्तक्षेप को मान्यता देती है। B. मिनर्वा मिल्स बनाम भारत संघ (1980) वाद में सर्वोच्च न्यायालय ने यह ऐतिहासिक व्यवस्था दी कि भारतीय संविधान 'मौलिक अधिकारों और राज्य के नीति-निदेशक सिद्धांतों के बीच संतुलन की सुदृढ़ नींव पर टिका हुआ है'। C. भारतीय संघवाद 'असममित संघवाद' (Asymmetric Federalism) का अद्वितीय उदाहरण है, जहाँ अनुच्छेद 371 से 371J तथा 5वीं व 6वीं अनुसूचियों के माध्यम से विविध क्षेत्रों और समुदायों की विशिष्ट अस्मिताओं का संरक्षण किया गया है। D. स्वतंत्र भारत के 75 से अधिक वर्षों के इतिहास में लोकतांत्रिक संस्थाओं और नियमित निष्पक्ष चुनावों ने यह सिद्ध किया है कि विशाल विविधताओं, भाषाओं और संस्कृतियों के बावजूद भारत एक जीवंत और अटूट संप्रभु गणराज्य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202436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260/260</a:t>
            </a:r>
          </a:p>
        </p:txBody>
      </p:sp>
    </p:spTree>
  </p:cSld>
  <p:clrMapOvr>
    <a:masterClrMapping/>
  </p:clrMapOvr>
</p:sld>
</file>

<file path=ppt/slides/slide52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Q.260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एनसीईआरटी राजनीति विज्ञान के पूरे पाठ्यक्रम का केंद्रीय निष्कर्ष यह है कि भारतीय संविधान एक जीवंत सामाजिक दस्तावेज है। पश्चिमी धर्मनिरपेक्षता जहां धर्म और राज्य के बीच पूर्ण अलगाव (Strict Separation) करती है, वहीं भारतीय धर्मनिरपेक्षता राज्य को धार्मिक स्वतंत्रता की रक्षा के साथ-साथ छुआछूत मिटाने, मंदिर प्रवेश सुनिश्चित करने और बाल विवाह जैसी कुप्रथाओं को रोकने के लिए सकारात्मक हस्तक्षेप की अनुमति देती है। मिनर्वा मिल्स वाद (1980) में जस्टिस चंद्रचूड़ ने कहा था कि मूल अधिकार और DPSP एक ही सिक्के के दो पहलू हैं और दोनों में सामंजस्य ही संविधान का मूल ढांचा है। भारत का संविधान कठोर और लचीलेपन का संतुलन है जिसने 1947 की विभाजन विभीषिका, आपातकाल के संकट और क्षेत्रीय आंदोलनों को लोकतांत्रिक प्रक्रियाओं के भीतर सफलतापूर्वक समाहित किया है। यह किसी संकीर्ण विचार का नहीं, बल्कि करोड़ों भारतीयों की सामूहिक संप्रभुता और मानवीय गरिमा का अमर घोषणापत्र है। अतः सभी चारों कथन पूर्णतः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202436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260/260</a:t>
            </a:r>
          </a:p>
        </p:txBody>
      </p:sp>
    </p:spTree>
  </p:cSld>
  <p:clrMapOvr>
    <a:masterClrMapping/>
  </p:clrMapOvr>
</p:sld>
</file>

<file path=ppt/theme/theme1.xml><?xml version="1.0" encoding="utf-8"?>
<a:theme xmlns:a="http://schemas.openxmlformats.org/drawingml/2006/main" name="NIEd">
  <a:themeElements>
    <a:clrScheme name="NIEd">
      <a:dk1>
        <a:srgbClr val="1A1A4A"/>
      </a:dk1>
      <a:lt1>
        <a:srgbClr val="F5F7FF"/>
      </a:lt1>
      <a:dk2>
        <a:srgbClr val="1B2A6B"/>
      </a:dk2>
      <a:lt2>
        <a:srgbClr val="E8EDFF"/>
      </a:lt2>
      <a:accent1>
        <a:srgbClr val="FF6B00"/>
      </a:accent1>
      <a:accent2>
        <a:srgbClr val="00AA44"/>
      </a:accent2>
      <a:accent3>
        <a:srgbClr val="4466CC"/>
      </a:accent3>
      <a:accent4>
        <a:srgbClr val="FF3B30"/>
      </a:accent4>
      <a:accent5>
        <a:srgbClr val="FFB830"/>
      </a:accent5>
      <a:accent6>
        <a:srgbClr val="7C3AED"/>
      </a:accent6>
      <a:hlink>
        <a:srgbClr val="FF6B00"/>
      </a:hlink>
      <a:folHlink>
        <a:srgbClr val="953734"/>
      </a:folHlink>
    </a:clrScheme>
    <a:fontScheme name="NIEd">
      <a:majorFont>
        <a:latin typeface="Calibri Light"/>
        <a:ea typeface=""/>
        <a:cs typeface="Mangal"/>
      </a:majorFont>
      <a:minorFont>
        <a:latin typeface="Calibri"/>
        <a:ea typeface=""/>
        <a:cs typeface="Mangal"/>
      </a:minorFont>
    </a:fontScheme>
    <a:fmtScheme name="NIEd">
      <a:fillStyleLst>
        <a:solidFill>
          <a:schemeClr val="phClr"/>
        </a:solidFill>
        <a:solidFill>
          <a:schemeClr val="phClr"/>
        </a:solidFill>
        <a:solidFill>
          <a:schemeClr val="phClr"/>
        </a:solidFill>
      </a:fillStyleLst>
      <a:lnStyleLst>
        <a:ln w="6350">
          <a:solidFill>
            <a:schemeClr val="phClr"/>
          </a:solidFill>
        </a:ln>
        <a:ln w="12700">
          <a:solidFill>
            <a:schemeClr val="phClr"/>
          </a:solidFill>
        </a:ln>
        <a:ln w="19050">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