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संविधान सभा के गठन का विचार सर्वप्रथम 1934 में किसके द्वारा प्रस्तुत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जवाहरलाल नेहरू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एम. एन. रॉय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बी. आर. अंबेडकर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एम. एन. 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गांधी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जवाहरलाल 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बी. आर. अंबेडकर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संविधान सभा (Constituent Assembly) के गठन का विचार सबसे पहले 1934 में वामपंथी आंदोलन के प्रणेता मानवेंद्र नाथ रॉय (M. N. Roy) द्वारा प्रस्तुत किया गया था। इसके पश्चात 1935 में भारतीय राष्ट्रीय कांग्रेस (INC) ने आधिकारिक रूप से पहली बार भारत के संविधान के निर्माण के लिए संविधान सभा के गठन की मांग की थी। 1938 में पंडित जवाहरलाल नेहरू ने घोषणा की थी कि स्वतंत्र भारत का संविधान बिना किसी बाहरी हस्तक्षेप के वयस्क मताधिकार के आधार पर चुनी गई संविधान सभा द्वारा बनाया जाएगा। ब्रिटिश सरकार ने इस मांग को सैद्धांतिक रूप से 1940 के 'अगस्त प्रस्ताव' में स्वीकार किया तथा अंततः 1946 के कैबिनेट मिशन योजना के तहत संविधान सभा का गठन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सभा की प्रथम बैठक एवं उसकी प्रारंभिक कार्यवाहियों के संदर्भ में निम्नलिखित कथनों पर विचार कीजिए: A. संविधान सभा की प्रथम बैठक 9 दिसंबर 1946 को काउंसिल चैंबर के पुस्तकालय भवन में आयोजित हुई थी। B. मुस्लिम लीग ने इस बैठक का बहिष्कार किया और अलग पाकिस्तान की मांग पर बल दिया। C. फ्रांसीसी परंपरा के अनुसार सभा के सबसे वरिष्ठ सदस्य डॉ. सच्चिदानंद सिन्हा को अस्थायी अध्यक्ष चुना गया था। D. 13 दिसंबर 1946 को डॉ. राजेंद्र प्रसाद ने ऐतिहासिक 'उद्देश्य प्रस्ताव' (Objective Resolution) प्रस्तुत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पहली बैठक 9 दिसंबर 1946 को नई दिल्ली में आयोजित हुई थी, जिसमें कुल 211 सदस्यों ने भाग लिया था। मुस्लिम लीग ने इस बैठक का पूर्ण बहिष्कार किया था और अलग देश की मांग की थी, अतः कथन B सही है। फ्रांसीसी प्रथा का अनुसरण करते हुए सभा के सबसे वरिष्ठ सदस्य डॉ. सच्चिदानंद सिन्हा को सभा का अस्थायी अध्यक्ष नियुक्त किया गया था, अतः कथन C भी सही है। इसके बाद 11 दिसंबर 1946 को डॉ. राजेंद्र प्रसाद को स्थायी अध्यक्ष तथा एच. सी. मुखर्जी व वी. टी. कृष्णमाचारी को उपाध्यक्ष चुना गया था। कथन D गलत है क्योंकि 13 दिसंबर 1946 को ऐतिहासिक 'उद्देश्य प्रस्ताव' पंडित जवाहरलाल नेहरू द्वारा पेश किया गया था (न कि डॉ. राजेंद्र प्रसाद द्वारा), जो आगे चलकर वर्तमान प्रस्तावना का आधार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प्रमुख समितियों और उनके संबंधित अध्यक्षों के संबंध में निम्नलिखित का मिलान कीजिए: सूची-I (समिति): सूची-I: A. प्रारूप समिति (Drafting Committee) B. संघ शक्ति समिति (Union Powers Committee) C. प्रांतीय संविधान समिति (Provincial Constitution Committee) D. प्रक्रिया नियम समिति (Rules of Procedure Committee) सूची-II: 1. पंडित जवाहरलाल नेहरू 2. डॉ. बी. आर. अंबेडकर 3. डॉ. राजेंद्र प्रसाद 4. सरदार वल्लभभाई पटेल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ने संविधान के निर्माण से संबंधित विभिन्न कार्यों को निपटाने के लिए अनेक प्रमुख एवं लघु समितियों का गठन किया था। प्रारूप समिति के अध्यक्ष डॉ. बी. आर. अंबेडकर थे, जिन्होंने संविधान का अंतिम प्रारूप तैयार किया (A-2)। संघ शक्ति समिति तथा संघीय संविधान समिति दोनों की अध्यक्षता पंडित जवाहरलाल नेहरू ने की थी (B-1)। प्रांतीय संविधान समिति तथा मौलिक अधिकारों व अल्पसंख्यकों संबंधी परामर्श समिति के अध्यक्ष सरदार वल्लभभाई पटेल थे (C-4)। प्रक्रिया नियम समिति और संचालन समिति (Steering Committee) के अध्यक्ष संविधान सभा के स्थायी अध्यक्ष डॉ. राजेंद्र प्रसाद थे (D-3)।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निर्माण, अंगीकरण और प्रवर्तन से संबंधित निम्नलिखित कथनों पर विचार कीजिए: A. संविधान के निर्माण में कुल 2 वर्ष, 11 माह और 18 दिन का समय लगा था। B. 26 नवंबर 1949 को संविधान सभा द्वारा संविधान को अंगीकृत, अधिनियमित और आत्मार्पित किया गया। C. 24 जनवरी 1950 को संविधान सभा की अंतिम बैठक में राष्ट्रगान एवं राष्ट्रगीत को अपनाया गया था। D. नागरिकता, निर्वाचन और अंतरिम संसद से जुड़े उपबंध 26 जनवरी 1950 को लागू किए गए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निर्माण में कुल 2 वर्ष, 11 माह और 18 दिन लगे और इस दौरान कुल 11 औपचारिक सत्र आयोजित किए गए थे, अतः कथन A सही है। 26 नवंबर 1949 को संविधान सभा के उपस्थित सदस्यों द्वारा संविधान पर हस्ताक्षर किए गए तथा इसे अंगीकृत किया गया, अतः कथन B सही है। 24 जनवरी 1950 को संविधान सभा की अंतिम बैठक हुई जिसमें राष्ट्रगान (जन-गण-मन) व राष्ट्रगीत (वंदे मातरम) को अपनाया गया तथा डॉ. राजेंद्र प्रसाद को भारत का प्रथम राष्ट्रपति चुना गया, अतः कथन C सही है। कथन D असत्य है क्योंकि नागरिकता (अनुच्छेद 5-9), निर्वाचन (अनुच्छेद 324), अंतरिम संसद और कुछ अस्थायी उपबंध 26 नवंबर 1949 को ही तुरंत प्रभावी हो गए थे, जबकि शेष संपूर्ण संविधान 26 जनवरी 1950 को लागू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29 अगस्त 1947 को गठित सात सदस्यीय प्रारूप समिति (Drafting Committee) में निम्नलिखित में से कौन सदस्य के रूप में शामिल नहीं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अल्लादि कृष्णास्वामी अय्यर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 एम. मुंशी</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पट्टाभि सीतारमैया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एन. गोपालस्वामी अय्यंगार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पट्टाभि सीतारमैया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अल्लादि कृष्णास्वामी अय्यर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 एम. मुंशी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 गोपालस्वामी अय्यंगार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 अगस्त 1947 को डॉ. बी. आर. अंबेडकर की अध्यक्षता में 7 सदस्यीय प्रारूप समिति का गठन किया गया था। इस समिति के सात सदस्य थे: 1. डॉ. बी. आर. अंबेडकर (अध्यक्ष), 2. एन. गोपालस्वामी अय्यंगार, 3. अल्लादि कृष्णास्वामी अय्यर, 4. डॉ. के. एम. मुंशी, 5. सैयद मोहम्मद सादुल्लाह, 6. एन. माधव राव (जिन्होंने बी. एल. मित्तर के स्वास्थ्य कारणों से त्यागपत्र देने पर स्थान लिया), और 7. टी. टी. कृष्णमाचारी (जिन्होंने 1948 में डी. पी. खेतान की मृत्यु के बाद स्थान लिया)। पट्टाभि सीतारमैया प्रारूप समिति के सदस्य नहीं थे, बल्कि वे संविधान सभा की सदन समिति (House Committee) के अध्यक्ष थे।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स्वरूप और संरचना के संदर्भ में निम्नलिखित कथनों पर विचार कीजिए: A. संविधान सभा के सदस्य प्रांतीय विधानसभाओं द्वारा अप्रत्यक्ष रूप से एकल संक्रमणीय मत द्वारा चुने गए थे। B. यह निकाय पूर्णतः प्रत्यक्ष वयस्क मताधिकार पर आधारित निर्वाचित निकाय था। C. संविधान सभा में देशी रियासतों के प्रतिनिधियों को रियासतों के प्रमुखों द्वारा मनोनीत किया गया था। D. संविधान सभा में कुल 15 महिला सदस्य शामिल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योजना 1946 के अनुसार संविधान सभा के कुल 389 सदस्यों में से 296 ब्रिटिश भारत से और 93 देशी रियासतों से होने थे। प्रांतीय विधानसभाओं के सदस्यों ने आनुपातिक प्रतिनिधित्व प्रणाली के आधार पर एकल संक्रमणीय मत द्वारा अप्रत्यक्ष रूप से संविधान सभा के सदस्यों का चुनाव किया था, अतः कथन A सही है। कथन B असत्य है क्योंकि संविधान सभा पूर्णतः वयस्क मताधिकार द्वारा प्रत्यक्ष रूप से निर्वाचित नहीं थी, बल्कि यह आंशिक रूप से निर्वाचित और आंशिक रूप से मनोनीत निकाय थी। देशी रियासतों के प्रतिनिधि रियासतों के प्रमुखों द्वारा मनोनीत किए गए थे, अतः कथन C सत्य है। संविधान सभा में सरोजिनी नायडू, हंसा मेहता, दुर्गाबाई देशमुख, राजकुमारी अमृत कौर और विजयलक्ष्मी पंडित सहित कुल 15 महिला सदस्य शामिल थीं, अतः कथन D भी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स्रोतों और विभिन्न देशों के संविधानों से ग्रहण किए गए उपबंधों का सही मिलान कीजिए: सूची-I (संवैधानिक प्रावधान): सूची-I: A. राज्य के नीति निदेशक तत्व (DPSP) B. मौलिक अधिकार एवं न्यायिक समीक्षा C. समवर्ती सूची एवं संसद के दोनों सदनों की संयुक्त बैठक D. आपातकाल के समय मूल अधिकारों का स्थगन सूची-II: 1. संयुक्त राज्य अमेरिका (USA) 2. आयरलैंड 3. जर्मनी (वाइमर संविधान) 4. ऑस्ट्रेलिया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निर्माताओं ने विभिन्न देशों की बेहतरीन संवैधानिक परंपराओं को भारतीय परिस्थितियों के अनुसार ग्रहण किया। राज्य के नीति निदेशक तत्व (DPSP), राष्ट्रपति के निर्वाचक मंडल की पद्धति और राज्यसभा में सदस्यों का नामांकन आयरलैंड के संविधान से लिया गया है (A-2)। मौलिक अधिकार, न्यायपालिका की स्वतंत्रता, न्यायिक समीक्षा का सिद्धांत और राष्ट्रपति पर महाभियोग संयुक्त राज्य अमेरिका से लिया गया है (B-1)। समवर्ती सूची, व्यापार-वाणिज्य की स्वतंत्रता और अनुच्छेद 108 के तहत दोनों सदनों की संयुक्त बैठक ऑस्ट्रेलिया से ली गई है (C-4)। आपातकाल के दौरान मूल अधिकारों का निलंबन जर्मनी के वाइमर संविधान से ग्रहण किया गया है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42वें संविधान संशोधन अधिनियम, 1976 और प्रस्तावना के संबंध में निम्नलिखित कथनों पर विचार कीजिए: A. 42वें संविधान संशोधन द्वारा प्रस्तावना में 'समाजवादी', 'पंथनिरपेक्ष' और 'अखंडता' शब्द जोड़े गए थे। B. भारतीय संविधान की प्रस्तावना में अब तक केवल एक बार संशोधन किया गया है। C. प्रस्तावना को संविधान के लागू होने से पहले ही अंगीकृत कर लिया गया था। D. प्रस्तावना विधायिका की शक्तियों का स्रोत नहीं है और न ही उस पर प्रतिबंध लगाती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प्रस्तावना में तीन नए शब्द-'समाजवादी' (Socialist), 'पंथनिरपेक्ष' (Secular) और 'अखंडता' (Integrity) जोड़े गए थे, अतः कथन A सही है। भारतीय संविधान के इतिहास में प्रस्तावना में अब तक केवल एक ही बार संशोधन किया गया है, अतः कथन B सही है। कथन C असत्य है क्योंकि प्रस्तावना को संविधान सभा द्वारा तब पारित और अधिनियमित किया गया था जब शेष संविधान पहले ही अधिनियमित हो चुका था, ताकि यह सुनिश्चित हो सके कि यह संविधान के प्रावधानों के अनुरूप है। कथन D सत्य है क्योंकि प्रस्तावना गैर-न्यायोचित (Non-justiciable) है; यह न तो विधायिका की शक्ति का स्रोत है और न ही विधायिका की शक्तियों पर किसी प्रकार का प्रतिबंध आरोपित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प्रस्तावना में प्रयुक्त भारत की प्रकृति को दर्शाने वाले शब्दों का सही क्रमिक विन्यास कौन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संप्रभुत्वसंपन्न, समाजवादी, पंथनिरपेक्ष, लोकतंत्रात्मक, गणराज्य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संप्रभुत्वसंपन्न, पंथनिरपेक्ष, समाजवादी, लोकतंत्रात्मक, गणराज्य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समाजवादी, संप्रभुत्वसंपन्न, पंथनिरपेक्ष, गणराज्य, लोकतंत्रात्मक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संप्रभुत्वसंपन्न, लोकतंत्रात्मक, पंथनिरपेक्ष, समाजवादी, गणराज्य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संप्रभुत्वसंपन्न, समाजवादी, पंथनिरपेक्ष, लोकतंत्रात्मक, गणराज्य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संप्रभुत्वसंपन्न, पंथनिरपेक्ष, समाजवादी, लोकतंत्रात्मक, गणराज्य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 संप्रभुत्वसंपन्न, पंथनिरपेक्ष, गणराज्य, लोकतंत्रात्मक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संप्रभुत्वसंपन्न, लोकतंत्रात्मक, पंथनिरपेक्ष, समाजवादी, गणराज्य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प्रारंभ होती है: "हम, भारत के लोग, भारत को एक सम्पूर्ण प्रभुत्व-सम्पन्न, समाजवादी, पंथनिरपेक्ष, लोकतंत्रात्मक गणराज्य बनाने के लिए..."। इसका सही क्रमिक विन्यास (Sovereign, Socialist, Secular, Democratic, Republic - संक्षेप में SO-SO-SE-DE-RE) है। 'संप्रभु' का अर्थ है कि भारत आंतरिक व बाह्य रूप से पूर्ण स्वतंत्र है; 'समाजवादी' का अर्थ लोकतांत्रिक समाजवाद और आर्थिक विषमता में कमी है; 'पंथनिरपेक्ष' का अर्थ है कि राज्य का कोई राजकीय धर्म नहीं है तथा सभी धर्मों को समान संरक्षण प्राप्त है; 'लोकतंत्रात्मक' का अर्थ जनता की संप्रभुता है; और 'गणराज्य' का अर्थ है कि राष्ट्र का प्रमुख (राष्ट्रपति) निर्वाचित होता है, वंशानुगत नहीं।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प्रस्तावना की संवैधानिक स्थिति और संबंधित ऐतिहासिक वादों के संदर्भ में निम्नलिखित कथनों पर विचार कीजिए: A. बेरुबारी संघ वाद (1960) में सर्वोच्च न्यायालय ने मत दिया था कि प्रस्तावना संविधान का अंग नहीं है। B. केशवानंद भारती वाद (1973) में सर्वोच्च न्यायालय ने पूर्व मत को पलटते हुए प्रस्तावना को संविधान का अभिन्न अंग स्वीकार किया। C. एल.आई.सी. ऑफ इंडिया वाद (1995) में भी न्यायालय ने पुनः माना कि प्रस्तावना संविधान का आंतरिक भाग है। D. प्रस्तावना के प्रावधान न्यायालय द्वारा सीधे तौर पर प्रवर्तनीय (Justiciable)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प्रस्तावना की संवैधानिक स्थिति को लेकर न्यायपालिका का दृष्टिकोण समय के साथ विकसित हुआ है। बेरुबारी संघ वाद (1960) में सुप्रीम कोर्ट ने कहा था कि प्रस्तावना संविधान निर्माताओं के विचारों को जानने की कुंजी तो है, किंतु यह संविधान का भाग नहीं है, अतः कथन A सही है। ऐतिहासिक केशवानंद भारती वाद (1973) में 13 न्यायाधीशों की संविधान पीठ ने बेरुबारी फैसले को खारिज करते हुए स्पष्ट निर्णय दिया कि प्रस्तावना संविधान का एक अभिन्न अंग है और इसमें अनुच्छेद 368 के तहत 'मूल ढांचे' को नष्ट किए बिना संशोधन किया जा सकता है, अतः कथन B सही है। एलआईसी ऑफ इंडिया वाद (1995) में भी न्यायालय ने पुनः पुष्टि की कि प्रस्तावना संविधान का अभिन्न अंग है, अतः कथन C सही है। कथन D असत्य है क्योंकि प्रस्तावना गैर-न्यायोचित (Non-enforceable/Non-justiciable) है, अर्थात् इसके प्रावधानों को अदालत में चुनौती देकर कानूनी रूप से लागू नहीं कराया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प्रस्तावना में वर्णित 'न्याय' और 'स्वतंत्रता, समानता व बंधुत्व' के आदर्श क्रमशः किन ऐतिहासिक क्रांतियों से प्रेरित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अमेरिकी क्रांति एवं गौरवपूर्ण क्रांति (ब्रिटेन)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1917 की रूसी क्रांति एवं 1789 की फ्रांसीसी क्रांति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फ्रांसीसी क्रांति एवं रूसी क्रांति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1776 की अमेरिकी क्रांति एवं 1911 की चीनी क्रांति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1917 की रूसी क्रांति एवं 1789 की फ्रांसीसी क्रांति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अमेरिकी क्रांति एवं गौरवपूर्ण क्रांति (ब्रिटेन)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फ्रांसीसी क्रांति एवं रूसी क्रांति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1776 की अमेरिकी क्रांति एवं 1911 की चीनी क्रांति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में सामाजिक, आर्थिक और राजनीतिक न्याय के तीन तत्व 1917 की रूसी क्रांति से लिए गए हैं। सामाजिक न्याय का अर्थ है जाति, धर्म, लिंग आदि के आधार पर बिना किसी भेदभाव के सभी नागरिकों के साथ समान व्यवहार; आर्थिक न्याय का अर्थ है आर्थिक कारकों के आधार पर भेदभाव की समाप्ति; और राजनीतिक न्याय का अर्थ है सभी को समान राजनीतिक अधिकार। इसके विपरीत, प्रस्तावना में उल्लिखित स्वतंत्रता (विचार, अभिव्यक्ति, विश्वास, धर्म और उपासना), प्रतिष्ठा व अवसर की समानता, तथा व्यक्ति की गरिमा व राष्ट्र की एकता-अखंडता को सुनिश्चित करने वाली बंधुता के महान आदर्श 1789 की ऐतिहासिक फ्रांसीसी क्रांति से प्रेरित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नागरिकता अधिनियम, 1955 के अंतर्गत नागरिकता अर्जन (Acquisition) के तरीकों के संबंध में निम्नलिखित कथनों पर विचार कीजिए: A. नागरिकता अधिनियम 1955 नागरिकता प्राप्त करने के पांच आधार प्रदान करता है: जन्म, वंश, पंजीकरण, देशीयकरण और क्षेत्र समाविष्टि। B. पंजीकरण द्वारा नागरिकता प्राप्त करने के लिए सामान्यतः आवेदन से पूर्व कम से कम 7 वर्ष तक भारत में निवास अनिवार्य है। C. देशीयकरण (Naturalization) का प्रमाण पत्र केवल उन व्यक्तियों को दिया जा सकता है जो संविधान की 8वीं अनुसूची में शामिल किसी एक भाषा का अच्छा ज्ञान रखते हों। D. यदि कोई नया विदेशी भूभाग भारत का हिस्सा बनता है, तो उस क्षेत्र के सभी निवासी स्वतः अमेरिकी तर्ज पर दोहरी नागरिकता प्राप्त कर 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नागरिकता अधिनियम 1955 के तहत भारतीय नागरिकता प्राप्त करने के 5 तरीके हैं-जन्म से (By Birth), वंश से (By Descent), पंजीकरण से (By Registration), देशीयकरण से (By Naturalisation), और क्षेत्र समाविष्टि से (By Incorporation of Territory), अतः कथन A सही है। भारतीय मूल के व्यक्ति जो पंजीकरण के माध्यम से नागरिकता चाहते हैं, उन्हें आवेदन करने से ठीक पूर्व कम से कम 7 वर्ष भारत में सामान्य निवासी होना आवश्यक है, अतः कथन B सही है। देशीयकरण के माध्यम से नागरिकता चाहने वाले व्यक्ति के लिए आवश्यक शर्तों में 8वीं अनुसूची की किसी एक भाषा का पर्याप्त ज्ञान और अच्छा चरित्र शामिल है, अतः कथन C सही है। कथन D असत्य है क्योंकि भारत में केवल 'एकल नागरिकता' (Single Citizenship) का प्रावधान है। जब कोई नया क्षेत्र भारत का हिस्सा बनता है, तो केंद्र सरकार राजपत्र में अधिसूचना द्वारा विनिर्दिष्ट करती है कि उस क्षेत्र के कौन से व्यक्ति भारत के एकल नागरिक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नागरिकता अधिनियम, 1955 के तहत नागरिकता की समाप्ति (Loss of Citizenship) के प्रावधानों के संदर्भ में निम्नलिखित कथनों पर विचार कीजिए: A. नागरिकता का स्वैच्छिक त्याग (Renunciation) करने पर उस व्यक्ति के प्रत्येक अवयस्क बच्चे की भारतीय नागरिकता भी समाप्त हो जाती है। B. किसी भारतीय नागरिक द्वारा स्वेच्छा से अन्य देश की नागरिकता ग्रहण करने पर उसकी भारतीय नागरिकता स्वतः समाप्त (Termination) हो जाती है। C. यदि नागरिकता कपट, जालसाजी या संविधान के प्रति अनादर प्रदर्शित करके प्राप्त की गई हो, तो केंद्र सरकार उसे नागरिकता से वंचित (Deprivation) कर सकती है। D. युद्ध के दौरान शत्रु देश के साथ गैर-कानूनी व्यापार या संपर्क करने पर नागरिकता से वंचित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नागरिकता अधिनियम 1955 के तहत नागरिकता खोने के तीन तरीके हैं: 1. त्याग (Renunciation): जब कोई वयस्क नागरिक अपनी नागरिकता का त्याग करता है, तो उसके सभी अवयस्क बच्चों की भारतीय नागरिकता भी समाप्त हो जाती है (यद्यपि बच्चा 18 वर्ष का होने पर पुनः भारतीय नागरिकता का विकल्प चुन सकता है), अतः कथन A सही है। 2. पर्यवसान (Termination): यदि कोई भारतीय नागरिक स्वेच्छा से किसी अन्य देश की नागरिकता स्वीकार कर लेता है, तो उसकी भारतीय नागरिकता कानूनन स्वतः समाप्त हो जाती है, अतः कथन B सही है। 3. वंचन (Deprivation): यह केंद्र सरकार द्वारा अनिवार्य समाप्ति है जो कपट से नागरिकता लेने, संविधान के प्रति निष्ठाहीनता, युद्धकाल में शत्रु से संपर्क करने, या पंजीकरण/देशीयकरण के 5 वर्ष के भीतर किसी देश में 2 वर्ष का कारावास होने पर की जाती है। अतः कथन D असत्य है क्योंकि युद्ध के समय शत्रु देश से व्यापार या राष्ट्रविरोधी संचार करने पर सरकार नागरिकता से वंचित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भाग-II (अनुच्छेद 5 से 11) और एकल नागरिकता के संदर्भ में कौन 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में भविष्य की नागरिकता अर्जन और समाप्ति के लिए विस्तृत और स्थायी नियम बनाए गए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11 के तहत संसद को नागरिकता के अधिकार का विधि द्वारा विनियमन करने की पूर्ण शक्ति प्रदान की गई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अमेरिका और स्विट्जरलैंड की तरह केंद्र और राज्यों की दोहरी नागरिकता की व्यवस्था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लागू होने के समय नागरिकता से संबंधित मामलों का निर्धारण अनुच्छेद 368 के तहत किया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11 के तहत संसद को नागरिकता के अधिकार का विधि द्वारा विनियमन करने की पूर्ण शक्ति प्रदान की गई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में भविष्य की नागरिकता अर्जन और समाप्ति के लिए विस्तृत और स्थायी नियम बनाए गए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अमेरिका और स्विट्जरलैंड की तरह केंद्र और राज्यों की दोहरी नागरिकता की व्यवस्था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लागू होने के समय नागरिकता से संबंधित मामलों का निर्धारण अनुच्छेद 368 के तहत किया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II (अनुच्छेद 5 से 11) केवल यह निर्धारित करता है कि 26 जनवरी 1950 को संविधान लागू होने के समय कौन-कौन व्यक्ति भारत के नागरिक बने। इसमें भविष्य में नागरिकता के अर्जन या समाप्ति के लिए स्थायी प्रावधान नहीं किए गए थे। संविधान निर्माताओं ने अनुच्छेद 11 के तहत संसद को यह पूर्ण और अनन्य शक्ति सौंपी कि वह नागरिकता के अर्जन, समाप्ति तथा नागरिकता से संबंधित अन्य सभी विषयों पर कानून बनाए। इसी शक्ति का प्रयोग करते हुए संसद ने 'नागरिकता अधिनियम, 1955' पारित किया। इसके अतिरिक्त, अमेरिका और स्विट्जरलैंड के विपरीत, भारत में 'एकल नागरिकता' (Single Citizenship) का प्रावधान है ताकि देश में बंधुत्व और राष्ट्रीय एकता को बढ़ावा दिया जा सके। अतः विकल्प B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प्रवासी भारतीय नागरिकता (OCI Cardholder) योजना के संदर्भ में निम्नलिखित कथनों पर विचार कीजिए: A. OCI कार्डधारकों को भारत में प्रवेश के लिए बहु-प्रवेश, बहुउद्देश्यीय आजीवन वीजा प्राप्त होता है। B. OCI कार्डधारक भारत में किसी भी चुनाव में मतदान करने और संवैधानिक पदों (जैसे राष्ट्रपति, न्यायाधीश) को धारण करने के हकदार होते हैं। C. 2015 के नागरिकता (संशोधन) अधिनियम द्वारा PIO (भारतीय मूल के व्यक्ति) योजना को OCI योजना में विलय कर दिया गया। D. OCI कार्डधारक भारत में कृषि भूमि या बागान संपत्ति (Agricultural land/Plantation property) स्वतंत्र रूप से नहीं खरीद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प्रवासी भारतीय नागरिकता (OCI) योजना विदेशी नागरिकों (जो भारतीय मूल के हैं) को दी जाने वाली एक विशेष वैधानिक सुविधा है। OCI कार्डधारकों को आजीवन बिना वीजा के भारत आने की सुविधा और बहु-प्रवेश अधिकार प्राप्त होता है, अतः कथन A सही है। कथन B असत्य है क्योंकि OCI कार्डधारक भारत के पूर्ण नागरिक नहीं होते; उन्हें संविधान के अनुच्छेद 16 के तहत सार्वजनिक रोजगार में अवसर की समानता, मतदान करने का अधिकार, संसद या विधानमंडल का सदस्य बनने का अधिकार तथा राष्ट्रपति, उपराष्ट्रपति, सुप्रीम कोर्ट/हाई कोर्ट के न्यायाधीश जैसे संवैधानिक पद धारण करने का कोई अधिकार प्राप्त नहीं है। 2015 के संशोधन द्वारा PIO कार्ड योजना को OCI कार्ड योजना में समाहित कर दिया गया, अतः कथन C सत्य है। OCI कार्डधारक भारत में कृषि भूमि, फार्महाउस या बागान संपत्ति RBI की विशेष अनुमति के बिना नहीं खरीद सकते, अतः कथन D भी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12 और 13 के संदर्भ में निम्नलिखित कथनों पर विचार कीजिए: A. अनुच्छेद 12 के अंतर्गत 'राज्य' की परिभाषा में भारत की संसद, सरकार, राज्य विधानमंडल तथा सभी स्थानीय एवं अन्य प्राधिकारी शामिल हैं। B. उच्चतम न्यायालय के अनुसार कोई भी निजी निकाय या एजेंसी जो राज्य के अभिकरण के रूप में कार्य कर रही हो, अनुच्छेद 12 के तहत राज्य है। C. अनुच्छेद 13 घोषित करता है कि मूल अधिकारों से असंगत या उनका अल्पीकरण करने वाली सभी विधियां शून्य होंगी। D. अनुच्छेद 13 के अंतर्गत 'विधि' शब्द में केवल संसद द्वारा पारित स्थायी कानून शामिल हैं, अध्यादेश या उप-विधियां शामिल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भाग III के प्रयोजनों के लिए अनुच्छेद 12 में 'राज्य' की व्यापक परिभाषा दी गई है जिसमें केंद्र सरकार, संसद, राज्य सरकारें, विधानमंडल, स्थानीय निकाय (नगरपालिकाएं, पंचायतें) और अन्य सांविधिक/गैर-सांविधिक प्राधिकरण (जैसे LIC, ONGC, SAIL आदि) शामिल हैं, अतः कथन A सही है। सर्वोच्च न्यायालय के निर्णयों के अनुसार यदि कोई निजी संस्था राज्य के एक उपकरण या एजेंसी के रूप में कार्य करती है, तो वह भी अनुच्छेद 12 के तहत 'राज्य' के दायरे में आती है, अतः कथन B सही है। अनुच्छेद 13 न्यायिक समीक्षा (Judicial Review) का मूल आधार है, जो स्पष्ट करता है कि मूल अधिकारों का उल्लंघन करने वाला कोई भी कानून उस सीमा तक शून्य होगा, अतः कथन C सही है। कथन D असत्य है क्योंकि अनुच्छेद 13(3) में 'विधि' को बहुत व्यापक रूप से परिभाषित किया गया है जिसमें संसद के अधिनियम, राज्य के कानून, राष्ट्रपति/राज्यपाल द्वारा जारी अध्यादेश, आदेश, उप-विधि, नियम, विनियम, अधिसूचना और कानून का बल रखने वाली रूढ़ि या प्रथाएं सभी शामिल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14 (समानता का अधिकार) के संदर्भ में निम्नलिखित कथनों पर विचार कीजिए: A. 'विधि के समक्ष समता' (Equality before law) की अवधारणा ब्रिटिश परंपरा से ली गई है और यह एक नकारात्मक अवधारणा है। B. 'विधियों का समान संरक्षण' (Equal protection of laws) की अवधारणा अमेरिकी संविधान से प्रेरित है और यह एक सकारात्मक अवधारणा है। C. अनुच्छेद 14 पूर्ण और अनियंत्रित समानता की बात करता है तथा किसी भी प्रकार के विधायी वर्गीकरण पर पूर्ण रोक लगाता है। D. अनुच्छेद 14 में निहित 'विधि का शासन' (Rule of Law) संविधान के 'मूल ढांचे' का हिस्सा है जिसे संशोधित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 घोषणा करता है कि राज्य भारत के राज्यक्षेत्र में किसी व्यक्ति को विधि के समक्ष समता या विधियों के समान संरक्षण से वंचित नहीं करेगा। 'विधि के समक्ष समता' ब्रिटिश मूल (प्रो. ए. वी. डाइसी के विधि का शासन) से है, जिसका अर्थ है कि किसी व्यक्ति के पक्ष में कोई विशेषाधिकार नहीं होगा और सभी कानून के अधीन समान होंगे; यह एक नकारात्मक अवधारणा है, अतः कथन A सही है। 'विधियों का समान संरक्षण' अमेरिकी संविधान से लिया गया है, जिसका अर्थ है कि समान परिस्थितियों वाले व्यक्तियों के साथ विधि के अनुप्रयोग में समान व्यवहार किया जाएगा; यह एक सकारात्मक अवधारणा है, अतः कथन B सही है। कथन C असत्य है क्योंकि अनुच्छेद 14 वर्ग विधान (Class legislation) का निषेध करता है लेकिन 'युक्तियुक्त वर्गीकरण' (Reasonable classification) की अनुमति देता है, बशर्ते वर्गीकरण बोधगम्य अंतरक (Intelligible differentia) पर आधारित हो। सर्वोच्च न्यायालय ने मिनर्वा मिल्स वाद में माना कि विधि का शासन संविधान का मूल ढांचा है,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15 (धर्म, मूलवंश, जाति, लिंग या जन्मस्थान के आधार पर विभेद का प्रतिषेध) के संदर्भ में निम्नलिखित कथनों पर विचार कीजिए: A. अनुच्छेद 15 (1) केवल नागरिकों को प्राप्त है और यह राज्य को केवल 5 आधारों पर नागरिकों के मध्य विभेद करने से रोकता है। B. अनुच्छेद 15(3) राज्य को महिलाओं और बच्चों के लिए विशेष कल्याणकारी प्रावधान करने की अनुमति देता है। C. अनुच्छेद 15(4) और 15 (5) सामाजिक और शैक्षणिक रूप से पिछड़े वर्गों (SEBC), SC और ST के लिए विशेष प्रावधान और उच्च शिक्षण संस्थानों में आरक्षण से संबंधित हैं। D. 103वें संविधान संशोधन अधिनियम (2019) द्वारा अनुच्छेद 15 (6) जोड़कर आर्थिक रूप से कमजोर वर्गों (EWS) के लिए 10% आरक्षण का प्रावधान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15 केवल भारतीय नागरिकों को प्राप्त एक विशिष्ट मूल अधिकार है। अनुच्छेद 15(1) राज्य को आदेश देता है कि वह किसी नागरिक के विरुद्ध 'केवल' धर्म, मूलवंश, जाति, लिंग, जन्मस्थान या इनमें से किसी के आधार पर कोई विभेद नहीं करेगा, अतः कथन A सही है। अनुच्छेद 15(3) इस सामान्य नियम का अपवाद है जो महिलाओं और बच्चों के उत्थान के लिए विशेष प्रावधान (जैसे स्थानीय निकायों में आरक्षण या निःशुल्क शिक्षा) की शक्ति राज्य को देता है, अतः कथन B सही है। अनुच्छेद 15(4) को प्रथम संविधान संशोधन 1951 (चंपकम दोराइराजन वाद के बाद) और अनुच्छेद 15(5) को 93वें संशोधन 2005 द्वारा जोड़ा गया ताकि पिछड़े वर्गों, SC और ST के लिए शैक्षणिक संस्थानों (निजी गैर-सहायता प्राप्त सहित) में प्रवेश हेतु विशेष प्रावधान किए जा सकें, अतः कथन C सही है। 103वें संशोधन 2019 ने अनुच्छेद 15(6) जोड़ा, जिसके तहत गैर-आरक्षित वर्ग के EWS छात्रों के लिए शैक्षणिक संस्थानों में अधिकतम 10% आरक्षण का संवैधानिक आधार तैयार किया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अनुच्छेद 16 (लोक नियोजन के विषय में अवसर की समता) और इंद्रा साहनी वाद (1992) के संदर्भ में निम्नलिखित कथनों पर विचार कीजिए: A. अनुच्छेद 16(2) के अनुसार राज्य के अधीन किसी पद पर नियोजन में धर्म, मूलवंश, जाति, लिंग, उद्भव, जन्मस्थान या निवास के आधार पर भेदभाव नहीं किया जाएगा। B. इंद्रा साहनी वाद (मण्डल वाद, 1992) में सर्वोच्च न्यायालय ने OBC के लिए 27% आरक्षण को वैध ठहराया, लेकिन 'क्रीमी लेयर' को बाहर करने का निर्देश दिया। C. सर्वोच्च न्यायालय ने निर्णय दिया कि विशेष परिस्थितियों को छोड़कर आरक्षण की कुल सीमा 50% से अधिक नहीं होनी चाहिए। D. उच्चतम न्यायालय ने इंद्रा साहनी मामले में स्पष्ट किया कि पदोन्नति में आरक्षण (Reservation in Promotions) अनिवार्य रूप से लागू रहेगा।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16 राज्य के अधीन सार्वजनिक रोजगार में सभी नागरिकों को समान अवसर प्रदान करता है और इसमें विभेद के 7 विशिष्ट आधार (धर्म, मूलवंश, जाति, लिंग, उद्भव, जन्मस्थान, निवास) उल्लिखित हैं, अतः कथन A सही है। ऐतिहासिक इंद्रा साहनी बनाम भारत संघ वाद (1992) में 9 न्यायाधीशों की संविधान पीठ ने अन्य पिछड़े वर्गों (OBC) के लिए 27% आरक्षण की संवैधानिक वैधता को बरकरार रखा तथा पिछड़े वर्गों के संपन्न तबके (क्रीमी लेयर) को आरक्षण के लाभ से बाहर रखने का ऐतिहासिक सिद्धांत प्रतिपादित किया, अतः कथन B सही है। न्यायालय ने यह भी व्यवस्था दी कि किसी भी स्थिति में कुल आरक्षण 50% की सीमा से अधिक नहीं होना चाहिए, अतः कथन C सही है। कथन D असत्य है क्योंकि इंद्रा साहनी वाद में सुप्रीम कोर्ट ने व्यवस्था दी थी कि आरक्षण केवल प्रारंभिक नियुक्ति के स्तर पर लागू होगा, पदोन्नति में आरक्षण नहीं दिया जा सकता (हालाँकि बाद में संसद ने 77वें संशोधन 1995 द्वारा अनुच्छेद 16(4A) जोड़कर SC/ST के लिए पदोन्नति में आरक्षण का प्रावधान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समता के अधिकार से संबंधित अनुच्छेदों और उनके मुख्य संवैधानिक प्रावधानों का सही मिलान कीजिए: सूची-I (अनुच्छेद): सूची-I: A. अनुच्छेद 14 B. अनुच्छेद 16 C. अनुच्छेद 17 D. अनुच्छेद 18 सूची-II: 1. अस्पृश्यता का पूर्ण उन्मूलन और किसी भी रूप में इसके आचरण का निषेध 2. राज्य के अधीन पदों पर लोक नियोजन में अवसर की समता 3. सेना और विद्या संबंधी उपाधियों को छोड़कर अन्य सभी उपाधियों का अंत 4. विधि के समक्ष समता और विधियों का समान संरक्षण</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III में अनुच्छेद 14 से 18 तक 'समानता का अधिकार' प्रदान किया गया है। अनुच्छेद 14 कानून के समक्ष सभी व्यक्तियों की समानता और विधियों के समान संरक्षण की गारंटी देता है (A-4)। अनुच्छेद 16 राज्य के अधीन किसी भी कार्यालय में रोजगार या नियुक्ति से संबंधित मामलों में सभी नागरिकों के लिए अवसर की समानता सुनिश्चित करता है (B-2)। अनुच्छेद 17 अस्पृश्यता (Untouchability) का पूर्णतः उन्मूलन करता है और इसे किसी भी रूप में आचरित करने को दंडनीय अपराध घोषित करता है; यह एक निरपेक्ष (Absolute) अधिकार है (C-1)। अनुच्छेद 18 राज्य को सैन्य और शैक्षणिक विशिष्टताओं को छोड़कर अन्य सभी प्रकार की वंशानुगत या सामंती उपाधियां (जैसे राय बहादुर, सर आदि) प्रदान करने से रोकता है (D-3)। अतः सही सुमेलित विकल्प A-4, B-2,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19 द्वारा प्रदत्त छह स्वतंत्रताओं और उन पर आरोपित युक्तियुक्त प्रतिबंधों के संदर्भ में निम्नलिखित कथनों पर विचार कीजिए: A. अनुच्छेद 19 केवल भारत के नागरिकों को प्राप्त है, यह विदेशियों या कानूनी व्यक्तियों (कंपनियों) को प्राप्त नहीं है। B. वाक् एवं अभिव्यक्ति की स्वतंत्रता [19(1)(a)] पर भारत की संप्रभुता, सुरक्षा, विदेशी राज्यों से मैत्रीपूर्ण संबंध, लोक व्यवस्था, शिष्टाचार, न्यायालय की अवमानना आदि 8 आधारों पर प्रतिबंध लगाया जा सकता है। C. 97वें संविधान संशोधन अधिनियम (2011) द्वारा अनुच्छेद 19(1)(c) में 'सहकारी समितियां' (Co-operative Societies) बनाने का अधिकार जोड़ा गया था। D. नागरिकों को बिना किसी पूर्व सूचना या प्रतिबंध के किसी भी समय और स्थान पर हथियार सहित शांतिपूर्ण सम्मेलन करने का असीमित मौलिक अधिकार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19(1) भारतीय नागरिकों को छह लोकतांत्रिक स्वतंत्रताएं (वाक् व अभिव्यक्ति, शांतिपूर्ण व बिना हथियारों के सम्मेलन, संघ या सहकारी समिति बनाना, भारत में निर्बाध संचरण, किसी भी भाग में निवास, तथा कोई भी व्यवसाय या व्यापार करना) प्रदान करता है। यह अधिकार केवल नागरिकों को प्राप्त है, अतः कथन A सही है। अनुच्छेद 19(2) के तहत वाक् व अभिव्यक्ति की स्वतंत्रता पर केवल संविधान में उल्लिखित 8 विशिष्ट आधारों (संप्रभुता व अखंडता, सुरक्षा, विदेशी राज्यों से मैत्री संबंध, लोक व्यवस्था, शालीनता/सदाचार, न्यायालय की अवमानना, मानहानि, अपराध उद्दीपन) पर ही युक्तियुक्त प्रतिबंध लगाए जा सकते हैं, अतः कथन B सही है। 97वें संविधान संशोधन 2011 द्वारा संगम या संघ के साथ 'सहकारी समितियां' बनाने के अधिकार को अनुच्छेद 19(1)(c) में मौलिक अधिकार का दर्जा दिया गया, अतः कथन C सही है। कथन D असत्य है क्योंकि अनुच्छेद 19(1)(b) के तहत सम्मेलन का अधिकार केवल 'शांतिपूर्ण और बिना हथियारों के' (Peaceably and without arms) है, तथा यह सार्वजनिक सुरक्षा और यातायात नियंत्रण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20 (अपराधों के लिए दोषसिद्धि के संबंध में संरक्षण) के संदर्भ में निम्नलिखित कथनों पर विचार कीजिए: A. कार्योत्तर विधियों से संरक्षण (Ex-post facto law) केवल आपराधिक कानूनों पर लागू होता है, दीवानी (Civil) या कर (Tax) कानूनों पर नहीं। B. दोहरे दंड से संरक्षण (Double Jeopardy) का अर्थ है कि किसी व्यक्ति को एक ही अपराध के लिए एक से अधिक बार अभियोजित और दंडित नहीं किया जाएगा। C. दोहरे दंड से संरक्षण की सुविधा विभागीय या प्रशासनिक जांचों में लागू नहीं होती, यह केवल न्यायालयों या न्यायिक न्यायाधिकरणों के समक्ष प्राप्त है। D. आत्म-अभिशंसन से संरक्षण (Self-incrimination) के तहत किसी आरोपी को अपने ही विरुद्ध गवाह बनने के लिए बाध्य नहीं किया जा सकता, और यह संरक्षण केवल दीवानी मामलों में उपलब्ध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 नागरिकों और गैर-नागरिकों दोनों को मनमाने और अत्यधिक दंड से संरक्षण प्रदान करता है। अनुच्छेद 20(1) भूतलक्षी दांडिक विधान (Ex-post facto law) का निषेध करता है, अर्थात् किसी व्यक्ति को केवल उस कानून के तहत दंडित किया जा सकता है जो अपराध करते समय लागू था। यह सुरक्षा केवल आपराधिक कानूनों पर लागू होती है, दीवानी या टैक्स कानूनों को भूतलक्षी प्रभाव से लागू किया जा सकता है, अतः कथन A सही है। अनुच्छेद 20(2) दोहरे दंड से सुरक्षा प्रदान करता है जिसके अनुसार किसी व्यक्ति को एक ही अपराध के लिए एक से अधिक बार न्यायालय में अभियोजित और दंडित नहीं किया जाएगा, अतः कथन B सही है। यह संरक्षण केवल न्यायिक न्यायालयों में लागू है, प्रशासनिक या विभागीय कार्रवाइयों पर नहीं, अतः कथन C सही है। कथन D गलत है क्योंकि अनुच्छेद 20(3) के तहत आत्म-अभिशंसन से संरक्षण (स्वयं के विरुद्ध साक्ष्य देने से इनकार) विशेष रूप से आपराधिक कार्यवाहियों (Criminal proceedings) में प्राप्त होता है, दीवानी मामलों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21 (प्राण और दैहिक स्वतंत्रता का संरक्षण) और संबंधित ऐतिहासिक न्यायिक निर्णयों के संबंध में निम्नलिखित कथनों पर विचार कीजिए: A. ए. के. गोपालन वाद (1950) में सर्वोच्च न्यायालय ने अनुच्छेद 21 की संकीर्ण व्याख्या करते हुए केवल 'विधि द्वारा स्थापित प्रक्रिया' पर बल दिया था। B. मेनका गांधी वाद (1978) में न्यायालय ने गोपालन निर्णय को पलटते हुए स्थापित किया कि प्रक्रिया केवल औपचारिक नहीं, बल्कि 'उचित, न्यायसंगत और तर्कसंगत' (Due Process of Law) होनी चाहिए। C. के. एस. पुट्टास्वामी बनाम भारत संघ वाद (2017) में सर्वोच्च न्यायालय की 9-न्यायाधीशों की पीठ ने 'निजता के अधिकार' (Right to Privacy) को अनुच्छेद 21 के तहत मूल अधिकार घोषित किया। D. 44वें संविधान संशोधन (1978) के बाद राष्ट्रीय आपातकाल (अनुच्छेद 352) के दौरान भी अनुच्छेद 20 और 21 को किसी भी परिस्थिति में निलंबित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21 भारतीय संविधान का सबसे गतिशील और विस्तारवादी अनुच्छेद है। 1950 के ए. के. गोपालन मामले में न्यायालय ने शाब्दिक व्याख्या की कि कार्यपालिका की मनमानी कार्रवाई के विरुद्ध ही सुरक्षा उपलब्ध है, विधायिका के कानून के विरुद्ध नहीं, अतः कथन A सही है। मेनका गांधी वाद (1978) में सुप्रीम कोर्ट ने ऐतिहासिक निर्णय दिया कि अनुच्छेद 21 के तहत जीवन का अर्थ मात्र 'जैविक अस्तित्व' नहीं बल्कि 'मानवीय गरिमा के साथ जीना' है और कानून की प्रक्रिया उचित, निष्पक्ष और प्राकृतिक न्याय के अनुकूल (Just, fair and reasonable) होनी चाहिए, जिससे अमेरिकी 'ड्यू प्रोसेस' भारतीय न्यायशास्त्र का हिस्सा बन गया, अतः कथन B सही है। पुट्टास्वामी मामले (2017) में 9 जजों की पीठ ने सर्वसम्मति से निजता के अधिकार को अनुच्छेद 21 के अंतर्गत मौलिक अधिकार माना, अतः कथन C सही है। 44वें संशोधन 1978 द्वारा अनुच्छेद 359 में संशोधन कर यह सुनिश्चित किया गया कि आपातकाल में भी अनुच्छेद 20 (दोषसिद्धि से संरक्षण) और अनुच्छेद 21 (प्राण व दैहिक स्वतंत्रता) को निलंबित नहीं किया जा सकता, अतः कथन D भी सही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शिक्षा के अधिकार (Right to Education - RTE) और अनुच्छेद 21A के संबंध में निम्नलिखित कथनों पर विचार कीजिए: A. 86वें संविधान संशोधन अधिनियम, 2002 द्वारा संविधान में अनुच्छेद 21A जोड़कर 6 से 14 वर्ष के बच्चों के लिए निःशुल्क और अनिवार्य शिक्षा को मौलिक अधिकार बनाया गया। B. मोहिनी जैन वाद (1992) और उन्नीकृष्णन वाद (1993) ने शिक्षा के अधिकार को मौलिक अधिकार के रूप में स्थापित करने की न्यायिक पृष्ठभूमि तैयार की थी। C. इस अधिकार को प्रभावी बनाने के लिए संसद द्वारा 'निःशुल्क एवं अनिवार्य बाल शिक्षा अधिकार अधिनियम, 2009' (RTE Act) पारित किया गया जो 1 अप्रैल 2010 से लागू हुआ। D. अनुच्छेद 21A उच्च शिक्षा और व्यावसायिक पाठ्यक्रमों में भी सभी नागरिकों को राज्य के खर्चे पर निःशुल्क शिक्षा की संवैधानिक गारंटी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86वें संविधान संशोधन अधिनियम 2002 ने भारत में शिक्षा के परिदृश्य में युगांतकारी परिवर्तन किया। इसने भाग III में नया अनुच्छेद 21A जोड़ा जिसके तहत राज्य 6 से 14 वर्ष की आयु वाले सभी बच्चों के लिए विधि द्वारा निर्धारित रीति से निःशुल्क और अनिवार्य शिक्षा प्रदान करेगा, अतः कथन A सही है। मोहिनी जैन (1992) और उन्नीकृष्णन (1993) मामलों में सुप्रीम कोर्ट ने माना था कि जीवन का अधिकार गरिमापूर्ण शिक्षा के बिना अधूरा है, जिसने इस संशोधन की नींव रखी, अतः कथन B सही है। संसद ने 2009 में RTE एक्ट पारित किया जो पूरे देश में 1 अप्रैल 2010 से प्रभावी हुआ, अतः कथन C सही है। कथन D असत्य है क्योंकि अनुच्छेद 21A केवल 6 से 14 वर्ष के बच्चों के लिए 'प्रारंभिक/प्राथमिक शिक्षा' (Elementary Education) तक ही सीमित है; यह उच्च शिक्षा, व्यावसायिक डिग्री या स्नातकोत्तर पाठ्यक्रमों के लिए निःशुल्क शिक्षा की गारंटी नहीं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22 (कुछ दशाओं में गिरफ्तारी और निरोध से संरक्षण) के संदर्भ में निम्नलिखित कथनों पर विचार कीजिए: A. दंडात्मक निरोध (Punitive Detention) के तहत गिरफ्तार व्यक्ति को गिरफ्तारी के कारणों को जानने और अपने वकील से परामर्श करने का अधिकार है। B. गिरफ्तार व्यक्ति को यात्रा के समय को छोड़कर 24 घंटे के भीतर निकटतम मजिस्ट्रेट के समक्ष प्रस्तुत किया जाना अनिवार्य है। C. निवारक निरोध (Preventive Detention) के तहत किसी व्यक्ति को बिना किसी औपचारिक मुकदमे के केवल अपराध की आशंका के आधार पर हिरासत में लिया जा सकता है। D. निवारक निरोध कानून के अंतर्गत किसी व्यक्ति को सलाहकार बोर्ड की अनुमति के बिना सामान्यतः अधिकतम 1 वर्ष तक हिरासत में रखा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22 दो प्रकार की हिरासत-दंडात्मक (अपराध के बाद दंड हेतु) और निवारक (भविष्य में अपराध रोकने हेतु)-से सुरक्षा प्रदान करता है। सामान्य आपराधिक कानून के तहत गिरफ्तार व्यक्ति को गिरफ्तारी का आधार जानने और पसंद के विधि व्यवसायी से परामर्श व प्रतिरक्षा का अधिकार है, अतः कथन A सही है। अनुच्छेद 22(2) के तहत गिरफ्तार व्यक्ति को 24 घंटे के भीतर (यात्रा समय घटाकर) मजिस्ट्रेट के समक्ष पेश करना अनिवार्य है और मजिस्ट्रेट के प्राधिकार के बिना उसे अधिक समय तक नहीं रखा जा सकता, अतः कथन B सही है। निवारक निरोध का उद्देश्य व्यक्ति को दंडित करना नहीं बल्कि राज्य की सुरक्षा, लोक व्यवस्था आदि को नुकसान पहुँचाने से रोकना है, अतः कथन C सही है। कथन D असत्य है क्योंकि संविधान के अनुच्छेद 22(4) के अनुसार निवारक निरोध के तहत किसी व्यक्ति को सलाहकार बोर्ड (Advisory Board जिसमें हाई कोर्ट के जज स्तर के सदस्य होते हैं) की सकारात्मक रिपोर्ट के बिना अधिकतम 3 माह से अधिक समय तक हिरासत में नहीं रखा जा सकता (यद्यपि 44वें संशोधन ने इसे 2 माह करने का प्रस्ताव किया था, जो अभी तक पूर्ण रूप से अधिसूचित नहीं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शोषण के विरुद्ध अधिकार (अनुच्छेद 23 एवं 24) के संदर्भ में निम्नलिखित कथनों पर विचार कीजिए: A. अनुच्छेद 23 मानव के दुर्व्यापार (Human Trafficking), बेगार तथा इसी प्रकार के अन्य बलात् श्रम का प्रतिषेध करता है। B. अनुच्छेद 23 का उल्लंघन कानून के अनुसार एक दंडनीय अपराध है, और यह अधिकार राज्य तथा निजी व्यक्तियों दोनों के विरुद्ध प्राप्त है। C. अनुच्छेद 23 राज्य को सार्वजनिक प्रयोजनों (जैसे अनिवार्य सैन्य सेवा या सामाजिक सेवा) के लिए अनिवार्य सेवा अधिरोपित करने से नहीं रोकता। D. अनुच्छेद 24 किसी कारखाने, खान अथवा अन्य परिसंकटमय (Hazardous) गतिविधियों में 18 वर्ष से कम आयु के बालकों के नियोजन पर पूर्ण रोक लगाता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23 और 24 समाज के कमजोर वर्गों को शोषण से मुक्ति दिलाते हैं। अनुच्छेद 23(1) मानव तस्करी, दास प्रथा, बेगार और बंधुआ मजदूरी का स्पष्ट प्रतिषेध करता है, अतः कथन A सही है। यह अधिकार केवल राज्य की कार्रवाई के खिलाफ ही नहीं बल्कि निजी व्यक्तियों, ठेकेदारों और संस्थाओं के शोषण के विरुद्ध भी नागरिकों और गैर-नागरिकों को सुरक्षा देता है, अतः कथन B सही है। अनुच्छेद 23(2) स्पष्ट करता है कि राज्य सार्वजनिक उद्देश्यों के लिए अनिवार्य श्रम/सेवा लागू कर सकता है, बशर्ते ऐसा करते समय धर्म, मूलवंश, जाति या वर्ग के आधार पर कोई भेदभाव न किया जाए, अतः कथन C सही है। कथन D असत्य है क्योंकि अनुच्छेद 24 के तहत कारखानों, खानों और अन्य जोखिम भरे कार्यों में नियोजन पर प्रतिबंध की आयु सीमा '14 वर्ष' (न कि 18 वर्ष) निर्धारित की गई है। (हालाँकि बाल श्रम संशोधन अधिनियम 2016 के तहत 14-18 वर्ष के किशोरों को केवल गैर-खतरनाक व्यवसायों में अनुमति दी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25 (धर्म की स्वतंत्रता का अधिकार) के संदर्भ में निम्नलिखित कथनों पर विचार कीजिए: A. अनुच्छेद 25 अंतःकरण की स्वतंत्रता तथा धर्म को अबाध रूप से मानने, आचरण करने और प्रचार करने की स्वतंत्रता देता है। B. 'धर्म के प्रचार के अधिकार' में किसी अन्य व्यक्ति का जबरन या प्रलोभन देकर धर्मांतरण कराने का अधिकार भी शामिल है। C. अनुच्छेद 25 के तहत प्रदत्त धार्मिक स्वतंत्रता 'लोक व्यवस्था', 'सदाचार' और 'स्वास्थ्य' तथा भाग III के अन्य उपबंधों के अधीन है। D. सिखों द्वारा कृपाण धारण करना और लेकर चलना अनुच्छेद 25 के स्पष्टीकरण के तहत सिख धर्म के मानने का अंग समझा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25 सभी व्यक्तियों (नागरिकों और विदेशियों) को अंतःकरण की स्वतंत्रता तथा अपने धर्म को मानने, पूजा-पद्धति का आचरण करने और अपने धार्मिक विचारों का प्रसार करने का मौलिक अधिकार देता है, अतः कथन A सही है। स्टैनिसलास वाद (1977) में सर्वोच्च न्यायालय ने स्पष्ट निर्णय दिया था कि धर्म के प्रचार के अधिकार में केवल अपने धर्म के सिद्धांतों को स्पष्ट करने की स्वतंत्रता शामिल है; इसमें किसी अन्य व्यक्ति को जबरन, धोखे या प्रलोभन से धर्मांतरित कराने का कोई मौलिक अधिकार शामिल नहीं है, अतः कथन B असत्य है। अनुच्छेद 25(1) स्पष्ट रूप से यह प्रावधान करता है कि यह अधिकार आत्यंतिक (Absolute) नहीं है, बल्कि लोक व्यवस्था (Public Order), सदाचार (Morality), स्वास्थ्य (Health) और मूल अधिकारों के अन्य प्रावधानों के अधीन है, अतः कथन C सत्य है। अनुच्छेद 25 के स्पष्टीकरण I में लिखा है कि कृपाण धारण करना और उसे साथ लेकर चलना सिख धर्म के आचरण का अभिन्न अंग माना जाएगा, अतः कथन D भी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26, 27 और 28 में निहित धार्मिक अधिकारों के संदर्भ में निम्नलिखित कथनों पर विचार कीजिए: A. अनुच्छेद 26 धार्मिक संप्रदायों को धार्मिक एवं पूर्त (Charitable) संस्थाओं की स्थापना, अपने कार्यों के प्रबंधन और संपत्ति अर्जन का सामूहिक अधिकार देता है। B. अनुच्छेद 27 राज्य को किसी विशिष्ट धर्म या संप्रदाय की अभिवृद्धि या पोषण के लिए कर (Tax) लगाने से पूरी तरह रोकता है। C. अनुच्छेद 27 कर लगाने पर रोक लगाता है, लेकिन धर्मनिरपेक्ष प्रशासन या तीर्थयात्रियों की सुविधाओं के लिए 'शुल्क' (Fee) लगाने पर रोक नहीं लगाता। D. पूर्णतः राज्य निधि से पोषित किसी भी शिक्षण संस्थान में कोई भी धार्मिक शिक्षा नहीं दी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26 धार्मिक संप्रदायों या उसके किसी अनुभाग को धार्मिक व धर्मार्थ प्रयोजनों के लिए संस्थाओं की स्थापना, धर्म संबंधी कार्यों का प्रबंधन तथा जंगम व स्थावर संपत्ति का स्वामित्व व प्रशासन करने का सामूहिक अधिकार देता है, अतः कथन A सही है। अनुच्छेद 27 धर्मनिरपेक्षता को सुदृढ़ करते हुए यह उपबंध करता है कि किसी भी व्यक्ति को ऐसा कर (Tax) देने के लिए विवश नहीं किया जाएगा जिसकी आय विशेष रूप से किसी धर्म के प्रचार में व्यय की जाती हो, अतः कथन B सही है। सर्वोच्च न्यायालय ने स्पष्ट किया है कि अनुच्छेद 27 केवल 'कर' लगाने का निषेध करता है, 'शुल्क' (Fee) का नहीं; राज्य मंदिरों/संस्थानों के धर्मनिरपेक्ष प्रशासन, सुरक्षा या तीर्थयात्रियों की विशेष सुविधाओं हेतु सेवा शुल्क लगा सकता है, अतः कथन C सही है। अनुच्छेद 28(1) के अनुसार राज्य निधि से पूर्णतः पोषित किसी भी शिक्षण संस्था में कोई धार्मिक शिक्षा नहीं दी जा सकती, अतः कथन D भी सही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संस्कृति एवं शिक्षा संबंधी अधिकारों (अनुच्छेद 29 एवं 30) के संदर्भ में निम्नलिखित कथनों पर विचार कीजिए: A. भारतीय संविधान स्पष्ट रूप से केवल दो प्रकार के अल्पसंख्यकों-धार्मिक और भाषायी अल्पसंख्यकों को मान्यता देता है। B. अनुच्छेद 29(1) भारत के राज्यक्षेत्र में रहने वाले नागरिकों के किसी भी वर्ग को अपनी विशिष्ट भाषा, लिपि या संस्कृति को बनाए रखने का अधिकार देता है। C. अनुच्छेद 30 केवल धार्मिक और भाषायी अल्पसंख्यकों को अपनी पसंद की शिक्षण संस्थाओं की स्थापना और प्रशासन का अधिकार देता है। D. संविधान के अनुच्छेद 30 में 'अल्पसंख्यक' (Minority) शब्द की विस्तृत और स्पष्ट परिभाषा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29 और 30 देश के अल्पसंख्यकों की विशिष्ट संस्कृति और शैक्षणिक अधिकारों की रक्षा करते हैं। भारतीय संविधान धार्मिक और भाषायी आधार पर दो प्रकार के अल्पसंख्यकों को मान्यता प्रदान करता है, अतः कथन A सही है। अनुच्छेद 29(1) नागरिकों के किसी भी वर्ग (बहुसंख्यक या अल्पसंख्यक) को अपनी बोली, भाषा, लिपि या संस्कृति को सुरक्षित रखने का अधिकार देता है, अतः कथन B सही है। अनुच्छेद 30(1) केवल धार्मिक और भाषायी अल्पसंख्यकों को अपनी रुचि की शिक्षण संस्थाओं की स्थापना करने और उनका प्रशासनिक प्रबंधन करने का अधिकार प्रदान करता है (जिसमें अल्पसंख्यक संस्थान का दर्जा, पाठ्यक्रम प्रबंधन आदि शामिल हैं), अतः कथन C सही है। कथन D असत्य है क्योंकि भारतीय संविधान में 'अल्पसंख्यक' (Minority) शब्द को कहीं भी परिभाषित नहीं किया गया है; टी.एम.ए. पाई फाउंडेशन वाद (2002) में सर्वोच्च न्यायालय ने निर्धारित किया कि धार्मिक और भाषायी अल्पसंख्यकों का निर्धारण राज्य की कुल जनसंख्या को इकाई मानकर राज्यवार किया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मूल अधिकारों के प्रमुख अनुच्छेदों और उनसे संबंधित कानूनी प्रावधानों का सही मिलान कीजिए: सूची-I (विषय): सूची-I: A. उपाधियों का अंत (Abolition of Titles) B. विचार एवं अभिव्यक्ति की स्वतंत्रता (Freedom of Speech) C. धार्मिक कार्यों के प्रबंध की स्वतंत्रता (Manage Religious Affairs) D. अल्पसंख्यक शिक्षण संस्थानों की स्थापना का अधिकार (Minority Educational Institutions) सूची-II: 1. अनुच्छेद 19(1)(a) 2. अनुच्छेद 18 3. अनुच्छेद 30(1) 4. अनुच्छेद 26</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III के अंतर्गत विभिन्न स्वतंत्रताएं और अधिकार सुनिश्चित किए गए हैं। अनुच्छेद 18 राज्य को उपाधियां प्रदान करने से रोकता है और सामाजिक समता स्थापित करता है (A-2)। अनुच्छेद 19(1)(a) सभी नागरिकों को वाक् एवं अभिव्यक्ति की स्वतंत्रता देता है, जिसमें प्रेस की स्वतंत्रता, जानने का अधिकार, चुप रहने का अधिकार आदि अंतर्निहित हैं (B-1)। अनुच्छेद 26 धार्मिक संप्रदायों को अपने धार्मिक मामलों के प्रबंधन का सामूहिक अधिकार देता है (C-4)। अनुच्छेद 30(1) धार्मिक और भाषायी अल्पसंख्यकों को अपनी पसंद की शिक्षण संस्थाओं की स्थापना और प्रशासन करने का विशेष अधिकार प्रदान करता है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'संपत्ति के अधिकार' के क्रमिक विकास और वर्तमान संवैधानिक स्थिति के संदर्भ में निम्नलिखित कथनों पर विचार कीजिए: A. मूल संविधान में संपत्ति का अधिकार अनुच्छेद 19(1)(f) और अनुच्छेद 31 के तहत एक मौलिक अधिकार था। B. 44वें संविधान संशोधन अधिनियम (1978) द्वारा इसे मौलिक अधिकारों की सूची से पूर्णतः हटा दिया गया। C. वर्तमान में संपत्ति का अधिकार संविधान के भाग XII में अनुच्छेद 300A (300क) के तहत एक विधिक/संवैधानिक अधिकार है। D. संपत्ति के अधिकार के हनन की स्थिति में पीड़ित नागरिक अनुच्छेद 32 के तहत सीधे सर्वोच्च न्यायालय में रिट याचिका दायर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संपत्ति का अधिकार मूल संविधान के भाग III में अनुच्छेद 19(1)(f) (संपत्ति के अर्जन, धारण व व्ययन की स्वतंत्रता) और अनुच्छेद 31 (विधि के प्राधिकार के बिना संपत्ति से वंचित न किया जाना) के तहत एक मौलिक अधिकार के रूप में शामिल था, अतः कथन A सही है। मोरारजी देसाई के नेतृत्व वाली जनता पार्टी सरकार द्वारा 44वें संविधान संशोधन अधिनियम 1978 के माध्यम से इसे भाग III से हटा दिया गया, अतः कथन B सही है। वर्तमान में यह भाग XII के अध्याय IV में अनुच्छेद 300A के तहत केवल एक कानूनी/सांविधिक अधिकार (Legal/Constitutional Right) है, अतः कथन C सही है। कथन D असत्य है क्योंकि अब यह मौलिक अधिकार नहीं रहा, इसलिए इसके उल्लंघन पर नागरिक अनुच्छेद 32 के तहत सीधे सर्वोच्च न्यायालय में रिट दायर नहीं कर सकते; इसके लिए अनुच्छेद 226 के तहत उच्च न्यायालय में या सामान्य दीवानी प्रक्रिया के तहत दीवानी मुकदमा दायर किया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 (संवैधानिक उपचारों का अधिकार) और अनुच्छेद 226 के तुलनात्मक क्षेत्राधिकार के संदर्भ में निम्नलिखित कथनों पर विचार कीजिए: A. डॉ. बी. आर. अंबेडकर ने अनुच्छेद 32 को 'संविधान की आत्मा और उसका हृदय' (Heart and Soul of the Constitution) कहा था। B. अनुच्छेद 32 स्वयं में एक मौलिक अधिकार है, जबकि अनुच्छेद 226 एक संवैधानिक शक्ति है, मौलिक अधिकार नहीं। C. सर्वोच्च न्यायालय (अनुच्छेद 32) का रिट क्षेत्राधिकार उच्च न्यायालय (अनुच्छेद 226) की तुलना में अधिक व्यापक है। D. उच्चतम न्यायालय केवल मौलिक अधिकारों के प्रवर्तन के लिए रिट जारी कर सकता है, जबकि उच्च न्यायालय मूल अधिकारों के साथ-साथ अन्य विधिक अधिकारों के लिए भी रिट जारी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भाग III में प्रदत्त मौलिक अधिकारों को लागू कराने के लिए संवैधानिक उपचार प्रदान करता है। डॉ. बी. आर. अंबेडकर ने कहा था कि यदि मुझसे कोई पूछे कि संविधान का कौन सा अनुच्छेद सबसे महत्वपूर्ण है जिसके बिना संविधान शून्य हो जाएगा, तो मैं अनुच्छेद 32 की ओर इशारा करूँगा-यह संविधान की आत्मा और हृदय है, अतः कथन A सही है। अनुच्छेद 32 स्वयं भाग III का हिस्सा होने के कारण एक मौलिक अधिकार है, जबकि अनुच्छेद 226 उच्च न्यायालयों को दी गई संवैधानिक शक्ति है, अतः कथन B सही है। कथन C असत्य है जबकि कथन D सत्य है, क्योंकि रिट जारी करने के मामले में उच्च न्यायालय का क्षेत्राधिकार सर्वोच्च न्यायालय से अधिक व्यापक (Wider) है; सर्वोच्च न्यायालय केवल मौलिक अधिकारों (Part III) के उल्लंघन पर रिट जारी कर सकता है, जबकि उच्च न्यायालय मौलिक अधिकारों के साथ-साथ किसी अन्य सामान्य कानूनी उद्देश्य या वैधानिक अधिकारों के उल्लंघन पर भी रिट जारी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न्यायालय द्वारा जारी की जाने वाली पांचों संवैधानिक रिटों और उनके शाब्दिक अर्थ तथा प्रयोजनों का सही मिलान कीजिए: सूची-I (रिट): सूची-I: A. बंदी प्रत्यक्षीकरण (Habeas Corpus) B. परमादेश (Mandamus) C. प्रतिषेध (Prohibition) D. अधिकारपृच्छा (Quo-Warranto) सूची-II: 1. 'हम आदेश देते हैं' - सार्वजनिक कर्तव्यों के पालन हेतु अधिकारी के विरुद्ध 2. 'शरीर को प्रस्तुत किया जाए' - किसी व्यक्ति को अवैध हिरासत से मुक्त कराने हेतु 3. 'किस अधिकार या वारंट से' - किसी व्यक्ति द्वारा अवैध रूप से सार्वजनिक पद धारण करने की जांच हेतु 4. 'रोकना / मना करना' - अधीनस्थ न्यायालय को अपने क्षेत्राधिकार से बाहर जाने से रोकने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32 और 226 के तहत 5 प्रकार की रिटें जारी की जाती हैं। बंदी प्रत्यक्षीकरण का लैटिन अर्थ 'to have the body of' (शरीर प्रस्तुत किया जाए) है, जो मनमानी गिरफ्तारी के विरुद्ध व्यक्तिगत स्वतंत्रता की रक्षा करती है और यह सार्वजनिक व निजी दोनों के विरुद्ध जारी हो सकती है (A-2)। परमादेश का अर्थ 'we command' (हम आदेश देते हैं) है, जो किसी सार्वजनिक पदाधिकारी, निगम या निचली अदालत को उसके कानूनी कर्तव्य का पालन करने का आदेश देती है (B-1)। प्रतिषेध का अर्थ 'to forbid' (मना करना) है, जो वरिष्ठ न्यायालय द्वारा निचली अदालत या अर्द्ध-न्यायिक निकाय को अपने अधिकार क्षेत्र का अतिक्रमण करने से रोकने के लिए कार्यवाही के दौरान जारी की जाती है (C-4)। अधिकारपृच्छा का अर्थ 'by what authority or warrant' (किस प्राधिकार से) है, जो किसी व्यक्ति द्वारा सार्वजनिक पद पर किए गए अवैध दावे की वैधता की जांच करती है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न्यायालय द्वारा जारी 'परमादेश' (Writ of Mandamus) के संबंध में निम्नलिखित कथनों पर विचार कीजिए: A. परमादेश का उपयोग किसी भी सार्वजनिक अधिकारी को उसके विधिक और संवैधानिक दायित्वों को पूरा करने के लिए बाध्य करने हेतु किया जाता है। B. यह रिट भारत के राष्ट्रपति और राज्यों के राज्यपालों के विरुद्ध उनके पदीय कर्तव्यों के निर्वहन के लिए जारी नहीं की जा सकती। C. यह रिट किसी निजी व्यक्ति, निजी संस्था या गैर-सांविधिक निजी निकाय के विरुद्ध सामान्यतः जारी नहीं की जा सकती। D. यह रिट ऐसे संविदात्मक दायित्वों (Contractual obligations) को लागू कराने के लिए अनिवार्य रूप से जारी की जाती है जिनका कोई वैधानिक आधार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परमादेश एक अत्यंत महत्वपूर्ण सुधारात्मक न्यायिक प्रलेख है जिसका उद्देश्य प्रशासनिक अकर्मण्यता को दूर करना है। यह सार्वजनिक अधिकारियों, सरकारों या निगमों को उनके अनिवार्य कानूनी कर्तव्यों के पालन का निर्देश देती है, अतः कथन A सही है। संविधान के अनुच्छेद 361 के तहत राष्ट्रपति और राज्यपालों को अपने पद की शक्तियों के प्रयोग व कर्तव्यों के निर्वहन के लिए न्यायालय के प्रति जवाबदेह होने से उन्मुक्ति प्राप्त है, इसलिए उनके विरुद्ध परमादेश जारी नहीं किया जा सकता, अतः कथन B सही है। परमादेश केवल सार्वजनिक प्राधिकारियों और कर्तव्यों के विरुद्ध जारी होता है, किसी विशुद्ध निजी व्यक्ति या निजी निकाय के खिलाफ नहीं, अतः कथन C सही है। कथन D असत्य है क्योंकि संविदात्मक दायित्वों (Private contract obligations) को लागू करने के लिए या जब कर्तव्य विवेकाधीन (Discretionary) हो, परमादेश जारी नहीं किया जा सकता; यह केवल अनिवार्य सार्वजनिक विधिक कर्तव्यों (Statutory mandatory duties) के लिए ही जारी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33, 34 और 35 में उल्लिखित विशिष्ट प्रतिबंधात्मक प्रावधानों के संदर्भ में निम्नलिखित कथनों पर विचार कीजिए: A. अनुच्छेद 33 संसद को यह शक्ति देता है कि वह कानून बनाकर सशस्त्र बलों, अर्धसैनिक बलों और पुलिस के सदस्यों के मौलिक अधिकारों को सीमित या समाप्त कर सकती है। B. अनुच्छेद 33 के तहत केवल संसद कानून बना सकती है, राज्य विधानमंडलों को ऐसा कोई कानून बनाने की शक्ति नहीं है। C. अनुच्छेद 34 के अनुसार जब किसी क्षेत्र में 'मार्शल लॉ' (सैन्य शासन) लागू हो, तो संसद विधि द्वारा सरकारी कर्मचारियों के कृत्यों को क्षतिपूर्ति (Indemnify) प्रदान कर सकती है। D. भारतीय संविधान में 'मार्शल लॉ' (Martial Law) शब्द की स्पष्ट और विस्तृत परिभाषा अनुच्छेद 34 में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33 संसद को राष्ट्रीय सुरक्षा और बलों में अनुशासन बनाए रखने के लिए सशस्त्र बलों, खुफिया एजेंसियों, दूरसंचार प्रणाली के कर्मियों आदि के मूल अधिकारों पर पाबंदी लगाने का अधिकार देता है, अतः कथन A सही है। अनुच्छेद 33 और अनुच्छेद 35 स्पष्ट करते हैं कि यह अधिकार केवल 'संसद' के पास है, राज्य विधानमंडलों के पास नहीं, अतः कथन B सही है। अनुच्छेद 34 मार्शल लॉ (असाधारण सैन्य शासन) के लागू होने पर मूल अधिकारों पर प्रतिबंध का प्रावधान करता है और संसद को कानून बनाकर सैन्य शासन के दौरान व्यवस्था बहाल करने वाले किसी भी अधिकारी के कार्यों को वैध ठहराने (Indemnity) की शक्ति देता है, अतः कथन C सही है। कथन D असत्य है क्योंकि भारतीय संविधान में 'मार्शल लॉ' शब्द का उल्लेख तो है, किंतु इसकी कहीं भी कोई स्पष्ट परिभाषा नहीं दी गई है; यह ब्रिटिश कॉमन लॉ से लिया गया सिद्धांत है जो युद्ध, विद्रोह या नागरिक प्रशासन के पूर्ण पतन की असाधारण स्थिति में लागू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नीति निदेशक तत्वों (DPSP - भाग IV, अनुच्छेद 36 से 51) के दार्शनिक आधार और प्रकृति के संदर्भ में निम्नलिखित कथनों पर विचार कीजिए: A. DPSP का मुख्य उद्देश्य देश में राजनीतिक प्रजातंत्र के साथ-साथ 'सामाजिक और आर्थिक प्रजातंत्र' की स्थापना करना तथा एक 'लोक कल्याणकारी राज्य' का निर्माण करना है। B. नीति निदेशक तत्व आयरलैंड के संविधान (1937) से प्रेरित हैं, जिसने इन्हें स्पेन के संविधान से ग्रहण किया था। C. संविधान का अनुच्छेद 37 स्पष्ट रूप से घोषणा करता है कि ये तत्व किसी न्यायालय द्वारा प्रवर्तनीय (Non-justiciable) नहीं हैं, किंतु देश के शासन में मूलभूत हैं। D. प्रो. के. टी. शाह ने DPSP की गैर-प्रवर्तनीय प्रकृति पर टिप्पणी करते हुए कहा था कि "यह एक ऐसा चेक है जिसका भुगतान बैंक की सुविधानुसार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IV (अनुच्छेद 36-51) राज्य के नीति निदेशक तत्वों से संबंधित है। ग्रैनविले ऑस्टिन ने मूल अधिकारों और DPSP को 'संविधान की अंतरात्मा' (Conscience of the Constitution) कहा था। DPSP का उद्देश्य सामाजिक और आर्थिक लोकतंत्र की स्थापना कर भारत को एक कल्याणकारी राज्य (Welfare State) बनाना है (जबकि मूल अधिकार राजनीतिक लोकतंत्र स्थापित करते हैं), अतः कथन A सही है। भारतीय संविधान निर्माताओं ने इसे 1937 के आयरिश संविधान से लिया, जिसने इसे स्पेन से ग्रहण किया था, अतः कथन B सही है। अनुच्छेद 37 कहता है कि यद्यपि DPSP न्यायालयों द्वारा कानूनी रूप से बाध्यकारी नहीं हैं, तथापि विधि निर्माण में इन सिद्धांतों को लागू करना राज्य का बुनियादी कर्तव्य होगा, अतः कथन C सही है। प्रसिद्ध संविधान सभा सदस्य प्रो. के. टी. शाह ने इनकी गैर-न्यायोचित प्रकृति पर कटाक्ष करते हुए इन्हें "बैंक की सुविधानुसार देय चेक" कहा था, अतः कथन D भी सत्य है।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नीति निदेशक तत्वों के वैचारिक वर्गीकरण और उनसे संबंधित अनुच्छेदों का सही मिलान कीजिए: सूची-I (वैचारिक श्रेणी): सूची-I: A. समाजवादी सिद्धांत (Socialistic Principles) B. गांधीवादी सिद्धांत (Gandhian Principles) C. उदार-बौद्धिक सिद्धांत (Liberal-Intellectual Principles) D. अंतर्राष्ट्रीय शांति एवं न्यायपालिका पृथक्करण सूची-II: 1. अनुच्छेद 40 (ग्राम पंचायतें), अनुच्छेद 43 (कुटीर उद्योग), अनुच्छेद 47 (मादक पदार्थों पर रोक) 2. अनुच्छेद 38 (कल्याणकारी राज्य), अनुच्छेद 39 (संसाधनों का वितरण), अनुच्छेद 43A (श्रमिक भागीदारी) 3. अनुच्छेद 44 (समान नागरिक संहिता), अनुच्छेद 45 (बाल्यावस्था देखरेख), अनुच्छेद 48A (पर्यावरण संरक्षण) 4. अनुच्छेद 50 (कार्यपालिका-न्यायपालिका पृथक्करण) एवं अनुच्छेद 51 (अंतर्राष्ट्रीय शांति)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निदेशक तत्वों को उनकी वैचारिक दिशा के आधार पर तीन प्रमुख श्रेणियों में विभाजित किया जाता है: 1. समाजवादी सिद्धांत: जो सामाजिक-आर्थिक न्याय और विषमता निवारण पर बल देते हैं (अनुच्छेद 38, 39, 39A, 41, 42, 43, 43A) (A-2)। 2. गांधीवादी सिद्धांत: जो गांधीजी के ग्राम स्वराज्य और कुटीर उद्योग के दर्शन पर आधारित हैं (अनुच्छेद 40-ग्राम पंचायत, अनुच्छेद 43-कुटीर उद्योग, अनुच्छेद 43B-सहकारी समितियां, अनुच्छेद 46-कमजोर वर्गों का उत्थान, अनुच्छेद 47-मादक द्रव्यों का निषेध, अनुच्छेद 48-गोवध निषेध व पशुपालन) (B-1)। 3. उदार-बौद्धिक सिद्धांत: जो आधुनिकता और विधि के शासन का समर्थन करते हैं (अनुच्छेद 44-UCC, अनुच्छेद 45-प्रारंभिक बाल्यावस्था देखभाल, अनुच्छेद 48-कृषि आधुनिकीकरण, अनुच्छेद 48A-पर्यावरण व वन्यजीव, अनुच्छेद 49-राष्ट्रीय स्मारक) (C-3)। अनुच्छेद 50 और 51 क्रमशः प्रशासनिक सुधार और विदेश नीति के आधार स्तंभ हैं (D-4)। अतः सही मिलान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25वें संविधान संशोधन अधिनियम (1971) और अनुच्छेद 31C के संदर्भ में निम्नलिखित कथनों पर विचार कीजिए: A. 25वें संविधान संशोधन द्वारा संविधान में अनुच्छेद 31C जोड़ा गया था। B. अनुच्छेद 31C के अनुसार अनुच्छेद 39(b) और 39(c) में वर्णित नीति निदेशक तत्वों को लागू करने वाले कानून को अनुच्छेद 14 और 19 के उल्लंघन के आधार पर अवैध नहीं ठहराया जा सकता। C. अनुच्छेद 39(b) भौतिक संसाधनों के समतामूलक वितरण और 39(c) धन तथा उत्पादन के साधनों के अहितकारी संकेंद्रण को रोकने से संबंधित है। D. 42वें संविधान संशोधन ने अनुच्छेद 31C का विस्तार कर सभी नीति निदेशक तत्वों को मूल अधिकारों पर प्राथमिकता दे दी, जिसे मिनर्वा मिल्स वाद (1980) में पूरी तरह बरकरार रखा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25वें संविधान संशोधन अधिनियम 1971 द्वारा अनुच्छेद 31C अंतःस्थापित किया गया, अतः कथन A सही है। इसने यह युगांतकारी प्रावधान किया कि यदि राज्य अनुच्छेद 39(b) (समुदाय के भौतिक संसाधनों का ऐसा वितरण जिससे सर्वसाधारण का हित हो) और अनुच्छेद 39(c) (आर्थिक व्यवस्था का इस प्रकार संचालन जिससे धन का अहितकारी संकेंद्रण न हो) को लागू करने के लिए कोई कानून बनाता है, तो उसे अनुच्छेद 14 (समानता) और अनुच्छेद 19 (स्वतंत्रता) के उल्लंघन के आधार पर अदालत में असंवैधानिक घोषित नहीं किया जा सकेगा, अतः कथन B और C सही हैं। कथन D असत्य है क्योंकि 42वें संशोधन 1976 ने अनुच्छेद 31C के संरक्षण को 'सभी' DPSP तक विस्तारित कर दिया था, किंतु ऐतिहासिक मिनर्वा मिल्स वाद (1980) में सुप्रीम कोर्ट ने इस व्यापक विस्तार को असंवैधानिक घोषित करते हुए रद्द कर दिया और अनुच्छेद 31C के संरक्षण को केवल अनुच्छेद 39(b) और 39(c) तक ही सीमित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 अधिकारों (FR) और राज्य के नीति निदेशक तत्वों (DPSP) के मध्य संतुलन से संबंधित ऐतिहासिक न्यायिक निर्णयों के संदर्भ में निम्नलिखित कथनों पर विचार कीजिए: A. मद्रास राज्य बनाम चंपकम दोराइराजन वाद (1951) में न्यायालय ने माना कि मूल अधिकारों और DPSP में टकराव की स्थिति में मूल अधिकार प्रभावी होंगे। B. गोलकनाथ वाद (1967) में सर्वोच्च न्यायालय ने माना कि संसद नीति निदेशक तत्वों को लागू करने के लिए भी मौलिक अधिकारों में संशोधन नहीं कर सकती। C. केशवानंद भारती वाद (1973) में न्यायालय ने 25वें संशोधन द्वारा जोड़े गए अनुच्छेद 31C के प्रथम भाग (39b और 39c की प्राथमिकता) को वैध ठहराया। D. मिनर्वा मिल्स वाद (1980) में न्यायालय ने स्थापित किया कि भारतीय संविधान मूल अधिकारों और DPSP के बीच संतुलन की नींव पर टिका हुआ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अधिकारों और नीति निदेशक तत्वों का संबंध भारतीय संविधान के न्यायिक विकास का सबसे जीवंत हिस्सा रहा है। चंपकम दोराइराजन वाद (1951) में सुप्रीम कोर्ट ने व्यवस्था दी कि DPSP को मूल अधिकारों के सहायक और गौण (Subsidiary) के रूप में चलना होगा, अतः कथन A सही है। गोलकनाथ मामले (1967) में न्यायालय ने मूल अधिकारों को पारलौकिक (Transcendental) स्थिति देते हुए कहा कि संसद मौलिक अधिकारों को छीनने या कम करने वाला कोई संशोधन नहीं कर सकती, अतः कथन B सही है। केशवानंद भारती वाद (1973) में 13 जजों की पीठ ने अनुच्छेद 31C के तहत 39(b) व 39(c) को अनुच्छेद 14 और 19 पर दी गई वरीयता को वैध माना, अतः कथन C सही है। मिनर्वा मिल्स वाद (1980) में न्यायमूर्ति पी. एन. भगवती और चंद्रचूड़ ने ऐतिहासिक टिप्पणी की कि "संविधान रूपी रथ भाग III (मूल अधिकार) और भाग IV (DPSP) के दो पहियों पर संतुलन के साथ चलता है; इनमें से किसी एक को दूसरे पर पूर्ण वरीयता देना संविधान के मूल ढांचे को नष्ट करना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विभिन्न संविधान संशोधनों द्वारा राज्य के नीति निदेशक तत्वों में जोड़े गए नए प्रावधानों के संदर्भ में निम्नलिखित कथनों पर विचार कीजिए: A. 42वें संविधान संशोधन (1976) द्वारा अनुच्छेद 39A (समान न्याय और गरीबों को निःशुल्क विधिक सहायता) जोड़ा गया। B. 42वें संशोधन द्वारा अनुच्छेद 43A (उद्योगों के प्रबंधन में कर्मकारों की भागीदारी) और अनुच्छेद 48A (पर्यावरण, वन तथा वन्यजीवों की रक्षा) जोड़े गए। C. 44वें संविधान संशोधन (1978) द्वारा अनुच्छेद 38(2) जोड़कर राज्य को आय, प्रतिष्ठा, सुविधाओं और अवसरों की असमानताओं को समाप्त करने का निर्देश दिया गया। D. 97वें संविधान संशोधन (2011) द्वारा अनुच्छेद 43B जोड़कर सहकारी समितियों के स्वैच्छिक गठन और स्वायत्त कार्यप्रणाली को बढ़ावा देने का प्रावधान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समय-समय पर संशोधनों के माध्यम से नीति निदेशक तत्वों के सामाजिक दायरे का विस्तार किया गया है। 42वें संशोधन 1976 ने चार नए DPSP जोड़े: अनुच्छेद 39(f) (बच्चों के स्वस्थ विकास के अवसर), अनुच्छेद 39A (निःशुल्क विधिक सहायता जिसके तहत आगे चलकर NALSA अधिनियम 1987 बना), अनुच्छेद 43A (औद्योगिक प्रतिष्ठानों के प्रबंधन में श्रमिकों की भागीदारी), और अनुच्छेद 48A (पर्यावरण संरक्षण व संवर्धन तथा वन व वन्यजीवों की रक्षा), अतः कथन A और B सही हैं। 44वें संशोधन 1978 ने अनुच्छेद 38 में उपधारा (2) जोड़ी, जिसमें राज्य को निर्देश दिया गया कि वह न केवल व्यक्तियों के बीच बल्कि विभिन्न क्षेत्रों और व्यवसायों में लगे समूहों के बीच भी आय, प्रतिष्ठा व अवसरों की असमानताओं को कम करने का प्रयास करे, अतः कथन C सही है। 97वें संशोधन 2011 ने भाग IV में अनुच्छेद 43B जोड़ा, जो सहकारी समितियों (Co-operative Societies) के लोकतांत्रिक नियंत्रण और पेशेवर प्रबंधन को बढ़ावा देता है, अतः कथन D भी सही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समान नागरिक संहिता (UCC - अनुच्छेद 44) और प्रारंभिक बाल्यावस्था शिक्षा (अनुच्छेद 45) के संदर्भ में निम्नलिखित कथनों पर विचार कीजिए: A. अनुच्छेद 44 राज्य को पूरे भारत के राज्यक्षेत्र में नागरिकों के लिए एक 'समान नागरिक संहिता' (Uniform Civil Code) सुनिश्चित करने का प्रयास करने का निर्देश देता है। B. गोवा स्वतंत्रता के पूर्व (1867 के पुर्तगाली सिविल कोड) से ही सभी नागरिकों के लिए समान पारिवारिक कानून लागू रखने वाला भारत का पहला राज्य रहा है। C. उत्तराखंड स्वतंत्रता के बाद अपनी राज्य विधानसभा द्वारा कानून पारित करके UCC लागू करने वाला भारत का पहला राज्य बन गया है। D. 86वें संविधान संशोधन (2002) द्वारा अनुच्छेद 45 की विषय-वस्तु बदलकर 6 वर्ष से कम आयु के सभी बच्चों की प्रारंभिक बाल्यावस्था देखरेख और शिक्षा कर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44 का उद्देश्य सभी नागरिकों के लिए विवाह, तलाक, उत्तराधिकार, गोद लेने और गुजारा भत्ता जैसे व्यक्तिगत मामलों में एक समान कानून बनाना है, अतः कथन A सही है। गोवा में 1867 के पुर्तगाली नागरिक संहिता के तहत लंबे समय से एक समान नागरिक कानून लागू रहा है, अतः कथन B सही है। वर्ष 2024 में उत्तराखंड विधानसभा ने 'समान नागरिक संहिता विधेयक, 2024' पारित किया और राष्ट्रपति की सहमति के बाद स्वतंत्रता के बाद UCC लागू करने वाला स्वतंत्र भारत का पहला राज्य बना, अतः कथन C सही है। 86वें संशोधन 2002 ने जब 6-14 वर्ष के बच्चों के लिए शिक्षा को अनुच्छेद 21A के तहत मूल अधिकार बनाया, तब अनुच्छेद 45 की भाषा संशोधित की गई ताकि राज्य 6 वर्ष तक की आयु के बच्चों के प्रारंभिक पोषण और बाल्यावस्था शिक्षा (Early Childhood Care and Education - ECCE) का प्रबंध करे, अतः कथन D भी सत्य है।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50 (कार्यपालिका से न्यायपालिका का पृथक्करण) और अनुच्छेद 51 (अंतर्राष्ट्रीय शांति और सुरक्षा की अभिवृद्धि) क्रमशः किन सिद्धांतों को स्थापित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लोकतांत्रिक विकेंद्रीकरण एवं पंचायती राज का गठन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स्वतंत्र व निष्पक्ष न्यायपालिका का संस्थागत आधार तथा भारत की गुटनिरपेक्ष व संप्रभु विदेश नीति का दार्शनिक आधार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समान कार्य के लिए समान वेतन तथा नागरिकों के लिए अनिवार्य सैन्य सेवा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अनुसूचित जातियों के शैक्षणिक विकास तथा राज्य के वित्तीय अधिकारों का वितरण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स्वतंत्र व निष्पक्ष न्यायपालिका का संस्थागत आधार तथा भारत की गुटनिरपेक्ष व संप्रभु विदेश नीति का दार्शनिक आधार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लोकतांत्रिक विकेंद्रीकरण एवं पंचायती राज का गठन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समान कार्य के लिए समान वेतन तथा नागरिकों के लिए अनिवार्य सैन्य सेवा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अनुसूचित जातियों के शैक्षणिक विकास तथा राज्य के वित्तीय अधिकारों का वितरण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50 राज्य को लोक सेवाओं में कार्यपालिका से न्यायपालिका को पृथक (Separation of Judiciary from the Executive) करने का निर्देश देता है। यह सिद्धांत विधि के शासन, निष्पक्ष विचारण और न्यायिक स्वतंत्रता की पहली शर्त है ताकि प्रशासनिक अधिकारी मुकदमों में न्यायाधीश की भूमिका न निभाएं। इसी के तहत दंड प्रक्रिया संहिता 1973 (CrPC) द्वारा न्यायिक मजिस्ट्रेटों को कार्यपालक मजिस्ट्रेटों (कलेक्टर/एसडीएम) के नियंत्रण से पूरी तरह अलग किया गया था। वहीं, अनुच्छेद 51 भारत की विदेश नीति का संवैधानिक घोषणापत्र है; यह राज्य को अंतर्राष्ट्रीय शांति व सुरक्षा की अभिवृद्धि, राष्ट्रों के बीच न्यायसंगत व सम्मानपूर्ण संबंधों, अंतर्राष्ट्रीय विधि व संधियों के प्रति आदर तथा अंतरराष्ट्रीय विवादों के मध्यस्थता द्वारा निपटारे का निर्देश देता है। यही अनुच्छेद भारत के पंचशील सिद्धांतों और गुटनिरपेक्षता का संवैधानिक आधार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 अधिकारों (FR) और राज्य के नीति निदेशक तत्वों (DPSP) के बीच आधारभूत अंतरों के संबंध में निम्नलिखित कथनों पर विचार कीजिए: A. मूल अधिकार न्यायोचित (Justiciable) हैं, जबकि नीति निदेशक तत्व गैर-न्यायोचित (Non-justiciable) हैं। B. मूल अधिकारों की प्रकृति मुख्य रूप से नकारात्मक (राज्य की शक्ति पर सीमाएं) है, जबकि DPSP की प्रकृति सकारात्मक (राज्य के लिए निर्देश) है। C. मूल अधिकार देश में राजनीतिक लोकतंत्र स्थापित करते हैं, जबकि DPSP सामाजिक और आर्थिक लोकतंत्र की स्थापना करते हैं। D. मूल अधिकारों के उल्लंघन पर अदालतें कानून को असंवैधानिक घोषित कर सकती हैं, जबकि DPSP के उल्लंघन पर किसी कानून को शून्य घोषित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अधिकार (भाग III) और DPSP (भाग IV) के मध्य कई स्पष्ट संवैधानिक अंतर हैं: 1. वाद-योग्यता: मूल अधिकारों के हनन पर सीधे अनुच्छेद 32 या 226 के तहत अदालत जाया जा सकता है, जबकि DPSP को लागू करवाने के लिए अदालती आदेश जारी नहीं कराया जा सकता, अतः कथन A सही है। 2. प्रकृति: मूल अधिकार अधिकांशतः राज्य पर पाबंदियां लगाते हैं (जैसे राज्य भेदभाव नहीं करेगा), इसलिए ये नकारात्मक हैं; जबकि DPSP राज्य को लोक कल्याण के कार्य करने का निर्देश देते हैं, इसलिए ये सकारात्मक हैं, अतः कथन B सही है। 3. उद्देश्य: मूल अधिकार व्यक्तिगत स्वतंत्रता और राजनीतिक लोकतंत्र सुनिश्चित करते हैं, जबकि DPSP सामाजिक-आर्थिक न्याय और समतामूलक समाज का निर्माण करते हैं, अतः कथन C सही है। 4. कानूनी प्रभाव: अनुच्छेद 13 के तहत मूल अधिकारों से असंगत कानून शून्य घोषित होता है, किंतु DPSP के गैर-कार्यान्वयन पर कोई कानून असंवैधानिक नहीं होता (यद्यपि कानून की संवैधानिकता जांचते समय DPSP को युक्तियुक्तता का आधार माना जाता है), अतः कथन D भी सही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 कर्तव्यों (Fundamental Duties - भाग IV-A, अनुच्छेद 51A) की ऐतिहासिक पृष्ठभूमि और सरदार स्वर्ण सिंह समिति के संदर्भ में निम्नलिखित कथनों पर विचार कीजिए: A. मूल संविधान में मूल कर्तव्यों का कोई उल्लेख नहीं था; इन्हें आपातकाल के दौरान 42वें संविधान संशोधन (1976) द्वारा शामिल किया गया। B. मूल कर्तव्यों का विचार तत्कालीन सोवियत संघ (USSR) के संविधान से प्रेरित होकर ग्रहण किया गया था। C. सरदार स्वर्ण सिंह समिति (1976) ने संविधान में कुल 8 मूल कर्तव्यों को शामिल करने की सिफारिश की थी। D. स्वर्ण सिंह समिति ने कर का भुगतान (Paying Taxes) करने को भी मूल कर्तव्य बनाने तथा कर्तव्यों के उल्लंघन पर संसद द्वारा दंड का प्रावधान करने की सिफारिश की थी जिसे सरकार ने स्वीकार नहीं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1976 में आंतरिक आपातकाल के दौरान नागरिकों के दायित्वों को रेखांकित करने के लिए सरदार स्वर्ण सिंह की अध्यक्षता में समिति का गठन किया गया था। मूल संविधान में केवल अधिकार थे, कर्तव्य नहीं थे, अतः कथन A सही है। दुनिया के प्रमुख लोकतांत्रिक देशों में केवल जापान के संविधान में नागरिकों के कर्तव्य थे; भारत ने यह विचार पूर्व सोवियत संघ (USSR) से ग्रहण किया, अतः कथन B सही है। स्वर्ण सिंह समिति ने 8 मूल कर्तव्यों की सिफारिश की थी, किंतु 42वें संविधान संशोधन अधिनियम 1976 ने एक नया भाग IV-A और नया अनुच्छेद 51A जोड़कर कुल 10 मूल कर्तव्य शामिल किए, अतः कथन C सही है। स्वर्ण सिंह समिति की कुछ सिफारिशें तत्कालीन सरकार द्वारा अस्वीकार कर दी गई थीं, जिनमें नियमित कर (Tax) चुकाने को मूल कर्तव्य बनाना और कर्तव्यों का पालन न करने पर संसद को दंड/सजा का कानून बनाने की शक्ति देना शामिल था,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86वें संविधान संशोधन अधिनियम (2002) और न्यायमूर्ति जे. एस. वर्मा समिति (1999) के संदर्भ में निम्नलिखित कथनों पर विचार कीजिए: A. 86वें संविधान संशोधन (2002) द्वारा अनुच्छेद 51A(k) जोड़कर संविधान में 11वाँ मूल कर्तव्य शामिल किया गया। B. 11वें मूल कर्तव्य के अनुसार 6 से 14 वर्ष की आयु के बच्चों के माता-पिता या संरक्षक का यह कर्तव्य है कि वे अपने बच्चे को शिक्षा के अवसर प्रदान करें। C. न्यायमूर्ति जे. एस. वर्मा समिति (1999) का गठन कुछ मूल कर्तव्यों के प्रचालन और उनके कानूनी प्रावधानों की पहचान के लिए किया गया था। D. वर्मा समिति ने रेखांकित किया कि कई मूल कर्तव्य पहले से ही पर्यावरण संरक्षण अधिनियम, लोक प्रतिनिधित्व अधिनियम और राष्ट्रीय गौरव अपमान निवारण अधिनियम जैसे कानूनों द्वारा कानूनी रूप से लागू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में शून्य और 42वें संशोधन द्वारा 10 मूल कर्तव्य जोड़े गए थे। 86वें संविधान संशोधन अधिनियम 2002 ने अनुच्छेद 51A में 11वां मूल कर्तव्य [51A(k)] जोड़ा, जिसके तहत माता-पिता या अभिभावक का यह प्राथमिक कर्तव्य बनाया गया कि वे 6 से 14 वर्ष तक के अपने बच्चों को प्राथमिक शिक्षा के अवसर उपलब्ध कराएं, अतः कथन A और B सही हैं। 1999 में गठित न्यायमूर्ति जे. एस. वर्मा समिति ने नागरिकों के मूल कर्तव्यों के कानूनी पहलुओं की समीक्षा की, अतः कथन C सही है। वर्मा समिति ने अपनी रिपोर्ट में स्पष्ट किया कि यद्यपि संविधान में मूल कर्तव्य सीधे तौर पर गैर-न्यायोचित हैं, किंतु संसद ने इन्हें लागू करने के लिए कई दंडात्मक कानून बना रखे हैं; जैसे-राष्ट्रगान व ध्वज के अपमान पर 'राष्ट्रीय गौरव अपमान निवारण अधिनियम 1971', पर्यावरण व वनों की रक्षा हेतु 'वन्यजीव संरक्षण अधिनियम 1972' व 'पर्यावरण संरक्षण अधिनियम 1986', तथा जातिगत/धार्मिक वैमनस्य पर IPC व RPA 1951 लागू होते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51A में वर्णित मूल कर्तव्यों और उनके प्रमुख संवैधानिक संदर्भों का सही मिलान कीजिए: सूची-I (कर्तव्य का विषय): सूची-I: A. संविधान का पालन, राष्ट्रध्वज और राष्ट्रगान का आदर B. स्वतंत्रता के लिए हमारे राष्ट्रीय आंदोलन को प्रेरित करने वाले उच्च आदर्शों को संजोना C. वैज्ञानिक दृष्टिकोण, मानववाद तथा ज्ञानार्जन व सुधार की भावना का विकास D. प्राकृतिक पर्यावरण (वन, झील, नदी, वन्यजीव) की रक्षा और संवर्धन सूची-II: 1. अनुच्छेद 51A (a) 2. अनुच्छेद 51A (b) 3. अनुच्छेद 51A (h) 4. अनुच्छेद 51A (g)</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51A में कुल 11 मूल कर्तव्य (खंड a से k तक) क्रमबद्ध रूप से दिए गए हैं: 1. 51A(a): संविधान का पालन करे और उसके आदर्शों, संस्थाओं, राष्ट्रध्वज और राष्ट्रगान का आदर करे (A-1)। 2. 51A(b): स्वतंत्रता के लिए हमारे राष्ट्रीय आंदोलन को प्रेरित करने वाले उच्च आदर्शों को हृदय में संजोए रखे और उनका पालन करे (B-2)। 3. 51A(c): भारत की संप्रभुता, एकता और अखंडता की रक्षा करे और उसे अक्षुण्ण रखे। 4. 51A(d): देश की रक्षा करे और आह्वान किए जाने पर राष्ट्र की सेवा करे। 5. 51A(e): समरसता और समान भ्रातृत्व की भावना का निर्माण करे और स्त्रियों के सम्मान के विरुद्ध प्रथाओं का त्याग करे। 6. 51A(f): हमारी सामासिक संस्कृति की गौरवशाली परंपरा का महत्व समझे और उसका परिरक्षण करे। 7. 51A(g): प्राकृतिक पर्यावरण की रक्षा और संवर्धन करे (D-4)। 8. 51A(h): वैज्ञानिक दृष्टिकोण, मानववाद और ज्ञानार्जन तथा सुधार की भावना का विकास करे (C-3)। 9. 51A(i): सार्वजनिक संपत्ति को सुरक्षित रखे और हिंसा से दूर रहे। 10. 51A(j): सभी क्षेत्रों में उत्कर्ष की ओर बढ़ने का सतत प्रयास करे। 11. 51A(k): 6-14 वर्ष के बच्चों को शिक्षा के अवसर दे।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 सा विषय भारतीय संविधान के अनुच्छेद 51A के तहत नागरिकों के मूल कर्तव्य के रूप में उल्लिखित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संप्रभुता, एकता और अखंडता की रक्षा करना और उसे अक्षुण्ण रखना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सार्वजनिक संपत्ति को सुरक्षित रखना और हिंसा से दूर रहना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नियमित रूप से चुनावों में मतदान करना और समय पर कर (Tax) का भुगतान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हमारी सामासिक संस्कृति (Composite Culture) की गौरवशाली परंपरा का परिरक्षण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नियमित रूप से चुनावों में मतदान करना और समय पर कर (Tax) का भुगतान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संप्रभुता, एकता और अखंडता की रक्षा करना और उसे अक्षुण्ण रखना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सार्वजनिक संपत्ति को सुरक्षित रखना और हिंसा से दूर रहना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हमारी सामासिक संस्कृति (Composite Culture) की गौरवशाली परंपरा का परिरक्षण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51A में उल्लिखित 11 मूल कर्तव्यों में 'नियमित रूप से मतदान करना' या 'समय पर कर (Taxes) का भुगतान करना' शामिल नहीं है। यद्यपि स्वर्ण सिंह समिति ने 1976 में कर चुकाने को मूल कर्तव्य बनाने की सिफारिश की थी और चुनाव सुधार आयोगों ने मतदान को नागरिक दायित्व बनाने पर चर्चा की है, किंतु संसद ने इन्हें संविधान के भाग IV-A में शामिल नहीं किया। इसके विपरीत, संप्रभुता-एकता-अखंडता की रक्षा [51A(c)], सार्वजनिक संपत्ति की सुरक्षा [51A(i)], और सामासिक संस्कृति की गौरवशाली परंपरा का परिरक्षण [51A(f)] संविधान में स्पष्ट रूप से उल्लिखित मूल कर्तव्य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निर्वाचक मंडल (Electoral College - अनुच्छेद 54) के संदर्भ में निम्नलिखित कथनों पर विचार कीजिए: A. निर्वाचक मंडल में संसद के दोनों सदनों (लोकसभा और राज्यसभा) के केवल निर्वाचित सदस्य भाग लेते हैं। B. इसमें राज्यों की विधानसभाओं (State Legislative Assemblies) के केवल निर्वाचित सदस्य शामिल होते हैं। C. 70वें संविधान संशोधन अधिनियम (1992) द्वारा दिल्ली और पुडुचेरी केंद्र शासित प्रदेशों की विधानसभाओं के निर्वाचित सदस्यों को भी इसमें शामिल किया गया। D. संसद के मनोनीत सदस्य और राज्य विधान परिषदों (Legislative Councils) के सदस्य राष्ट्रपति के चुनाव में मतदान करने के पात्र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54 के अनुसार राष्ट्रपति का चुनाव एक निर्वाचक मंडल द्वारा किया जाता है। इसमें संसद के दोनों सदनों के 'केवल निर्वाचित सदस्य' (Elected MPs) शामिल होते हैं, अतः कथन A सही है। इसमें सभी राज्यों की विधानसभाओं के 'केवल निर्वाचित सदस्य' (Elected MLAs) शामिल होते हैं, अतः कथन B सही है। 70वें संविधान संशोधन 1992 द्वारा राष्ट्रीय राजधानी क्षेत्र दिल्ली और पुडुचेरी संघ राज्य क्षेत्र की विधानसभाओं के निर्वाचित सदस्यों को भी निर्वाचक मंडल का हिस्सा बनाया गया, अतः कथन C सही है। कथन D असत्य है क्योंकि संसद के दोनों सदनों के मनोनीत सदस्य, राज्य विधान परिषदों (द्विसदनीय राज्यों में) के सभी सदस्य (निर्वाचित व मनोनीत दोनों), और दिल्ली-पुडुचेरी के मनोनीत सदस्य राष्ट्रपति के चुनाव में मतदान नहीं कर सकते। यदि किसी राज्य का मुख्यमंत्री विधान परिषद (उच्च सदन) का सदस्य है, तो वह भी राष्ट्रपति चुनाव में वोट नहीं डाल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निर्वाचन की प्रक्रिया (अनुच्छेद 55) और मत मूल्य निर्धारण के संदर्भ में निम्नलिखित कथनों पर विचार कीजिए: A. राष्ट्रपति का चुनाव आनुपातिक प्रतिनिधित्व प्रणाली के अनुसार एकल संक्रमणीय मत (Single Transferable Vote) और गुप्त मतदान द्वारा होता है। B. किसी राज्य के एक विधायक (MLA) का मत मूल्य उस राज्य की कुल जनसंख्या को विधानसभा के कुल निर्वाचित सदस्यों से भाग देकर, फिर 1000 से भाग देकर निकाला जाता है। C. वर्तमान में सभी राज्यों के विधायकों का मत मूल्य निर्धारित करने के लिए 1971 की जनगणना के जनसंख्या आंकड़ों का उपयोग किया जा रहा है। D. राष्ट्रपति चुनाव में सभी राज्यों के निर्वाचित विधायकों के कुल मत मूल्य का योग संसद के सभी निर्वाचित सांसदों (MPs) के कुल मत मूल्य के बराबर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55 राष्ट्रपति के निर्वाचन की समरूपता और एकरूपता की प्रक्रिया निर्धारित करता है। चुनाव आनुपातिक प्रतिनिधित्व प्रणाली के तहत एकल संक्रमणीय मत और गुप्त मतदान द्वारा होता है, अतः कथन A सही है। विधायक के मत मूल्य का सूत्र = [राज्य की कुल जनसंख्या / विधानसभा के कुल निर्वाचित सदस्य] × (1/1000) है, अतः कथन B सही है। 84वें संविधान संशोधन 2001 के अनुसार, राष्ट्रपति चुनाव में राज्यों के प्रतिनिधित्व में एकरूपता बनाए रखने के लिए 2026 के बाद की पहली जनगणना के आंकड़े प्रकाशित होने तक 1971 की जनगणना की जनसंख्या को ही आधार माना गया है, अतः कथन C सही है। संविधान संघ और राज्यों के बीच समानता सुनिश्चित करता है; अतः भारत के सभी राज्यों/UTs के कुल निर्वाचित विधायकों के मत मूल्यों का कुल योग संसद के सभी निर्वाचित सांसदों के कुल मत मूल्य के ठीक बराबर होता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पर महाभियोग की प्रक्रिया (अनुच्छेद 61) के संदर्भ में निम्नलिखित कथनों पर विचार कीजिए: A. राष्ट्रपति पर महाभियोग चलाने का एकमात्र संवैधानिक आधार 'संविधान का उल्लंघन' (Violation of the Constitution) है। B. महाभियोग का प्रस्ताव संसद के किसी भी सदन (लोकसभा या राज्यसभा) में प्रारंभ किया जा सकता है। C. प्रस्ताव पेश करने के लिए उस सदन के कम से कम एक-चौथाई (1/4) सदस्यों के हस्ताक्षर और राष्ट्रपति को 14 दिन की लिखित पूर्व सूचना आवश्यक है। D. संसद के मनोनीत सदस्य जिन्होंने राष्ट्रपति के चुनाव में भाग नहीं लिया था, वे महाभियोग प्रक्रिया में मतदान कर सकते हैं, जबकि राज्य विधानसभाओं के सदस्य इसमें भाग नहीं लेते।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61 के तहत राष्ट्रपति पर महाभियोग एक अर्द्ध-न्यायिक (Quasi-judicial) प्रक्रिया है। संविधान में महाभियोग का एकमात्र आधार 'संविधान का अतिक्रमण/उल्लंघन' बताया गया है (यद्यपि इसे संविधान में परिभाषित नहीं किया गया है), अतः कथन A सही है। महाभियोग का आरोप संसद के किसी भी सदन द्वारा लगाया जा सकता है, अतः कथन B सही है। प्रस्ताव लाने के लिए संबंधित सदन के कुल सदस्यों के कम से कम 1/4 सदस्यों के हस्ताक्षर होने चाहिए और राष्ट्रपति को 14 दिन का नोटिस दिया जाता है, अतः कथन C सही है। इसके बाद यदि वह सदन अपनी 'कुल सदस्य संख्या के दो-तिहाई (2/3) विशेष बहुमत' से संकल्प पारित कर दे, तो दूसरा सदन आरोपों की जांच करता है (जहाँ राष्ट्रपति को स्वयं उपस्थित होने या अपना प्रतिनिधि भेजने का अधिकार है)। यदि दूसरा सदन भी अपनी कुल सदस्य संख्या के 2/3 बहुमत से प्रस्ताव पारित कर देता है, तो राष्ट्रपति पदमुक्त हो जाता है। इस प्रक्रिया में संसद के दोनों सदनों के मनोनीत सदस्य भाग लेते हैं, किंतु राज्य विधानसभाओं के सदस्य भाग नहीं लेते,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राष्ट्रपति की क्षमादान शक्ति (अनुच्छेद 72) और उसके विभिन्न रूपों के संदर्भ में निम्नलिखित कथनों पर विचार कीजिए: A. 'क्षमा' (Pardon) दंड और बंदीकरण दोनों को पूरी तरह समाप्त कर देती है तथा अपराधी को उस स्थिति में ला देती है जैसे उसने कोई अपराध किया ही न हो। B. 'लघुकरण' (Commutation) का अर्थ है दंड के स्वरूप को बदलकर किसी हल्के रूप में परिवर्तित करना (जैसे मृत्युदंड को आजीवन कारावास में बदलना)। C. 'परिहार' (Remission) का अर्थ है दंड की प्रकृति बदले बिना उसकी अवधि या मात्रा को कम करना (जैसे 2 वर्ष के कठोर कारावास को 1 वर्ष करना)। D. 'विराम' (Respite) का अर्थ किसी विशेष परिस्थिति (जैसे गर्भवती महिला या शारीरिक विकलांगता) के कारण सजा को कम करना है, जबकि 'प्रविलंबन' (Reprieve) का अर्थ मृत्युदंड पर अस्थायी रोक लगाना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72 के तहत राष्ट्रपति को उन सभी मामलों में क्षमादान की शक्ति प्राप्त है जहाँ दंड संघ सूची के कानून के तहत दिया गया हो, सैन्य न्यायालय (Court Martial) द्वारा दिया गया हो, या मृत्युदंड (Death Sentence) हो। 1. क्षमा (Pardon): यह सजा, दोषसिद्धि और सभी निर्योग्यताओं को पूर्णतः निरस्त कर देती है (A सही)। 2. लघुकरण (Commutation): यह सजा की प्रकृति को कठोर से हल्की श्रेणी में बदलती है; जैसे मृत्युदंड को आजीवन कारावास या कठोर कारावास को साधारण कारावास में (B सही)। 3. परिहार (Remission): इसमें सजा का चरित्र या कठोरता वही रहती है, केवल समय घटा दिया जाता है; जैसे 5 वर्ष के सश्रम कारावास को 2 वर्ष का सश्रम कारावास करना (C सही)। 4. विराम (Respite): दोषी की किसी मानवीय या शारीरिक विशिष्ट स्थिति (गर्भावस्था, बीमारी) के आधार पर मूल निर्धारित सजा को कम करना (D सही)। 5. प्रविलंबन (Reprieve): विशेष रूप से मृत्युदंड के क्रियान्वयन पर कुछ समय के लिए अस्थायी रोक लगाना ताकि दोषी दया याचिका दायर कर सके।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वीटो शक्तियों (अनुच्छेद 111) के संदर्भ में निम्नलिखित कथनों पर विचार कीजिए: A. राष्ट्रपति सामान्य विधेयक पर 'आत्यंतिक वीटो' (Absolute Veto) का प्रयोग कर अपनी सहमति पूरी तरह रोक सकता है। B. राष्ट्रपति किसी विधेयक (धन विधेयक को छोड़कर) को संसद को पुनर्विचार के लिए लौटाकर 'निलंबनकारी वीटो' (Suspensive Veto) का प्रयोग कर सकता है। C. यदि संसद दोनों सदनों द्वारा साधारण बहुमत से उस विधेयक को पुनः पारित कर दे, तो राष्ट्रपति को उस पर सहमति देना अनिवार्य (बाध्यकारी) होता है। D. 1986 में राष्ट्रपति ज्ञानी जैल सिंह ने 'भारतीय डाकघर (संशोधन) विधेयक' पर ऐतिहासिक 'पॉकेट वीटो' (Pocket Veto) का प्रयोग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संसद के दोनों सदनों द्वारा पारित कोई विधेयक अनुच्छेद 111 के तहत राष्ट्रपति के समक्ष प्रस्तुत होता है, तो राष्ट्रपति के पास तीन विकल्प होते हैं: सहमति देना, सहमति रोकना, या पुनर्विचार हेतु लौटाना। 1. आत्यंतिक वीटो: विधेयक पर अपनी स्वीकृति रोक लेना जिससे विधेयक समाप्त हो जाता है (यह निजी सदस्यों के विधेयकों या सरकार बदलने पर प्रयुक्त होता है), अतः कथन A सही है। 2. निलंबनकारी वीटो: राष्ट्रपति विधेयक को संसद के पुनर्विचार के लिए भेजता है (धन विधेयक पर यह शक्ति नहीं है)। यदि संसद संशोधन के साथ या बिना संशोधन के पुनः साधारण बहुमत से पारित कर दे, तो राष्ट्रपति सहमति देने के लिए बाध्य है, अतः कथन B और C सही हैं। 3. पॉकेट वीटो (जेबी वीटो): चूंकि भारतीय संविधान राष्ट्रपति को सहमति देने या अस्वीकार करने के लिए कोई निश्चित समय-सीमा तय नहीं करता (अमेरिकी राष्ट्रपति की तरह 10 दिन की बाध्यता नहीं है), इसलिए राष्ट्रपति विधेयक को अनिश्चितकाल के लिए अपने पास लंबित रख सकता है। 1986 में तत्कालीन राष्ट्रपति ज्ञानी जैल सिंह ने राजीव गांधी सरकार के 'भारतीय डाकघर (संशोधन) विधेयक' पर प्रेस की स्वतंत्रता के हनन के आधार पर पहली बार पॉकेट वीटो का प्रयोग किया था,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राष्ट्रपति की अध्यादेश जारी करने की विधायी शक्ति (अनुच्छेद 123) के संदर्भ में निम्नलिखित कथनों पर विचार कीजिए: A. राष्ट्रपति अध्यादेश केवल तभी जारी कर सकता है जब संसद के दोनों सदन या दोनों में से कोई एक सदन सत्र में न हो। B. अध्यादेश की विधायी शक्ति और प्रभाव संसद द्वारा पारित अधिनियम के बिल्कुल समान होते हैं, और इसकी सीमाएं भी वही हैं जो संसद की हैं। C. संसद का सत्र पुनः प्रारंभ होने की तिथि से 6 सप्ताह के भीतर अध्यादेश को संसद द्वारा अनुमोदित किया जाना अनिवार्य है, अन्यथा यह निष्प्रभावी हो जाता है। D. डी. सी. वाधवा वाद (1987) में सर्वोच्च न्यायालय ने माना कि बिना संसद में रखे बार-बार अध्यादेश को पुनः प्रख्यापित (Re-promulgate) करना संविधान के साथ धोखा और असंवैधानिक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123 राष्ट्रपति को संसद के विश्रांतिकाल (Recess) में अत्यावश्यक परिस्थितियों से निपटने के लिए अध्यादेश (Ordinance) प्रख्यापित करने की असाधारण शक्ति देता है। जब संसद का कम से कम एक सदन सत्र में न हो और राष्ट्रपति संतुष्ट हो कि त्वरित कार्रवाई आवश्यक है, तभी अध्यादेश जारी हो सकता है, अतः कथन A सही है। अध्यादेश का कानूनी प्रभाव संसद के अधिनियम जैसा ही होता है और इसके द्वारा किसी मौलिक अधिकार को नहीं छीना जा सकता, अतः कथन B सही है। संसद के पुनः समवेत (Reassemble) होने पर अध्यादेश को दोनों सदनों के समक्ष रखा जाता है और सत्र शुरू होने के 6 सप्ताह के भीतर इसका पारित होना आवश्यक है; यदि संसद कोई कार्रवाई न करे तो 6 सप्ताह बाद यह स्वतः समाप्त हो जाता है (अतः एक अध्यादेश की अधिकतम संभावित अवधि 6 माह + 6 सप्ताह होती है), अतः कथन C सही है। डी. सी. वाधवा बनाम बिहार राज्य (1987) में सर्वोच्च न्यायालय ने व्यवस्था दी कि लोकतांत्रिक विधायी प्रक्रिया को दरकिनार कर अध्यादेशों का बार-बार पुनर्जारीकरण कार्यपालिका द्वारा शक्ति का दुरुपयोग और असंवैधानिक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143 के तहत सर्वोच्च न्यायालय से परामर्श लेने की राष्ट्रपति की शक्ति (सलाहकार क्षेत्राधिकार) के संदर्भ में कौन सा कथन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सर्वोच्च न्यायालय द्वारा दी गई सलाह राष्ट्रपति के लिए कानूनी रूप से पूर्णतः बाध्यकारी होती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संविधान पूर्व की संधियों और समझौतों से उत्पन्न विवादों पर सर्वोच्च न्यायालय राष्ट्रपति को सलाह देने के लिए बाध्य नहीं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सार्वजनिक महत्व के किसी विधि या तथ्य के प्रश्न पर सर्वोच्च न्यायालय अपनी राय दे भी सकता है और राय देने से इनकार भी कर सकता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केवल तभी राय मांग सकता है जब संसद के दोनों सदन विशेष बहुमत से इसके लिए प्रस्ताव पारित 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सार्वजनिक महत्व के किसी विधि या तथ्य के प्रश्न पर सर्वोच्च न्यायालय अपनी राय दे भी सकता है और राय देने से इनकार भी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सर्वोच्च न्यायालय द्वारा दी गई सलाह राष्ट्रपति के लिए कानूनी रूप से पूर्णतः बाध्यकारी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संविधान पूर्व की संधियों और समझौतों से उत्पन्न विवादों पर सर्वोच्च न्यायालय राष्ट्रपति को सलाह देने के लिए बाध्य नहीं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केवल तभी राय मांग सकता है जब संसद के दोनों सदन विशेष बहुमत से इसके लिए प्रस्ताव पारित 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143 राष्ट्रपति को विधि या तथ्य के जटिल प्रश्नों पर सर्वोच्च न्यायालय से परामर्श मांगने की शक्ति देता है। इसके दो खंड हैं: 1. सार्वजनिक महत्व के किसी विधि या तथ्य के प्रश्न पर: इस मामले में सर्वोच्च न्यायालय अपना परामर्श दे भी सकता है और देने से इनकार भी कर सकता है (जैसे अयोध्या संदर्भ 1993 में न्यायालय ने सलाह देने से मना कर दिया था), अतः विकल्प C सही है। 2. संविधान-पूर्व की किसी संधि, सनद या समझौते से उत्पन्न विवाद पर: इस दूसरे मामले में सर्वोच्च न्यायालय के लिए राष्ट्रपति को अपनी राय देना संवैधानिक रूप से अनिवार्य (बाध्यकारी) है। यह ध्यान देने योग्य है कि सर्वोच्च न्यायालय द्वारा व्यक्त की गई यह राय प्रकृति में विशुद्ध 'सलाहकार' (Advisory) होती है; यह कोई न्यायिक निर्णय नहीं है, इसलिए राष्ट्रपति इस सलाह को मानने के लिए विधिक रूप से बाध्य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उपराष्ट्रपति के पद, योग्यता और निर्वाचक मंडल (अनुच्छेद 63 से 66) के संदर्भ में निम्नलिखित कथनों पर विचार कीजिए: A. उपराष्ट्रपति बनने के लिए उम्मीदवार का भारत का नागरिक होना, न्यूनतम 35 वर्ष की आयु और राज्यसभा का सदस्य चुने जाने की योग्यता होना आवश्यक है। B. उपराष्ट्रपति के निर्वाचक मंडल में संसद के दोनों सदनों (लोकसभा और राज्यसभा) के सभी सदस्य (निर्वाचित और मनोनीत दोनों) शामिल होते हैं। C. राज्य विधानसभाओं के निर्वाचित सदस्य उपराष्ट्रपति के निर्वाचन में मतदान करते हैं। D. उपराष्ट्रपति का चुनाव आनुपातिक प्रतिनिधित्व पद्धति के अनुसार एकल संक्रमणीय मत और गुप्त मतदान द्वारा संपन्न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63 में भारत के एक उपराष्ट्रपति का प्रावधान है। उपराष्ट्रपति पद की योग्यताओं में 35 वर्ष की आयु और राज्यसभा का सदस्य बनने की अर्हता शामिल है (जबकि राष्ट्रपति के लिए लोकसभा सदस्य बनने की अर्हता आवश्यक है), अतः कथन A सही है। अनुच्छेद 66(1) के तहत उपराष्ट्रपति का चुनाव संसद के दोनों सदनों के सदस्यों से मिलकर बनने वाले निर्वाचक मंडल द्वारा होता है; इसमें लोकसभा व राज्यसभा के सभी निर्वाचित और मनोनीत सदस्य मतदान करते हैं, अतः कथन B सही है। कथन C असत्य है क्योंकि उपराष्ट्रपति के चुनाव में राज्य विधानसभाओं (MLAs) या विधान परिषदों की कोई भूमिका नहीं होती है। चुनाव की पद्धति राष्ट्रपति की भांति ही आनुपातिक प्रतिनिधित्व प्रणाली, एकल संक्रमणीय मत और गुप्त मतदान पर आधारित होती है,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उपराष्ट्रपति को पद से हटाने की संवैधानिक प्रक्रिया (अनुच्छेद 67) के संदर्भ में निम्नलिखित कथनों पर विचार कीजिए: A. उपराष्ट्रपति को हटाने का औपचारिक प्रस्ताव केवल राज्यसभा में ही पेश (आरंभ) किया जा सकता है। B. ऐसा प्रस्ताव लाने के लिए कम से कम 14 दिन की पूर्व लिखित सूचना दिया जाना अनिवार्य है। C. इस प्रस्ताव को राज्यसभा द्वारा 'तत्कालीन समस्त सदस्यों के बहुमत' (प्रभावी बहुमत / Effective Majority) से पारित होना आवश्यक है। D. राज्यसभा द्वारा पारित होने के बाद लोकसभा द्वारा इसे दो-तिहाई विशेष बहुमत से पारित किया जाना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67(b) के अनुसार उपराष्ट्रपति को उसके 5 वर्ष के कार्यकाल से पूर्व पद से हटाने की एक विशिष्ट संवैधानिक प्रक्रिया है। चूंकि उपराष्ट्रपति राज्यसभा का पदेन सभापति होता है, इसलिए उसे हटाने का संकल्प केवल और केवल राज्यसभा में ही प्रस्तुत किया जा सकता है, अतः कथन A सही है। ऐसा कोई संकल्प तब तक पेश नहीं किया जा सकता जब तक कि उपराष्ट्रपति को कम से कम 14 दिन की पूर्व सूचना न दी गई हो, अतः कथन B सही है। राज्यसभा में इस संकल्प को 'तत्कालीन समस्त सदस्यों के बहुमत' (Majority of all the then members अर्थात् प्रभावी बहुमत-कुल सीटें माइनस रिक्तियां) से पारित होना चाहिए, अतः कथन C सही है। कथन D असत्य है क्योंकि राज्यसभा से पारित होने के बाद लोकसभा को केवल इस पर 'सहमति' (Agreed by Lok Sabha) देनी होती है, जिसके लिए लोकसभा में मात्र 'साधारण बहुमत' (Simple Majority) की आवश्यकता होती है, किसी विशेष बहुमत की नहीं। संविधान में उपराष्ट्रपति को हटाने का कोई विशिष्ट आधार उल्लिखित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उपराष्ट्रपति की दोहरी भूमिका और संवैधानिक कार्यों के संदर्भ में निम्नलिखित कथनों पर विचार कीजिए: A. अनुच्छेद 64 और 89 के अनुसार उपराष्ट्रपति राज्य सभा का पदेन सभापति (Ex-officio Chairman) होता है। B. उपराष्ट्रपति राज्यसभा का सदस्य नहीं होता, अतः उसे पहली बार में मत देने का अधिकार नहीं है, किंतु मत बराबर होने पर वह निर्णायक मत (Casting Vote) दे सकता है। C. अनुच्छेद 65 के अनुसार राष्ट्रपति का पद मृत्यु, त्यागपत्र या हटाए जाने से रिक्त होने पर उपराष्ट्रपति अधिकतम 6 माह तक कार्यवाहक राष्ट्रपति के रूप में कार्य करता है। D. जब उपराष्ट्रपति कार्यवाहक राष्ट्रपति के रूप में कार्य करता है, तो वह राज्यसभा के सभापति के कर्तव्यों का पालन जारी रखता है और दोनों पदों का वेतन एक साथ प्राप्त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उपराष्ट्रपति का पद अमेरिकी उपराष्ट्रपति की तर्ज पर बनाया गया है। वह राज्यसभा का पदेन सभापति होता है और उसे वेतन-भत्ते भी राज्यसभा के सभापति के रूप में मिलते हैं (उपराष्ट्रपति पद का कोई अलग वेतन नहीं है), अतः कथन A सही है। चूंकि वह सदन का सदस्य नहीं है, इसलिए वह सामान्यतः मतदान नहीं करता, किंतु पक्ष और विपक्ष के मत बराबर होने की स्थिति में अनुच्छेद 100(1) के तहत निर्णायक मत (Casting vote) का प्रयोग कर सकता है, अतः कथन B सही है। राष्ट्रपति का पद रिक्त होने पर उपराष्ट्रपति अधिकतम 6 माह तक (जब तक नया राष्ट्रपति न चुना जाए) कार्यवाहक राष्ट्रपति रहता है, अतः कथन C सही है। कथन D असत्य है क्योंकि अनुच्छेद 65(3) व 97 के अनुसार जब उपराष्ट्रपति राष्ट्रपति के रूप में कार्य करता है, तो वह राज्यसभा के सभापति के कार्यों का निर्वहन नहीं करता (उस दौरान उपसभापति सभापति का कार्य करता है) और उसे राष्ट्रपति को मिलने वाले वेतन, भत्ते व विशेषाधिकार प्राप्त होते हैं, सभापति वाले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राष्ट्रपति और उपराष्ट्रपति से संबंधित प्रमुख संवैधानिक अनुच्छेदों का सही मिलान कीजिए: सूची-I (संवैधानिक विषय): सूची-I: A. राष्ट्रपति का निर्वाचन (Election of the President) B. राष्ट्रपति पर महाभियोग (Impeachment of the President) C. राष्ट्रपति की क्षमादान शक्ति (Pardoning Power) D. राष्ट्रपति की अध्यादेश जारी करने की शक्ति (Promulgate Ordinances) सूची-II: 1. अनुच्छेद 61 2. अनुच्छेद 54 3. अनुच्छेद 123 4. अनुच्छेद 72</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V के अंतर्गत कार्यपालिका से संबंधित प्रमुख अनुच्छेद हैं: अनुच्छेद 54 राष्ट्रपति के निर्वाचक मंडल का प्रावधान करता है जिसमें संसद और विधानसभाओं के निर्वाचित सदस्य होते हैं (A-2)। अनुच्छेद 61 राष्ट्रपति पर संविधान के उल्लंघन के आधार पर महाभियोग चलाने की प्रक्रिया निर्धारित करता है (B-1)। अनुच्छेद 72 राष्ट्रपति को क्षमा, लघुकरण, परिहार, विराम और प्रविलंबन की असाधारण न्यायिक शक्ति प्रदान करता है (C-4)। अनुच्छेद 123 संसद के विश्रांतिकाल में राष्ट्रपति को अध्यादेश प्रख्यापित करने की विधायी शक्ति देता है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राष्ट्रपति और उपराष्ट्रपति के चुनाव से संबंधित विवादों (अनुच्छेद 71) के संदर्भ में निम्नलिखित कथनों पर विचार कीजिए: A. राष्ट्रपति या उपराष्ट्रपति के चुनाव से जुड़े सभी विवादों और शंकाओं की जांच और अंतिम निर्णय केवल भारत के सर्वोच्च न्यायालय द्वारा किया जाता है। B. सर्वोच्च न्यायालय का निर्णय अंतिम और सर्वमान्य होता है। C. यदि सर्वोच्च न्यायालय किसी व्यक्ति के राष्ट्रपति या उपराष्ट्रपति के रूप में निर्वाचन को शून्य/अवैध घोषित कर देता है, तो उसके द्वारा उस तिथि से पूर्व किए गए सभी पदीय कार्य स्वतः अमान्य और शून्य हो जाते हैं। D. निर्वाचक मंडल में किसी सदस्य का स्थान रिक्त होने के आधार पर राष्ट्रपति या उपराष्ट्रपति के चुनाव को न्यायालय में चुनौती नहीं दी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71 राष्ट्रपति और उपराष्ट्रपति के चुनाव से जुड़े विवादों के निपटारे की विशिष्ट व्यवस्था करता है। चुनाव से उत्पन्न सभी विवादों की सुनवाई का अनन्य और प्रारंभिक अधिकार केवल सर्वोच्च न्यायालय को प्राप्त है, अतः कथन A सही है। सर्वोच्च न्यायालय का निर्णय अंतिम और बाध्यकारी होता है, अतः कथन B सही है। कथन C असत्य है क्योंकि अनुच्छेद 71(2) स्पष्ट रूप से प्रावधान करता है कि यदि सुप्रीम कोर्ट द्वारा किसी व्यक्ति का चुनाव अवैध या शून्य घोषित कर दिया जाता है, तो भी उसके द्वारा निर्णय की तारीख से पूर्व राष्ट्रपति या उपराष्ट्रपति के रूप में किए गए सभी आधिकारिक कार्य वैध बने रहते हैं, वे शून्य नहीं होते। 11वें संविधान संशोधन 1961 द्वारा अनुच्छेद 71(4) जोड़ा गया जिसके अनुसार निर्वाचक मंडल में किसी भी कारण से रिक्तियां होने (जैसे किसी राज्य विधानसभा का भंग होना) के आधार पर चुनाव को चुनौती नहीं दी जा सकती,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1969 के 'राष्ट्रपति (कर्तव्यों का निर्वहन) अधिनियम' के अनुसार, जब राष्ट्रपति और उपराष्ट्रपति दोनों के पद एक साथ रिक्त हो जाएं, तो भारत के कार्यवाहक राष्ट्रपति के रूप में कौन कार्य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प्रधानमंत्री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लोकसभा के अध्यक्ष (Speaker)</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मुख्य न्यायाधीश (CJI) या उनकी अनुपस्थिति में सर्वोच्च न्यायालय के वरिष्ठतम न्यायाधीश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राज्यसभा के उपसभापति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मुख्य न्यायाधीश (CJI) या उनकी अनुपस्थिति में सर्वोच्च न्यायालय के वरिष्ठतम न्यायाधीश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प्रधानमंत्री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लोकसभा के अध्यक्ष (Speaker)</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राज्यसभा के उपसभापति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70 के तहत संसद को यह अधिकार है कि वह ऐसी किसी भी आकस्मिकता के लिए उपबंध बनाए जिसका संविधान में उल्लेख नहीं है। इसी के तहत संसद ने 'राष्ट्रपति (कर्तव्यों का निर्वहन) अधिनियम, 1969' पारित किया। इसके अनुसार यदि राष्ट्रपति और उपराष्ट्रपति दोनों के पद एक साथ रिक्त हो जाएं (मृत्यु, त्यागपत्र या निष्कासन के कारण), तो भारत के मुख्य न्यायाधीश (Chief Justice of India - CJI) कार्यवाहक राष्ट्रपति के रूप में कार्य करेंगे। यदि मुख्य न्यायाधीश का पद भी रिक्त हो या वे अनुपस्थित हों, तो सर्वोच्च न्यायालय के उपलब्ध वरिष्ठतम न्यायाधीश कार्यवाहक राष्ट्रपति का पद संभालेंगे। 1969 में जब राष्ट्रपति डॉ. जाकिर हुसैन का निधन हुआ और तत्कालीन उपराष्ट्रपति वी. वी. गिरि ने राष्ट्रपति चुनाव लड़ने के लिए त्यागपत्र दे दिया, तब तत्कालीन मुख्य न्यायाधीश न्यायमूर्ति मोहम्मद हिदायतुल्ला ने 20 जुलाई 1969 से 24 अगस्त 1969 तक भारत के कार्यवाहक राष्ट्रपति के रूप में ऐतिहासिक कार्य किया था।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प्रधानमंत्री की नियुक्ति, संवैधानिक स्थिति और शक्तियों के संदर्भ में निम्नलिखित कथनों पर विचार कीजिए: A. संविधान के अनुच्छेद 75 के अनुसार प्रधानमंत्री की नियुक्ति भारत के राष्ट्रपति द्वारा की जाती है। B. राष्ट्रपति लोकसभा में बहुमत प्राप्त दल के नेता को प्रधानमंत्री नियुक्त करता है, किंतु स्पष्ट बहुमत न होने पर राष्ट्रपति अपने स्वविवेक का प्रयोग कर सकता है। C. जो व्यक्ति संसद के किसी भी सदन का सदस्य नहीं है, वह भी प्रधानमंत्री नियुक्त हो सकता है, बशर्ते उसे 6 माह के भीतर किसी भी सदन की सदस्यता प्राप्त करनी होगी। D. यदि प्रधानमंत्री त्यागपत्र दे देता है या उसका आकस्मिक निधन हो जाता है, तो पूरी मंत्रिपरिषद स्वतः ही विघटित (Dissolve)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संसदात्मक शासन प्रणाली के अंतर्गत राष्ट्रपति राज्य का औपचारिक प्रमुख (De jure head) होता है, जबकि प्रधानमंत्री सरकार का वास्तविक प्रमुख (De facto head) होता है। अनुच्छेद 75(1) स्पष्ट रूप से प्रावधान करता है कि प्रधानमंत्री की नियुक्ति राष्ट्रपति करेगा, अतः कथन A सही है। संसदीय परंपरा के अनुसार राष्ट्रपति लोकसभा में बहुमत दल या सबसे बड़े गठबंधन के नेता को प्रधानमंत्री नियुक्त करता है; त्रिशंकु लोकसभा की स्थिति में राष्ट्रपति अपने विवेकाधिकार से सबसे बड़े दल के नेता को नियुक्त कर बहुमत सिद्ध करने का समय देता है, अतः कथन B सही है। 1997 में सर्वोच्च न्यायालय ने निर्धारित किया कि कोई व्यक्ति जो संसद के किसी सदन का सदस्य नहीं है, वह 6 माह के लिए प्रधानमंत्री/मंत्री बन सकता है (जैसे 1991 में पी. वी. नरसिम्हा राव), अतः कथन C सही है। प्रधानमंत्री मंत्रिपरिषद रूपी मेहराब की आधारशिला (Keystone of the cabinet arch) होता है; उसके त्यागपत्र या मृत्यु से संपूर्ण मंत्रिपरिषद स्वतः समाप्त हो जाती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74 और राष्ट्रपति तथा मंत्रिपरिषद के संबंधों के संदर्भ में निम्नलिखित कथनों पर विचार कीजिए: A. अनुच्छेद 74(1) के अनुसार राष्ट्रपति को सहायता और सलाह देने के लिए एक मंत्रिपरिषद होगी जिसका प्रधान प्रधानमंत्री होगा। B. 42वें संविधान संशोधन (1976) ने मंत्रिपरिषद की सलाह को राष्ट्रपति के लिए बाध्यकारी बना दिया था। C. 44वें संविधान संशोधन (1978) ने राष्ट्रपति को यह शक्ति दी कि वह मंत्रिपरिषद की सलाह को एक बार पुनर्विचार के लिए वापस भेज सकता है, किंतु पुनर्विचार के बाद दी गई सलाह बाध्यकारी होगी। D. मंत्रिपरिषद द्वारा राष्ट्रपति को दी गई सलाह की वैधता की जांच किसी भी न्यायालय द्वारा की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74 राष्ट्रपति और मंत्रिपरिषद के कार्यकारी संबंधों का निर्धारण करता है। राष्ट्रपति अपनी कार्यकारी शक्तियों का प्रयोग मंत्रिपरिषद की सलाह पर ही करता है, अतः कथन A सही है। 42वें संविधान संशोधन 1976 द्वारा अनुच्छेद 74 में संशोधन कर यह अनिवार्य किया गया कि राष्ट्रपति मंत्रिपरिषद की सलाह के अनुसार ही कार्य करेगा, अतः कथन B सही है। 44वें संविधान संशोधन 1978 ने राष्ट्रपति को गरिमापूर्ण सुरक्षा देते हुए यह प्रावधान जोड़ा कि राष्ट्रपति मंत्रिपरिषद से अपनी सलाह पर एक बार पुनर्विचार करने को कह सकता है; किंतु यदि मंत्रिपरिषद पुनर्विचार के बाद पुनः वही सलाह भेजती है, तो राष्ट्रपति उसे स्वीकार करने के लिए पूर्णतः बाध्य है, अतः कथन C सही है। कथन D असत्य है क्योंकि अनुच्छेद 74(2) स्पष्ट रूप से यह संवैधानिक रोक लगाता है कि "इस प्रश्न की किसी न्यायालय में जांच नहीं की जाएगी कि क्या मंत्रियों ने राष्ट्रपति को कोई सलाह दी, और यदि दी तो क्या 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मंत्रिपरिषद के सामूहिक उत्तरदायित्व (Collective Responsibility) और व्यक्तिगत उत्तरदायित्व के संदर्भ में निम्नलिखित कथनों पर विचार कीजिए: A. अनुच्छेद 75(3) के अनुसार केंद्रीय मंत्रिपरिषद सामूहिक रूप से केवल 'लोकसभा' के प्रति उत्तरदायी होती है, संसद के दोनों सदनों के प्रति नहीं। B. सामूहिक उत्तरदायित्व का अर्थ है कि यदि लोकसभा अविश्वास प्रस्ताव पारित कर दे, तो राज्यसभा से बने मंत्रियों सहित पूरी मंत्रिपरिषद को त्यागपत्र देना होता है। C. कैबिनेट के सभी निर्णय सभी मंत्रियों पर बाध्यकारी होते हैं; यदि कोई मंत्री असहमत है, तो उसे त्यागपत्र देना पड़ता है (जैसे डॉ. अंबेडकर ने हिंदू कोड बिल पर दिया था)। D. अनुच्छेद 75(2) के अनुसार प्रत्येक मंत्री व्यक्तिगत रूप से 'प्रधानमंत्री' के प्रसादपर्यंत अपना पद धारण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शासन का मूल सिद्धांत सामूहिक उत्तरदायित्व है। अनुच्छेद 75(3) स्पष्ट करता है कि मंत्रिपरिषद सामूहिक रूप से 'लोकसभा' (जनता के सदन) के प्रति जवाबदेह होगी, अतः कथन A सही है। सामूहिक उत्तरदायित्व का सिद्धांत यह है कि सभी मंत्री एक साथ तैरते हैं और एक साथ डूबते हैं; यदि लोकसभा में सरकार के खिलाफ अविश्वास प्रस्ताव पारित हो जाए या बजट गिर जाए, तो पूरी मंत्रिपरिषद को इस्तीफा देना पड़ता है, अतः कथन B सही है। कैबिनेट का निर्णय संयुक्त जिम्मेदारी होता है; यदि कोई मंत्री कैबिनेट के निर्णय से असहमत है तो वह बाहर उसकी आलोचना नहीं कर सकता, उसे पद छोड़ना होगा (1951 में डॉ. बी. आर. अंबेडकर और 1953 में सी. डी. देशमुख ने असहमति के कारण त्यागपत्र दिया था), अतः कथन C सही है। कथन D असत्य है क्योंकि अनुच्छेद 75(2) स्पष्ट प्रावधान करता है कि मंत्री व्यक्तिगत रूप से 'भारत के राष्ट्रपति' के प्रसादपर्यंत (During the pleasure of the President) पद धारण करते हैं (यद्यपि राष्ट्रपति प्रधानमंत्री की सलाह पर ही किसी मंत्री को पदमुक्त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91वें संविधान संशोधन अधिनियम, 2003 के अनुसार, केंद्रीय मंत्रिपरिषद में प्रधानमंत्री सहित मंत्रियों की कुल संख्या लोकसभा की कुल सदस्य संख्या के कितने प्रतिशत से अधिक नहीं हो सकती?</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10 प्रतिशत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12 प्रतिशत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 प्रतिशत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20 प्रतिशत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15 प्रतिशत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 प्रतिशत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प्रतिशत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20 प्रतिशत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विशाल और जंबो मंत्रिमंडलों पर रोक लगाने तथा राजनीतिक दलबदल को हतोत्साहित करने के उद्देश्य से संसद द्वारा 91वां संविधान संशोधन अधिनियम, 2003 पारित किया गया था। इस संशोधन द्वारा अनुच्छेद 75 में खंड (1A) जोड़ा गया, जिसके अनुसार "केंद्रीय मंत्रिपरिषद में प्रधानमंत्री सहित मंत्रियों की कुल संख्या लोकसभा की कुल सदस्य संख्या के 15 प्रतिशत से अधिक नहीं होगी।" इसी प्रकार राज्यों के लिए अनुच्छेद 164(1A) के तहत राज्य मंत्रिपरिषद में मुख्यमंत्री सहित मंत्रियों की अधिकतम संख्या विधानसभा की कुल सदस्य संख्या के 15% से अधिक नहीं होगी (और राज्यों में मंत्रियों की न्यूनतम संख्या मुख्यमंत्री सहित 12 से कम नहीं होगी, जबकि राष्ट्रीय राजधानी क्षेत्र दिल्ली के लिए अनुच्छेद 239AA के तहत यह सीमा 10% निर्धारित है)।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'मंत्रिमंडल' (Cabinet) और 'मंत्रिपरिषद' (Council of Ministers) के संवैधानिक अंतर के संबंध में निम्नलिखित कथनों पर विचार कीजिए: A. मूल संविधान में 'मंत्रिमंडल' (Cabinet) शब्द का कहीं भी उल्लेख नहीं था; इसे 44वें संविधान संशोधन (1978) द्वारा अनुच्छेद 352 में शामिल किया गया। B. मंत्रिपरिषद एक व्यापक निकाय है जिसमें कैबिनेट मंत्री, राज्य मंत्री और उप-मंत्री तीनों श्रेणियां शामिल होती हैं। C. मंत्रिमंडल (कैबिनेट) में केवल वरिष्ठ और कैबिनेट स्तर के मंत्री शामिल होते हैं, और यह नीति निर्माण की सर्वोच्च नीति-निर्धारक इकाई है। D. मंत्रिमंडल की सभी बैठकें और निर्णय संविधान के अनुच्छेद 78 के तहत सीधे भारत के मुख्य न्यायाधीश द्वारा संचालित किए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मंत्रिपरिषद और मंत्रिमंडल में महत्वपूर्ण संवैधानिक अंतर है। मूल संविधान में केवल 'मंत्रिपरिषद' (अनुच्छेद 74 व 75) शब्द था। 44वें संविधान संशोधन अधिनियम 1978 द्वारा अनुच्छेद 352(3) में पहली बार 'मंत्रिमंडल' (Cabinet) शब्द को परिभाषित करते हुए जोड़ा गया कि राष्ट्रपति राष्ट्रीय आपातकाल की घोषणा केवल तब करेगा जब प्रधानमंत्री और कैबिनेट स्तर के मंत्रियों वाली परिषद लिखित में ऐसा परामर्श दे, अतः कथन A सही है। मंत्रिपरिषद एक बड़ा निकाय है (जिसमें 60 से 70 सदस्य हो सकते हैं) जिसमें कैबिनेट मंत्री, राज्य मंत्री (स्वतंत्र प्रभार), राज्य मंत्री और उप-मंत्री शामिल होते हैं, अतः कथन B सही है। मंत्रिमंडल मंत्रिपरिषद का एक छोटा, शक्तिशाली आंतरिक भाग है जिसमें केवल कैबिनेट मंत्री (लगभग 15-20) होते हैं जो नियमित बैठकें कर देश की नीतियां तय करते हैं, अतः कथन C सही है। कथन D असत्य है क्योंकि मंत्रिमंडल की बैठकों की अध्यक्षता प्रधानमंत्री करते हैं और अनुच्छेद 78 के तहत प्रधानमंत्री का यह कर्तव्य है कि वह संघ के प्रशासन संबंधी निर्णयों की सूचना राष्ट्रपति को दे; न्यायपालिका का इसमें कोई हस्तक्षेप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प्रधानमंत्री की अध्यक्षता वाले प्रमुख राष्ट्रीय परिषदों/आयोगों और उनसे संबंधित निकायों का सही मिलान कीजिए: सूची-I (निकाय/संस्था): सूची-I: A. नीति आयोग (NITI Aayog) B. राष्ट्रीय विकास परिषद (National Development Council) C. अंतर-राज्यीय परिषद (Inter-State Council) D. क्षेत्रीय परिषदें (Zonal Councils) सूची-II: 1. प्रधानमंत्री की पदेन अध्यक्षता 2. केंद्रीय गृह मंत्री की पदेन अध्यक्षता 3. प्रधानमंत्री की अध्यक्षता (सभी राज्यों के मुख्यमंत्री सदस्य) 4. प्रधानमंत्री की पदेन अध्यक्षता (योजनाओं के अनुमोदन हेतु गठित)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B-4, C-3,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B-4, C-3,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प्रधानमंत्री देश के कई सर्वोच्च नीति-निर्माता निकायों का पदेन अध्यक्ष होता है। नीति आयोग (स्थापना 1 जनवरी 2015) का पदेन अध्यक्ष प्रधानमंत्री होता है (A-1)। राष्ट्रीय विकास परिषद (NDC, स्थापना 1952) की अध्यक्षता भी प्रधानमंत्री करते हैं (B-4)। अनुच्छेद 263 के तहत गठित अंतर-राज्यीय परिषद (Inter-State Council) की अध्यक्षता प्रधानमंत्री द्वारा की जाती है जिसमें सभी राज्यों के मुख्यमंत्री सदस्य होते हैं (C-3)। इसके विपरीत, राज्य पुनर्गठन अधिनियम 1956 के तहत गठित क्षेत्रीय परिषदों (Zonal Councils) के अध्यक्ष प्रधानमंत्री नहीं होते, बल्कि भारत के 'केंद्रीय गृह मंत्री' (Union Home Minister) इन सभी क्षेत्रीय परिषदों के अध्यक्ष होते हैं (D-2)। अतः सही मिलान A-1, B-4, C-3,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महान्यायवादी (Attorney General of India - अनुच्छेद 76) के पद और शक्तियों के संदर्भ में निम्नलिखित कथनों पर विचार कीजिए: A. महान्यायवादी भारत सरकार का प्रथम और सर्वोच्च विधि अधिकारी होता है, जिसकी नियुक्ति राष्ट्रपति द्वारा की जाती है। B. महान्यायवादी बनने के लिए वही योग्यताएं होनी चाहिए जो सर्वोच्च न्यायालय का न्यायाधीश नियुक्त होने के लिए आवश्यक हैं। C. संविधान में महान्यायवादी का कार्यकाल निश्चित नहीं है; वह राष्ट्रपति के प्रसादपर्यंत पद धारण करता है और राष्ट्रपति द्वारा निर्धारित पारिश्रमिक प्राप्त करता है। D. अनुच्छेद 88 के तहत उसे संसद के दोनों सदनों की कार्यवाही में भाग लेने और बोलने का अधिकार है, तथा वह विधेयकों पर मतदान भी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76 भारत के महान्यायवादी के पद का प्रावधान करता है। वह केंद्र सरकार का मुख्य कानूनी सलाहकार और सर्वोच्च विधि अधिकारी होता है, अतः कथन A सही है। संविधान के अनुसार महान्यायवादी नियुक्त होने के लिए व्यक्ति में सर्वोच्च न्यायालय का न्यायाधीश बनने की सभी अर्हताएं (भारत का नागरिक, 5 वर्ष HC जज या 10 वर्ष HC अधिवक्ता आदि) होनी चाहिए, अतः कथन B सही है। संविधान में महान्यायवादी का कोई निश्चित कार्यकाल या महाभियोग प्रक्रिया नहीं है; वह राष्ट्रपति के प्रसादपर्यंत पद पर रहता है और परंपरा के अनुसार जब सरकार बदलती है तो वह त्यागपत्र दे देता है, अतः कथन C सही है। कथन D असत्य है क्योंकि अनुच्छेद 88 के तहत महान्यायवादी को संसद के किसी भी सदन, संयुक्त बैठक या संसदीय समिति में उपस्थित होने और बोलने का अधिकार है, किंतु उसे संसद में मतदान करने का कोई अधिकार (No right to vote) प्राप्त नहीं है। इसके अतिरिक्त, वह पूर्णकालिक सरकारी नौकर नहीं है, अतः उसे निजी कानूनी वकालत की अनुमति होती है बशर्ते वह सरकार के खिलाफ मुकदमा न लड़े।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गठन और राज्य सभा की संरचना (अनुच्छेद 79 एवं 80) के संदर्भ में निम्नलिखित कथनों पर विचार कीजिए: A. अनुच्छेद 79 के अनुसार भारतीय संसद राष्ट्रपति, राज्य सभा (उच्च सदन) और लोक सभा (निम्न सदन) से मिलकर बनती है। B. राज्य सभा की अधिकतम सदस्य संख्या 250 हो सकती है, जिसमें से 12 सदस्य राष्ट्रपति द्वारा साहित्य, विज्ञान, कला और समाज सेवा के क्षेत्र से मनोनीत होते हैं। C. राज्य सभा एक स्थायी सदन है जिसका कभी विघटन नहीं होता, और इसके एक-तिहाई (1/3) सदस्य प्रत्येक दो वर्ष की समाप्ति पर सेवानिवृत्त हो जाते हैं। D. संविधान के अनुसार राज्य सभा का कार्यकाल 6 वर्ष निर्धारित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79 के अनुसार संघ के लिए एक संसद होगी जो राष्ट्रपति और दो सदनों (राज्य सभा और लोक सभा) से मिलकर बनेगी; राष्ट्रपति किसी सदन का सदस्य न होते हुए भी संसद का अभिन्न अंग है क्योंकि उसके हस्ताक्षर के बिना कोई विधेयक कानून नहीं बन सकता, अतः कथन A सही है। अनुच्छेद 80 के अनुसार राज्य सभा में अधिकतम 250 सदस्य (238 राज्यों व UTs से निर्वाचित + 12 राष्ट्रपति द्वारा मनोनीत) हो सकते हैं, अतः कथन B सही है। अनुच्छेद 83(1) के अनुसार राज्य सभा एक अनवरत चलने वाली संस्था (Permanent Body) है जिसका कभी विघटन नहीं होता; इसके एक-तिहाई सदस्य हर दूसरे वर्ष सेवानिवृत्त होते हैं, अतः कथन C सही है। कथन D असत्य है क्योंकि संविधान ने स्वयं राज्य सभा का कोई कार्यकाल तय नहीं किया है (सदन स्थायी है); जन प्रतिनिधित्व अधिनियम 1951 (RPA 1951) की धारा 154 के तहत संसद ने राज्य सभा के 'सदस्यों का कार्यकाल' 6 वर्ष निर्धारित किया है, न कि सदन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सभा की संरचना (अनुच्छेद 81) और हालिया संविधान संशोधनों के संदर्भ में निम्नलिखित कथनों पर विचार कीजिए: A. 104वें संविधान संशोधन अधिनियम (2019) द्वारा लोक सभा और राज्य विधानसभाओं में एंग्लो-इंडियन समुदाय के लिए 2 सदस्यों के मनोनयन के प्रावधान को आगे न बढ़ाकर समाप्त कर दिया गया। B. 84वें संविधान संशोधन अधिनियम (2001) ने राज्यों में लोक सभा की कुल सीटों की संख्या को वर्ष 2026 के बाद की पहली जनगणना तक स्थिर (Freeze) कर दिया है। C. लोक सभा की अधिकतम निर्धारित सदस्य संख्या अब 550 (530 राज्यों से + 20 केंद्र शासित प्रदेशों से) हो गई है। D. लोक सभा का सामान्य कार्यकाल 5 वर्ष है, किंतु राष्ट्रीय आपातकाल के दौरान संसद विधि बनाकर इसके कार्यकाल को एक बार में अनिश्चितकाल के लिए बढ़ा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सभा संसद का लोकप्रिय और प्रत्यक्ष निर्वाचित सदन है। 104वें संविधान संशोधन 2019 द्वारा अनुच्छेद 334 में संशोधन करके SC/ST के आरक्षण को 10 वर्ष (2030 तक) के लिए बढ़ाया गया, किंतु एंग्लो-इंडियन समुदाय के 2 सदस्यों के मनोनयन (अनुच्छेद 331) का नवीनीकरण नहीं किया गया, जिससे यह प्रावधान समाप्त हो गया, अतः कथन A सही है। 84वें संशोधन 2001 ने 1971 की जनगणना के आधार पर राज्यों को आवंटित लोक सभा सीटों की कुल संख्या को वर्ष 2026 तक के लिए फ्रीज कर दिया, अतः कथन B सही है। एंग्लो-इंडियन सीटों के हटने के बाद लोक सभा की अधिकतम क्षमता 552 से घटकर 550 हो गई है, अतः कथन C सही है। कथन D असत्य है क्योंकि अनुच्छेद 83(2) के अनुसार राष्ट्रीय आपातकाल की स्थिति में संसद कानून बनाकर लोक सभा के कार्यकाल को 'एक बार में केवल 1 वर्ष' के लिए ही बढ़ा सकती है (अनिश्चितकाल के लिए नहीं), और आपातकाल समाप्त होने के बाद यह विस्तार किसी भी दशा में 6 माह से अधिक नहीं रह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सदस्यों की योग्यताओं, अयोग्यताओं और संबंधित संवैधानिक प्रक्रियाओं का सही मिलान कीजिए: सूची-I (संवैधानिक प्रावधान): सूची-I: A. संसद सदस्य बनने हेतु न्यूनतम आयु सीमा B. लाभ का पद या दिवालियापन के आधार पर अयोग्यता C. दल-बदल के आधार पर अयोग्यता D. निर्वाचन संबंधी अयोग्यता पर अंतिम निर्णय सूची-II: 1. अनुच्छेद 84 (लोक सभा 25 वर्ष, राज्य सभा 30 वर्ष) 2. अनुच्छेद 102 (संविधान के तहत निर्धारित अयोग्यताएं) 3. 10वीं अनुसूची (सदन के अध्यक्ष / सभापति का निर्णय) 4. अनुच्छेद 103 (चुनाव आयोग की सलाह पर राष्ट्रपति का निर्णय)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सदस्यों की योग्यताएं और अयोग्यताएं संविधान में स्पष्ट रूप से उल्लिखित हैं। अनुच्छेद 84 के अनुसार लोक सभा के लिए न्यूनतम 25 वर्ष तथा राज्य सभा के लिए न्यूनतम 30 वर्ष की आयु होनी चाहिए (A-1)। अनुच्छेद 102 के तहत यदि कोई सांसद केंद्र/राज्य सरकार में लाभ का पद (Office of Profit) धारण करता है, विकृतचित्त या दिवालिया घोषित होता है, तो वह अयोग्य हो जाता है (B-2)। 10वीं अनुसूची के तहत दल-बदल (Anti-defection) के मामलों में अयोग्यता का निर्णय संबंधित सदन के पीठासीन अधिकारी (स्पीकर या चेयरमैन) द्वारा किया जाता है (C-3)। अनुच्छेद 103 के अनुसार अनुच्छेद 102 के तहत होने वाली अन्य अयोग्यताओं पर अंतिम निर्णय चुनाव आयोग (Election Commission) की बाध्यकारी राय के आधार पर भारत के राष्ट्रपति द्वारा लिया जाता है (D-4)।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10वीं अनुसूची (दल-बदल विरोधी कानून) और किहोटो होलोहन वाद (1992) के संदर्भ में निम्नलिखित कथनों पर विचार कीजिए: A. 10वीं अनुसूची को 52वें संविधान संशोधन अधिनियम, 1985 द्वारा संविधान में जोड़ा गया था। B. 91वें संविधान संशोधन (2003) ने मूल कानून में दिए गए 'एक-तिहाई (1/3) सदस्यों के विभाजन' (Split) के अपवाद को समाप्त कर दिया। C. वर्तमान में किसी राजनीतिक दल के कम से कम 'दो-तिहाई' (2/3) सदस्यों द्वारा किसी अन्य दल में विलय (Merger) करने पर दल-बदल कानून लागू नहीं होता। D. किहोटो होलोहन बनाम जाचिल्हू वाद (1992) में सर्वोच्च न्यायालय ने निर्णय दिया कि 10वीं अनुसूची के तहत पीठासीन अधिकारी का निर्णय न्यायिक समीक्षा (Judicial Review) के दायरे से पूरी तरह बाहर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राजनीतिक अस्थिरता और 'आया राम गया राम' की प्रवृत्ति को रोकने के लिए राजीव गांधी सरकार द्वारा 52वें संशोधन 1985 के माध्यम से 10वीं अनुसूची जोड़ी गई, अतः कथन A सही है। प्रारंभ में 1/3 सदस्यों के टूटने पर इसे वैध विभाजन माना जाता था, किंतु 91वें संशोधन 2003 ने इस विभाजन के प्रावधान को समाप्त कर दिया ताकि थोक दलबदल को रोका जा सके, अतः कथन B सही है। वर्तमान में यदि किसी विधायक दल के कम से कम दो-तिहाई (2/3) सदस्य किसी अन्य पार्टी में विलय के लिए सहमत होते हैं, तो उन पर दलबदल कानून के तहत अयोग्यता लागू नहीं होती, अतः कथन C सही है। कथन D असत्य है क्योंकि ऐतिहासिक किहोटो होलोहन वाद (1992) में सर्वोच्च न्यायालय की संविधान पीठ ने फैसला सुनाया कि दलबदल पर निर्णय देते समय पीठासीन अधिकारी (स्पीकर/सभापति) एक न्यायाधिकरण (Tribunal) के रूप में कार्य करता है, इसलिए उसका अंतिम निर्णय दुर्भावना, विकृतता या प्राकृतिक न्याय के उल्लंघन के आधार पर उच्च न्यायालय और सर्वोच्च न्यायालय की 'न्यायिक समीक्षा' (Judicial Review)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सभा अध्यक्ष (Speaker) के पद, शक्तियों और पदमुक्ति के संदर्भ में निम्नलिखित कथनों पर विचार कीजिए: A. लोक सभा अध्यक्ष का चुनाव लोक सभा के सदस्यों द्वारा अपने में से ही साधारण बहुमत द्वारा किया जाता है। B. जब लोक सभा भंग होती है, तो अध्यक्ष तुरंत अपना पद खाली नहीं करता, बल्कि वह नई लोक सभा की प्रथम बैठक तक अपने पद पर बना रहता है। C. अध्यक्ष को लोक सभा के 'तत्कालीन समस्त सदस्यों के बहुमत' (प्रभावी बहुमत) द्वारा पारित संकल्प से 14 दिन की पूर्व सूचना देकर हटाया जा सकता है। D. जब अध्यक्ष को पद से हटाने का संकल्प विचाराधीन हो, तो वह सदन में उपस्थित रह सकता है और पहली बार में मतदान कर सकता है, किंतु निर्णायक मत (Casting vote) नहीं दे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93 से 96 लोक सभा के अध्यक्ष और उपाध्यक्ष के पद से संबंधित हैं। लोक सभा अध्यक्ष का चुनाव नवनिर्वाचित सदन द्वारा किया जाता है, अतः कथन A सही है। अनुच्छेद 94 के अंतिम परंतुक के अनुसार लोक सभा के विघटन के बावजूद अध्यक्ष का पद रिक्त नहीं होता; वह नवगठित लोक सभा के पहले अधिवेशन के ठीक पहले तक पद पर बना रहता है, अतः कथन B सही है। अध्यक्ष को हटाने के लिए कम से कम 14 दिन का नोटिस देना आवश्यक है और इसे लोक सभा के प्रभावी बहुमत (Effective Majority) से पारित होना चाहिए, अतः कथन C सही है। अनुच्छेद 96 के अनुसार जब अध्यक्ष को हटाने का प्रस्ताव विचाराधीन हो, तब वह पीठासीन अधिकारी नहीं होता, किंतु उसे सदन में बोलने, कार्यवाही में भाग लेने और एक सामान्य सदस्य की तरह प्रथम दृष्ट्या मत (Vote in the first instance) देने का अधिकार होता है; किंतु मत बराबर होने पर वह निर्णायक मत (Casting vote) नहीं दे सकता,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'प्रोटेम स्पीकर' (Pro-tem Speaker) के संदर्भ में निम्नलिखित में से कौन 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पद संविधान में स्थायी रूप से उल्लिखित है और इसका कार्यकाल 5 वर्ष का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आम चुनाव के बाद नवनिर्वाचित लोक सभा के वरिष्ठतम सदस्यों में से किसी एक को प्रोटेम स्पीकर नियुक्त करता है, जिसका मुख्य कार्य नए सदस्यों को शपथ दिलाना और नए अध्यक्ष के चुनाव का संचालन करना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प्रोटेम स्पीकर की नियुक्ति भारत के मुख्य चुनाव आयुक्त द्वारा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प्रोटेम स्पीकर को राष्ट्रपति पर महाभियोग चलाने की विशेष शक्ति प्राप्त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आम चुनाव के बाद नवनिर्वाचित लोक सभा के वरिष्ठतम सदस्यों में से किसी एक को प्रोटेम स्पीकर नियुक्त करता है, जिसका मुख्य कार्य नए सदस्यों को शपथ दिलाना और नए अध्यक्ष के चुनाव का संचालन करना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पद संविधान में स्थायी रूप से उल्लिखित है और इसका कार्यकाल 5 वर्ष का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प्रोटेम स्पीकर की नियुक्ति भारत के मुख्य चुनाव आयुक्त द्वारा की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प्रोटेम स्पीकर को राष्ट्रपति पर महाभियोग चलाने की विशेष शक्ति प्राप्त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'प्रोटेम' (Pro-tempore) एक लैटिन शब्द है जिसका अर्थ 'कुछ समय के लिए' (For the time being) होता है। आम चुनावों के बाद जब नई लोक सभा गठित होती है, तो सदन का कोई अध्यक्ष नहीं होता। संविधान के अनुच्छेद 95(1) के तहत राष्ट्रपति लोक सभा के सामान्यतः वरिष्ठतम सदस्यों में से एक को अस्थायी अध्यक्ष (Pro-tem Speaker) नियुक्त करता है और उसे शपथ दिलाता है। प्रोटेम स्पीकर के पास नियमित अध्यक्ष की सभी शक्तियां होती हैं। उसके दो मुख्य दायित्व होते हैं: 1. नवनिर्वाचित संसद सदस्यों (MPs) को पद की शपथ दिलाना (अनुच्छेद 99), और 2. सदन द्वारा नए स्थायी लोक सभा अध्यक्ष (Speaker) के चुनाव की प्रक्रिया का संचालन करना। जैसे ही नए स्थायी अध्यक्ष का चुनाव संपन्न हो जाता है, प्रोटेम स्पीकर का कार्यालय स्वतः समाप्त हो जाता है। अतः विकल्प B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सत्रों, आहूत करने, सत्रावसान और विघटन (अनुच्छेद 85) के संदर्भ में निम्नलिखित कथनों पर विचार कीजिए: A. राष्ट्रपति समय-समय पर संसद के प्रत्येक सदन को आहूत (Summon) करता है, किंतु संसद के दो सत्रों की अंतिम व प्रथम बैठक के मध्य 6 माह से अधिक का अंतर नहीं होना चाहिए। B. 'स्थगन' (Adjournment) सदन की बैठक को कुछ घंटों, दिनों या अनिश्चितकाल (Sine die) के लिए रोकता है और यह शक्ति संबंधित सदन के पीठासीन अधिकारी (स्पीकर/सभापति) में निहित है। C. 'सत्रावसान' (Prorogation) संसद के चालू सत्र को समाप्त करता है और यह आदेश भारत के राष्ट्रपति द्वारा जारी किया जाता है। D. लोक सभा का 'विघटन' (Dissolution) केवल राष्ट्रपति द्वारा किया जा सकता है, जो सदन के जीवन काल को समाप्त कर देता है और इसके बाद नए चुनाव अनिवार्य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85 संसद के सत्र, सत्रावसान और विघटन से संबंधित है। भारत में वर्ष में सामान्यतः तीन सत्र (बजट सत्र, मानसून सत्र, शीतकालीन सत्र) होते हैं। संविधान का नियम है कि दो सत्रों के बीच अधिकतम अंतराल 6 माह से अधिक नहीं हो सकता (अतः वर्ष में कम से कम 2 सत्र अनिवार्य हैं), अतः कथन A सही है। स्थगन (Adjournment) केवल बैठक को अस्थायी रूप से स्थगित करता है और यह पीठासीन अधिकारी का अधिकार है, अतः कथन B सही है। सत्रावसान (Prorogation) राष्ट्रपति द्वारा मंत्रिपरिषद की सलाह पर किया जाता है जो पूरे सत्र की समाप्ति करता है (इससे लंबित विधेयक समाप्त नहीं होते), अतः कथन C सही है। विघटन (Dissolution) केवल लोक सभा का होता है (राज्य सभा स्थायी है) जो राष्ट्रपति द्वारा किया जाता है और इसके बाद 5 वर्ष का कार्यकाल समाप्त होकर नए आम चुनाव होते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दोनों सदनों की संयुक्त बैठक (Joint Sitting - अनुच्छेद 108) के संदर्भ में निम्नलिखित कथनों पर विचार कीजिए: A. यदि किसी साधारण विधेयक या वित्त विधेयक पर दोनों सदनों के मध्य 6 माह तक गतिरोध बना रहे, तो राष्ट्रपति दोनों सदनों की संयुक्त बैठक बुला सकता है। B. 'धन विधेयक' (Money Bill) और 'संविधान संशोधन विधेयक' (Constitutional Amendment Bill) के मामले में संयुक्त बैठक का कोई संवैधानिक प्रावधान नहीं है। C. संयुक्त बैठक की अध्यक्षता लोक सभा का अध्यक्ष करता है; उसकी अनुपस्थिति में उपाध्यक्ष और उसके भी अनुपस्थित होने पर राज्य सभा का उपसभापति करता है। D. संयुक्त बैठक में कोई भी विधेयक दोनों सदनों के कुल उपस्थित और मतदान करने वाले सदस्यों के साधारण बहुमत से पारित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108 विधायी गतिरोध को दूर करने के लिए दोनों सदनों की संयुक्त बैठक का प्रावधान करता है। यदि एक सदन द्वारा पारित विधेयक को दूसरा सदन अस्वीकार कर दे, संशोधनों पर असहमत हो, या 6 माह से अधिक समय तक लंबित रखे, तो राष्ट्रपति संयुक्त बैठक आहूत कर सकता है, अतः कथन A सही है। संविधान निर्माताओं ने धन विधेयक (जिसमें लोक सभा सर्वोच्च है) और अनुच्छेद 368 के संविधान संशोधन विधेयक (जिसमें दोनों सदनों की अलग-अलग विशेष बहुमत से सहमति अनिवार्य है) के लिए संयुक्त बैठक का कोई प्रावधान नहीं रखा है, अतः कथन B सही है। अनुच्छेद 118(4) के अनुसार संयुक्त बैठक की अध्यक्षता लोक सभा स्पीकर करता है; उसकी अनुपस्थिति में डिप्टी स्पीकर, और उसके भी न होने पर राज्य सभा का डिप्टी चेयरमैन करता है (ध्यान दें: राज्य सभा का सभापति/उपराष्ट्रपति कभी भी संयुक्त बैठक की अध्यक्षता नहीं करता क्योंकि वह किसी सदन का सदस्य नहीं होता), अतः कथन C सही है। लोक सभा की सदस्य संख्या अधिक होने के कारण संयुक्त बैठक में सामान्यतः लोक सभा का मत प्रभावी रहता है और यह उपस्थित व मतदान करने वालों के साधारण बहुमत से पारित होता है, अतः कथन D भी सही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संसदीय कार्यवाही के उपकरणों (प्रश्नकाल, शून्यकाल और कोरम) के संदर्भ में निम्नलिखित कथनों पर विचार कीजिए: A. संविधान के अनुच्छेद 100(3) के अनुसार संसद के किसी सदन की बैठक आयोजित करने के लिए न्यूनतम गणपूर्ति (Quorum) सदन की कुल सदस्य संख्या का 1/10 भाग (लोक सभा में 55, राज्य सभा में 25) है। B. संसद की बैठक का पहला घंटा (11:00 AM से 12:00 PM) सामान्यतः 'प्रश्नकाल' (Question Hour) होता है, जिसमें तारांकित (मौखिक उत्तर), अतारांकित (लिखित उत्तर) और अल्प सूचना प्रश्न पूछे जाते हैं। C. 'शून्य काल' (Zero Hour) भारतीय संसदीय नवाचार है जो 1962 से अस्तित्व में है, और इसका संसदीय प्रक्रिया के नियमों में कोई औपचारिक उल्लेख नहीं है। D. शून्य काल प्रश्नकाल के ठीक बाद शुरू होता है और इसमें सदस्य बिना किसी पूर्व सूचना के अत्यावश्यक लोक महत्व के मुद्दे उठा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की दैनिक कार्यप्रणाली विभिन्न स्थापित नियमों और परंपराओं से संचालित होती है। अनुच्छेद 100(3) के अनुसार कोरम पीठासीन अधिकारी सहित कुल सदस्य संख्या का दसवां हिस्सा (1/10) है; कोरम न होने पर पीठासीन अधिकारी सदन को स्थगित कर देता है, अतः कथन A सही है। प्रश्नकाल संसदीय प्रक्रिया के नियमों में उल्लिखित औपचारिक मंच है जहाँ सांसद सरकार की जवाबदेही तय करते हैं; तारांकित प्रश्नों पर पूरक प्रश्न पूछे जा सकते हैं जबकि अतारांकित पर लिखित उत्तर दिया जाता है, अतः कथन B सही है। शून्य काल (Zero Hour) भारत की संसदीय व्यवस्था की एक अनूठी देन है जो 1962 में प्रारंभ हुई थी; यह प्रक्रिया नियमों में दर्ज नहीं है बल्कि एक अनौपचारिक साधन है, अतः कथन C सही है। शून्य काल दोपहर 12 बजे (प्रश्नकाल समाप्त होते ही) शुरू होता है और 1 बजे (लंच ब्रेक) तक चलता है जिसमें तत्काल महत्व के मुद्दे उठाए जाते हैं, अतः कथन D भी सही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'धन विधेयक' (Money Bill - अनुच्छेद 110) की संवैधानिक प्रक्रिया के संदर्भ में निम्नलिखित कथनों पर विचार कीजिए: A. कोई विधेयक धन विधेयक है या नहीं, इसका अंतिम और बाध्यकारी निर्णय केवल 'लोक सभा अध्यक्ष' (Speaker) करता है। B. धन विधेयक केवल राष्ट्रपति की पूर्व सिफारिश से ही और केवल 'लोक सभा' में ही पेश किया जा सकता है। C. राज्य सभा धन विधेयक को न तो अस्वीकार कर सकती है और न ही इसमें कोई संशोधन कर सकती है; वह केवल सिफारिशें कर सकती है। D. राज्य सभा को धन विधेयक को अधिकतम 14 दिनों के भीतर लोक सभा को लौटाना अनिवार्य है, अन्यथा इसे दोनों सदनों द्वारा पारित मान लिया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110 धन विधेयक को परिभाषित करता है (करों का अधिरोपण, भारत की संचित निधि से धन की निकासी आदि)। अनुच्छेद 110(3) के अनुसार किसी विधेयक के धन विधेयक होने पर लोक सभा अध्यक्ष का निर्णय अंतिम होता है और जब इसे राज्य सभा व राष्ट्रपति के पास भेजा जाता है तो अध्यक्ष का प्रमाण पत्र साथ जाता है, अतः कथन A सही है। अनुच्छेद 109 के अनुसार धन विधेयक राष्ट्रपति की पूर्व अनुशंसा पर केवल लोक सभा में ही लाया जा सकता है, राज्य सभा में नहीं, अतः कथन B सही है। वित्तीय मामलों में लोक सभा की सर्वोच्चता सुनिश्चित करने के लिए राज्य सभा को केवल 14 दिनों का समय दिया गया है; राज्य सभा द्वारा दिए गए सुझावों को स्वीकार करना या न करना पूरी तरह लोक सभा की इच्छा पर निर्भर है, अतः कथन C और D सही हैं। राष्ट्रपति भी धन विधेयक पर अपनी सहमति देने के लिए सामान्यतः बाध्य होता है क्योंकि यह उसकी पूर्व अनुमति से ही पेश किया गया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बजट (वार्षिक वित्तीय विवरण - अनुच्छेद 112) और अनुदानों की संवैधानिक प्रक्रिया के संदर्भ में निम्नलिखित कथनों पर विचार कीजिए: A. भारतीय संविधान में कहीं भी 'बजट' शब्द का प्रयोग नहीं किया गया है; अनुच्छेद 112 में इसे 'वार्षिक वित्तीय विवरण' (Annual Financial Statement) कहा गया है। B. भारत की संचित निधि से कोई भी धनराशि अनुच्छेद 114 के तहत पारित 'विनियोग विधेयक' (Appropriation Bill) के बिना नहीं निकाली जा सकती। C. 'लेखानुदान' (Vote on Account - अनुच्छेद 116) बजट पारित होने तक सरकार को अपने दैनिक खर्चे चलाने के लिए अग्रिम अनुदान प्रदान करता है। D. भारत की संचित निधि पर 'भारित व्यय' (Expenditure Charged on Consolidated Fund) पर संसद में चर्चा तो हो सकती है, किंतु इस पर मतदान नहीं कराया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बजट से संबंधित संवैधानिक प्रावधान वित्तीय अनुशासन सुनिश्चित करते हैं। संविधान के अनुच्छेद 112 में इसे 'वार्षिक वित्तीय विवरण' कहा गया है जो एक वित्तीय वर्ष (1 अप्रैल से 31 मार्च) के लिए सरकार की अनुमानित प्राप्तियों और व्यय का विवरण होता है, अतः कथन A सही है। कार्यपालिका बिना विधायी स्वीकृति के एक रुपया भी खर्च नहीं कर सकती; अनुच्छेद 114 के तहत विनियोग विधेयक पारित होने के बाद ही संचित निधि से धन निकासी संभव होती है, अतः कथन B सही है। चूंकि बजट पारित होने की प्रक्रिया में 2-3 महीने (मई तक) लग जाते हैं, इसलिए नए वित्तीय वर्ष (1 अप्रैल) से काम न रुके, इसके लिए अनुच्छेद 116 के तहत लोक सभा अग्रिम में 2 महीने का खर्च 'लेखानुदान' के रूप में स्वीकृत करती है, अतः कथन C सही है। राष्ट्रपति, सुप्रीम कोर्ट के जजों के वेतन, CAG के भत्ते, राष्ट्रीय ऋण आदि संचित निधि पर भारित व्यय हैं जिन पर संसद में मतदान नहीं होता ताकि उनकी स्वायत्तता बनी रहे,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सभा की विशेष और अनन्य (Exclusive) संवैधानिक शक्तियों के संदर्भ में निम्नलिखित कथनों पर विचार कीजिए: A. अनुच्छेद 249 के तहत यदि राज्य सभा उपस्थित और मतदान करने वाले सदस्यों के 2/3 बहुमत से संकल्प पारित करे, तो संसद राष्ट्रीय हित में राज्य सूची के विषय पर कानून बना सकती है। B. अनुच्छेद 312 के तहत यदि राज्य सभा उपस्थित और मतदान करने वाले सदस्यों के 2/3 बहुमत से संकल्प पारित करे, तो संसद एक या अधिक नई 'अखिल भारतीय सेवाओं' (All India Services) का सृजन कर सकती है। C. भारत के उपराष्ट्रपति को पद से हटाने का प्रस्ताव केवल राज्य सभा में ही प्रारंभ किया जा सकता है। D. यदि राष्ट्रीय आपातकाल के दौरान लोक सभा भंग हो गई हो, तो आपातकाल के अनुमोदन की शक्ति केवल राज्य सभा में निहित 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में राज्य सभा राज्यों के हितों की प्रतिनिधि सभा है और उसे कुछ अनन्य शक्तियां प्राप्त हैं जो लोक सभा के पास नहीं हैं। अनुच्छेद 249 राज्य सभा को यह विशेष अधिकार देता है कि वह 2/3 बहुमत से राज्य सूची के किसी विषय को राष्ट्रीय महत्व का घोषित कर सकती है (ऐसा कानून 1 वर्ष तक प्रभावी रहता है), अतः कथन A सही है। अनुच्छेद 312 के तहत नई अखिल भारतीय सेवा (जैसे IAS, IPS, IFS के अलावा नई सेवा जैसे AIJS) स्थापित करने की शक्ति केवल राज्य सभा की पहल पर ही संसद को प्राप्त होती है, अतः कथन B सही है। उपराष्ट्रपति राज्य सभा का पदेन सभापति होने के कारण उसे हटाने का संकल्प केवल राज्य सभा में ही शुरू हो सकता है (अनुच्छेद 67), अतः कथन C सही है। यदि आपातकाल की घोषणा के समय लोक सभा भंग हो, तो राज्य सभा का 1 माह के भीतर अनुमोदन आपातकाल को जारी रखने के लिए पर्याप्त होता है (जब तक नई लोक सभा गठित न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सदस्यों और संसदीय समितियों के 'संसदीय विशेषाधिकारों' (Parliamentary Privileges - अनुच्छेद 105) के संदर्भ में निम्नलिखित कथनों पर विचार कीजिए: A. सांसदों को संसद सत्र के दौरान तथा सत्र प्रारंभ होने के 40 दिन पूर्व और 40 दिन पश्चात केवल 'दीवानी मामलों' (Civil Cases) में गिरफ्तारी से संरक्षण प्राप्त है। B. सांसदों को आपराधिक मामलों (Criminal Cases) या निवारक निरोध (Preventive Detention) अधिनियम के तहत गिरफ्तारी से कोई उन्मुक्ति प्राप्त नहीं है। C. संसद के भीतर किसी सांसद द्वारा कही गई किसी बात या दिए गए किसी मत के संबंध में उसके विरुद्ध किसी भी न्यायालय में कोई कार्यवाही नहीं की जा सकती। D. संसद को अपनी गुप्त बैठकें आयोजित करने और अपनी कार्यवाही के प्रकाशन को प्रतिबंधित करने का सामूहिक विशेषाधिकार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105 संसद के दोनों सदनों, उनकी समितियों और सदस्यों के विशेषाधिकारों और उन्मुक्तियों को परिभाषित करता है। व्यक्तिगत विशेषाधिकारों के तहत संसद सत्र के चालू रहने के दौरान तथा सत्र से 40 दिन पहले और 40 दिन बाद तक किसी सांसद को केवल दीवानी मामलों में गिरफ्तार नहीं किया जा सकता, अतः कथन A सही है। यह संरक्षण आपराधिक मामलों, देशद्रोह या निवारक नजरबंदी में लागू नहीं होता; आपराधिक मामले में गिरफ्तारी की सूचना केवल स्पीकर को देनी होती है, अतः कथन B सही है। अनुच्छेद 105(2) सदन में पूर्ण वाक् स्वतंत्रता देता है; संसद के पटल पर कही गई किसी बात या वोट के लिए सांसद पर अदालत में मुकदमा नहीं चलाया जा सकता, अतः कथन C सही है। सामूहिक विशेषाधिकारों के तहत सदन को बाहरी व्यक्तियों को निष्कासित करने, गोपनीय बैठक करने, अपनी रिपोर्ट प्रकाशित करने और अपने विशेषाधिकार हनन पर किसी भी व्यक्ति को दंडित करने की शक्ति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लेखा समिति' (Public Accounts Committee - PAC) की संरचना, कार्यप्रणाली और महत्व के संदर्भ में निम्नलिखित कथनों पर विचार कीजिए: A. लोक लेखा समिति की स्थापना सर्वप्रथम 1921 में भारत सरकार अधिनियम 1919 (मोंटेग्यू-चेम्सफोर्ड सुधार) के तहत की गई थी। B. समिति में कुल 22 सदस्य (15 लोक सभा से और 7 राज्य सभा से) होते हैं, जिनका चुनाव आनुपातिक प्रतिनिधित्व प्रणाली द्वारा प्रतिवर्ष होता है। C. 1967 से चली आ रही सुस्थापित संसदीय परंपरा के अनुसार लोक लेखा समिति का अध्यक्ष हमेशा 'विपक्षी दल' (Opposition Party) से चुना जाता है। D. यह समिति नियंत्रक एवं महालेखा परीक्षक (CAG) की वार्षिक ऑडिट रिपोर्टों की गहन जांच करती है, इसलिए CAG को इसका 'मित्र, दार्शनिक और मार्गदर्शक'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लेखा समिति संसद की सबसे पुरानी और महत्वपूर्ण वित्तीय स्थायी समिति है। 1921 में स्थापित इस समिति का मुख्य कार्य यह देखना है कि संसद द्वारा स्वीकृत धन उसी मद में और नियमों के अनुसार खर्च हुआ है या नहीं, अतः कथन A सही है। इसमें 22 सदस्य होते हैं (15 लोक सभा से और 7 राज्य सभा से); कोई भी मंत्री इसका सदस्य नहीं बन सकता, अतः कथन B सही है। प्रारंभ में इसका अध्यक्ष सत्ताधारी दल से होता था, किंतु 1967 से लोकसभा अध्यक्ष द्वारा विपक्ष के किसी वरिष्ठ सदस्य को पीएसी का अध्यक्ष नियुक्त करने की स्वस्थ परंपरा शुरू हुई (प्रथम विपक्षी अध्यक्ष मीनू मसानी थे), अतः कथन C सही है। पीएसी सीएजी (CAG) की विनियोग लेखा, वित्त लेखा और सार्वजनिक उपक्रमों पर रिपोर्ट की जांच करती है; सीएजी समिति की बैठकों में उपस्थित होकर तकनीकी सहायता प्रदान करता है, इसलिए सीएजी को समिति का "मित्र, दार्शनिक एवं पथ-प्रदर्शक" कहा जाता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'प्राक्कलन समिति' (Estimates Committee) की संरचना और कार्यप्रणाली के संदर्भ में निम्नलिखित कथनों पर विचार कीजिए: A. स्वतंत्रता के बाद पहली प्राक्कलन समिति का गठन 1950 में तत्कालीन वित्त मंत्री जॉन मथाई की सिफारिश पर किया गया था। B. यह संसद की सबसे बड़ी स्थायी वित्तीय समिति है जिसमें कुल 30 सदस्य होते हैं और इसके सभी 30 सदस्य केवल 'लोक सभा' से चुने जाते हैं। C. राज्य सभा का इस समिति में कोई प्रतिनिधित्व नहीं होता है। D. प्राक्कलन समिति का अध्यक्ष लोक सभा अध्यक्ष द्वारा हमेशा 'विपक्षी दल' के सदस्यों में से ही नियुक्त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प्राक्कलन समिति बजट में शामिल खर्चों और अनुमानों की जांच करती है। 1950 में जॉन मथाई की सिफारिश पर गठित इस समिति का उद्देश्य सरकारी खर्च में मितव्ययिता और दक्षता लाना है, इसलिए इसे 'सतत मितव्ययिता समिति' (Continuous Economy Committee) भी कहा जाता है, अतः कथन A सही है। इसमें कुल 30 सदस्य होते हैं और इसके सभी सदस्य केवल लोक सभा से चुने जाते हैं (राज्य सभा का कोई सदस्य इसमें नहीं होता), अतः कथन B और C सही हैं। कथन D असत्य है क्योंकि लोक लेखा समिति के विपरीत, प्राक्कलन समिति का अध्यक्ष लोक सभा अध्यक्ष द्वारा अनिवार्य रूप से 'सत्ताधारी दल' (Ruling Party) से ही नियुक्त किया जाता है, विपक्षी दल से नहीं। कोई मंत्री इसका सदस्य नहीं बन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'सार्वजनिक उपक्रम समिति' (Committee on Public Undertakings - COPU) के संदर्भ में निम्नलिखित कथनों पर विचार कीजिए: A. इस समिति का गठन सर्वप्रथम 1964 में कृष्ण मेनन समिति की सिफारिशों के आधार पर किया गया था। B. इस समिति में कुल 22 सदस्य होते हैं (15 लोक सभा से और 7 राज्य सभा से एकल संक्रमणीय मत द्वारा निर्वाचित)। C. समिति का अध्यक्ष केवल लोक सभा के सदस्यों में से ही लोक सभा अध्यक्ष द्वारा नियुक्त किया जाता है। D. यह समिति सार्वजनिक क्षेत्र के उपक्रमों (PSUs जैसे ONGC, BHEL, LIC आदि) के वाणिज्यिक खातों, दक्षता और CAG की रिपोर्टों की जांच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सार्वजनिक क्षेत्र के उपक्रमों (PSUs) की वित्तीय जवाबदेही सुनिश्चित करने के लिए COPU का गठन 1964 में कृष्ण मेनन समिति की सिफारिश पर किया गया था, अतः कथन A सही है। प्रारंभ में इसमें 15 सदस्य थे, जिसे 1974 में बढ़ाकर 22 (15 लोक सभा + 7 राज्य सभा) कर दिया गया, अतः कथन B सही है। समिति का अध्यक्ष केवल लोक सभा के सदस्यों में से चुना जाता है (राज्य सभा का सदस्य इसका अध्यक्ष नहीं बन सकता), अतः कथन C सही है। इसका कार्य यह देखना है कि सरकारी कंपनियां ठोस व्यावसायिक सिद्धांतों और विवेकपूर्ण वाणिज्यिक प्रथाओं के अनुसार चलाई जा रही हैं या नहीं, और यह इन कंपनियों पर CAG की रिपोर्ट की जांच करती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सर्वोच्च न्यायालय के संगठन, स्थापना और न्यायाधीशों की संख्या (भाग V, अध्याय IV) के संदर्भ में निम्नलिखित कथनों पर विचार कीजिए: A. 28 जनवरी 1950 को भारत के सर्वोच्च न्यायालय का औपचारिक उद्घाटन हुआ, जिसने 1935 के अधिनियम के तहत स्थापित संघीय न्यायालय (Federal Court) का स्थान लिया। B. मूल संविधान में 1 मुख्य न्यायाधीश और 7 अन्य न्यायाधीश (कुल 8) का प्रावधान था। C. संविधान के अनुच्छेद 124(1) के तहत सर्वोच्च न्यायालय में न्यायाधीशों की संख्या में वृद्धि करने का एकमात्र विधायी अधिकार 'संसद' के पास है। D. वर्तमान में सर्वोच्च न्यायालय में मुख्य न्यायाधीश सहित कुल स्वीकृत न्यायाधीशों की संख्या 34 (1 CJI + 33 अन्य न्यायाधीश)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एकीकृत न्यायपालिका के शीर्ष पर सर्वोच्च न्यायालय स्थित है। इसका उद्घाटन 28 जनवरी 1950 को हुआ और इसने 1935 के संघीय न्यायालय तथा ब्रिटेन की प्रिवी काउंसिल दोनों की शक्तियों को समाहित किया, अतः कथन A सही है। 1950 में मूल संविधान में 1 CJI और 7 पुईने (अन्य) जज थे, अतः कथन B सही है। संविधान के अनुच्छेद 124(1) के अनुसार न्यायाधीशों की संख्या बढ़ाने की शक्ति संसद को दी गई है; संसद समय-समय पर 'उच्चतम न्यायालय (न्यायाधीशों की संख्या) अधिनियम' में संशोधन करके संख्या बढ़ाती रही है (1956 में 10, 1960 में 13, 1977 में 17, 1986 में 25, 2008 में 30), अतः कथन C सही है। वर्ष 2019 के संशोधन अधिनियम द्वारा संसद ने संख्या बढ़ाकर 1 CJI + 33 अन्य न्यायाधीश = कुल 34 न्यायाधीश कर दी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न्यायपालिका में 'कॉलेजियम प्रणाली' (Collegium System) के विकास और ऐतिहासिक न्यायाधीश मामलों (Judges Cases) के संदर्भ में निम्नलिखित कथनों पर विचार कीजिए: A. प्रथम न्यायाधीश मामला (1982 - एस. पी. गुप्ता वाद) में न्यायालय ने माना कि नियुक्ति में मुख्य न्यायाधीश के साथ 'परामर्श' का अर्थ 'सहमति' नहीं है और कार्यपालिका का निर्णय अंतिम होगा। B. द्वितीय न्यायाधीश मामला (1993) में न्यायालय ने पूर्व फैसला पलटते हुए 'कॉलेजियम प्रणाली' की शुरुआत की और कहा कि परामर्श का अर्थ सहमति है। C. तृतीय न्यायाधीश मामला (1998) में सर्वोच्च न्यायालय के कॉलेजियम का विस्तार कर CJI तथा 'चार अन्य वरिष्ठतम न्यायाधीशों' की 5-सदस्यीय पीठ बनाई गई। D. 99वें संविधान संशोधन अधिनियम द्वारा गठित 'राष्ट्रीय न्यायिक नियुक्ति आयोग' (NJAC) को सर्वोच्च न्यायालय ने 2015 में न्यायिक स्वतंत्रता के हनन के आधार पर असंवैधानिक घोषित कर रद्द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कॉलेजियम प्रणाली न्यायिक निर्णयों के माध्यम से विकसित हुई एक अनूठी व्यवस्था है। 1. प्रथम न्यायाधीश मामला (1982): कोर्ट ने कार्यपालिका को प्रधानता दी और माना कि राष्ट्रपति CJI की सलाह मानने के लिए बाध्य नहीं है, अतः कथन A सही है। 2. द्वितीय न्यायाधीश मामला (1993): सुप्रीम कोर्ट एडवोकेट्स ऑन रिकॉर्ड एसोसिएशन वाद में कोर्ट ने कॉलेजियम की नींव रखी और कहा कि CJI की सलाह बाध्यकारी है तथा वह 2 वरिष्ठतम जजों की राय से सलाह देंगे, अतः कथन B सही है। 3. तृतीय न्यायाधीश मामला (1998): राष्ट्रपति संदर्भ में कोर्ट ने कॉलेजियम का विस्तार किया जिसके अनुसार सुप्रीम कोर्ट में जजों की नियुक्ति हेतु कॉलेजियम में CJI + 4 वरिष्ठतम जज होंगे (और हाई कोर्ट के लिए CJI + 2 वरिष्ठ जज), अतः कथन C सही है। 4. चतुर्थ न्यायाधीश मामला (2015): संसद द्वारा पारित 99वें संविधान संशोधन और NJAC अधिनियम को 5 जजों की पीठ ने 4:1 के बहुमत से यह कहते हुए निरस्त कर दिया कि न्यायपालिका की स्वतंत्रता संविधान का 'मूल ढांचा' है जिसमें कार्यपालिका का हस्तक्षेप अमान्य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के न्यायाधीशों की अर्हताओं, कार्यकाल और पदमुक्ति के संदर्भ में निम्नलिखित कथनों पर विचार कीजिए: A. सर्वोच्च न्यायालय का न्यायाधीश नियुक्त होने के लिए भारत का नागरिक होना, किसी उच्च न्यायालय में कम से कम 5 वर्ष जज या 10 वर्ष वकील होना, या राष्ट्रपति की राय में पारंगत विधिवेत्ता होना आवश्यक है। B. भारतीय संविधान में सर्वोच्च न्यायालय के न्यायाधीश की नियुक्ति के लिए किसी न्यूनतम आयु सीमा का कोई उल्लेख नहीं किया गया है। C. सर्वोच्च न्यायालय का न्यायाधीश 65 वर्ष की आयु प्राप्त करने तक पद पर बना रहता है और वह राष्ट्रपति को संबोधित त्यागपत्र देकर कभी भी पदमुक्त हो सकता है। D. संविधान के अनुच्छेद 124(7) के अनुसार सेवानिवृत्ति के पश्चात सर्वोच्च न्यायालय का कोई भी न्यायाधीश भारत के किसी भी न्यायालय या प्राधिकारी के समक्ष वकालत नहीं कर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124 सर्वोच्च न्यायालय के न्यायाधीशों की योग्यताओं और स्वतंत्रता के सुरक्षा उपायों का निर्धारण करता है। योग्यताओं में पारंगत विधिवेत्ता (Distinguished Jurist) का विकल्प केवल सुप्रीम कोर्ट के लिए है, हाई कोर्ट के लिए नहीं, अतः कथन A सही है। संविधान में केवल सेवानिवृत्ति की अधिकतम आयु (65 वर्ष) का उल्लेख है, न्यूनतम आयु सीमा कहीं निर्धारित नहीं है, अतः कथन B सही है। न्यायाधीश 65 वर्ष की आयु तक पद पर रहते हैं और अपना त्यागपत्र राष्ट्रपति को सौंपते हैं, अतः कथन C सही है। न्यायपालिका की निष्पक्षता बनाए रखने के लिए अनुच्छेद 124(7) सेवानिवृत्त न्यायाधीशों पर भारत के राज्यक्षेत्र के भीतर किसी भी अदालत, ट्रिब्यूनल या प्राधिकरण के समक्ष वकालत (Plead or Act) करने पर पूर्ण और कठोर प्रतिबंध लगाता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और उच्च न्यायालय के न्यायाधीशों को हटाने की प्रक्रिया (महाभियोग / Removal Process) के संदर्भ में निम्नलिखित कथनों पर विचार कीजिए: A. संविधान के अनुच्छेद 124(4) के अनुसार न्यायाधीश को केवल दो आधारों-'साबित कदाचार' (Proved Misbehaviour) या 'असमर्थता' (Incapacity) पर ही हटाया जा सकता है। B. न्यायाधीश जांच अधिनियम, 1968 के अनुसार हटाने का प्रस्ताव लोक सभा में कम से कम 100 सदस्यों और राज्य सभा में कम से कम 50 सदस्यों के हस्ताक्षर से पेश किया जाता है। C. प्रस्ताव स्वीकार होने पर पीठासीन अधिकारी द्वारा 3-सदस्यीय जांच समिति (CJI या SC जज + HC का मुख्य न्यायाधीश + एक प्रख्यात विधिवेत्ता) गठित की जाती है। D. दोनों सदनों द्वारा विशेष बहुमत (सदन की कुल सदस्य संख्या का बहुमत तथा उपस्थित व मतदान करने वाले सदस्यों का 2/3 बहुमत) से प्रस्ताव पारित होने के बाद राष्ट्रपति हटाने का अंतिम आदेश जारी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में न्यायाधीशों की पद सुरक्षा की बहुत कठोर व्यवस्था की गई है। हटाने के केवल दो आधार हैं-कदाचार और अक्षमता, अतः कथन A सही है। न्यायाधीश जांच अधिनियम 1968 संसदीय प्रक्रिया को विनियमित करता है जिसके तहत नोटिस के लिए LS में 100 या RS में 50 सदस्यों का समर्थन चाहिए, अतः कथन B सही है। आरोपों की जांच के लिए 3 सदस्यीय न्यायिक समिति बनती है जो जांच करती है कि न्यायाधीश दोषी है या नहीं; यदि समिति निर्दोष पाती है तो प्रक्रिया समाप्त हो जाती है, अतः कथन C सही है। यदि जांच समिति दोषी पाती है, तो संसद के दोनों सदनों में अलग-अलग उसी सत्र में विशेष बहुमत (कुल सदस्यों का बहुमत + उपस्थित व मतदान का 2/3) से प्रस्ताव पारित होना अनिवार्य है, जिसके बाद राष्ट्रपति आदेश जारी करता है, अतः कथन D भी सत्य है। (भारत के इतिहास में अब तक किसी भी न्यायाधीश पर महाभियोग की प्रक्रिया पूर्ण रूप से पारित नहीं हुई है; वी. रामास्वामी और सौमित्र सेन जैसे मामलों में प्रक्रिया पूरी होने से पहले ही समाप्त हो गई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के क्षेत्राधिकार (Jurisdiction) और शक्तियों के संदर्भ में निम्नलिखित कथनों पर विचार कीजिए: A. अनुच्छेद 131 के तहत केंद्र और एक या अधिक राज्यों के बीच, या राज्यों के आपसी संघीय विवाद सर्वोच्च न्यायालय के अनन्य 'मूल क्षेत्राधिकार' (Original Jurisdiction) में आते हैं। B. अंतर-राज्यीय नदी जल विवाद (अनुच्छेद 262) और वित्त आयोग के संदर्भ वाले मामले अनुच्छेद 131 के मूल क्षेत्राधिकार से बाहर रखे गए हैं। C. अनुच्छेद 136 के तहत 'विशेष अनुमति याचिका' (SLP) सर्वोच्च न्यायालय की एक असाधारण विवेकाधीन शक्ति है, जो सैन्य न्यायालयों (Court Martial) को छोड़कर किसी भी अदालत के निर्णय के खिलाफ स्वीकार की जा सकती है। D. अनुच्छेद 142 सर्वोच्च न्यायालय को अपने समक्ष लंबित किसी भी मामले में 'पूर्ण न्याय' (Complete Justice) करने के लिए आवश्यक कोई भी डिक्री या आदेश पारित करने की असाधारण शक्ति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सर्वोच्च न्यायालय का क्षेत्राधिकार विश्व के सबसे व्यापक न्यायालयों में से एक है। 1. मूल क्षेत्राधिकार (अनुच्छेद 131): केंद्र-राज्य और अंतर-राज्यीय विवादों पर निर्णय केवल सुप्रीम कोर्ट करता है, अतः कथन A सही है। किंतु अनुच्छेद 262 के नदी जल विवाद, संविधान-पूर्व की संधियां और निजी नागरिकों के राज्यों के खिलाफ मुकदमे अनुच्छेद 131 से बाहर हैं, अतः कथन B सही है। 2. विशेष अनुमति याचिका (SLP - अनुच्छेद 136): यह वादी का अधिकार नहीं बल्कि न्यायालय का विशेषाधिकार है जिसके तहत वह किसी भी अदालत/ट्रिब्यूनल के फैसले के खिलाफ अपील सुन सकता है (केवल सेना न्यायालय इसके अपवाद हैं), अतः कथन C सही है। 3. अनुच्छेद 142: यह सुप्रीम कोर्ट को कानूनी तकनीकी औपचारिकताओं से परे जाकर पीड़ित पक्ष को 'पूर्ण न्याय' सुनिश्चित करने के लिए असाधारण आदेश देने की शक्ति देता है (जैसे अयोध्या वाद, भोपाल गैस त्रासदी, बाबरी मस्जिद ध्वंस आदि मामलों में प्रयुक्त),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के 'अभिलेख न्यायालय' (Court of Record - अनुच्छेद 129) और निर्णयों की समीक्षा (अनुच्छेद 137) के संदर्भ में निम्नलिखित कथनों पर विचार कीजिए: A. अनुच्छेद 129 के अनुसार सर्वोच्च न्यायालय के सभी निर्णयों और कार्यवाहियों का शाश्वत स्मृति और साक्ष्य के रूप में रिकॉर्ड रखा जाता है, और किसी भी अधीनस्थ अदालत में इनकी प्रामाणिकता पर सवाल नहीं उठाया जा सकता। B. अभिलेख न्यायालय होने के नाते सर्वोच्च न्यायालय को अपनी अवमानना (Contempt of Court) के लिए दंडित करने की अंतर्निहित शक्ति प्राप्त है। C. अनुच्छेद 137 के तहत सर्वोच्च न्यायालय को अपने द्वारा सुनाए गए किसी भी निर्णय या आदेश की स्वयं समीक्षा (Review) करने और त्रुटियों को सुधारने के लिए अपने पूर्व निर्णय को पलटने की पूर्ण शक्ति है। D. अनुच्छेद 141 घोषित करता है कि सर्वोच्च न्यायालय द्वारा घोषित विधि भारत के राज्यक्षेत्र के भीतर सभी न्यायालयों पर बाध्यकारी (Binding)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129 सर्वोच्च न्यायालय को 'अभिलेख न्यायालय' का दर्जा देता है जिसके दो प्रमुख अर्थ हैं: 1. इसके फैसले पूर्व-उदाहरण (Precedents) और साक्ष्य के रूप में सर्वमान्य होते हैं, और 2. न्यायालय को प्रत्यक्ष या अप्रत्यक्ष अवमानना (दीवानी या आपराधिक) पर दंड देने की शक्ति होती है, अतः कथन A और B सही हैं। अनुच्छेद 137 न्यायालय को अपनी भूल सुधारने की शक्ति देता है; सुप्रीम कोर्ट अपने ही पूर्व फैसलों से बंधा हुआ नहीं है और समय व न्याय की मांग पर फैसले पलट सकता है (जैसे गोलकनाथ 1967 के फैसले को केशवानंद भारती 1973 में पलटा गया), अतः कथन C सही है। अनुच्छेद 141 के अनुसार सुप्रीम कोर्ट द्वारा स्थापित कानून देश की सभी अधीनस्थ अदालतों और उच्च न्यायालयों के लिए कानून की तरह बाध्यकारी होता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'जनहित याचिका' (PIL) और 'सुधारात्मक याचिका' (Curative Petition) की संकल्पनाओं के संदर्भ में निम्नलिखित कथनों पर विचार कीजिए: A. भारत में 1980 के दशक में जनहित याचिका (PIL) का सूत्रपात और संस्थागत विकास मुख्य रूप से न्यायमूर्ति पी. एन. भगवती और न्यायमूर्ति वी. आर. कृष्ण अय्यर द्वारा किया गया था। B. PIL ने पारंपरिक 'लोकस स्टैंडी' (Locus Standi - केवल पीड़ित व्यक्ति ही अदालत जा सकता है) के कठोर नियम को शिथिल करते हुए किसी भी जागरूक नागरिक या सामाजिक संस्था को गरीबों और वंचितों की ओर से अदालत जाने की अनुमति दी। C. 'सुधारात्मक याचिका' (Curative Petition) की नवीन अवधारणा सर्वोच्च न्यायालय द्वारा रूपा अशोक हुर्रा बनाम अशोक हुर्रा वाद (2002) में विकसित की गई थी। D. सुधारात्मक याचिका किसी मामले में 'समीक्षा याचिका' (Review Petition) के खारिज होने के बाद गंभीर प्रक्रियात्मक अन्याय या प्राकृतिक न्याय के उल्लंघन को रोकने के लिए अंतिम न्यायिक उपाय के रूप में दायर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न्यायपालिका ने न्यायिक सक्रियता के माध्यम से सामाजिक न्याय के दो क्रांतिकारी उपकरण विकसित किए हैं। 1. जनहित याचिका (PIL): अमेरिकी न्यायशास्त्र से प्रेरित PIL को भारत में 1980 के दशक में न्यायमूर्ति पी. एन. भगवती और वी. आर. कृष्ण अय्यर ने स्थापित किया (जैसे हुसैनआरा खातून वाद 1979 और एस. पी. गुप्ता वाद 1982); इसने 'लोकस स्टैंडी' के सिद्धांत को बदला जिससे कोई भी व्यक्ति या NGO समाज के वंचित वर्गों के अधिकारों के लिए पोस्टकार्ड या पत्र लिखकर भी अनुच्छेद 32 या 226 के तहत जनहित में याचिका दायर कर सकता है, अतः कथन A और B सही हैं। 2. सुधारात्मक याचिका (Curative Petition): रूपा अशोक हुर्रा वाद (2002) में 5 जजों की संविधान पीठ ने व्यवस्था दी कि यदि पुनर्विचार याचिका (Review Petition) भी खारिज हो जाए, तो भी यदि यह सिद्ध हो कि प्राकृतिक न्याय का घोर उल्लंघन हुआ था या न्यायाधीश का व्यक्तिगत पूर्वाग्रह था, तो वरिष्ठ अधिवक्ताओं के प्रमाणन के बाद संविधान पीठ के समक्ष अंतिम उपचारात्मक याचिका सुनी जा सकती है, अतः कथन C और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और राज्यों के मध्य विधायी संबंधों (भाग XI, अध्याय I, अनुच्छेद 245 से 255) और 7वीं अनुसूची के संदर्भ में निम्नलिखित कथनों पर विचार कीजिए: A. अनुच्छेद 245 के अनुसार संसद भारत के संपूर्ण राज्यक्षेत्र या उसके किसी भाग के लिए कानून बना सकती है और संसद का कानून राज्यक्षेत्रातीत (Extra-territorial) भी लागू हो सकता है। B. 7वीं अनुसूची में तीन सूचियां-संघ सूची (Union List), राज्य सूची (State List) और समवर्ती सूची (Concurrent List) दी गई हैं। C. संघ सूची के विषयों पर कानून बनाने का अनन्य अधिकार संसद को है, जबकि राज्य सूची के विषयों पर सामान्य परिस्थितियों में राज्य विधानमंडल कानून बनाते हैं। D. समवर्ती सूची के विषयों पर संसद और राज्य विधानमंडल दोनों कानून बना सकते हैं, और टकराव की स्थिति में सामान्यतः राज्य का कानून केंद्र के कानून पर प्रभावी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केंद्र और राज्यों के बीच विधायी शक्तियों का त्रि-स्तरीय और स्पष्ट विभाजन किया गया है। संसद को संपूर्ण भारत या उसके किसी भाग के लिए कानून बनाने तथा विदेशों में स्थित भारतीय नागरिकों व संपत्ति पर लागू होने वाले 'राज्यक्षेत्रातीत कानून' बनाने की पूर्ण शक्ति है, जबकि राज्य विधानमंडल का कानून केवल राज्य के भीतर ही लागू होता है, अतः कथन A सही है। 7वीं अनुसूची में विधायी विषयों का 3 सूचियों में वर्गीकरण है, अतः कथन B सही है। संघ सूची (मूलतः 97, वर्तमान में 100 विषय) पर संसद को तथा राज्य सूची (मूलतः 66, वर्तमान में 61 विषय) पर सामान्यतः राज्य को कानून बनाने का अधिकार है, अतः कथन C सही है। कथन D असत्य है क्योंकि अनुच्छेद 254 के अनुसार समवर्ती सूची (मूलतः 47, वर्तमान में 52 विषय) पर केंद्र और राज्य दोनों कानून बना सकते हैं, किंतु टकराव की स्थिति में केंद्रीय कानून राज्य के कानून पर अधिभावी (Prevail) होता है, राज्य का कानून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'अवशिष्ट शक्तियों' (Residuary Powers - अनुच्छेद 248) के प्रावधानों के संदर्भ में निम्नलिखित कथनों पर विचार कीजिए: A. वे विषय जो तीनों सूचियों (संघ, राज्य या समवर्ती) में से किसी में भी स्पष्ट रूप से शामिल नहीं हैं, अवशिष्ट विषय कहलाते हैं। B. संविधान के अनुच्छेद 248 के अनुसार अवशिष्ट विषयों पर कानून बनाने की अनन्य विधायी शक्ति केवल भारत की 'संसद' को सौंपी गई है। C. अवशिष्ट शक्तियों के संबंध में भारतीय संविधान संयुक्त राज्य अमेरिका और ऑस्ट्रेलिया के संघीय मॉडल का अनुसरण करता है। D. भारतीय संविधान का अवशिष्ट शक्तियों को केंद्र को सौंपने का ढांचा कनाडा के संघीय मॉडल से प्रेरित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अवशिष्ट शक्तियां संघीय व्यवस्था में शक्ति संतुलन का महत्वपूर्ण पैमाना हैं। जो विषय संविधान की सातवीं अनुसूची की तीनों सूचियों में प्रगणित नहीं हैं (जैसे साइबर कानून, अंतरिक्ष अनुसंधान आदि), उन पर कानून बनाने का अनन्य अधिकार अनुच्छेद 248 के तहत केवल 'संसद' को प्राप्त है (जिसमें ऐसे विषयों पर कर लगाने की शक्ति भी शामिल है), अतः कथन A और B सही हैं। कथन C असत्य है जबकि कथन D सत्य है, क्योंकि अमेरिका, ऑस्ट्रेलिया और स्विट्जरलैंड जैसे शास्त्रीय संघों में अवशिष्ट शक्तियां राज्यों/प्रांतों को दी गई हैं ताकि राज्यों की स्वायत्तता बनी रहे; इसके विपरीत भारत ने 1935 के भारत सरकार अधिनियम और कनाडा के संविधान का अनुसरण करते हुए एक मजबूत और एकीकृत संघ के निर्माण हेतु अवशिष्ट शक्तियां केंद्र (संसद) को सौंपी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असाधारण परिस्थितियों में राज्य सूची के विषयों पर कानून बनाने की संसद की शक्तियों और संबंधित अनुच्छेदों का सही मिलान कीजिए: सूची-I (संवैधानिक परिस्थिति): सूची-I: A. राष्ट्रीय हित में राज्य सभा द्वारा संकल्प पारित करने पर B. राष्ट्रीय आपातकाल (अनुच्छेद 35 C. दो या अधिक राज्यों के विधानमंडलों के अनुरोध पर D. अंतर्राष्ट्रीय संधियों और समझौतों को प्रभावी बनाने के लिए सूची-II: 2. के प्रवर्तन में रहने के दौरान 1. अनुच्छेद 250 2. अनुच्छेद 249 3. अनुच्छेद 253 4. अनुच्छेद 252</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यद्यपि संघीय है, किंतु एकात्मक झुकाव के तहत संसद को 5 विशेष परिस्थितियों में राज्य सूची पर कानून बनाने की असाधारण शक्तियां दी गई हैं: 1. अनुच्छेद 249: यदि राज्य सभा 2/3 विशेष बहुमत से प्रस्ताव पारित कर दे कि राज्य सूची का कोई विषय राष्ट्रीय महत्व का है, तो संसद उस पर 1 वर्ष के लिए कानून बना सकती है (A-2)। 2. अनुच्छेद 250: जब राष्ट्रीय आपातकाल लागू हो, तो संसद को राज्य सूची के किसी भी विषय पर पूरे देश या किसी भाग के लिए कानून बनाने की पूर्ण शक्ति मिल जाती है (आपातकाल समाप्ति के 6 माह बाद यह समाप्त होता है) (B-1)। 3. अनुच्छेद 252: जब दो या अधिक राज्यों की विधानसभाएं प्रस्ताव पारित कर संसद से अनुरोध करें; ऐसा कानून केवल उन्हीं राज्यों पर लागू होता है (C-4)। 4. अनुच्छेद 253: किसी अन्य देश के साथ की गई संधि, समझौते या अंतरराष्ट्रीय सम्मेलन के निर्णयों को लागू करने के लिए संसद को राज्यों की सहमति के बिना कानून बनाने का अधिकार है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समवर्ती सूची के विषयों पर केंद्र और राज्य कानूनों के टकराव (Repugnancy - अनुच्छेद 254) के संदर्भ में निम्नलिखित कथनों पर विचार कीजिए: A. अनुच्छेद 254(1) के अनुसार यदि समवर्ती सूची के किसी विषय पर संसद और राज्य विधानमंडल के कानूनों में विरोध हो, तो केंद्रीय कानून मान्य होगा और राज्य का कानून उस विरोध की सीमा तक शून्य होगा। B. अनुच्छेद 254(2) के अनुसार यदि राज्य द्वारा बनाए गए कानून को राष्ट्रपति के विचारार्थ आरक्षित रखा गया हो और उसे राष्ट्रपति की सहमति मिल गई हो, तो वह कानून उस संबंधित राज्य में प्रभावी रहेगा। C. राष्ट्रपति की सहमति मिलने के बाद भी संसद उसी विषय पर बाद में पुनः कोई नया कानून बनाकर राज्य के उस कानून को संशोधित, परिवर्तित या निरस्त कर सकती है। D. समवर्ती सूची के मामलों में राज्यों को केंद्र से पूर्व अनुमति लेना प्रत्येक स्थिति में अनिवार्य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254 समवर्ती सूची के विषयों पर केंद्रीय कानून की सर्वोच्चता को स्थापित करने वाला मुख्य संवैधानिक प्रावधान है। सामान्य नियम यह है कि समवर्ती सूची पर संसद का कानून राज्य के कानून पर अधिभावी होगा, चाहे संसद का कानून पहले बना हो या बाद में, अतः कथन A सही है। अनुच्छेद 254(2) इसका एकमात्र अपवाद प्रस्तुत करता है: यदि किसी राज्य विधानमंडल द्वारा समवर्ती सूची के विषय पर पारित कानून को राज्यपाल द्वारा अनुच्छेद 200 के तहत राष्ट्रपति के विचारार्थ आरक्षित रखा गया हो और उसे राष्ट्रपति की औपचारिक स्वीकृति (Assent) प्राप्त हो गई हो, तो वह राज्य कानून संसद के पूर्व कानून के प्रतिकूल होते हुए भी उस विशिष्ट राज्य के राज्यक्षेत्र में लागू रहेगा, अतः कथन B सही है। किंतु अनुच्छेद 254(2) का परंतुक संसद को यह सर्वोच्च शक्ति देता है कि संसद उसी विषय पर नया कानून बनाकर राष्ट्रपति द्वारा स्वीकृत राज्य कानून को भी संशोधित या समाप्त कर सकती है, अतः कथन C सही है। कथन D असत्य है क्योंकि समवर्ती सूची पर कानून बनाने के लिए राज्यों को केंद्र से पूर्व अनुमति की आवश्यकता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और राज्यों के बीच प्रशासनिक संबंधों (भाग XI, अध्याय II, अनुच्छेद 256 से 263) के संदर्भ में निम्नलिखित कथनों पर विचार कीजिए: A. अनुच्छेद 256 के अनुसार प्रत्येक राज्य की कार्यपालिका शक्ति का प्रयोग इस प्रकार किया जाएगा जिससे संसद द्वारा बनाई गई विधियों का अनुपालन सुनिश्चित हो सके। B. अनुच्छेद 257 के तहत केंद्र सरकार राज्यों को राष्ट्रीय या सैन्य महत्व के संचार साधनों के निर्माण व रखरखाव तथा रेलवे की सुरक्षा के संबंध में बाध्यकारी निर्देश दे सकती है। C. संविधान के अनुच्छेद 365 के अनुसार यदि कोई राज्य केंद्र द्वारा दिए गए संवैधानिक निर्देशों का पालन करने में विफल रहता है, तो राष्ट्रपति यह मान सकता है कि राज्य का शासन संविधान के अनुसार नहीं चल रहा है (और अनुच्छेद 356 के तहत राष्ट्रपति शासन लगा सकता है)। D. केंद्र सरकार को राज्यों के आंतरिक प्रशासनिक मामलों में मनमाने ढंग से हस्तक्षेप करने का असीमित और अनियंत्रित संवैधानिक अधिकार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प्रशासनिक संबंध केंद्र को राज्यों पर प्रशासनिक नियंत्रण और मार्गदर्शन की शक्ति देते हैं। अनुच्छेद 256 राज्यों पर सामान्य बाध्यता आरोपित करता है कि वे केंद्रीय कानूनों का पालन सुनिश्चित करें, अतः कथन A सही है। अनुच्छेद 257 केंद्र को विशेष अधिकार देता है कि वह राज्यों को अपने कार्यपालक निर्देशों के तहत संचार के साधनों (सड़क, जलमार्ग) और रेलवे संपत्तियों की सुरक्षा का निर्देश दे सकता है (और इस पर होने वाले अतिरिक्त खर्चे की भरपाई केंद्र राज्य को करता है), अतः कथन B सही है। अनुच्छेद 365 एक बहुत ही शक्तिशाली उपबंध है जो स्पष्ट करता है कि यदि कोई राज्य केंद्र के वैध प्रशासनिक निर्देशों की अवहेलना करता है, तो राष्ट्रपति अनुच्छेद 356 के तहत राज्य में संवैधानिक तंत्र के विफल होने की घोषणा कर सकता है, अतः कथन C सही है। कथन D असत्य है क्योंकि भारत एक संघीय गणराज्य है; केंद्र केवल संविधान में उल्लिखित विशिष्ट परिस्थितियों और सीमाओं के भीतर ही निर्देश जारी कर सकता है, मनमाने ढंग से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अंतर-राज्यीय नदी जल विवादों के न्यायनिर्णयन (अनुच्छेद 262) के संवैधानिक तंत्र के संदर्भ में निम्नलिखित कथनों पर विचार कीजिए: A. अनुच्छेद 262 के तहत संसद को विधि द्वारा किसी अंतर-राज्यीय नदी या नदी घाटी के जल के प्रयोग, वितरण या नियंत्रण संबंधी विवाद के न्यायनिर्णयन का उपबंध करने की शक्ति है। B. संसद कानून बनाकर ऐसे किसी भी जल विवाद में सर्वोच्च न्यायालय या किसी अन्य न्यायालय के क्षेत्राधिकार को पूरी तरह वर्जित (Bar) कर सकती है। C. संसद ने अनुच्छेद 262 की शक्तियों का प्रयोग करते हुए 'अंतर-राज्यीय नदी जल विवाद अधिनियम, 1956' और 'नदी बोर्ड अधिनियम, 1956' पारित किए। D. अंतर-राज्यीय जल विवाद न्यायाधिकरण (Water Disputes Tribunal) द्वारा दिया गया अंतिम निर्णय सर्वोच्च न्यायालय के नियमित मूल क्षेत्राधिकार (अनुच्छेद 131) में सीधे अपील योग्य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नदियों के जल बंटवारे को लेकर राज्यों के विवादों को सुलझाने के लिए अनुच्छेद 262 एक विशिष्ट और स्वतंत्र व्यवस्था करता है। अनुच्छेद 262(1) संसद को अंतर-राज्यीय नदियों के जल उपयोग व वितरण पर कानून बनाने की शक्ति देता है, अतः कथन A सही है। अनुच्छेद 262(2) संसद को यह असाधारण अधिकार देता है कि वह कानून बनाकर सर्वोच्च न्यायालय और उच्च न्यायालयों को ऐसे विवादों की सुनवाई से पूरी तरह बाहर कर सकती है, अतः कथन B सही है। इसी शक्ति के तहत संसद ने 'नदी बोर्ड अधिनियम 1956' और 'अंतर-राज्यीय नदी जल विवाद अधिनियम 1956' बनाए, जिसके तहत कावेरी, कृष्णा, गोदावरी, रावी-व्यास आदि जल न्यायाधिकरण गठित किए गए, अतः कथन C सही है। कथन D असत्य है क्योंकि न्यायाधिकरण का निर्णय सुप्रीम कोर्ट के अनुच्छेद 131 के मूल क्षेत्राधिकार से बाहर होता है (यद्यपि सर्वोच्च न्यायालय अनुच्छेद 136 के तहत विशेष अनुमति याचिका SLP के माध्यम से न्यायाधिकरण के कानूनी पहलुओं पर सुनवाई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'अंतर-राज्यीय परिषद' (Inter-State Council - अनुच्छेद 263) के गठन, संरचना और कार्यों के संदर्भ में निम्नलिखित कथनों पर विचार कीजिए: A. भारतीय संविधान के अनुच्छेद 263 के तहत राष्ट्रपति द्वारा एक अंतर-राज्यीय परिषद का गठन किया जा सकता है यदि उसे प्रतीत हो कि इससे सार्वजनिक हितों की पूर्ति होगी। B. केंद्र-राज्य संबंधों पर गठित 'सरकारिया आयोग' (1983-88) की सिफारिश के आधार पर 1990 में वी. पी. सिंह सरकार द्वारा पहली बार अंतर-राज्यीय परिषद की स्थापना की गई थी। C. भारत का प्रधानमंत्री इस परिषद का पदेन अध्यक्ष होता है और सभी राज्यों व विधानसभा वाले केंद्र शासित प्रदेशों के मुख्यमंत्री तथा अन्य UTs के उपराज्यपाल इसके सदस्य होते हैं। D. अंतर-राज्यीय परिषद एक वैधानिक निर्णय लेने वाली सर्वोच्च विधिक अदालत के रूप में कार्य करती है और इसके निर्णय केंद्र व राज्यों पर बाध्यकारी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263 केंद्र और राज्यों तथा राज्यों के मध्य समन्वय स्थापित करने के लिए अंतर-राज्यीय परिषद के गठन की व्यवस्था करता है। राष्ट्रपति आदेश द्वारा इसका गठन करता है और इसके कर्तव्यों को परिभाषित करता है, अतः कथन A सही है। सरकारिया आयोग की प्रबल सिफारिश पर मई 1990 में राष्ट्रपति के आदेश द्वारा स्थायी अंतर-राज्यीय परिषद का गठन किया गया, अतः कथन B सही है। इस परिषद की संरचना में प्रधानमंत्री (अध्यक्ष), सभी राज्यों के मुख्यमंत्री, विधानसभा वाले UTs (दिल्ली, पुडुचेरी, जम्मू-कश्मीर) के मुख्यमंत्री, बिना विधानसभा वाले UTs के प्रशासक/उपराज्यपाल, और प्रधानमंत्री द्वारा नामित 6 केंद्रीय कैबिनेट मंत्री (गृह मंत्री सहित) शामिल होते हैं, अतः कथन C सही है। कथन D असत्य है क्योंकि अंतर-राज्यीय परिषद कोई न्यायालय या कानूनी न्यायाधिकरण नहीं है; यह एक विशुद्ध 'सलाहकार और परामर्शदात्री संस्था' (Advisory Body) है जो नीतिगत समन्वय और अंतर-राज्यीय विवादों पर चर्चा कर आम सहमति बनाती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'क्षेत्रीय परिषदों' (Zonal Councils) की संवैधानिक/वैधानिक स्थिति और कार्यप्रणाली के संदर्भ में निम्नलिखित कथनों पर विचार कीजिए: A. क्षेत्रीय परिषदें संवैधानिक निकाय नहीं हैं, बल्कि ये राज्य पुनर्गठन अधिनियम, 1956 के तहत स्थापित 'वैधानिक निकाय' (Statutory Bodies) हैं। B. 1956 के अधिनियम द्वारा देश को 5 क्षेत्रों (उत्तरी, मध्य, पूर्वी, पश्चिमी और दक्षिणी) में विभाजित कर पांच क्षेत्रीय परिषदों का गठन किया गया था। C. 1971 में एक अलग संसदीय अधिनियम द्वारा 'पूर्वोत्तर परिषद' (North-Eastern Council) का गठन किया गया जिसमें असम, मेघालय, मणिपुर, नागालैंड, त्रिपुरा, अरुणाचल प्रदेश, मिजोरम और सिक्किम शामिल हैं। D. भारत के प्रधानमंत्री सभी क्षेत्रीय परिषदों के स्थायी अध्यक्ष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क्षेत्रीय परिषदें अंतर-राज्यीय सहयोग और क्षेत्रीय विकास को बढ़ावा देने वाले वैधानिक मंच हैं। इनका उल्लेख संविधान में नहीं है; इनका गठन संसद द्वारा पारित 'राज्य पुनर्गठन अधिनियम 1956' के भाग III द्वारा किया गया, अतः ये सांविधिक/वैधानिक निकाय हैं, अतः कथन A सही है। 1956 के कानून ने 5 क्षेत्रीय परिषदें बनाईं (उत्तरी, मध्य, पूर्वी, पश्चिमी, दक्षिणी), अतः कथन B सही है। पूर्वोत्तर के राज्यों की विशेष भौगोलिक और जनजातीय आवश्यकताओं के लिए संसद ने 'पूर्वोत्तर परिषद अधिनियम 1971' बनाया (2002 में सिक्किम को भी इसमें जोड़ा गया), अतः कथन C सही है। कथन D असत्य है क्योंकि भारत के 'केंद्रीय गृह मंत्री' (Union Home Minister) सभी क्षेत्रीय परिषदों के साझा अध्यक्ष होते हैं, जबकि संबंधित क्षेत्र के राज्यों के मुख्यमंत्री रोटेशन के आधार पर एक वर्ष के लिए उपाध्यक्ष बनते हैं। ये परिषदें केवल सलाहकारी भूमिका निभाती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और राज्यों के बीच वित्तीय संबंधों (भाग XII) के अंतर्गत 'वैधानिक अनुदान' (अनुच्छेद 275) और 'विवेकाधीन अनुदान' (अनुच्छेद 282) के संदर्भ में निम्नलिखित कथनों पर विचार कीजिए: A. अनुच्छेद 275 के तहत संसद उन राज्यों को भारत की संचित निधि से वैधानिक अनुदान (Statutory Grants) प्रदान करती है जिन्हें वित्तीय सहायता की आवश्यकता होती है। B. अनुच्छेद 275 के अंतर्गत दिए जाने वाले अनुदान 'वित्त आयोग' (Finance Commission) की सिफारिशों के आधार पर निर्धारित किए जाते हैं। C. अनुच्छेद 282 केंद्र और राज्यों दोनों को किसी भी सार्वजनिक प्रयोजन के लिए विवेकाधीन अनुदान (Discretionary Grants) देने का अधिकार देता है, भले ही वह विषय उनकी विधायी सूची में न हो। D. विवेकाधीन अनुदान (अनुच्छेद 282) के लिए वित्त आयोग की सिफारिश अनिवार्य होती है और राज्य इसे कानूनी अधिकार के रूप में दावा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द्वारा राज्यों को वित्तीय संसाधन हस्तांतरित करने के दो मुख्य रास्ते हैं: 1. वैधानिक अनुदान (अनुच्छेद 275): यह भारत की संचित निधि पर भारित होता है और संसद विधि बनाकर जरूरतमंद राज्यों को सहायता देती है (जैसे जनजातीय क्षेत्रों के कल्याण हेतु); यह आवंटन अनुच्छेद 280 के तहत गठित वित्त आयोग की सिफारिशों के आधार पर निष्पक्ष रूप से किया जाता है, अतः कथन A और B सही हैं। 2. विवेकाधीन अनुदान (अनुच्छेद 282): यह मूलतः एक असाधारण प्रावधान था जो केंद्र व राज्य दोनों को किसी भी सार्वजनिक उद्देश्य (जैसे केंद्र प्रायोजित योजनाएं, आपदा राहत आदि) के लिए स्वेच्छा से वित्तीय सहायता देने की छूट देता है, अतः कथन C सही है। कथन D असत्य है क्योंकि अनुच्छेद 282 का अनुदान विशुद्ध रूप से कार्यपालिका के विवेक (Discretion) पर निर्भर है; इसके लिए वित्त आयोग की सिफारिश की आवश्यकता नहीं होती और न ही राज्य इसे अपने कानूनी अधिकार के रूप में मांग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ऋण लेने की संवैधानिक शक्तियों (अनुच्छेद 293) और केंद्र की वित्तीय सर्वोच्चता के संदर्भ में निम्नलिखित कथनों पर विचार कीजिए: A. राज्य सरकारें राज्य की संचित निधि की प्रतिभूति पर केवल 'भारत के राज्यक्षेत्र के भीतर' ही ऋण ले सकती हैं। B. राज्य सरकारों को भारत के बाहर (विदेशों या विदेशी वित्तीय संस्थाओं से) सीधे ऋण लेने का कोई संवैधानिक अधिकार प्राप्त नहीं है। C. यदि किसी राज्य पर केंद्र सरकार का कोई पुराना ऋण बकाया हो, तो वह राज्य केंद्र की पूर्व सहमति के बिना कोई नया बाजार ऋण नहीं ले सकता। D. केंद्र सरकार राज्यों को स्वयं ऋण दे सकती है या राज्यों द्वारा लिए जाने वाले ऋणों की गारंटी दे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292 केंद्र सरकार को तथा अनुच्छेद 293 राज्य सरकारों को ऋण लेने की शक्तियां प्रदान करता है। केंद्र सरकार भारत की संचित निधि की गारंटी पर देश के भीतर और विदेशों से भी ऋण ले सकती है (अनुच्छेद 292)। इसके विपरीत, अनुच्छेद 293(1) के तहत राज्य सरकारें केवल भारत के भीतर ही ऋण ले सकती हैं; उन्हें सीधे अंतरराष्ट्रीय बाजार या विदेशी सरकारों से संप्रभु ऋण लेने का अधिकार नहीं है (विदेशी ऋण केंद्र के माध्यम से ही प्राप्त होता है), अतः कथन A और B सही हैं। अनुच्छेद 293(3) के अनुसार यदि किसी राज्य पर केंद्र सरकार का कोई ऋण या गारंटी की देनदारी बकाया है, तो वह राज्य केंद्र सरकार की पूर्व सहमति के बिना कोई नया ऋण नहीं उठा सकता, अतः कथन C सही है। अनुच्छेद 293(2) के तहत केंद्र सरकार राज्यों को ऋण दे सकती है या राज्य द्वारा लिए गए आंतरिक ऋण की गारंटी दे सकती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'वस्तु एवं सेवा कर परिषद' (GST Council - अनुच्छेद 279A) के संवैधानिक प्रावधानों और कार्यप्रणाली के संदर्भ में निम्नलिखित कथनों पर विचार कीजिए: A. 101वें संविधान संशोधन अधिनियम, 2016 द्वारा संविधान में नया अनुच्छेद 279A जोड़कर GST परिषद के गठन का प्रावधान किया गया। B. GST परिषद केंद्र और राज्यों का एक संयुक्त मंच है जिसकी अध्यक्षता 'केंद्रीय वित्त मंत्री' करते हैं। C. परिषद में केंद्रीय वित्त राज्य मंत्री तथा सभी राज्यों के वित्त मंत्री या उनके द्वारा नामित अन्य मंत्री सदस्य के रूप में शामिल होते हैं। D. GST परिषद के निर्णयों में केंद्र सरकार के मत का भार (Weightage) कुल डाले गए मतों का एक-तिहाई (1/3) और सभी राज्यों के मतों का संयुक्त भार दो-तिहाई (2/3)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101वें संविधान संशोधन अधिनियम 2016 ने भारत में 'एक राष्ट्र, एक कर' (One Nation, One Tax) की अवधारणा को लागू करते हुए जीएसटी व्यवस्था बनाई। राष्ट्रपति द्वारा अनुच्छेद 279A के तहत जीएसटी परिषद का गठन किया गया, अतः कथन A सही है। यह सहकारी संघवाद का एक प्रमुख उदाहरण है जिसकी अध्यक्ष केंद्रीय वित्त मंत्री होती हैं, अतः कथन B सही है। इसमें सभी राज्यों व केंद्र शासित प्रदेशों के वित्त मंत्री सदस्य होते हैं जो अपने में से एक उपाध्यक्ष का चुनाव करते हैं, अतः कथन C सही है। निर्णय लेने की प्रक्रिया अनुच्छेद 279A(9) में निर्धारित है जिसके अनुसार बैठक का कोरम 50% सदस्य हैं और प्रत्येक निर्णय उपस्थित व मतदान करने वाले सदस्यों के कम से कम 3/4 भारित बहुमत (Weighted Majority) से लिया जाता है; इस वोटिंग में केंद्र सरकार के वोट का मूल्य 1/3 (33.33%) और सभी राज्य सरकारों के वोटों का कुल मूल्य 2/3 (66.67%) होता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केंद्र-राज्य संबंधों की समीक्षा और पुनर्गठन हेतु समय-समय पर गठित प्रमुख आयोगों/समितियों और उनके गठन वर्ष का सही मिलान कीजिए: सूची-I (आयोग / समिति): सूची-I: A. प्रशासनिक सुधार आयोग (प्रथम ARC - मोरारजी देसाई / के. हनुमंतैया) B. राजमन्नार समिति (तमिलनाडु सरकार द्वारा गठित) C. सरकारिया आयोग (न्यायमूर्ति आर. एस. सरकारिया) D. पुंछी आयोग (द्वितीय आयोग - न्यायमूर्ति मदन मोहन पुंछी) सूची-II: 1. 1969 2. 1966 3. 2007 4. 1983</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केंद्र-राज्य संबंधों में संतुलन स्थापित करने के लिए कई ऐतिहासिक आयोग बने हैं: 1. प्रथम प्रशासनिक सुधार आयोग (1966): मोरारजी देसाई की अध्यक्षता में गठित हुआ (बाद में के. हनुमंतैया अध्यक्ष बने), जिसने केंद्र-राज्य संबंधों और लोकपाल पर रिपोर्ट दी (A-2)। 2. राजमन्नार समिति (1969): तमिलनाडु की DMK सरकार द्वारा डॉ. पी. वी. राजमन्नार की अध्यक्षता में गठित समिति जिसने राज्यों को अधिक स्वायत्तता देने और अनुच्छेद 356 व 365 को समाप्त करने की वकालत की (B-1)। 3. सरकारिया आयोग (1983): इंदिरा गांधी सरकार द्वारा सर्वोच्च न्यायालय के सेवानिवृत्त जज आर. एस. सरकारिया की अध्यक्षता में 3 सदस्यीय आयोग गठित हुआ जिसने 1988 में रिपोर्ट दी और अंतर-राज्यीय परिषद के गठन तथा अनुच्छेद 356 के दुर्लभ प्रयोग की सिफारिश की (C-4)। 4. एम. एम. पुंछी आयोग (2007): मनमोहन सिंह सरकार द्वारा भारत के पूर्व CJI मदन मोहन पुंछी की अध्यक्षता में गठित द्वितीय केंद्र-राज्य संबंध आयोग जिसने 2010 में अपनी रिपोर्ट सौंपी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352 के तहत 'राष्ट्रीय आपातकाल' (National Emergency) की घोषणा और अनुमोदन प्रक्रिया के संदर्भ में निम्नलिखित कथनों पर विचार कीजिए: A. राष्ट्रपति अनुच्छेद 352 के तहत 'युद्ध', 'बाह्य आक्रमण' या 'सशस्त्र विद्रोह' (Armed Rebellion) के आधार पर राष्ट्रीय आपातकाल की घोषणा कर सकता है। B. 44वें संविधान संशोधन (1978) द्वारा 'आंतरिक अशांति' (Internal Disturbance) शब्द को हटाकर उसके स्थान पर 'सशस्त्र विद्रोह' शब्द प्रतिस्थापित किया गया। C. राष्ट्रपति आपातकाल की घोषणा केवल तब कर सकता है जब प्रधानमंत्री और केंद्रीय मंत्रिमंडल (Cabinet) लिखित रूप में ऐसा परामर्श दें। D. आपातकाल की उद्घोषणा को 1 माह के भीतर संसद के दोनों सदनों द्वारा 'विशेष बहुमत' (कुल सदस्य संख्या का बहुमत तथा उपस्थित व मतदान का 2/3) से अनुमोदित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XVIII (अनुच्छेद 352-360) आपातकालीन उपबंधों से संबंधित है। अनुच्छेद 352 के तहत तीन आधारों पर आपातकाल घोषित हो सकता है (युद्ध व बाह्य आक्रमण पर 'बाह्य आपातकाल' और सशस्त्र विद्रोह पर 'आंतरिक आपातकाल'), अतः कथन A सही है। 1975 में 'आंतरिक अशांति' के दुरुपयोग के बाद 44वें संशोधन 1978 द्वारा इसे हटाकर 'सशस्त्र विद्रोह' किया गया ताकि सैन्य विद्रोह के बिना आपातकाल न लगे, अतः कथन B सही है। 44वें संशोधन ने यह भी सुरक्षा कवच जोड़ा कि राष्ट्रपति केवल मौखिक सलाह पर नहीं, बल्कि संपूर्ण केंद्रीय कैबिनेट की 'लिखित सिफारिश' पर ही घोषणा करेगा, अतः कथन C सही है। 44वें संशोधन से पहले संसद को 2 माह का समय मिलता था और साधारण बहुमत पर्याप्त था; वर्तमान में उद्घोषणा की तारीख से '1 माह' के भीतर दोनों सदनों द्वारा अलग-अलग 'विशेष बहुमत' से अनुमोदन अनिवार्य है और एक बार अनुमोदित होने पर यह 6 माह तक चलता है तथा प्रत्येक 6 माह में विशेष बहुमत से इसे अनिश्चितकाल तक बढ़ाया जा सकता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आपातकाल का नागरिकों के मौलिक अधिकारों पर प्रभाव (अनुच्छेद 358 एवं 359) के संदर्भ में निम्नलिखित कथनों पर विचार कीजिए: A. अनुच्छेद 358 के तहत जब केवल 'युद्ध' या 'बाह्य आक्रमण' के आधार पर आपातकाल घोषित हो, तो अनुच्छेद 19 द्वारा प्रदत्त छह स्वतंत्रताएं स्वतः निलंबित हो जाती हैं। B. 'सशस्त्र विद्रोह' के आधार पर घोषित आपातकाल के दौरान अनुच्छेद 19 की स्वतंत्रताएं स्वतः निलंबित नहीं होती हैं। C. अनुच्छेद 359 राष्ट्रपति को आदेश जारी करके भाग III के तहत अन्य मौलिक अधिकारों के प्रवर्तन के लिए न्यायालय जाने के अधिकार को निलंबित करने की शक्ति देता है। D. 44वें संविधान संशोधन (1978) के अनुसार आपातकाल के दौरान भी अनुच्छेद 20 (दोषसिद्धि के संबंध में संरक्षण) और अनुच्छेद 21 (प्राण व दैहिक स्वतंत्रता) को किसी भी स्थिति में निलंबित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आपातकाल का मूल अधिकारों पर प्रभाव दो अनुच्छेदों द्वारा संचालित होता है। अनुच्छेद 358 केवल अनुच्छेद 19 से संबंधित है; यह बाह्य आपातकाल (युद्ध/आक्रमण) लगते ही अनुच्छेद 19 को स्वतः निलंबित कर देता है (सशस्त्र विद्रोह पर नहीं), अतः कथन A और B सही हैं। अनुच्छेद 359 अन्य मूल अधिकारों से संबंधित है; इसमें अधिकार स्वयं निलंबित नहीं होते बल्कि उन्हें लागू कराने का अदालती उपचार (Right to move court) राष्ट्रपति के आदेश में उल्लिखित समय व अधिकारों के लिए निलंबित होता है, अतः कथन C सही है। 44वें संविधान संशोधन 1978 ने लोकतांत्रिक अधिकारों की रक्षा के लिए ऐतिहासिक सुरक्षा दी कि अनुच्छेद 359 के तहत राष्ट्रपति आदेश में भी अनुच्छेद 20 (कार्योत्तर विधि, दोहरा दंड, आत्म-अभिशंसन से मुक्ति) और अनुच्छेद 21 (जीवन और व्यक्तिगत स्वतंत्रता का अधिकार) के प्रवर्तन को निलंबित नहीं किया जा सकता; अतः आपातकाल में भी बंदी प्रत्यक्षीकरण याचिका (Habeas Corpus) दायर की जा सकती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राष्ट्रीय आपातकाल के ऐतिहासिक प्रयोग और उसकी समाप्ति (Revocation) की प्रक्रिया के संदर्भ में निम्नलिखित कथनों पर विचार कीजिए: A. भारत में अब तक कुल तीन बार राष्ट्रीय आपातकाल लागू किया गया है: 1962 (भारत-चीन युद्ध), 1971 (भारत-पाकिस्तान युद्ध), और 1975 (आंतरिक अशांति के आधार पर)। B. 1975 के आपातकाल की ज्यादतियों और परिस्थितियों की जांच के लिए जनता पार्टी सरकार द्वारा 'शाह आयोग' (Shah Commission) का गठन किया गया था। C. राष्ट्रपति किसी भी समय दूसरी उद्घोषणा जारी करके राष्ट्रीय आपातकाल को वापस ले सकता है, जिसके लिए संसदीय अनुमोदन की आवश्यकता नहीं होती। D. 44वें संशोधन के अनुसार यदि लोक सभा कुल सदस्य संख्या के कम से कम 1/10 सदस्यों के नोटिस पर आहूत विशेष बैठक में साधारण बहुमत से आपातकाल अस्वीकार करने का संकल्प पारित कर दे, तो राष्ट्रपति को इसे वापस लेना अनिवार्य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अनुच्छेद 352 का पहला प्रयोग अक्टूबर 1962 में चीनी आक्रमण के समय (जनवरी 1968 तक), दूसरा प्रयोग दिसंबर 1971 में बांग्लादेश मुक्ति संग्राम के समय, और तीसरा प्रयोग 25 जून 1975 को तत्कालीन प्रधानमंत्री इंदिरा गांधी की सलाह पर राष्ट्रपति फखरुद्दीन अली अहमद द्वारा किया गया (मार्च 1977 में समाप्त), अतः कथन A सही है। 1977 में मोरारजी देसाई सरकार ने सुप्रीम कोर्ट के पूर्व CJI जे. सी. शाह की अध्यक्षता में शाह आयोग बनाया जिसने अपनी रिपोर्ट में आपातकाल के दौरान सत्ता के घोर दुरुपयोग को उजागर किया, अतः कथन B सही है। राष्ट्रपति आपातकाल को वापस लेने के लिए कभी भी आदेश दे सकता है, अतः कथन C सही है। 44वें संशोधन ने लोक सभा को यह विशेष अधिकार दिया कि यदि 1/10 सदस्य लिखित नोटिस दें तो 14 दिन में विशेष बैठक होगी और लोक सभा मात्र 'साधारण बहुमत' से आपातकाल को समाप्त कर सकती है (अनुमोदन के लिए दोनों सदनों का विशेष बहुमत चाहिए, लेकिन समाप्ति के लिए केवल लोक सभा का साधारण बहुमत पर्याप्त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में 'राष्ट्रपति शासन' (President's Rule / State Emergency - अनुच्छेद 356 एवं 365) के संदर्भ में निम्नलिखित कथनों पर विचार कीजिए: A. राष्ट्रपति शासन दो आधारों पर लगाया जा सकता है: अनुच्छेद 356 (राज्यपाल की रिपोर्ट पर या अन्यथा संवैधानिक तंत्र की विफलता) और अनुच्छेद 365 (केंद्र के निर्देशों का पालन करने में राज्य की विफलता)। B. राष्ट्रपति शासन की घोषणा को जारी होने की तिथि से 2 माह के भीतर संसद के दोनों सदनों द्वारा 'साधारण बहुमत' से अनुमोदित होना अनिवार्य है। C. एक बार अनुमोदित होने के बाद यह 6 माह तक जारी रहता है और संसद के अनुमोदन से इसे अधिकतम 3 वर्ष तक बढ़ाया जा सकता है। D. किसी राज्य में राष्ट्रपति शासन को 1 वर्ष से अधिक बढ़ाने के लिए दो शर्तें (पूरे देश/राज्य में राष्ट्रीय आपातकाल लागू हो तथा चुनाव आयोग प्रमाणित करे कि चुनाव कराना कठिन है) पूरी होनी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356 को बोलचाल में 'राष्ट्रपति शासन' या 'राज्य आपातकाल' कहा जाता है। डॉ. अंबेडकर ने इसे 'मृत पत्र' (Dead Letter) कहा था जिसे अंतिम उपाय के रूप में इस्तेमाल किया जाना चाहिए। इसे लगाने के दो आधार हैं (356 व 365), अतः कथन A सही है। राष्ट्रीय आपातकाल (1 माह व विशेष बहुमत) के विपरीत, राष्ट्रपति शासन के लिए '2 माह' का समय मिलता है और संसद के दोनों सदनों में केवल 'साधारण बहुमत' (Simple Majority) की आवश्यकता होती है, अतः कथन B सही है। संसद द्वारा हर 6 माह में साधारण बहुमत से पारित कर इसे अधिकतम 3 वर्ष तक बढ़ाया जा सकता है, अतः कथन C सही है। 44वें संशोधन 1978 ने 1 वर्ष से अधिक के विस्तार पर सख्त पाबंदी लगाई कि 1 वर्ष के बाद विस्तार तभी होगा जब या तो देश/राज्य में राष्ट्रीय आपातकाल (Art 352) लागू हो या चुनाव आयोग लिखित में दे कि विधानसभा चुनाव कराना संभव नहीं है, अतः कथन D भी सत्य है। (भारत में सर्वप्रथम राष्ट्रपति शासन 1951 में पंजाब/पेप्सू में लगाया गया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एस. आर. बोम्मई बनाम भारत संघ वाद (1994) में राष्ट्रपति शासन (अनुच्छेद 356) के संबंध में सर्वोच्च न्यायालय द्वारा प्रतिपादित ऐतिहासिक दिशा-निर्देशों के संदर्भ में निम्नलिखित कथनों पर विचार कीजिए: A. न्यायालय ने निर्णय दिया कि अनुच्छेद 356 के तहत राष्ट्रपति की संतुष्टि पूर्णतः 'न्यायिक समीक्षा' (Judicial Review) के अधीन है। B. यदि न्यायालय पाता है कि राष्ट्रपति शासन दुर्भावनापूर्ण (Mala fide) या अप्रासंगिक आधारों पर लगाया गया था, तो न्यायालय बर्खास्त राज्य सरकार और विधानसभा को पुनर्स्थापित (Restore) कर सकता है। C. राष्ट्रपति द्वारा उद्घोषणा जारी होते ही राज्य विधानसभा को तुरंत भंग नहीं किया जा सकता; संसद के दोनों सदनों द्वारा अनुमोदन मिलने तक विधानसभा को केवल 'निलंबित' (Suspended animation) रखा जाना चाहिए। D. न्यायालय ने माना कि 'धर्मनिरपेक्षता' (Secularism) संविधान के मूल ढांचे का हिस्सा है, अतः यदि कोई राज्य सरकार धर्मनिरपेक्षता विरोधी नीतियां अपनाती है, तो उस पर अनुच्छेद 356 लागू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1994 का 9-न्यायाधीशों की पीठ का एस. आर. बोम्मई वाद भारतीय संघवाद और अनुच्छेद 356 के दुरुपयोग पर रोक लगाने वाला सबसे युगांतकारी निर्णय है। सुप्रीम कोर्ट ने स्पष्ट किया कि अनुच्छेद 356 एक असाधारण शक्ति है और यह अदालती समीक्षा के दायरे में आती है; अदालत केंद्र से सामग्री मांग सकती है, अतः कथन A सही है। यदि उद्घोषणा असंवैधानिक पाई जाती है, तो कोर्ट न केवल इसे रद्द करेगा बल्कि विघटित विधानसभा और बर्खास्त सरकार को पुनर्जीवित कर देगा, अतः कथन B सही है। न्यायालय ने यह अनिवार्य नियम बनाया कि संसद के दोनों सदनों की स्वीकृति मिलने से पहले विधानसभा भंग नहीं की जा सकती (केवल निलंबित रहेगी), अतः कथन C सही है। कोर्ट ने यह भी फैसला दिया कि किसी सरकार के बहुमत का परीक्षण राजभवन में नहीं बल्कि केवल 'सदन के पटल पर' (Floor of the House) शक्ति परीक्षण द्वारा होना चाहिए और पंथनिरपेक्षता के उल्लंघन पर 356 का प्रयोग वैध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360 के तहत 'वित्तीय आपातकाल' (Financial Emergency) के संदर्भ में निम्नलिखित कथनों पर विचार कीजिए: A. यदि राष्ट्रपति संतुष्ट हो कि ऐसी स्थिति उत्पन्न हो गई है जिससे भारत या उसके किसी भाग की वित्तीय स्थिरता या साख (Credit) खतरे में है, तो वह वित्तीय आपातकाल घोषित कर सकता है। B. वित्तीय आपातकाल की घोषणा को जारी होने के 2 माह के भीतर संसद के दोनों सदनों द्वारा 'साधारण बहुमत' से अनुमोदित होना आवश्यक है। C. एक बार संसद द्वारा अनुमोदित होने के बाद यह अनिश्चितकाल के लिए तब तक जारी रहता है जब तक कि इसे राष्ट्रपति द्वारा वापस न ले लिया जाए (इसके लिए बार-बार 6 माह के अनुमोदन की आवश्यकता नहीं होती)। D. भारत में 1991 के गंभीर भुगतान संतुलन संकट के बावजूद, आज तक एक बार भी अनुच्छेद 360 के तहत वित्तीय आपातकाल लागू नहीं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360 वित्तीय आपातकाल का प्रावधान करता है। इसकी घोषणा राष्ट्रपति द्वारा वित्तीय साख को खतरा होने पर की जाती है, अतः कथन A सही है। उद्घोषणा को 2 माह के भीतर संसद के दोनों सदनों द्वारा साधारण बहुमत से पारित किया जाना चाहिए, अतः कथन B सही है। राष्ट्रीय आपातकाल और राष्ट्रपति शासन के विपरीत, वित्तीय आपातकाल को जारी रखने के लिए हर 6 माह में संसद की पुनः मंजूरी नहीं चाहिए; एक बार स्वीकृत होने पर यह तब तक चलता है जब तक राष्ट्रपति इसे औपचारिक रूप से वापस न ले ले, अतः कथन C सही है। वित्तीय आपातकाल के दौरान केंद्र राज्यों को वित्तीय औचित्य के निर्देश दे सकता है, राज्य के सभी धन विधेयकों को राष्ट्रपति के विचारार्थ आरक्षित कराया जा सकता है, तथा केंद्र व राज्य के सभी कर्मचारियों और सर्वोच्च न्यायालय व उच्च न्यायालयों के न्यायाधीशों के वेतन व भत्तों में कटौती की जा सकती है। भारत के इतिहास में आज तक कभी भी वित्तीय आपातकाल लागू नहीं हुआ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पंचायती राज के ऐतिहासिक विकास और 73वें संविधान संशोधन की पृष्ठभूमि के संदर्भ में निम्नलिखित कथनों पर विचार कीजिए: A. स्वतंत्रता के बाद लोकतांत्रिक विकेंद्रीकरण के तहत सर्वप्रथम 2 अक्टूबर 1959 को राजस्थान के नागौर जिले के बगदरी गांव में प्रधानमंत्री जवाहरलाल नेहरू द्वारा पंचायती राज व्यवस्था का उद्घाटन किया गया था। B. बलवंत राय मेहता समिति (1957) ने लोकतांत्रिक विकेंद्रीकरण के लिए त्रि-स्तरीय पंचायती राज प्रणाली (ग्राम, ब्लॉक, जिला स्तर) की सिफारिश की थी। C. अशोक मेहता समिति (1977) ने त्रि-स्तरीय के स्थान पर 'द्वि-स्तरीय प्रणाली' (मंडल पंचायत एवं जिला परिषद) की सिफारिश की थी। D. एल. एम. सिंघवी समिति (1986) और पी. के. थुंगन समिति (1988) ने पंचायती राज संस्थाओं को 'संवैधानिक दर्जा' (Constitutional Status) देने की पुरजोर सिफारिश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स्थानीय स्वशासन का विकास विभिन्न समितियों के मंथन से हुआ। राजस्थान 2 अक्टूबर 1959 को पंचायती राज लागू करने वाला पहला राज्य बना (इसके तुरंत बाद 1959 में ही आंध्र प्रदेश ने इसे लागू किया), अतः कथन A सही है। 1957 में सामुदायिक विकास कार्यक्रम की समीक्षा हेतु गठित बलवंत राय मेहता समिति ने ग्राम पंचायत (ग्राम स्तर), पंचायत समिति (प्रखंड स्तर), और जिला परिषद (जिला स्तर) की त्रि-स्तरीय योजना दी, अतः कथन B सही है। जनता पार्टी सरकार द्वारा गठित अशोक मेहता समिति (1977) ने जिला परिषद को मुख्य धुरी बनाते हुए 15,000-20,000 जनसंख्या वाले गांवों के समूह पर मंडल पंचायत और जिला स्तर पर जिला परिषद की 2-स्तरीय व्यवस्था सुझाई, अतः कथन C सही है। राजीव गांधी सरकार द्वारा गठित एल. एम. सिंघवी समिति (1986) ने पंचायतों को संवैधानिक मान्यता देने, नियमित चुनाव कराने और न्याय पंचायतों के गठन की ऐतिहासिक सिफारिश की, जिसके आधार पर अंततः 73वां संविधान संशोधन अधिनियम पारित हुआ,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पंचायती राज और स्थानीय प्रशासन से संबंधित महत्वपूर्ण समितियों और उनके गठन वर्ष का सही मिलान कीजिए: सूची-I (समिति): सूची-I: A. बलवंत राय मेहता समिति (Balwant Rai Mehta Committee) B. अशोक मेहता समिति (Ashok Mehta Committee) C. जी. वी. के. राव समिति (G. V. K. Rao Committee) D. एल. एम. सिंघवी समिति (L. M. Singhvi Committee) सूची-II: 1. 1977 2. 1957 3. 1986 4. 1985</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पंचायती राज के विकास क्रम में प्रमुख समितियां इस प्रकार हैं: 1. बलवंत राय मेहता समिति (1957): त्रि-स्तरीय पंचायती राज मॉडल (A-2)। 2. अशोक मेहता समिति (1977): द्वि-स्तरीय मॉडल एवं राजनीतिक दलों की खुली भागीदारी की सिफारिश (B-1)। 3. जी. वी. के. राव समिति (1985): योजना आयोग द्वारा ग्रामीण विकास और गरीबी उन्मूलन हेतु गठित, जिसने नौकरशाही के अत्यधिक प्रभाव के कारण पंचायतों को "बिना जड़ की घास" (Grass without roots) बताया और जिला कलेक्टर की भूमिका कम कर DDO (जिला विकास आयुक्त) का पद सुझाया (C-4)। 4. एल. एम. सिंघवी समिति (1986): पंचायतों को संवैधानिक मान्यता और वित्तीय संसाधन देने की सिफारिश (D-3)। इसके अतिरिक्त पी. के. थुंगन समिति (1988) और वी. एन. गाडगिल समिति (1988) ने भी संवैधानिक दर्जे का खाका तैयार किया।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73वें संविधान संशोधन अधिनियम, 1992 की प्रमुख विशेषताओं के संदर्भ में निम्नलिखित कथनों पर विचार कीजिए: A. यह अधिनियम 24 अप्रैल 1993 से पूरे देश में लागू हुआ, इसलिए प्रतिवर्ष 24 अप्रैल को 'राष्ट्रीय पंचायती राज दिवस' मनाया जाता है। B. इस संशोधन द्वारा संविधान में एक नया भाग IX ('द पंचायतें' - अनुच्छेद 243 से 243O) और 11वीं अनुसूची जोड़ी गई। C. 11वीं अनुसूची (अनुच्छेद 243G) में पंचायतों के कार्यक्षेत्र के अंतर्गत कुल '29 कार्यात्मक विषय' (Functional Items) शामिल किए गए हैं। D. जिन राज्यों की जनसंख्या 20 लाख से कम है, उन्हें मध्यवर्ती स्तर (ब्लॉक स्तर / पंचायत समिति) की पंचायत गठित न करने की छूट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अधिनियम 1992 ने महात्मा गांधी के ग्राम स्वराज्य के सपने (अनुच्छेद 40) को व्यावहारिक रूप प्रदान किया। यह अधिनियम 24 अप्रैल 1993 को लागू हुआ, जिसे 2010 से पंचायती राज दिवस के रूप में मनाया जाता है, अतः कथन A सही है। इसने भाग IX (अनुच्छेद 243 से 243O) और 11वीं अनुसूची जोड़कर पंचायतों को संवैधानिक दर्जा दिया, अतः कथन B सही है। 11वीं अनुसूची में कृषि, भूमि सुधार, लघु सिंचाई, पशुपालन, मत्स्य पालन, खादी-कुटीर उद्योग, पेयजल, ग्रामीण विद्युतीकरण, प्राथमिक शिक्षा, स्वास्थ्य आदि कुल 29 विषय शामिल हैं, अतः कथन C सही है। अनुच्छेद 243B के तहत त्रि-स्तरीय प्रणाली अनिवार्य है, किंतु इसके परंतुक के अनुसार जिस राज्य की जनसंख्या 20 लाख से अधिक नहीं है, वहां मध्यवर्ती स्तर पर पंचायत का गठन न करने का विकल्प उपलब्ध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तहत 'ग्राम सभा' (Gram Sabha) की संवैधानिक स्थिति और शक्तियों के संदर्भ में निम्नलिखित कथनों पर विचार कीजिए: A. अनुच्छेद 243(b) में ग्राम सभा को परिभाषित किया गया है और अनुच्छेद 243A में इसके कार्यों और शक्तियों का उल्लेख है। B. ग्राम सभा में ग्राम स्तर पर गठित पंचायत क्षेत्र के भीतर की मतदाता सूची (Electoral Roll) में पंजीकृत सभी वयस्क व्यक्ति शामिल होते हैं। C. ग्राम सभा प्रत्यक्ष लोकतंत्र (Direct Democracy) का सर्वोत्कृष्ट संस्थागत उदाहरण है जो ग्राम पंचायत की कार्यप्रणाली पर निगरानी रखती है। D. ग्राम सभा की बैठक बुलाने और इसकी शक्तियों का निर्धारण करने का अधिकार सीधे राज्य विधानमंडल द्वारा बनाए गए कानून द्वारा तय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ग्राम सभा पंचायती राज व्यवस्था का आधार स्तंभ और प्राथमिक निकाय है। अनुच्छेद 243(b) के अनुसार ग्राम सभा ग्राम स्तर पर पंचायत के क्षेत्र में समाविष्ट किसी राजस्व गांव से संबंधित निर्वाचक नामावली में पंजीकृत व्यक्तियों से मिलकर बनने वाला निकाय है, अतः कथन A और B सही हैं। यह भारत में प्रत्यक्ष लोकतंत्र की ग्राम संसद है जो ग्राम पंचायत के बजट, विकास योजनाओं की समीक्षा, लाभार्थियों की पहचान और सामाजिक अंकेक्षण (Social Audit) का कार्य करती है, अतः कथन C सही है। अनुच्छेद 243A के अनुसार ग्राम सभा ग्राम स्तर पर ऐसी शक्तियों का प्रयोग करेगी और ऐसे कृत्यों का पालन करेगी जो राज्य के विधानमंडल द्वारा विधि द्वारा उपबंधित किए जाएं,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की संरचना, चुनाव और कार्यकाल (अनुच्छेद 243C, 243E, 243F) के संदर्भ में निम्नलिखित कथनों पर विचार कीजिए: A. पंचायत के तीनों स्तरों (ग्राम, मध्यवर्ती और जिला) के सभी सदस्य प्रादेशिक निर्वाचन क्षेत्रों से मतदाताओं द्वारा 'प्रत्यक्ष रूप से' (Directly) चुने जाते हैं। B. ग्राम पंचायत के अध्यक्ष (सरपंच) का चुनाव राज्य विधानमंडल के कानून के अनुसार प्रत्यक्ष या अप्रत्यक्ष हो सकता है, किंतु मध्यवर्ती व जिला स्तर के अध्यक्षों का चुनाव निर्वाचित सदस्यों द्वारा 'अप्रत्यक्ष रूप से' ही होता है। C. पंचायत का सदस्य या चुनाव लड़ने के लिए न्यूनतम आयु सीमा '21 वर्ष' निर्धारित की गई है। D. प्रत्येक पंचायत का कार्यकाल प्रथम बैठक से 5 वर्ष होता है, और यदि पंचायत समय से पूर्व भंग हो जाए तो 6 माह के भीतर चुनाव कराना अनिवार्य है (और नई पंचायत केवल शेष अवधि के लिए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243C, 243E और 243F पंचायतों के चुनाव और संरचना के नियम तय करते हैं। तीनों स्तरों पर वार्ड पंच, पंचायत समिति सदस्य और जिला परिषद सदस्यों का चुनाव जनता द्वारा प्रत्यक्ष मतदान से होता है, अतः कथन A सही है। सरपंच का चुनाव राज्य कानून पर निर्भर करता है (राजस्थान में प्रत्यक्ष), किंतु ब्लॉक प्रमुख (प्रधान) और जिला प्रमुख का चुनाव केवल अप्रत्यक्ष रूप से निर्वाचित सदस्यों द्वारा अपने में से किया जाता है, अतः कथन B सही है। अनुच्छेद 243F के अनुसार यद्यपि मतदान की आयु 18 वर्ष है, किंतु पंचायत चुनाव लड़ने की न्यूनतम आयु 21 वर्ष है (अनुच्छेद 84 की 25 वर्ष की शर्त यहां लागू नहीं होती), अतः कथन C सही है। अनुच्छेद 243E के तहत पंचायत का कार्यकाल 5 वर्ष है; यदि पंचायत 5 वर्ष से पहले भंग होती है तो 6 माह के भीतर चुनाव अनिवार्य है, बशर्ते शेष अवधि 6 माह से कम न हो; नवगठित पंचायत केवल बची हुई शेष अवधि (Remaining Period) के लिए ही काम करती है, पूरे 5 वर्ष नहीं,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में आरक्षण के संवैधानिक प्रावधानों (अनुच्छेद 243D) के संदर्भ में निम्नलिखित कथनों पर विचार कीजिए: A. प्रत्येक पंचायत में अनुसूचित जातियों (SC) और अनुसूचित जनजातियों (ST) के लिए उनकी जनसंख्या के अनुपात में स्थान आरक्षित किए जाते हैं। B. प्रत्यक्ष निर्वाचन द्वारा भरे जाने वाले कुल स्थानों में से कम से कम 'एक-तिहाई' (1/3) स्थान महिलाओं के लिए आरक्षित होना अनिवार्य है (जिसमें SC/ST की महिलाओं का कोटा शामिल है)। C. तीनों स्तरों पर पंचायतों के अध्यक्षों (सरपंच, प्रधान, जिला प्रमुख) के पदों में भी SC, ST और महिलाओं के लिए आरक्षण का प्रावधान है। D. राजस्थान, बिहार, मध्य प्रदेश, उत्तराखंड सहित कई राज्यों ने कानून बनाकर महिलाओं के लिए आरक्षण की सीमा 33% से बढ़ाकर 50% कर दी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243D सामाजिक न्याय और महिला सशक्तिकरण का सबसे सशक्त संवैधानिक प्रावधान है। SC और ST को उनकी जनसंख्या के अनुपात में सीटें आरक्षित होती हैं, अतः कथन A सही है। महिलाओं के लिए कम से कम 33% (1/3) आरक्षण अनिवार्य (Compulsory) प्रावधान है जो चक्रीय क्रम (Rotation) में आवंटित होता है, अतः कथन B सही है। अध्यक्षों के पदों (Office of Chairpersons) में भी SC/ST और महिलाओं के लिए कम से कम एक-तिहाई आरक्षण लागू होता है, अतः कथन C सही है। संविधान 33% की न्यूनतम सीमा तय करता है, किंतु राज्य विधानमंडल इसे बढ़ा सकते हैं; बिहार 2006 में 50% महिला आरक्षण देने वाला पहला राज्य बना था, जिसके बाद राजस्थान (2008), मध्य प्रदेश आदि 20 से अधिक राज्यों ने पंचायतों में महिलाओं के लिए 50% आरक्षण लागू किया, अतः कथन D भी सत्य है। इसके अतिरिक्त राज्य विधानमंडलों को OBC के लिए भी आरक्षण देने का स्वैच्छिक अधिकार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वित्त आयोग (अनुच्छेद 243I) और राज्य निर्वाचन आयोग (अनुच्छेद 243K) के संदर्भ में निम्नलिखित कथनों पर विचार कीजिए: A. अनुच्छेद 243I के तहत राज्य का राज्यपाल प्रत्येक 5 वर्ष की समाप्ति पर राज्य वित्त आयोग (State Finance Commission) का गठन करता है, जो पंचायतों और नगरपालिकाओं की वित्तीय स्थिति की समीक्षा करता है। B. राज्य वित्त आयोग राज्य द्वारा लगाए गए करों, शुल्कों, टोल और फीसों की शुद्ध प्राप्तियों को राज्य और पंचायतों के मध्य वितरित करने के सिद्धांतों की सिफारिश करता है। C. अनुच्छेद 243K के तहत पंचायतों के सभी चुनावों के लिए मतदाता सूची तैयार करने तथा चुनावों के संचालन, अधीक्षण, निदेशन और नियंत्रण का दायित्व 'राज्य निर्वाचन आयोग' (State Election Commission) में निहित है। D. राज्य निर्वाचन आयुक्त की नियुक्ति राज्यपाल द्वारा की जाती है, और उसे पद से केवल उसी रीति और उन्हीं आधारों पर हटाया जा सकता है जिस पर उच्च न्यायालय के न्यायाधीश को हटाया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पंचायती राज संस्थाओं की वित्तीय और चुनावी स्वायत्तता सुनिश्चित करने के लिए दो संवैधानिक संस्थाएं बनाई गई हैं। 1. राज्य वित्त आयोग (अनुच्छेद 243I): राज्यपाल द्वारा हर 5 वर्ष में गठित यह आयोग पंचायतों के वित्तीय सुदृढ़ीकरण, राज्य की संचित निधि से सहायता अनुदान और करों के बंटवारे की सिफारिश राज्यपाल को सौंपता है जिसे राज्यपाल राज्य विधानमंडल के समक्ष रखवाता है, अतः कथन A और B सही हैं। 2. राज्य निर्वाचन आयोग (अनुच्छेद 243K): यह भारत के चुनाव आयोग से पूरी तरह स्वतंत्र एक संवैधानिक निकाय है जो स्थानीय निकायों के निष्पक्ष चुनाव करवाता है, अतः कथन C सही है। राज्य निर्वाचन आयुक्त की नियुक्ति राज्यपाल करता है, किंतु उसकी स्वतंत्रता सुनिश्चित करने के लिए संविधान में सुरक्षा दी गई है कि उसकी सेवा शर्तों में नियुक्ति के बाद अलाभकारी परिवर्तन नहीं किया जा सकता और उसे पद से केवल उसी कठोर प्रक्रिया (संसद में महाभियोग जैसी प्रक्रिया) से हटाया जा सकता है जैसे उच्च न्यायालय के न्यायाधीश को हटाया जाता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'पेसा अधिनियम, 1996' (PESA Act - पंचायत उपबंध अनुसूचित क्षेत्रों पर विस्तार अधिनियम) के संदर्भ में निम्नलिखित कथनों पर विचार कीजिए: A. पेसा अधिनियम 1996 संसद द्वारा 'दिलीप सिंह भूरिया समिति' की सिफारिशों के आधार पर 24 दिसंबर 1996 को पारित किया गया था। B. इसका मुख्य उद्देश्य संविधान के भाग IX के पंचायती राज प्रावधानों को 5वीं अनुसूची में शामिल 10 राज्यों के जनजातीय क्षेत्रों में उनकी पारंपरिक प्रथाओं के अनुरूप विस्तारित करना है। C. पेसा अधिनियम के तहत 'ग्राम सभा' को अत्यधिक शक्तिशाली बनाया गया है, जिसमें लघु वनोपज (Minor Forest Produce) का स्वामित्व और भूमि हस्तांतरण को रोकने की शक्तियां निहित हैं। D. अनुसूचित क्षेत्रों में लघु खनिजों (Minor Minerals) के लिए खनन पट्टा या पूर्वेक्षण लाइसेंस देने से पहले ग्राम सभा की पूर्व अनिवार्य अनुशंसा आवश्यक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संशोधन के सामान्य नियम 5वीं अनुसूची के जनजातीय क्षेत्रों पर स्वतः लागू नहीं होते थे। जनजातीय समुदायों के पारंपरिक स्वशासन और रीति-रिवाजों की रक्षा के लिए भूरिया समिति की रिपोर्ट पर 1996 में PESA कानून बनाया गया, अतः कथन A सही है। यह कानून 5वीं अनुसूची वाले 10 राज्यों (राजस्थान, आंध्र प्रदेश, तेलंगाना, गुजरात, हिमाचल प्रदेश, झारखंड, मध्य प्रदेश, महाराष्ट्र, ओडिशा, छत्तीसगढ़) में लागू है, अतः कथन B सही है। पेसा अधिनियम पारंपरिक ग्राम सभाओं को स्वशासन की केंद्रीय धुरी बनाता है; ग्राम सभा को जनजातीय परंपराओं, सांस्कृतिक पहचान, सामुदायिक संसाधनों के संरक्षण, नशीले पदार्थों की बिक्री पर नियंत्रण, ग्राम हाट-बाजारों के प्रबंधन तथा अवैध रूप से छीनी गई जनजातीय भूमि को वापस दिलाने का असाधारण अधिकार है, अतः कथन C सही है। लघु खनिजों (बजरी, पत्थर आदि) के खनन पट्टे या नीलामी हेतु ग्राम सभा की पूर्व सिफारिश कानूनी रूप से अनिवार्य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243M के तहत 73वें संविधान संशोधन (पंचायती राज) के अपवादों और छूट प्राप्त क्षेत्रों के संदर्भ में निम्नलिखित कथनों पर विचार कीजिए: A. 73वें संविधान संशोधन के प्रावधान नागालैंड, मेघालय और मिजोरम राज्यों पर पूर्णतः लागू नहीं होते हैं। B. इन राज्यों में पंचायतों के स्थान पर पारंपरिक स्वायत्त जनजातीय परिषदें (जैसे नगालैंड में ग्राम परिषदें) कार्य करती हैं। C. मणिपुर के पर्वतीय क्षेत्र (जहाँ जिला परिषदें हैं) और पश्चिम बंगाल का दार्जिलिंग गोरखा हिल काउंसिल क्षेत्र भी इन प्रावधानों से छूट प्राप्त हैं। D. अनुच्छेद 243M के अनुसार संसद कानून बनाकर (जैसे पेसा अधिनियम) इन उपबंधों को कुछ संशोधनों के साथ छूट प्राप्त क्षेत्रों पर लागू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243M पंचायती राज भाग IX के लागू न होने वाले क्षेत्रों (छूट प्राप्त क्षेत्रों) को सूचीबद्ध करता है। नागालैंड, मेघालय और मिजोरम राज्यों को इस भाग से पूरी छूट दी गई है क्योंकि वहां की प्राचीन जनजातीय प्रशासनिक परंपराएं पहले से कार्यरत हैं, अतः कथन A और B सही हैं। मणिपुर राज्य के पर्वतीय क्षेत्रों (जहां स्वायत्त जिला परिषदें हैं) और पश्चिम बंगाल के दार्जिलिंग जिले के गोरखा पर्वतीय परिषद क्षेत्र पर भी यह भाग लागू नहीं होता, अतः कथन C सही है। अनुच्छेद 243M(4) संसद को यह अधिकार देता है कि वह विधि द्वारा भाग IX के प्रावधानों को 5वीं अनुसूची के क्षेत्रों और अन्य छूट प्राप्त क्षेत्रों तक ऐसे संशोधनों और अपवादों के साथ विस्तारित कर सकती है जैसा वह उचित समझे (जिसका प्रयोग करके 1996 में PESA एक्ट बनाया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74वें संविधान संशोधन अधिनियम, 1992 (शहरी स्थानीय स्वशासन) और नगरपालिकाओं के प्रकारों (अनुच्छेद 243Q) के संदर्भ में निम्नलिखित कथनों पर विचार कीजिए: A. 74वां संविधान संशोधन अधिनियम 1 जून 1993 से लागू हुआ, जिसने संविधान में नया भाग IX-A ('नगरपालिकाएं' - अनुच्छेद 243P से 243ZG) और 12वीं अनुसूची जोड़ी। B. 12वीं अनुसूची (अनुच्छेद 243W) में नगरपालिकाओं के लिए कुल '18 कार्यात्मक विषय' (जैसे शहरी योजना, भूमि उपयोग नियमन, जलापूर्ति, ठोस अपशिष्ट प्रबंधन) सूचीबद्ध हैं। C. अनुच्छेद 243Q के तहत तीन प्रकार की नगरपालिकाओं का प्रावधान है: 1. नगर पंचायत (संक्रमणकालीन क्षेत्र हेतु), 2. नगरपालिका परिषद (छोटे शहरी क्षेत्र हेतु), और 3. नगर निगम (बड़े शहरी क्षेत्र हेतु)। D. किसी क्षेत्र को संक्रमणकालीन, छोटा शहरी या बड़ा शहरी क्षेत्र घोषित करने की संवैधानिक शक्ति संबंधित राज्य के 'राज्यपाल' (Governor) के पास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संविधान संशोधन अधिनियम 1992 ने भारत में शहरी स्थानीय निकायों (ULBs) को संवैधानिक दर्जा और सुरक्षा प्रदान की। यह 1 जून 1993 को लागू हुआ और इसने भाग IX-A तथा 12वीं अनुसूची अंतःस्थापित की, अतः कथन A सही है। 12वीं अनुसूची में नगरपालिकाओं को सौंपे जाने वाले 18 विषय (शहरी गरीबी उन्मूलन, अग्निशामक सेवाएं, सार्वजनिक स्वास्थ्य व स्वच्छता आदि) शामिल हैं (जबकि पंचायतों की 11वीं अनुसूची में 29 विषय हैं), अतः कथन B सही है। अनुच्छेद 243Q में तीन स्तरीय शहरी निकाय हैं: ग्रामीण से शहर में बदल रहे क्षेत्र के लिए नगर पंचायत, छोटे शहरों के लिए नगर पालिका परिषद (Municipal Council), और बड़े महानगरों के लिए नगर निगम (Municipal Corporation), अतः कथन C सही है। अनुच्छेद 243Q(2) के तहत राज्यपाल जनसंख्या, जनघनत्व, स्थानीय प्रशासन के राजस्व और गैर-कृषि रोजगार के प्रतिशत के आधार पर सार्वजनिक अधिसूचना द्वारा शहरी क्षेत्रों का वर्गीकरण तय करता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शहरी स्थानीय स्वशासन के विशिष्ट रूपों (छावनी बोर्ड, अधिसूचित क्षेत्र समिति, वार्ड समितियां) के संदर्भ में निम्नलिखित कथनों पर विचार कीजिए: A. अनुच्छेद 243S के अनुसार 3 लाख या उससे अधिक जनसंख्या वाली नगरपालिका के प्रादेशिक क्षेत्र के भीतर एक या अधिक वार्डों को मिलाकर 'वार्ड समितियों' (Wards Committees) का गठन किया जाता है। B. 'छावनी बोर्ड' (Cantonment Board) छावनी क्षेत्र में नागरिक आबादी के प्रशासन हेतु छावनी अधिनियम, 2006 के तहत स्थापित किया जाता है और यह केंद्र सरकार के 'रक्षा मंत्रालय' (Ministry of Defence) के प्रशासनिक नियंत्रण में कार्य करता है। C. 'अधिसूचित क्षेत्र समिति' (Notified Area Committee) राज्य सरकार द्वारा राजपत्र में एक प्रशासनिक अधिसूचना द्वारा तेजी से विकसित हो रहे नए औद्योगिक कस्बों के लिए गठित की जाती है। D. भारत में पहला नगर निगम 1687-88 में 'मद्रास' (चेन्नई) में स्थापित किया गया था, जिसके बाद 1726 में बॉम्बे और कलकत्ता में नगर निगम स्थापित 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शहरी भारत में नगरपालिका के अतिरिक्त कई विशिष्ट प्रशासनिक संरचनाएं कार्यरत हैं। अनुच्छेद 243S नागरिकों की प्रत्यक्ष भागीदारी हेतु 3 लाख या अधिक जनसंख्या वाले शहरों में वार्ड समितियों के गठन को अनिवार्य बनाता है, अतः कथन A सही है। छावनी बोर्ड सैन्य क्षेत्रों में नागरिक सुविधाओं के लिए बनाया गया केंद्रीय निकाय है जो रक्षा मंत्रालय के महानिदेशक रक्षा संपदा (DGDE) के अधीन कार्य करता है (74वां संशोधन इस पर लागू नहीं होता), अतः कथन B सही है। अधिसूचित क्षेत्र समिति (NAC) न तो पूर्ण नगर पालिका होती है और न ही ग्राम पंचायत; यह राज्य सरकार के कार्यकारी आदेश से बनती है और इसके सभी सदस्य राज्य सरकार द्वारा मनोनीत होते हैं, अतः कथन C सही है। भारत में आधुनिक स्थानीय स्वशासन का इतिहास 1687 में मद्रास नगर निगम की स्थापना से प्रारंभ हुआ,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 योजना समिति' (DPC - अनुच्छेद 243ZD) और 'महानगर योजना समिति' (MPC - अनुच्छेद 243ZE) के संवैधानिक प्रावधानों के संदर्भ में निम्नलिखित कथनों पर विचार कीजिए: A. अनुच्छेद 243ZD के अनुसार प्रत्येक जिले में जिला स्तर पर पंचायतों और नगरपालिकाओं द्वारा तैयार की गई योजनाओं को समेकित करने के लिए एक 'जिला योजना समिति' (DPC) का गठन किया जाएगा। B. जिला योजना समिति (DPC) के कुल सदस्यों में से कम से कम 'चार-बटा-पांच' (4/5) सदस्य जिले की जिला पंचायत और नगरपालिकाओं के निर्वाचित सदस्यों द्वारा अपने में से चुने जाते हैं। C. अनुच्छेद 243ZE के अनुसार 10 लाख या उससे अधिक जनसंख्या वाले प्रत्येक 'महानगरीय क्षेत्र' (Metropolitan Area) के लिए विकास योजना का प्रारूप तैयार करने हेतु एक 'महानगर योजना समिति' (MPC) का गठन किया जाएगा। D. महानगर योजना समिति (MPC) के कम से कम 'दो-तिहाई' (2/3) सदस्य उस महानगरीय क्षेत्र की नगरपालिकाओं के निर्वाचित सदस्यों और पंचायतों के अध्यक्षों द्वारा अपने में से चुने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संशोधन ने ग्रामीण और शहरी विकास योजनाओं के समन्वय के लिए दो महत्वपूर्ण नियोजन समितियां बनाईं। 1. जिला योजना समिति (DPC - अनुच्छेद 243ZD): यह जिले के समग्र विकास (जल, प्राकृतिक संसाधन, बुनियादी ढांचा) के लिए विकास योजना का प्रारूप बनाकर राज्य सरकार को भेजती है; इसमें स्थानीय प्रतिनिधित्व सुनिश्चित करने के लिए कुल सदस्यों का 4/5 (80%) हिस्सा जिले के ग्रामीण व शहरी निर्वाचित प्रतिनिधियों द्वारा उनकी जनसंख्या के अनुपात में चुना जाता है, अतः कथन A और B सही हैं। 2. महानगर योजना समिति (MPC - अनुच्छेद 243ZE): यह 10 लाख से अधिक आबादी वाले महानगरीय क्षेत्रों (जैसे जयपुर, मुंबई, दिल्ली आदि) के लिए पूरे मेट्रोपॉलिटन क्षेत्र की साझी विकास योजना बनाती है; इसके कम से कम 2/3 (66.6%) सदस्य नगरपालिकाओं के निर्वाचित पार्षदों और पंचायतों के अध्यक्षों द्वारा चुने जाते हैं, अतः कथन C और D भी सत्य हैं।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निर्वाचन आयोग (Election Commission of India - भाग XV, अनुच्छेद 324) और 2023 के नए नियुक्ति कानून के संदर्भ में निम्नलिखित कथनों पर विचार कीजिए: A. अनुच्छेद 324 के तहत संसद, राज्य विधानमंडलों, राष्ट्रपति और उपराष्ट्रपति के पदों के चुनावों का अधीक्षण, निदेशन और नियंत्रण निर्वाचन आयोग में निहित है। B. मुख्य निर्वाचन आयुक्त (CEC) और अन्य निर्वाचन आयुक्तों का कार्यकाल 6 वर्ष या 65 वर्ष की आयु (जो भी पहले हो) निर्धारित है। C. मुख्य निर्वाचन आयुक्त को उसके पद से केवल उसी रीति और उन्हीं आधारों पर हटाया जा सकता है जैसे सर्वोच्च न्यायालय के न्यायाधीश को हटाया जाता है, जबकि अन्य आयुक्तों को CEC की सिफारिश पर ही राष्ट्रपति द्वारा हटाया जा सकता है। D. 'मुख्य चुनाव आयुक्त एवं अन्य चुनाव आयुक्त (नियुक्ति, सेवा शर्तें और पदावधि) अधिनियम, 2023' के अनुसार चयन समिति में प्रधानमंत्री (अध्यक्ष), लोक सभा में विपक्ष के नेता, और प्रधानमंत्री द्वारा नामित एक केंद्रीय कैबिनेट मंत्री शामिल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निर्वाचन आयोग एक स्थायी और स्वतंत्र संवैधानिक निकाय है (अनुच्छेद 324)। यह संसद, विधानसभाओं, राष्ट्रपति और उपराष्ट्रपति के चुनाव कराता है (पंचायतों व नगरपालिकाओं के चुनाव राज्य निर्वाचन आयोग कराता है), अतः कथन A सही है। 1993 के बाद से यह 3 सदस्यीय निकाय है (1 CEC + 2 ECs) जिनका कार्यकाल 6 वर्ष या 65 वर्ष की आयु है, अतः कथन B सही है। CEC को संविधान के तहत सुरक्षा प्राप्त है कि उसे केवल साबित कदाचार या अक्षमता के आधार पर संसद के दोनों सदनों में विशेष बहुमत के बाद ही हटाया जा सकता है; अन्य आयुक्तों को हटाने के लिए CEC की पूर्व सिफारिश अनिवार्य है, अतः कथन C सही है। संसद द्वारा पारित 2023 के नए नियुक्ति अधिनियम ने सुप्रीम कोर्ट के अनूप बरनवाल फैसले (मार्च 2023) को प्रतिस्थापित किया और चयन समिति से भारत के मुख्य न्यायाधीश (CJI) को हटाकर एक केंद्रीय कैबिनेट मंत्री को शामिल किया,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चुनावी प्रक्रियाओं, आदर्श आचार संहिता (MCC) और चुनावी सुधारों के संदर्भ में निम्नलिखित कथनों पर विचार कीजिए: A. 61वें संविधान संशोधन अधिनियम (1988) द्वारा अनुच्छेद 326 में संशोधन कर मतदान की न्यूनतम आयु 21 वर्ष से घटाकर 18 वर्ष कर दी गई थी। B. 'आदर्श आचार संहिता' (Model Code of Conduct - MCC) चुनाव आयोग द्वारा चुनाव कार्यक्रम (तारीखों) की आधिकारिक घोषणा के तुरंत बाद लागू हो जाती है। C. VVPAT (Voter Verifiable Paper Audit Trail) एक स्वतंत्र प्रिंटर सत्यापन प्रणाली है जिसका उपयोग EVM के साथ मतों की प्रामाणिकता जांचने हेतु किया जाता है। D. संविधान के अनुच्छेद 329 के अनुसार एक बार चुनाव प्रक्रिया प्रारंभ हो जाने के बाद न्यायालयों को चुनावी मामलों में हस्तक्षेप करने से रोका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चुनाव प्रणाली में विभिन्न सुधारों और नियमों का महत्वपूर्ण स्थान है। राजीव गांधी सरकार के समय 61वें संविधान संशोधन 1988 (1989 से लागू) द्वारा मतदान की आयु 21 से घटाकर 18 वर्ष की गई, अतः कथन A सही है। राजनीतिक दलों की सहमति से विकसित आदर्श आचार संहिता चुनाव आयोग द्वारा चुनाव तिथियों की प्रेस कॉन्फ्रेंस में घोषणा होते ही स्वतः लागू हो जाती है और चुनाव परिणाम घोषित होने तक प्रभावी रहती है, अतः कथन B सही है। VVPAT मशीन मतदाता को 7 सेकंड के लिए एक पर्ची दिखाती है जिससे यह सत्यापित होता है कि वोट उसी उम्मीदवार को गया है जिसे बटन दबाकर चुना गया था, अतः कथन C सही है। अनुच्छेद 329 न्यायिक हस्तक्षेप पर रोक लगाता है; चुनाव प्रक्रिया के दौरान अदालतें स्थगन नहीं दे सकतीं और चुनाव को केवल चुनाव परिणाम आने के बाद उच्च न्यायालय में 'चुनाव याचिका' (Election Petition) द्वारा ही चुनौती दी जा सकती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संघ लोक सेवा आयोग (UPSC) और राज्य लोक सेवा आयोग (SPSC) के संदर्भ में निम्नलिखित कथनों पर विचार कीजिए: A. भारत में पहली बार 1926 में ली आयोग (Lee Commission) की सिफारिश पर भारत सरकार अधिनियम 1919 के तहत 'केंद्रीय लोक सेवा आयोग' की स्थापना की गई थी। B. संविधान के भाग XIV (अनुच्छेद 315 से 323) के तहत UPSC और SPSC स्वतंत्र संवैधानिक निकाय हैं। C. UPSC के अध्यक्ष और सदस्यों का कार्यकाल 6 वर्ष या 65 वर्ष होता है, जबकि SPSC के सदस्यों का कार्यकाल 6 वर्ष या 62 वर्ष होता है। D. यद्यपि SPSC के अध्यक्ष और सदस्यों की नियुक्ति राज्य के राज्यपाल द्वारा की जाती है, किंतु उन्हें पद से हटाने की शक्ति केवल 'भारत के राष्ट्रपति' के पास है (सर्वोच्च न्यायालय की जांच रिपोर्ट के आधार पर)।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सेवा आयोग देश में मेरिट आधारित सिविल सेवा भर्ती का संवैधानिक प्रहरी है। 1923 के ली आयोग की रिपोर्ट पर 1 अक्टूबर 1926 को सर रॉस बार्कर की अध्यक्षता में पहला केंद्रीय लोक सेवा आयोग बना, अतः कथन A सही है। संविधान के अनुच्छेद 315 में संघ के लिए UPSC और राज्यों के लिए SPSC का प्रावधान है, अतः कथन B सही है। अनुच्छेद 316 के तहत UPSC सदस्यों का कार्यकाल 6 वर्ष या 65 वर्ष तथा SPSC सदस्यों का 6 वर्ष या 62 वर्ष होता है, अतः कथन C सही है। अनुच्छेद 317 एक अत्यंत महत्वपूर्ण संवैधानिक सुरक्षा कवच प्रदान करता है कि SPSC के सदस्यों को राज्यपाल नियुक्त तो करता है, किंतु कदाचार के आधार पर हटाने की शक्ति केवल राष्ट्रपति के पास है; राष्ट्रपति मामला सर्वोच्च न्यायालय को जांच हेतु भेजता है और सुप्रीम कोर्ट की रिपोर्ट राष्ट्रपति पर बाध्यकारी होती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मानवाधिकार आयोग' (NHRC) और 'राज्य मानवाधिकार आयोग' (SHRC) के संदर्भ में निम्नलिखित कथनों पर विचार कीजिए: A. NHRC एक संवैधानिक निकाय नहीं है, बल्कि यह मानवाधिकार संरक्षण अधिनियम, 1993 के तहत स्थापित एक 'सांविधिक/वैधानिक निकाय' (Statutory Body) है। B. 2019 के संशोधन के बाद, भारत का कोई भी सेवानिवृत्त मुख्य न्यायाधीश (CJI) या सर्वोच्च न्यायालय का सेवानिवृत्त न्यायाधीश NHRC का अध्यक्ष बनने का पात्र है। C. NHRC के अध्यक्ष और सदस्यों का कार्यकाल 2019 के संशोधन द्वारा 5 वर्ष से घटाकर '3 वर्ष या 70 वर्ष की आयु' (जो भी पहले हो) कर दिया गया है। D. NHRC किसी ऐसी घटना या मानवाधिकार उल्लंघन की जांच नहीं कर सकता जिसे घटित हुए '1 वर्ष से अधिक' का समय बीत चुका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12 अक्टूबर 1993 को स्थापित NHRC मानवाधिकारों की रक्षा का सर्वोच्च वैधानिक प्रहरी है, अतः कथन A सही है। मानवाधिकार संरक्षण (संशोधन) अधिनियम 2019 ने पात्रता का विस्तार किया जिससे अब सुप्रीम कोर्ट का कोई भी पूर्व जज भी अध्यक्ष बन सकता है (पहले केवल पूर्व CJI ही पात्र थे), अतः कथन B सही है। 2019 के संशोधन ने कार्यकाल 5 वर्ष से घटाकर 3 वर्ष (अधिकतम 70 वर्ष की आयु) कर दिया और पुनर्नियुक्ति की अनुमति दी, अतः कथन C सही है। अधिनियम की धारा 36(2) स्पष्ट रूप से आयोग पर समय-सीमा का प्रतिबंध लगाती है कि 1 वर्ष की समाप्ति के बाद आयोग किसी मामले की जांच नहीं कर सकता, अतः कथन D भी सत्य है। NHRC के पास सिविल कोर्ट की शक्तियां हैं किंतु इसका स्वरूप केवल सलाहकारी और अनुशंसात्मक है; यह स्वयं दंड नहीं दे सकता।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(National Commission for Women - NCW) के संदर्भ में निम्नलिखित कथनों पर विचार कीजिए: A. राष्ट्रीय महिला आयोग की स्थापना 31 जनवरी 1992 को राष्ट्रीय महिला आयोग अधिनियम, 1990 के तहत एक वैधानिक निकाय के रूप में की गई थी। B. आयोग की संरचना में केंद्र सरकार द्वारा नामित एक अध्यक्ष, 5 सदस्य और एक सदस्य-सचिव (कुल 7) होते हैं। C. अधिनियम के अनुसार इन 5 सदस्यों में से कम से कम एक सदस्य अनुसूचित जाति (SC) और कम से कम एक सदस्य अनुसूचित जनजाति (ST) से होना अनिवार्य है। D. सुश्री जयंती पटनायक राष्ट्रीय महिला आयोग की प्रथम अध्यक्ष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महिला आयोग (NCW) भारत में महिलाओं के अधिकारों, सुरक्षा उपायों और कल्याण की निगरानी करने वाला सर्वोच्च वैधानिक निकाय है। इसकी स्थापना 31 जनवरी 1992 को 1990 के अधिनियम के तहत हुई, अतः कथन A सही है। आयोग में 1 अध्यक्ष, 5 विशेषज्ञ सदस्य और 1 सदस्य-सचिव होते हैं जिनका कार्यकाल 3 वर्ष का होता है और इनकी नियुक्ति केंद्र सरकार (महिला एवं बाल विकास मंत्रालय) द्वारा की जाती है, अतः कथन B सही है। कानून की धारा 3(2) यह अनिवार्य बनाती है कि 5 सदस्यों में से कम से कम एक सदस्य SC और एक सदस्य ST वर्ग से होना चाहिए ताकि हाशिए की महिलाओं का प्रतिनिधित्व सुनिश्चित हो, अतः कथन C सही है। 1992 में आयोग की पहली अध्यक्ष सुश्री जयंती पटनायक बनी थीं, अतः कथन D भी सत्य है। NCW को शिकायतों की जांच करते समय सिविल कोर्ट (दीवानी अदालत) की शक्तियां प्राप्त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और बाल कल्याणकारी कानूनों के संदर्भ में निम्नलिखित कथनों पर विचार कीजिए: A. NCPCR की स्थापना मार्च 2007 में 'बाल अधिकार संरक्षण आयोग (CPCR) अधिनियम, 2005' के तहत एक सांविधिक निकाय के रूप में की गई थी। B. अधिनियम के अनुसार 'बालक' (Child) को 0 से 18 वर्ष के आयु वर्ग के किसी भी व्यक्ति के रूप में परिभाषित किया गया है। C. आयोग में एक अध्यक्ष और 6 अन्य सदस्य होते हैं, जिनमें से कम से कम '2 महिला सदस्य' होना अनिवार्य है। D. शिक्षा का अधिकार (RTE) अधिनियम 2009 और POCSO अधिनियम 2012 के प्रभावी क्रियान्वयन की निगरानी की वैधानिक जिम्मेदारी NCPCR को सौंपी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NCPCR बाल अधिकारों के संरक्षण और विकास का राष्ट्रीय स्तर का सर्वोच्च निकाय है जो महिला एवं बाल विकास मंत्रालय के अधीन कार्य करता है, अतः कथन A सही है। संयुक्त राष्ट्र बाल अधिकार सम्मेलन (UNCRC) के अनुरूप CPCR एक्ट 2005 में 0 से 18 वर्ष तक के सभी व्यक्तियों को बालक माना गया है, अतः कथन B सही है। आयोग की संरचना में 1 अध्यक्ष और 6 सदस्य होते हैं जिनमें अनिवार्य रूप से कम से कम 2 महिलाएं होनी चाहिए; अध्यक्ष के लिए अधिकतम आयु 65 वर्ष तथा सदस्यों के लिए 60 वर्ष (कार्यकाल 3 वर्ष) है, अतः कथन C सही है। संसद ने 'निःशुल्क एवं अनिवार्य बाल शिक्षा का अधिकार अधिनियम 2009' (RTE Act) और 'यौन अपराधों से बच्चों का संरक्षण अधिनियम 2012' (POCSO Act) दोनों के तहत बच्चों के अधिकारों के उल्लंघन की निगरानी और जांच का नोडल वैधानिक दायित्व NCPCR तथा राज्यों में SCPCR को सौंपा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विभिन्न संवैधानिक एवं सांविधिक निकायों के सदस्यों के कार्यकाल और सेवानिवृत्ति आयु का सही मिलान कीजिए: सूची-I (आयोग / संस्था): सूची-I: A. संघ लोक सेवा आयोग (UPSC) B. राज्य लोक सेवा आयोग (SPSC) C. राष्ट्रीय मानवाधिकार आयोग (NHRC) D. केंद्रीय सतर्कता आयोग (CVC) सूची-II: 1. 6 वर्ष या 62 वर्ष की आयु 2. 6 वर्ष या 65 वर्ष की आयु 3. 4 वर्ष या 65 वर्ष की आयु 4. 3 वर्ष या 70 वर्ष की आयु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विभिन्न संवैधानिक और वैधानिक पदों के कार्यकाल में विशिष्ट भिन्नताएं हैं: 1. UPSC (संवैधानिक): अध्यक्ष और सदस्यों का कार्यकाल 6 वर्ष या 65 वर्ष की आयु (जो भी पहले हो) होता है (A-2)। 2. SPSC (संवैधानिक): अध्यक्ष और सदस्यों का कार्यकाल 6 वर्ष या 62 वर्ष की आयु होता है (B-1)। 3. NHRC (सांविधिक): 2019 के संशोधन के अनुसार अध्यक्ष और सदस्यों का कार्यकाल 3 वर्ष या 70 वर्ष की आयु होता है (C-4)। 4. CVC (सांविधिक): 2003 के अधिनियम के अनुसार केंद्रीय सतर्कता आयुक्त और सतर्कता आयुक्तों का कार्यकाल 4 वर्ष या 65 वर्ष की आयु होता है (भारतीय प्रशासनिक ढांचे में 4 वर्ष का कार्यकाल अत्यंत दुर्लभ और विशिष्ट है)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'लोकपाल' और 'लोकायुक्त' संस्थाओं के ऐतिहासिक उद्भव के संदर्भ में निम्नलिखित कथनों पर विचार कीजिए: A. विश्व में सर्वप्रथम 1809 में स्कैंडिनेवियाई देश स्वीडन में नागरिकों की प्रशासनिक शिकायतों और भ्रष्टाचार के निवारण हेतु 'ओम्बड्समैन' (Ombudsman) संस्था का गठन हुआ था। B. भारत में 1963 में प्रसिद्ध न्यायविद डॉ. एल. एम. सिंघवी ने भारतीय संदर्भ में 'लोकपाल' (केंद्र हेतु) और 'लोकायुक्त' (राज्यों हेतु) शब्दों को पहली बार गढ़ा था। C. प्रथम प्रशासनिक सुधार आयोग (1st ARC, 1966) ने मोरारजी देसाई की अध्यक्षता में भारत में दो-स्तरीय लोकपाल और लोकायुक्त संस्थाओं के गठन की सिफारिश की थी। D. महाराष्ट्र 1971 में लोकायुक्त संस्था की औपचारिक स्थापना करने वाला भारत का पहला राज्य बना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भ्रष्टाचार रोधी ओम्बड्समैन संस्था का एक लंबा इतिहास रहा है। स्वीडन 1809 में ओम्बड्समैन स्थापित करने वाला विश्व का पहला देश था, अतः कथन A सही है। डॉ. एल. एम. सिंघवी ने 1963 में संसद में चर्चा के दौरान लोकपाल और लोकायुक्त शब्दों की रचना की, अतः कथन B सही है। 1966 में मोरारजी देसाई की अध्यक्षता वाले प्रथम ARC ने नागरिकों के कष्टों के निवारण हेतु केंद्र स्तर पर लोकपाल और राज्य स्तर पर लोकायुक्त बनाने की सिफारिश की, अतः कथन C सही है। ओडिशा ने 1970 में पहला लोकायुक्त अधिनियम पारित किया था, किंतु 1971 में लोकायुक्त कार्यालय की वास्तविक स्थापना करने वाला महाराष्ट्र देश का पहला राज्य बना (राजस्थान ने 1973 में लोकायुक्त की स्थापना की),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और लोकायुक्त अधिनियम, 2013' के तहत लोकपाल की संरचना और शक्तियों के संदर्भ में निम्नलिखित कथनों पर विचार कीजिए: A. लोकपाल एक बहु-सदस्यीय निकाय है जिसमें एक अध्यक्ष और अधिकतम 8 सदस्य होते हैं (जिनमें से 50% न्यायिक सदस्य और 50% SC, ST, OBC, अल्पसंख्यक व महिला वर्ग से होने अनिवार्य हैं)। B. लोकपाल के अध्यक्ष और सदस्यों की नियुक्ति राष्ट्रपति द्वारा 5-सदस्यीय चयन समिति (PM, लोक सभा अध्यक्ष, लोक सभा में विपक्ष के नेता, CJI या उनका नामित जज, और प्रख्यात विधिवेत्ता) की सिफारिश पर की जाती है। C. लोकपाल के अधिकार क्षेत्र में भारत के प्रधानमंत्री, केंद्रीय मंत्री, सांसद, तथा केंद्र सरकार के समूह A, B, C, D के सभी अधिकारी और कर्मचारी शामिल हैं। D. प्रधानमंत्री के खिलाफ अंतरराष्ट्रीय संबंधों, बाह्य व आंतरिक सुरक्षा, सार्वजनिक व्यवस्था, परमाणु ऊर्जा और अंतरिक्ष से संबंधित भ्रष्टाचार के आरोपों की जांच लोकपाल नहीं कर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 जनवरी 2014 को लागू लोकपाल अधिनियम 2013 देश का सबसे मजबूत भ्रष्टाचार रोधी कानून है। लोकपाल में 1 अध्यक्ष + 8 सदस्य होते हैं और इनका कार्यकाल 5 वर्ष या 70 वर्ष की आयु होता है, अतः कथन A सही है। प्रधानमंत्री की अध्यक्षता वाली 5 सदस्यीय चयन समिति इनकी सिफारिश करती है, अतः कथन B सही है। लोकपाल के दायरे में प्रधानमंत्री, केंद्रीय मंत्री, सांसद और केंद्र के सभी सरकारी अधिकारी आते हैं, अतः कथन C सही है। धारा 14 के तहत प्रधानमंत्री के विरुद्ध कुछ मामलों (सुरक्षा, परमाणु, अंतरिक्ष, अंतरराष्ट्रीय संबंध) में जांच वर्जित है; अन्य मामलों में भी प्रधानमंत्री के खिलाफ जांच तभी हो सकती है जब लोकपाल की पूर्ण पीठ के कम से कम 2/3 सदस्य इसकी अनुमति दें और यह जांच बंद कमरे में (In-camera) की जाए, अतः कथन D भी सत्य है। (ध्यान दें: लोकपाल को स्वतः संज्ञान Suo Motu लेने की शक्ति नहीं है; यह केवल नागरिक शिकायत पर ही कार्य करता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(Central Vigilance Commission - CVC) के संदर्भ में निम्नलिखित कथनों पर विचार कीजिए: A. CVC की स्थापना 1964 में के. संथानम की अध्यक्षता वाली 'भ्रष्टाचार निवारण समिति' की सिफारिशों के आधार पर की गई थी। B. संसद द्वारा 'केंद्रीय सतर्कता आयोग अधिनियम, 2003' पारित करके इसे पूर्ण वैधानिक (Statutory) दर्जा प्रदान किया गया। C. CVC में एक केंद्रीय सतर्कता आयुक्त (अध्यक्ष) और अधिकतम दो सतर्कता आयुक्त (सदस्य) होते हैं, जिनका कार्यकाल '4 वर्ष या 65 वर्ष की आयु' होता है। D. भ्रष्टाचार निवारण अधिनियम (PCA 1988) के तहत होने वाले अपराधों की जांच के संबंध में दिल्ली विशेष पुलिस स्थापना (CBI) के कामकाज का अधीक्षण (Superintendence) CVC द्वारा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सतर्कता आयोग केंद्र सरकार के मंत्रालयों में भ्रष्टाचार पर नजर रखने वाली शीर्ष सतर्कता संस्था है। संथानम समिति (1962-64) की रिपोर्ट पर 1964 में कार्यपालक संकल्प द्वारा इसकी स्थापना हुई, अतः कथन A सही है। 2003 में संसद ने अधिनियम पारित कर इसे स्वतंत्र वैधानिक दर्जा दिया, अतः कथन B सही है। CVC एक बहु-सदस्यीय निकाय है (1 CVC + अधिकतम 2 VCs); इनकी नियुक्ति राष्ट्रपति द्वारा 3-सदस्यीय समिति (PM अध्यक्ष, गृह मंत्री, LoP लोक सभा) की सिफारिश पर होती है और इनका कार्यकाल 4 वर्ष या 65 वर्ष होता है, अतः कथन C सही है। जब CBI भ्रष्टाचार निवारण अधिनियम के तहत केंद्र सरकार के अधिकारियों के विरुद्ध जांच करती है, तो CBI का अधीक्षण सीधे CVC के अधीन होता है (अन्यथा CBI कार्मिक मंत्रालय के अधीन है); इसके अतिरिक्त CVC 'व्हिसलब्लोअर प्रोटेक्शन' के तहत एकमात्र नामित एजेंसी (Designated Agency)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सूचना आयोग' (Central Information Commission - CIC) और सूचना के अधिकार (RTI) अधिनियम के संदर्भ में निम्नलिखित कथनों पर विचार कीजिए: A. केंद्रीय सूचना आयोग की स्थापना 12 अक्टूबर 2005 को सूचना का अधिकार अधिनियम, 2005 के तहत एक वैधानिक निकाय के रूप में की गई थी। B. आयोग में एक मुख्य सूचना आयुक्त (CIC) और अधिकतम 10 केंद्रीय सूचना आयुक्त हो सकते हैं, जिनकी नियुक्ति राष्ट्रपति द्वारा 3-सदस्यीय समिति (PM, LoP, PM द्वारा नामित कैबिनेट मंत्री) की सिफारिश पर की जाती है। C. वजाहत हबीबुल्लाह भारत के पहले मुख्य सूचना आयुक्त (First Chief Information Commissioner) थे। D. यदि कोई लोक सूचना अधिकारी (PIO) बिना उचित कारण के सूचना देने से इनकार या देरी करता है, तो आयोग उस पर ₹250 प्रतिदिन की दर से अधिकतम ₹25,000 तक का जुर्माना लगा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केंद्रीय सूचना आयोग पारदर्शिता और जवाबदेही का सर्वोच्च मंच है। 2005 के कानून के तहत स्थापित CIC एक स्वतंत्र वैधानिक निकाय है, अतः कथन A सही है। आयोग में 1 मुख्य और अधिकतम 10 अन्य सूचना आयुक्त होते हैं, अतः कथन B सही है। 2005 में भारत के पहले मुख्य सूचना आयुक्त वजाहत हबीबुल्लाह बने थे (प्रथम महिला मुख्य सूचना आयुक्त दीपक संधू थीं), अतः कथन C सही है। RTI अधिनियम की धारा 20 के तहत यदि PIO दुर्भावना से सूचना रोकता है या देरी करता है, तो आयोग ₹250 प्रतिदिन के हिसाब से अधिकतम ₹25,000 का आर्थिक दंड आरोपित कर सकता है तथा अनुशासनात्मक कार्रवाई की सिफारिश कर सकता है, अतः कथन D भी सत्य है। 2019 के RTI संशोधन अधिनियम ने सूचना आयुक्तों के कार्यकाल और वेतन-भत्तों को केंद्र सरकार के नियमों के अधीन कर दिया है (वर्तमान में कार्यकाल 3 वर्ष निर्धारित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 National Institution for Transforming India) के गठन, संरचना और कार्यप्रणाली के संदर्भ में निम्नलिखित कथनों पर विचार कीजिए: A. नीति आयोग का गठन 1 जनवरी 2015 को केंद्रीय मंत्रिमंडल के एक कार्यकारी संकल्प (Executive Resolution) द्वारा 65 वर्ष पुराने योजना आयोग के स्थान पर किया गया था। B. यह एक गैर-संवैधानिक और गैर-वैधानिक सलाहकार निकाय (थिंक टैंक) है जो 'सहकारी संघवाद' (Cooperative Federalism) और 'बॉटम-अप' (नीचे से ऊपर) दृष्टिकोण पर कार्य करता है। C. नीति आयोग के पदेन अध्यक्ष भारत के प्रधानमंत्री होते हैं, और इसकी 'गवर्निंग काउंसिल' में सभी राज्यों व विधानसभा वाले UTs के मुख्यमंत्री तथा अन्य UTs के उपराज्यपाल शामिल होते हैं। D. योजना आयोग के विपरीत, नीति आयोग के पास मंत्रालयों और राज्य सरकारों को विकास निधि/धन आवंटित (Allocate Funds) करने की कोई वित्तीय शक्ति नहीं है (यह कार्य अब वित्त मंत्रालय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 जनवरी 2015 को स्थापित नीति आयोग भारत सरकार का प्रमुख नीतिगत थिंक टैंक है। यह न तो संविधान में है और न ही संसद के अधिनियम द्वारा बना है, अतः कथन A और B सही हैं। इसकी संरचना में प्रधानमंत्री (अध्यक्ष), प्रधानमंत्री द्वारा नियुक्त उपाध्यक्ष (कैबिनेट मंत्री का दर्जा), पूर्णकालिक सदस्य (राज्य मंत्री का दर्जा), पदेन सदस्य (अधिकतम 4 कैबिनेट मंत्री), और मुख्य कार्यकारी अधिकारी (CEO - भारत सरकार के सचिव स्तर का अधिकारी) होते हैं; गवर्निंग काउंसिल इसकी सर्वोच्च निर्णयकारी संस्था है, अतः कथन C सही है। पूर्ववर्ती योजना आयोग नीतियां बनाने के साथ-साथ राज्यों को केंद्रीय योजनाओं के लिए ग्रांट/फंड भी बांटता था जिससे वह 'सुपर-कैबिनेट' बन गया था; नीति आयोग केवल रणनीतिक और तकनीकी सलाह देता है, इसके पास कोई वित्तीय आवंटन शक्ति नहीं है (फंड आवंटन का कार्य पूरी तरह वित्त मंत्रालय को स्थानांतरित कर दिया गया), अतः कथन D भी सत्य है। नीति आयोग दो प्रमुख हब-'टीम इंडिया हब' और 'ज्ञान व नवाचार हब' के माध्यम से कार्य करता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की योजना संरचना, प्रमुख पहलों और जारी किए जाने वाले सूचकांकों के संदर्भ में निम्नलिखित कथनों पर विचार कीजिए: A. नीति आयोग ने पुरानी 5-वर्षीय योजनाओं के मॉडल को समाप्त कर 3-वर्षीय एक्शन एजेंडा, 7-वर्षीय मध्यम-अवधि रणनीति, और 15-वर्षीय दीर्घकालिक विज़न दस्तावेज की नई रूपरेखा अपनाई। B. जनवरी 2018 में नीति आयोग द्वारा देश के सबसे पिछड़े 112 जिलों के तीव्र रूपांतरण के लिए 'आकांक्षी जिला कार्यक्रम' (Aspirational Districts Programme - ADP) शुरू किया गया। C. नीति आयोग द्वारा राज्यों के बीच प्रतिस्पर्धी संघवाद को बढ़ावा देने के लिए 'SDG इंडिया इंडेक्स', 'राज्य स्वास्थ्य सूचकांक', 'समग्र जल प्रबंधन सूचकांक' और 'निर्यात तत्परता सूचकांक' जारी किए जाते हैं। D. 'मानव विकास सूचकांक' (Human Development Index - HDI) नीति आयोग द्वारा प्रतिवर्ष जारी किया जाने वाला एक प्रमुख राष्ट्रीय सूचकांक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ने भारत की विकास योजना प्रणाली को आधुनिक बनाया। 12वीं पंचवर्षीय योजना (2012-17) के समापन के बाद 5-वर्षीय योजनाओं को बंद कर 15-वर्षीय विज़न (2017-32), 7-वर्षीय रणनीति (2017-24) और 3-वर्षीय एक्शन एजेंडा लाया गया, अतः कथन A सही है। आकांक्षी जिला कार्यक्रम (ADP) स्वास्थ्य, शिक्षा, कृषि, वित्तीय समावेशन और बुनियादी ढांचे के 49 संकेतकों पर पिछड़े जिलों की रियल-टाइम रैंकिंग करता है, अतः कथन B सही है। नीति आयोग राज्यों के बीच सकारात्मक प्रतिस्पर्धा बढ़ाने हेतु SDG इंडिया इंडेक्स, स्टेट हेल्थ इंडेक्स, समग्र जल प्रबंधन सूचकांक, स्कूल एजुकेशन क्वालिटी इंडेक्स (SEQI) आदि जारी करता है, अतः कथन C सही है। कथन D असत्य है क्योंकि मानव विकास सूचकांक (HDI) नीति आयोग द्वारा नहीं, बल्कि अंतरराष्ट्रीय स्तर पर संयुक्त राष्ट्र विकास कार्यक्रम (UNDP) द्वारा जारी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निर्माण प्रक्रिया (Public Policy Making Process) और प्रमुख नीति सिद्धांतों के संदर्भ में निम्नलिखित कथनों पर विचार कीजिए: A. प्रसिद्ध नीति विश्लेषक थॉमस आर. डाई (Thomas R. Dye) के अनुसार "सरकारें जो कुछ भी करने या न करने का चुनाव करती हैं, वही लोक नीति है।" B. लोक नीति चक्र (Policy Cycle) के चरणों का सही तार्किक क्रम है: समस्या की पहचान (Problem Identification) → नीति निर्माण (Formulation) → नीति क्रियान्वयन (Implementation) → नीति मूल्यांकन (Evaluation)। C. चार्ल्स लिंडब्लोम (Charles Lindblom) द्वारा प्रस्तुत लोक नीति का 'वृद्धिशील मॉडल' (Incremental Model) वर्तमान नीतियों में धीरे-धीरे और छोटे सुधारों ('Muddling Through') पर बल देता है। D. लोक नीति में 'बॉटम-अप दृष्टिकोण' (Bottom-up Approach) स्थानीय समस्याओं, हितधारकों और जमीनी हकीकत को बेहतर ढंग से संबोधित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प्रशासन में लोक नीति का निर्माण और क्रियान्वयन केंद्रीय विषय है। थॉमस डाई की व्यापक परिभाषा सरकार की सक्रिय कार्रवाई और सोची-समझी निष्क्रियता (जैसे किसी मामले में दखल न देना) दोनों को लोक नीति का अंग मानती है, अतः कथन A सही है। नीति निर्माण एक चक्रीय और निरंतर प्रक्रिया है जिसका प्रारंभ सामाजिक समस्या की पहचान और एजेंडा तय करने से होता है, जिसके बाद विकल्प तैयार कर नीति बनती है, कार्यपालिका/नौकरशाही इसे लागू करती है और अंत में प्रभाव का मूल्यांकन होता है, अतः कथन B सही है। चार्ल्स लिंडब्लोम का वृद्धिशील मॉडल मानता है कि नीति-निर्माता संपूर्ण नई नीति बनाने के बजाय पिछली सफल नीतियों के आधार पर मामूली वृद्धिशील बदलाव करते हैं जिसे 'मडलिंग थ्रू' की कला कहा जाता है (यही व्यावहारिक भी है), अतः कथन C सही है। बॉटम-अप अप्रोच विकेंद्रीकृत योजना और जनभागीदारी पर आधारित है जो नीतियों को अधिक प्रासंगिक बनाती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नीतियों के प्रकारों (Types of Public Policies) और नीति मूल्यांकन के संदर्भ में निम्नलिखित कथनों पर विचार कीजिए: A. 'नियामक नीतियां' (Regulatory Policies) समाज में व्यवस्था बनाए रखने के लिए व्यक्तियों और व्यावसायिक संस्थाओं के व्यवहार व गतिविधियों को नियंत्रित करती हैं (जैसे यातायात नियम, RBI दिशा-निर्देश)। B. 'वितरणात्मक नीतियां' (Distributive Policies) समाज के विशिष्ट वर्गों को सार्वजनिक कोष से प्रत्यक्ष लाभ, अनुदान, सब्सिडी या सेवाएं प्रदान करती हैं (जैसे PDS राशन, छात्रवृत्तियां)। C. 'पुनर्वितरणात्मक नीतियां' (Redistributive Policies) धन और संसाधनों के बुनियादी पुनर्वितरण से संबंधित होती हैं (जैसे प्रगतिशील कराधान, भूमि सुधार)। D. 'प्रभाव मूल्यांकन' (Impact Evaluation) का मुख्य उद्देश्य यह आकलन करना है कि नीति ने अपने लक्षित दीर्घकालिक सामाजिक-आर्थिक परिणामों को वास्तविक रूप से प्राप्त किया है या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समाजशास्त्री रॉबर्ट लोवी (Robert Lowi) ने लोक नीतियों को उनके प्रभावों के आधार पर वर्गीकृत किया था। 1. नियामक नीतियां: ये अनुचित गतिविधियों को रोकती हैं और प्रतिस्पर्धा को नियंत्रित करती हैं (जैसे TRAI, SEBI के नियम, प्रदूषण नियंत्रण कानून), अतः कथन A सही है। 2. वितरणात्मक नीतियां: इसमें राज्य की सेवाएं और वित्तीय सहायता बिना किसी से छीने लक्षित समूहों को दी जाती हैं (जैसे किसान सम्मान निधि, निःशुल्क स्वास्थ्य बीमा), अतः कथन B सही है। 3. पुनर्वितरणात्मक नीतियां: इसमें अमीर वर्गों पर उच्च कर लगाकर गरीबों के कल्याण में लगाकर सामाजिक विषमता को पाटा जाता है, अतः कथन C सही है। 4. प्रभाव मूल्यांकन: यह नीति के केवल वित्तीय खर्च (आउटपुट) को नहीं देखता, बल्कि यह देखता है कि नीति से जनता के जीवन स्तर, गरीबी उन्मूलन या स्वास्थ्य में वास्तविक क्या बदलाव आया (आउटकम),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'नागरिक अधिकार पत्र' (Citizen's Charter) की संकल्पना, सिद्धांतों और भारतीय अनुभव के संदर्भ में निम्नलिखित कथनों पर विचार कीजिए: A. नागरिक अधिकार पत्र की अवधारणा का उद्भव सर्वप्रथम 1991 में यूनाइटेड किंगडम (ब्रिटेन) में तत्कालीन प्रधानमंत्री जॉन मेजर द्वारा किया गया था। B. यूके नागरिक अधिकार पत्र के 6 मूल सिद्धांत हैं: गुणवत्ता (Quality), विकल्प (Choice), मानक (Standards), मूल्य (Value for money), जवाबदेही (Accountability), और पारदर्शिता (Transparency)। C. भारत में नागरिक अधिकार पत्र की शुरुआत मई 1997 में आयोजित मुख्यमंत्रियों के सम्मेलन में एक कार्ययोजना अपनाने के पश्चात हुई। D. नागरिक अधिकार पत्र एक कानूनी रूप से बाध्यकारी दस्तावेज है और इसके मानकों का उल्लंघन होने पर नागरिक सीधे उच्च न्यायालय में रिट दायर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अधिकार पत्र प्रशासन को नागरिक-केंद्रित (Citizen-Centric) बनाने का वैश्विक आंदोलन है। 1991 में ब्रिटेन में जॉन मेजर सरकार ने इसे सार्वजनिक सेवाओं की गुणवत्ता सुधारने के लिए शुरू किया, अतः कथन A सही है। इसके 6 बुनियादी सिद्धांतों में सेवा मानकों का स्पष्ट उल्लेख, पारदर्शिता और जवाबदेही शामिल हैं (गोपनीयता का इसमें कोई स्थान नहीं है), अतः कथन B सही है। भारत में 1997 के मुख्यमंत्रियों के सम्मेलन के बाद केंद्र और राज्य सरकारों के विभागों में इसे लागू करने की पहल हुई, अतः कथन C सही है। कथन D असत्य है क्योंकि नागरिक अधिकार पत्र प्रकृति में केवल एक स्वैच्छिक और नैतिक घोषणापत्र (Document of trust) है; यह कानूनी रूप से बाध्यकारी (Not legally enforceable) नहीं है, इसलिए इसके उल्लंघन के आधार पर सीधे अदालत में मुकदमा नहीं चलाया जा सकता (यद्यपि विभिन्न राज्यों ने इसे कानूनी दर्जा देने हेतु लोक सेवा गारंटी अधिनियम बनाए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'सेवोत्तम मॉडल' (Sevottam Model) और द्वितीय प्रशासनिक सुधार आयोग (2nd ARC) की सिफारिशों के संदर्भ में निम्नलिखित कथनों पर विचार कीजिए: A. 'सेवोत्तम' (सेवा + उत्तम) मॉडल भारत सरकार के प्रशासनिक सुधार और लोक शिकायत विभाग (DARPG) द्वारा सार्वजनिक सेवा वितरण की गुणवत्ता सुधारने हेतु 2006 में विकसित एक मूल्यांकन ढांचा है। B. सेवोत्तम मॉडल के तीन मुख्य स्तंभ (Modules) हैं: 1. नागरिक अधिकार पत्र का प्रभावी कार्यान्वयन, 2. लोक शिकायत निवारण तंत्र, और 3. सेवा वितरण क्षमता का विकास। C. द्वितीय प्रशासनिक सुधार आयोग (2nd ARC) की 12वीं रिपोर्ट का शीर्षक 'नागरिक केंद्रित प्रशासन: सुशासन का हृदय' (Citizen Centric Administration: The Heart of Governance) है। D. 2nd ARC ने सिफारिश की कि नागरिक अधिकार पत्रों को प्रभावी बनाने के लिए 'वन साइज फिट्स ऑल' (One size fits all) के सिद्धांत को सख्ती से अपनाया जाना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सेवोत्तम मॉडल प्रशासनिक उत्कृष्टता का 7-चरणीय मानकीकृत ढांचा है जो IS 15700:2005 मानकों पर आधारित है, अतः कथन A सही है। इसके तीन मुख्य घटक नागरिक अधिकार पत्र, शिकायत निवारण और सेवा क्षमता हैं, अतः कथन B सही है। द्वितीय प्रशासनिक सुधार आयोग (वीरप्पा मोइली की अध्यक्षता में 2005 में गठित) की 12वीं रिपोर्ट नागरिक-केंद्रित प्रशासन और शिकायत निवारण पर केंद्रित है, अतः कथन C सही है। कथन D असत्य है क्योंकि 2nd ARC ने स्पष्ट रूप से 'वन साइज फिट्स ऑल' दृष्टिकोण की कड़ी आलोचना की थी; आयोग ने कहा था कि चूंकि प्रत्येक विभाग और जमीनी कार्यालय की कार्यप्रणाली भिन्न होती है, इसलिए केंद्रीकृत प्रारूप थोपने के बजाय प्रत्येक स्थानीय कार्यालय को जनता और कर्मचारियों के परामर्श से अपनी परिस्थितियों के अनुसार विशिष्ट चार्टर तैयार करना चाहिए तथा सेवा में देरी होने पर स्पष्ट क्षतिपूर्ति/मुआवजे का प्रावधान होना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'सामाजिक अंकेक्षण' (Social Audit) की अवधारणा, वैधानिक स्थिति और भारत में इसके विकास के संदर्भ में निम्नलिखित कथनों पर विचार कीजिए: A. सामाजिक अंकेक्षण एक ऐसी प्रक्रिया है जिसमें समुदाय की सक्रिय भागीदारी से सरकारी योजनाओं के वास्तविक सामाजिक प्रभाव, व्यय की पारदर्शिता और लाभार्थियों तक पहुंच का मूल्यांकन किया जाता है। B. मनरेगा (MGNREGA, 2005) की धारा 17 भारत का पहला ऐसा केंद्रीय वैधानिक प्रावधान है जिसने ग्राम सभा द्वारा सभी विकास कार्यों का अनिवार्य सामाजिक अंकेक्षण करना बाध्यकारी बनाया। C. राजस्थान में 'मजदूर किसान शक्ति संगठन' (MKSS - अरुणा रॉय, निखिल डे आदि) ने 1990 के दशक में 'जन सुनवाई' (Public Hearing) के माध्यम से सामाजिक अंकेक्षण और RTI आंदोलन की नींव रखी थी। D. 'मेघालय' 2017 में सामाजिक अंकेक्षण को कानूनी रूप से अनिवार्य बनाने वाला कानून (Social Audit Act) पारित करने वाला भारत का पहला राज्य बना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सामाजिक अंकेक्षण पारंपरिक वित्तीय ऑडिट (जो केवल बिल-बाउचर देखता है) से आगे बढ़कर यह देखता है कि सरकारी धन का वास्तविक सामाजिक लाभ जनता को मिला या नहीं। यह खुली जनभागीदारी पर आधारित है, अतः कथन A सही है। मनरेगा 2005 की धारा 17 के तहत ग्राम सभा को सभी कार्यों का नियमित सामाजिक अंकेक्षण करने और ऑडिट रिपोर्ट में पाई गई कमियों पर अधिकारियों की जवाबदेही तय करने का कानूनी अधिकार मिला, अतः कथन B सही है। राजस्थान के देवडूंगरी/भीम क्षेत्र में MKSS ने 1990 के दशक में 'हमारा पैसा, हमारा हिसाब' का नारा देकर जनसुनवाई प्रारंभ की जिसने देश में RTI 2005 और सोशल ऑडिट को जन्म दिया, अतः कथन C सही है। मेघालय ने 2017 में 'मेघालय सामुदायिक भागीदारी और लोक सेवा सामाजिक अंकेक्षण अधिनियम' बनाया जो 21 सरकारी योजनाओं का अनिवार्य सोशल ऑडिट करता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शिकायत निवारण तंत्र (Public Grievance Redressal), ई-गवर्नेंस और संबंधित कानूनों के संदर्भ में निम्नलिखित कथनों पर विचार कीजिए: A. भारत सरकार का CPGRAMS (Centralized Public Grievance Redress and Monitoring System) पोर्टल DARPG द्वारा नागरिकों की ऑनलाइन शिकायतें दर्ज करने और निगरानी हेतु विकसित 24x7 मंच है। B. राजस्थान सरकार द्वारा नागरिकों की शिकायतों के त्वरित और पारदर्शी निवारण के लिए 'राजस्थान संपर्क' (Sampark) पोर्टल और हेल्पलाइन (181) संचालित की जा रही है। C. मध्य प्रदेश 2010 में नागरिकों को समयबद्ध सेवा वितरण की गारंटी देने वाला 'लोक सेवा गारंटी अधिनियम' (Right to Public Services Act) लागू करने वाला देश का पहला राज्य बना था। D. 'व्हिसलब्लोअर्स प्रोटेक्शन एक्ट, 2014' सार्वजनिक पदाधिकारियों द्वारा किए जाने वाले भ्रष्टाचार या सत्ता के दुरुपयोग को उजागर करने वाले व्यक्तियों की पहचान गुप्त रखने और उन्हें उत्पीड़न से संरक्षण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सुशासन में प्रभावी शिकायत निवारण तंत्र रीढ़ की हड्डी होता है। CPGRAMS केंद्र सरकार का एकीकृत पोर्टल है जो विभागों के बीच शिकायतों का निवारण करता है, अतः कथन A सही है। राजस्थान संपर्क पोर्टल ने राज्य में ई-गवर्नेंस के माध्यम से पंचायत स्तर तक शिकायतों की ऑनलाइन ट्रैकिंग सुनिश्चित की है, अतः कथन B सही है। मध्य प्रदेश ने 2010 में ऐतिहासिक लोक सेवा गारंटी कानून बनाया (राजस्थान ने 2011 में 'राजस्थान लोक सेवा के प्रदान की गारंटी अधिनियम' लागू किया) जिसके तहत तय समय-सीमा में सेवा न मिलने पर दोषी अधिकारी पर जुर्माना लगता है, अतः कथन C सही है। व्हिसलब्लोअर्स प्रोटेक्शन एक्ट 2014 भ्रष्टाचार को उजागर करने वाले जागरूक नागरिकों और ईमानदार कर्मचारियों को सुरक्षा कवच देता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106वें संविधान संशोधन अधिनियम, 2023 ('नारी शक्ति वंदन अधिनियम') के संदर्भ में निम्नलिखित कथनों पर विचार कीजिए: A. यह अधिनियम लोक सभा, राज्य विधानसभाओं और राष्ट्रीय राजधानी क्षेत्र दिल्ली की विधानसभा में महिलाओं के लिए '33% (एक-तिहाई) आरक्षण' का प्रावधान करता है। B. इस संशोधन द्वारा संविधान में नए अनुच्छेद 330A, 332A और 334A जोड़े गए तथा अनुच्छेद 239AA में संशोधन किया गया। C. यह आरक्षण राज्य सभा और राज्यों की विधान परिषदों (Legislative Councils) में भी पूर्णतः लागू होगा। D. अधिनियम के अनुसार यह आरक्षण आगामी नई जनगणना के आंकड़ों के प्रकाशन के बाद होने वाली 'परिसीमन प्रक्रिया' (Delimitation) के पूरा होने के बाद प्रभावी होगा और इसकी प्रारंभिक अवधि 15 वर्ष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द्वारा सितंबर 2023 में पारित 106वां संविधान संशोधन अधिनियम (नारी शक्ति वंदन अधिनियम) भारत के लोकतांत्रिक इतिहास का युगांतकारी कानून है। यह लोक सभा (अनुच्छेद 330A), राज्य विधानसभाओं (अनुच्छेद 332A) और दिल्ली विधानसभा (अनुच्छेद 239AA) में महिलाओं के लिए 33% सीटें आरक्षित करता है (जिसमें SC/ST की महिलाओं के लिए 33% उप-आरक्षण शामिल है), अतः कथन A और B सही हैं। कथन C असत्य है क्योंकि यह आरक्षण केवल प्रत्यक्ष रूप से निर्वाचित सदनों (लोक सभा व विधानसभाओं) में लागू होगा; यह राज्य सभा (उच्च सदन) और राज्य विधान परिषदों में लागू नहीं होगा। अनुच्छेद 334A के अनुसार यह आरक्षण कानून लागू होने के बाद होने वाली पहली जनगणना और उसके आधार पर होने वाले परिसीमन के पश्चात प्रभावी होगा तथा इसकी अवधि 15 वर्षों के लिए होगी (जिसे संसद कानून बनाकर आगे बढ़ा सकती है),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105वें संविधान संशोधन अधिनियम (2021) और अन्य हालिया संशोधनों के संदर्भ में निम्नलिखित कथनों पर विचार कीजिए: A. 105वें संविधान संशोधन अधिनियम (2021) का मुख्य उद्देश्य राज्यों को अपनी सामाजिक और शैक्षणिक रूप से पिछड़े वर्गों (SEBC / OBC) की राज्य सूची स्वयं पहचानने और तैयार करने की शक्ति को पुनः बहाल करना था। B. सर्वोच्च न्यायालय के 'मराठा आरक्षण मामले' (2021) में दिए गए उस निर्णय के प्रभाव को दूर करने के लिए यह संशोधन लाया गया था जिसने राज्यों की OBC सूची बनाने की शक्ति को सीमित कर दिया था। C. 102वें संविधान संशोधन (2018) द्वारा 'राष्ट्रीय पिछड़ा वर्ग आयोग' (NCBC) को अनुच्छेद 338B के तहत संवैधानिक दर्जा दिया गया था। D. 103वें संविधान संशोधन (2019) द्वारा सामान्य वर्ग के आर्थिक रूप से कमजोर वर्गों (EWS) को 10% आरक्षण प्रदान किया गया, जिसे सर्वोच्च न्यायालय की 5-जजों की संविधान पीठ ने 'जनहित अभियान वाद' (2022) में वैध ठहराया।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हालिया संविधान संशोधनों ने भारत की सामाजिक न्याय और संघीय व्यवस्था को नया आयाम दिया है। मई 2021 में मराठा आरक्षण फैसले में सुप्रीम कोर्ट ने व्याख्या की थी कि 102वें संशोधन के बाद केवल राष्ट्रपति (केंद्र) ही OBC सूची अधिसूचित कर सकता है; राज्यों की स्वायत्तता की रक्षा हेतु संसद ने 105वां संशोधन पारित कर अनुच्छेद 342A में संशोधन किया और राज्यों को अपनी राज्य-विशिष्ट OBC सूची बनाने की शक्ति बहाल की, अतः कथन A और B सही हैं। 102वें संशोधन 2018 ने अनुच्छेद 338B और 342A जोड़कर NCBC को संवैधानिक आयोग बनाया, अतः कथन C सही है। 103वें संशोधन 2019 ने अनुच्छेद 15(6) व 16(6) जोड़कर 10% EWS आरक्षण दिया, जिसे नवंबर 2022 में सर्वोच्च न्यायालय की संविधान पीठ ने 3:2 के बहुमत से वैध माना कि यह संविधान के मूल ढांचे का उल्लंघन नहीं करता,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नए आपराधिक कानूनों (New Criminal Laws 2023-2024) और कानूनी सुधारों के संदर्भ में निम्नलिखित कथनों पर विचार कीजिए: A. औपनिवेशिक युग की 'भारतीय दंड संहिता, 1860' (IPC) को 'भारतीय न्याय संहिता, 2023' (Bharatiya Nyaya Sanhita - BNS) द्वारा प्रतिस्थापित किया गया है। B. 'दंड प्रक्रिया संहिता, 1973' (CrPC) को 'भारतीय नागरिक सुरक्षा संहिता, 2023' (Bharatiya Nagarik Suraksha Sanhita - BNSS) द्वारा प्रतिस्थापित किया गया है। C. 'भारतीय साक्ष्य अधिनियम, 1872' (Indian Evidence Act) को 'भारतीय साक्ष्य अधिनियम, 2023' (Bharatiya Sakshya Adhiniyam - BSA) द्वारा प्रतिस्थापित किया गया है। D. ये तीनों नए आपराधिक कानून भारत में 1 जुलाई 2024 से पूर्ण रूप से प्रभावी हो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आपराधिक न्याय प्रणाली को भारतीय मूल्यों और आधुनिक जरूरतों के अनुरूप ढालने के लिए संसद ने दिसंबर 2023 में तीन युगांतकारी कानून पारित किए जो 1 जुलाई 2024 से पूरे देश में लागू हो गए। 1. भारतीय न्याय संहिता (BNS 2023): इसने 1860 की IPC का स्थान लिया; इसमें राजद्रोह (Sedition) को समाप्त कर भारत की संप्रभुता के विरुद्ध कृत्यों को परिभाषित किया गया तथा मॉब लिंचिंग, आतंकवाद और संगठित अपराध के कड़े प्रावधान किए गए (A सही)। 2. भारतीय नागरिक सुरक्षा संहिता (BNSS 2023): इसने 1973 की CrPC का स्थान लिया; इसमें जीरो एफआईआर, ऑनलाइन शिकायत, ई-समन, फॉरेंसिक जांच की अनिवार्यता और समयबद्ध सुनवाई के प्रावधान हैं (B सही)। 3. भारतीय साक्ष्य अधिनियम (BSA 2023): इसने 1872 के साक्ष्य कानून का स्थान लिया; इसमें इलेक्ट्रॉनिक और डिजिटल रिकॉर्ड्स को प्राथमिक साक्ष्य का पूर्ण कानूनी दर्जा दिया गया (C सही)। ये कानून 1 जुलाई 2024 से लागू हुए,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'चुनावी बांड योजना' (Electoral Bonds Scheme) पर सर्वोच्च न्यायालय के ऐतिहासिक निर्णय (फरवरी 2024) के संदर्भ में निम्नलिखित कथनों पर विचार कीजिए: A. भारत के मुख्य न्यायाधीश डी. वाई. चंद्रचूड़ की अध्यक्षता वाली 5-न्यायाधीशों की संविधान पीठ ने सर्वसम्मति से 'चुनावी बांड योजना' को असंवैधानिक घोषित कर रद्द कर दिया। B. सर्वोच्च न्यायालय ने निर्णय दिया कि अनाम चुनावी बांड मतदाताओं के अनुच्छेद 19(1)(a) के तहत प्रदत्त 'सूचना के अधिकार' (Right to Information) का खुला उल्लंघन करते हैं। C. न्यायालय ने माना कि राजनीतिक दलों को मिलने वाले गुप्त कॉर्पोरेट चंदे से नीति निर्माण प्रभावित होने (Quid Pro Quo) की संभावना बढ़ती है। D. न्यायालय ने स्टेट बैंक ऑफ इंडिया (SBI) को चुनावी बांड के खरीदारों और इन बांडों को भुनाने वाले राजनीतिक दलों का संपूर्ण विवरण चुनाव आयोग को सौंपने का निर्देश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 फरवरी 2024 को सर्वोच्च न्यायालय की 5 जजों की संविधान पीठ ने एसोसिएशन फॉर डेमोक्रेटिक रिफॉर्म्स (ADR) वाद में चुनावी बांड योजना (2018) को असंवैधानिक घोषित कर दिया। न्यायालय ने स्पष्ट फैसला सुनाया कि लोकतंत्र में निष्पक्ष चुनाव और स्वतंत्र मतदान हेतु नागरिकों को यह जानने का मौलिक अधिकार है कि राजनीतिक दलों को वित्त पोषण कहाँ से मिल रहा है; अतः कंपनी कानून और आयकर कानून में किए गए संशोधन अनुच्छेद 19(1)(a) में निहित जानने के अधिकार का उल्लंघन करते हैं, अतः कथन A और B सही हैं। कोर्ट ने यह भी रेखांकित किया कि कॉर्पोरेट कंपनियों द्वारा असीमित और गोपनीय चंदा देने से राजनीति और व्यापार के बीच अनुचित सांठगांठ (Quid pro quo) को बढ़ावा मिलता है, अतः कथन C सही है। सुप्रीम कोर्ट ने SBI को चुनावी बांड जारी करने पर तत्काल रोक लगाने तथा 2019 से बेचे गए सभी बांडों के यूनिक कोड, दानदाताओं के नाम और दलों के विवरण चुनाव आयोग को देने का आदेश दिया जिसे ECI ने अपनी सार्वजनिक वेबसाइट पर प्रकाशित किया,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द्वारा अनुसूचित जातियों (SC) और अनुसूचित जनजातियों (ST) के 'उप-वर्गीकरण' (Sub-classification) पर दिए गए ऐतिहासिक निर्णय (अगस्त 2024) के संदर्भ में निम्नलिखित कथनों पर विचार कीजिए: A. भारत के मुख्य न्यायाधीश की अध्यक्षता वाली 7-न्यायाधीशों की संविधान पीठ ने 6:1 के ऐतिहासिक बहुमत से राज्यों को SC और ST सूचियों का उप-वर्गीकरण करने का अधिकार दिया। B. इस निर्णय ने 2004 के 'ई. वी. चिन्नैया बनाम आंध्र प्रदेश राज्य' के उस पूर्व फैसले को पलट दिया जिसमें कहा गया था कि SC/ST एक समरूप (Homogeneous) समूह हैं और उनका उप-वर्गीकरण नहीं हो सकता। C. न्यायालय ने माना कि राज्य सरकारें SC/ST वर्ग के भीतर सबसे अधिक पिछड़े और वंचित समुदायों (जैसे सफाई कर्मचारी, वाल्मीकि, मडिगा आदि) के उत्थान के लिए अलग उप-कोटा (कोटे के भीतर कोटा) निर्धारित कर सकती हैं। D. न्यायालय ने स्पष्ट किया कि राज्यों द्वारा किया जाने वाला यह उप-वर्गीकरण मनमाना नहीं हो सकता, बल्कि यह अनुभवजन्य और वैज्ञानिक आंकड़ों (Empirical Data) पर आधारित होना चाहिए तथा यह न्यायिक समीक्षा के अधीन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 अगस्त 2024 को सर्वोच्च न्यायालय की 7 जजों की संविधान पीठ (पंजाब राज्य बनाम दविंदर सिंह वाद) ने आरक्षण के क्षेत्र में युगांतकारी निर्णय दिया। 2004 के ई. वी. चिन्नैया फैसले को खारिज करते हुए कोर्ट ने व्यवस्था दी कि SC और ST कोई एकल समरूप समूह नहीं हैं; इनमें भी कुछ जातियां ऐतिहासिक रूप से अधिक वंचित रही हैं, अतः कथन A और B सही हैं। अनुच्छेद 15 और 16 के तहत वास्तविक और सारवान समानता (Substantive Equality) सुनिश्चित करने के लिए राज्य विधानसभाएं आरक्षित 15% या 7.5% कोटे के भीतर अधिक पिछड़े उप-समूहों के लिए प्राथमिकता या अलग कोटा निर्धारित कर सकती हैं, अतः कथन C सही है। न्यायालय ने सख्त शर्त लगाई कि राज्य राजनीतिक लाभ के लिए ऐसा नहीं कर सकते; इसके लिए ठोस सामाजिक-आर्थिक डेटा होना अनिवार्य है और यह निर्णय अदालती समीक्षा के दायरे में होगा, अतः कथन D भी सत्य है। (पीठ के 4 न्यायाधीशों ने SC/ST आरक्षण में भी क्रीमी लेयर सिद्धांत लागू करने पर विचार करने की टिप्पणी की)।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अनुच्छेद 370 के निरस्तीकरण पर सर्वोच्च न्यायालय की संविधान पीठ के ऐतिहासिक निर्णय (दिसंबर 2023) के संदर्भ में निम्नलिखित कथनों पर विचार कीजिए: A. 11 दिसंबर 2023 को 5-न्यायाधीशों की संविधान पीठ ने सर्वसम्मति से केंद्र सरकार द्वारा 5 अगस्त 2019 को संविधान के अनुच्छेद 370 को निरस्त करने के निर्णय को वैध ठहराया। B. न्यायालय ने निर्णय दिया कि अनुच्छेद 370 भारतीय संविधान का एक 'अस्थायी और संक्रमणकालीन प्रावधान' (Temporary and Transitional Provision) था, जो संविधान के भाग XXI में उल्लिखित था। C. न्यायालय ने माना कि 1947 में भारत में विलय के साथ ही जम्मू और कश्मीर राज्य ने अपनी आंतरिक संप्रभुता (Internal Sovereignty) का पूरी तरह त्याग कर दिया था। D. न्यायालय ने भारत के चुनाव आयोग को सितंबर 2024 तक जम्मू-कश्मीर विधानसभा के चुनाव कराने तथा केंद्र को राज्य का दर्जा यथाशीघ्र बहाल करने का निर्देश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2023 में सुप्रीम कोर्ट की संविधान पीठ ने अनुच्छेद 370 के निरसन को चुनौती देने वाली याचिकाओं पर ऐतिहासिक फैसला सुनाया। कोर्ट ने कहा कि राष्ट्रपति द्वारा संवैधानिक आदेश (CO 272 व 273) जारी कर अनुच्छेद 370 को निष्प्रभावी करना पूरी तरह वैध और संवैधानिक प्रक्रिया के अनुरूप था, अतः कथन A सही है। संविधान के भाग XXI का शीर्षक ही 'अस्थायी, संक्रमणकालीन और विशेष उपबंध' है, अतः 1957 में राज्य संविधान सभा के भंग होने के बाद भी अनुच्छेद 370 स्थायी नहीं बना बल्कि यह हमेशा अस्थायी ही रहा, अतः कथन B सही है। महाराजा हरि सिंह द्वारा विलय पत्र (Instrument of Accession) पर हस्ताक्षर करने के बाद जम्मू-कश्मीर भारत का अविभाज्य अंग बन गया और उसकी कोई अलग संप्रभुता शेष नहीं रही, अतः कथन C सही है। कोर्ट ने लोकतंत्र की बहाली हेतु चुनाव आयोग को 30 सितंबर 2024 तक विधानसभा चुनाव कराने का आदेश दिया (जो सफलतापूर्वक संपन्न हुए),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'एक राष्ट्र, एक चुनाव' (Simultaneous Elections) हेतु गठित उच्च स्तरीय समिति (HLC) के संदर्भ में निम्नलिखित कथनों पर विचार कीजिए: A. केंद्र सरकार द्वारा सितंबर 2023 में भारत के पूर्व राष्ट्रपति 'रामनाथ कोविंद' की अध्यक्षता में एक उच्च स्तरीय समिति का गठन किया गया था। B. समिति ने मार्च 2024 में राष्ट्रपति द्रौपदी मुर्मू को अपनी विस्तृत रिपोर्ट सौंपी जिसमें लोक सभा, राज्य विधानसभाओं और स्थानीय निकायों के चुनाव एक साथ कराने की सिफारिश की गई। C. समिति ने पहले चरण में लोक सभा और सभी राज्य विधानसभाओं के चुनाव एक साथ कराने तथा दूसरे चरण में 100 दिनों के भीतर नगर पालिकाओं व पंचायतों के चुनाव कराने की त्रि-स्तरीय योजना सुझाई। D. समिति ने पूरे देश के लिए एक 'एकल निर्वाचक नामावली' (Single Electoral Roll) और साझा मतदाता पहचान पत्र तैयार करने की सिफारिश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बार-बार होने वाले चुनावों के खर्च और आचार संहिता के कारण विकास कार्यों में आने वाली बाधाओं को दूर करने हेतु पूर्व राष्ट्रपति रामनाथ कोविंद की अध्यक्षता में 8-सदस्यीय समिति बनी थी, अतः कथन A सही है। समिति ने 18,000 से अधिक पृष्ठों की रिपोर्ट में 'एक साथ चुनाव' कराने की प्रबल सिफारिश की, अतः कथन B सही है। समिति ने दो-चरणीय मॉडल सुझाया: प्रथम चरण में आम चुनावों के साथ सभी राज्यों की विधानसभाओं के चुनाव कराना (जिसके लिए अनुच्छेद 83 व 172 में संशोधन होगा और इसके लिए राज्यों के अनुसमर्थन की आवश्यकता नहीं होगी), तथा दूसरे चरण में इसके 100 दिनों के भीतर स्थानीय निकायों के चुनाव कराना (जिसके लिए अनुच्छेद 324A जोड़ना होगा और कम से कम आधे राज्यों का अनुसमर्थन चाहिए), अतः कथन C सही है। समिति ने ECI और राज्य चुनाव आयोगों के समन्वय से एक साझा मतदाता सूची बनाने की सिफारिश की,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नए संसद भवन (New Parliament House) की स्थापत्य कला और विशेषताओं के संदर्भ में निम्नलिखित कथनों पर विचार कीजिए: A. नए संसद भवन का उद्घाटन 28 मई 2023 को प्रधानमंत्री नरेंद्र मोदी द्वारा किया गया था और इसका आकार 'त्रिकोणीय' (Triangular) है। B. नए संसद भवन के मुख्य वास्तुकार पद्मश्री 'बिमल पटेल' (HCP डिजाइन) हैं। C. लोक सभा कक्ष की आंतरिक सज्जा की थीम राष्ट्रीय पक्षी 'मोर' (Peacock) पर तथा राज्य सभा कक्ष की थीम राष्ट्रीय पुष्प 'कमल' (Lotus) पर आधारित है। D. लोक सभा अध्यक्ष के आसन के समीप पवित्र ऐतिहासिक 'सेंगोल' (Sengol - राजदंड) स्थापित किया गया है, जो सत्ता के न्यायपूर्ण हस्तांतरण का प्रतीक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सेंट्रल विस्टा पुनर्विकास परियोजना के तहत निर्मित नया संसद भवन भारत के लोकतांत्रिक गौरव और सांस्कृतिक विविधता का आधुनिक प्रतीक है। 28 मई 2023 को राष्ट्र को समर्पित यह भवन भूमि के इष्टतम उपयोग हेतु त्रिकोणीय आकार में बनाया गया है, अतः कथन A सही है। अहमदाबाद के प्रसिद्ध वास्तुकार पद्मश्री डॉ. बिमल पटेल ने इसका डिजाइन तैयार किया और इसका निर्माण टाटा प्रोजेक्ट्स लिमिटेड द्वारा किया गया, अतः कथन B सही है। लोक सभा कक्ष में 888 सदस्यों के बैठने की क्षमता है (मोर थीम) और राज्य सभा कक्ष में 384 सदस्यों की क्षमता है (कमल थीम); संयुक्त सत्र के दौरान लोक सभा हॉल में 1,272 सदस्य बैठ सकते हैं, अतः कथन C सही है। 14 अगस्त 1947 को तमिलनाडु के थिरुवदुथुराई अधीनम मठ द्वारा पंडित नेहरू को सौंपा गया चोल कालीन स्वर्ण 'सेंगोल' (राजदंड जिस पर धर्म और न्याय के प्रतीक नंदी विराजमान हैं) नए लोक सभा अध्यक्ष के आसन के बगल में स्थापित किया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368 के तहत 'संविधान संशोधन की प्रक्रिया' और मूल ढांचे के सिद्धांत के संदर्भ में निम्नलिखित कथनों पर विचार कीजिए: A. अनुच्छेद 368 संविधान में संशोधन के दो तरीके प्रदान करता है: 1. संसद के विशेष बहुमत द्वारा, और 2. संसद के विशेष बहुमत तथा कम से कम आधे राज्यों के विधानमंडलों के साधारण बहुमत से अनुसमर्थन द्वारा। B. नए राज्यों का निर्माण, नागरिकता के नियम, और विधान परिषदों का गठन जैसे संशोधन साधारण बहुमत से होते हैं और वे अनुच्छेद 368 के तहत संविधान संशोधन नहीं माने जाते। C. संविधान संशोधन विधेयक संसद के किसी भी सदन में पेश किया जा सकता है और इसके लिए राष्ट्रपति की पूर्व अनुमति की आवश्यकता नहीं होती। D. संविधान संशोधन विधेयक के संबंध में दोनों सदनों में असहमति होने पर संसद की 'संयुक्त बैठक' (Joint Sitting) का कोई प्रावधान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अफ्रीका के संविधान से प्रेरित अनुच्छेद 368 संविधान संशोधन की शक्ति और प्रक्रिया का निर्धारण करता है। अनुच्छेद 368 के तहत 2 प्रकार के संशोधन होते हैं (संसद का विशेष बहुमत तथा विशेष बहुमत + 50% राज्यों का साधारण अनुमोदन), अतः कथन A सही है। साधारण बहुमत से होने वाले बदलाव (अनुच्छेद 2, 3, 4, 169 आदि) संविधान में परिवर्तन तो करते हैं किंतु तकनीकी रूप से अनुच्छेद 368 के तहत संशोधन नहीं होते, अतः कथन B सही है। संशोधन विधेयक किसी भी सदन में मंत्री या गैर-सरकारी सदस्य द्वारा बिना राष्ट्रपति की पूर्व सहमति के लाया जा सकता है, अतः कथन C सही है। संशोधन विधेयक को दोनों सदनों द्वारा अलग-अलग विशेष बहुमत से पारित होना अनिवार्य है; यदि एक सदन अस्वीकार कर दे तो विधेयक समाप्त हो जाता है क्योंकि अनुच्छेद 108 की संयुक्त बैठक संशोधन विधेयकों पर लागू नहीं होती, अतः कथन D भी सत्य है। (24वें संशोधन 1971 के बाद राष्ट्रपति संशोधन विधेयक पर सहमति देने के लिए बाध्य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विकास में मील का पत्थर साबित हुए ऐतिहासिक वादों (Landmark Judgments) और उनके द्वारा प्रतिपादित सिद्धांतों का सही मिलान कीजिए: सूची-I (ऐतिहासिक वाद): सूची-I: A. केशवानंद भारती वाद (1973) B. मेनका गांधी वाद (1978) C. एस. आर. बोम्मई वाद (1994) D. के. एस. पुट्टास्वामी वाद (2017) सूची-II: 1. 'विधि की सम्यक प्रक्रिया' (Due Process of Law) और जीवन के अधिकार का व्यापक विस्तार 2. 'संविधान का मूल ढांचा सिद्धांत' (Basic Structure Doctrine) 3. 'निजता का अधिकार' (Right to Privacy) अनुच्छेद 21 के तहत मौलिक अधिकार 4. पंथनिरपेक्षता मूल ढांचा तथा राष्ट्रपति शासन (अनुच्छेद 356) की न्यायिक समीक्षा</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न्यायशास्त्र के चार सबसे महान निर्णय: 1. केशवानंद भारती वाद (1973): 13 न्यायाधीशों की सबसे बड़ी संविधान पीठ ने 7:6 के निर्णय से प्रतिपादित किया कि संसद संविधान के किसी भी भाग में संशोधन कर सकती है किंतु वह संविधान के 'मूल ढांचे' (Basic Structure) को नष्ट नहीं कर सकती (A-2)। 2. मेनका गांधी वाद (1978): अनुच्छेद 21 की क्रांतिकारी व्याख्या करते हुए स्थापित किया कि किसी व्यक्ति को जीवन और दैहिक स्वतंत्रता से वंचित करने वाला कानून केवल विधि द्वारा स्थापित प्रक्रिया नहीं बल्कि प्राकृतिक न्याय के सिद्धांतों के अनुरूप 'उचित, निष्पक्ष और न्यायसंगत' (Just, Fair and Reasonable) होना चाहिए (B-1)। 3. एस. आर. बोम्मई वाद (1994): संघवाद और पंथनिरपेक्षता को मूल ढांचा माना और अनुच्छेद 356 के दुरुपयोग पर रोक लगाई (C-4)। 4. के. एस. पुट्टास्वामी वाद (2017): 9 जजों की पीठ ने सर्वसम्मति से निजता के अधिकार को अनुच्छेद 21 के अंतर्गत जीवन और व्यक्तिगत स्वतंत्रता का अविभाज्य मौलिक अधिकार घोषित किया (D-3)।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प्रमुख संवैधानिक निकायों, वैधानिक आयोगों और उनसे संबंधित अनुच्छेदों/अधिनियमों का सही मिलान कीजिए: सूची-I (निकाय / आयोग): सूची-I: A. भारत का नियंत्रक एवं महालेखा परीक्षक (CAG) B. भारत का वित्त आयोग (Finance Commission) C. संघ लोक सेवा आयोग (UPSC) D. राष्ट्रीय अनुसूचित जनजाति आयोग (NCST) सूची-II: 1. अनुच्छेद 280 2. अनुच्छेद 148 3. अनुच्छेद 338A 4. अनुच्छेद 315</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सार्वजनिक वित्तीय अनुशासन और सामाजिक न्याय हेतु समर्पित स्वायत्त निकायों का प्रावधान है: 1. भारत का नियंत्रक एवं महालेखा परीक्षक (CAG): अनुच्छेद 148 से 151 तक; यह सार्वजनिक वित्त का संरक्षक और लोक लेखा समिति का मार्गदर्शक है (A-2)। 2. वित्त आयोग: अनुच्छेद 280 के तहत राष्ट्रपति द्वारा प्रत्येक 5 वर्ष में गठित एक अर्द्ध-न्यायिक निकाय जो केंद्र और राज्यों के मध्य करों के शुद्ध आगमों के वितरण की सिफारिश करता है (B-1)। 3. संघ लोक सेवा आयोग (UPSC): अनुच्छेद 315 के तहत संघ की सेवाओं में भर्ती हेतु शीर्ष निकाय (C-4)। 4. राष्ट्रीय अनुसूचित जनजाति आयोग (NCST): 89वें संविधान संशोधन अधिनियम 2003 द्वारा अनुच्छेद 338A जोड़कर पृथक संवैधानिक दर्जा दिया गया (D-3)। (इसी प्रकार 65वें संशोधन से NCSC अनुच्छेद 338 और 102वें संशोधन से NCBC अनुच्छेद 338B बना)।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