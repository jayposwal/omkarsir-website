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00.xml" ContentType="application/vnd.openxmlformats-officedocument.presentationml.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 id="658" r:id="rId404"/>
    <p:sldId id="659" r:id="rId405"/>
    <p:sldId id="660" r:id="rId406"/>
    <p:sldId id="661" r:id="rId407"/>
    <p:sldId id="662" r:id="rId408"/>
    <p:sldId id="663" r:id="rId409"/>
    <p:sldId id="664" r:id="rId410"/>
    <p:sldId id="665" r:id="rId411"/>
    <p:sldId id="666" r:id="rId412"/>
    <p:sldId id="667" r:id="rId413"/>
    <p:sldId id="668" r:id="rId414"/>
    <p:sldId id="669" r:id="rId415"/>
    <p:sldId id="670" r:id="rId416"/>
    <p:sldId id="671" r:id="rId417"/>
    <p:sldId id="672" r:id="rId418"/>
    <p:sldId id="673" r:id="rId419"/>
    <p:sldId id="674" r:id="rId420"/>
    <p:sldId id="675" r:id="rId421"/>
    <p:sldId id="676" r:id="rId422"/>
    <p:sldId id="677" r:id="rId423"/>
    <p:sldId id="678" r:id="rId424"/>
    <p:sldId id="679" r:id="rId425"/>
    <p:sldId id="680" r:id="rId426"/>
    <p:sldId id="681" r:id="rId427"/>
    <p:sldId id="682" r:id="rId428"/>
    <p:sldId id="683" r:id="rId429"/>
    <p:sldId id="684" r:id="rId430"/>
    <p:sldId id="685" r:id="rId431"/>
    <p:sldId id="686" r:id="rId432"/>
    <p:sldId id="687" r:id="rId433"/>
    <p:sldId id="688" r:id="rId434"/>
    <p:sldId id="689" r:id="rId435"/>
    <p:sldId id="690" r:id="rId436"/>
    <p:sldId id="691" r:id="rId437"/>
    <p:sldId id="692" r:id="rId438"/>
    <p:sldId id="693" r:id="rId439"/>
    <p:sldId id="694" r:id="rId440"/>
    <p:sldId id="695" r:id="rId441"/>
    <p:sldId id="696" r:id="rId442"/>
    <p:sldId id="697" r:id="rId443"/>
    <p:sldId id="698" r:id="rId444"/>
    <p:sldId id="699" r:id="rId445"/>
    <p:sldId id="700" r:id="rId446"/>
    <p:sldId id="701" r:id="rId447"/>
    <p:sldId id="702" r:id="rId448"/>
    <p:sldId id="703" r:id="rId449"/>
    <p:sldId id="704" r:id="rId450"/>
    <p:sldId id="705" r:id="rId451"/>
    <p:sldId id="706" r:id="rId452"/>
    <p:sldId id="707" r:id="rId453"/>
    <p:sldId id="708" r:id="rId454"/>
    <p:sldId id="709" r:id="rId455"/>
    <p:sldId id="710" r:id="rId456"/>
    <p:sldId id="711" r:id="rId457"/>
    <p:sldId id="712" r:id="rId458"/>
    <p:sldId id="713" r:id="rId459"/>
    <p:sldId id="714" r:id="rId460"/>
    <p:sldId id="715" r:id="rId461"/>
    <p:sldId id="716" r:id="rId462"/>
    <p:sldId id="717" r:id="rId463"/>
    <p:sldId id="718" r:id="rId464"/>
    <p:sldId id="719" r:id="rId465"/>
    <p:sldId id="720" r:id="rId466"/>
    <p:sldId id="721" r:id="rId467"/>
    <p:sldId id="722" r:id="rId468"/>
    <p:sldId id="723" r:id="rId469"/>
    <p:sldId id="724" r:id="rId470"/>
    <p:sldId id="725" r:id="rId471"/>
    <p:sldId id="726" r:id="rId472"/>
    <p:sldId id="727" r:id="rId473"/>
    <p:sldId id="728" r:id="rId474"/>
    <p:sldId id="729" r:id="rId475"/>
    <p:sldId id="730" r:id="rId476"/>
    <p:sldId id="731" r:id="rId477"/>
    <p:sldId id="732" r:id="rId478"/>
    <p:sldId id="733" r:id="rId479"/>
    <p:sldId id="734" r:id="rId480"/>
    <p:sldId id="735" r:id="rId481"/>
    <p:sldId id="736" r:id="rId482"/>
    <p:sldId id="737" r:id="rId483"/>
    <p:sldId id="738" r:id="rId484"/>
    <p:sldId id="739" r:id="rId485"/>
    <p:sldId id="740" r:id="rId486"/>
    <p:sldId id="741" r:id="rId487"/>
    <p:sldId id="742" r:id="rId488"/>
    <p:sldId id="743" r:id="rId489"/>
    <p:sldId id="744" r:id="rId490"/>
    <p:sldId id="745" r:id="rId491"/>
    <p:sldId id="746" r:id="rId492"/>
    <p:sldId id="747" r:id="rId493"/>
    <p:sldId id="748" r:id="rId494"/>
    <p:sldId id="749" r:id="rId495"/>
    <p:sldId id="750" r:id="rId496"/>
    <p:sldId id="751" r:id="rId497"/>
    <p:sldId id="752" r:id="rId498"/>
    <p:sldId id="753" r:id="rId499"/>
    <p:sldId id="754" r:id="rId500"/>
    <p:sldId id="755" r:id="rId501"/>
    <p:sldId id="756" r:id="rId502"/>
    <p:sldId id="757" r:id="rId503"/>
    <p:sldId id="758" r:id="rId504"/>
    <p:sldId id="759" r:id="rId505"/>
    <p:sldId id="760" r:id="rId506"/>
    <p:sldId id="761" r:id="rId507"/>
    <p:sldId id="762" r:id="rId508"/>
    <p:sldId id="763" r:id="rId509"/>
    <p:sldId id="764" r:id="rId510"/>
    <p:sldId id="765" r:id="rId511"/>
    <p:sldId id="766" r:id="rId512"/>
    <p:sldId id="767" r:id="rId513"/>
    <p:sldId id="768" r:id="rId514"/>
    <p:sldId id="769" r:id="rId515"/>
    <p:sldId id="770" r:id="rId516"/>
    <p:sldId id="771" r:id="rId517"/>
    <p:sldId id="772" r:id="rId518"/>
    <p:sldId id="773" r:id="rId519"/>
    <p:sldId id="774" r:id="rId520"/>
    <p:sldId id="775" r:id="rId521"/>
    <p:sldId id="776" r:id="rId522"/>
    <p:sldId id="777" r:id="rId523"/>
    <p:sldId id="778" r:id="rId524"/>
    <p:sldId id="779" r:id="rId525"/>
    <p:sldId id="780" r:id="rId526"/>
    <p:sldId id="781" r:id="rId527"/>
    <p:sldId id="782" r:id="rId528"/>
    <p:sldId id="783" r:id="rId529"/>
    <p:sldId id="784" r:id="rId530"/>
    <p:sldId id="785" r:id="rId531"/>
    <p:sldId id="786" r:id="rId532"/>
    <p:sldId id="787" r:id="rId533"/>
    <p:sldId id="788" r:id="rId534"/>
    <p:sldId id="789" r:id="rId535"/>
    <p:sldId id="790" r:id="rId536"/>
    <p:sldId id="791" r:id="rId537"/>
    <p:sldId id="792" r:id="rId538"/>
    <p:sldId id="793" r:id="rId539"/>
    <p:sldId id="794" r:id="rId540"/>
    <p:sldId id="795" r:id="rId541"/>
    <p:sldId id="796" r:id="rId542"/>
    <p:sldId id="797" r:id="rId543"/>
    <p:sldId id="798" r:id="rId544"/>
    <p:sldId id="799" r:id="rId545"/>
    <p:sldId id="800" r:id="rId546"/>
    <p:sldId id="801" r:id="rId547"/>
    <p:sldId id="802" r:id="rId548"/>
    <p:sldId id="803" r:id="rId549"/>
    <p:sldId id="804" r:id="rId550"/>
    <p:sldId id="805" r:id="rId551"/>
    <p:sldId id="806" r:id="rId552"/>
    <p:sldId id="807" r:id="rId553"/>
    <p:sldId id="808" r:id="rId554"/>
    <p:sldId id="809" r:id="rId555"/>
    <p:sldId id="810" r:id="rId556"/>
    <p:sldId id="811" r:id="rId557"/>
    <p:sldId id="812" r:id="rId558"/>
    <p:sldId id="813" r:id="rId559"/>
    <p:sldId id="814" r:id="rId560"/>
    <p:sldId id="815" r:id="rId561"/>
    <p:sldId id="816" r:id="rId562"/>
    <p:sldId id="817" r:id="rId563"/>
    <p:sldId id="818" r:id="rId564"/>
    <p:sldId id="819" r:id="rId565"/>
    <p:sldId id="820" r:id="rId566"/>
    <p:sldId id="821" r:id="rId567"/>
    <p:sldId id="822" r:id="rId568"/>
    <p:sldId id="823" r:id="rId569"/>
    <p:sldId id="824" r:id="rId570"/>
    <p:sldId id="825" r:id="rId571"/>
    <p:sldId id="826" r:id="rId572"/>
    <p:sldId id="827" r:id="rId573"/>
    <p:sldId id="828" r:id="rId574"/>
    <p:sldId id="829" r:id="rId575"/>
    <p:sldId id="830" r:id="rId576"/>
    <p:sldId id="831" r:id="rId577"/>
    <p:sldId id="832" r:id="rId578"/>
    <p:sldId id="833" r:id="rId579"/>
    <p:sldId id="834" r:id="rId580"/>
    <p:sldId id="835" r:id="rId581"/>
    <p:sldId id="836" r:id="rId582"/>
    <p:sldId id="837" r:id="rId583"/>
    <p:sldId id="838" r:id="rId584"/>
    <p:sldId id="839" r:id="rId585"/>
    <p:sldId id="840" r:id="rId586"/>
    <p:sldId id="841" r:id="rId587"/>
    <p:sldId id="842" r:id="rId588"/>
    <p:sldId id="843" r:id="rId589"/>
    <p:sldId id="844" r:id="rId590"/>
    <p:sldId id="845" r:id="rId591"/>
    <p:sldId id="846" r:id="rId592"/>
    <p:sldId id="847" r:id="rId593"/>
    <p:sldId id="848" r:id="rId594"/>
    <p:sldId id="849" r:id="rId595"/>
    <p:sldId id="850" r:id="rId596"/>
    <p:sldId id="851" r:id="rId597"/>
    <p:sldId id="852" r:id="rId598"/>
    <p:sldId id="853" r:id="rId599"/>
    <p:sldId id="854" r:id="rId600"/>
    <p:sldId id="855" r:id="rId601"/>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04" Type="http://schemas.openxmlformats.org/officeDocument/2006/relationships/slide" Target="slides/slide203.xml"/><Relationship Id="rId205" Type="http://schemas.openxmlformats.org/officeDocument/2006/relationships/slide" Target="slides/slide204.xml"/><Relationship Id="rId206" Type="http://schemas.openxmlformats.org/officeDocument/2006/relationships/slide" Target="slides/slide205.xml"/><Relationship Id="rId207" Type="http://schemas.openxmlformats.org/officeDocument/2006/relationships/slide" Target="slides/slide206.xml"/><Relationship Id="rId208" Type="http://schemas.openxmlformats.org/officeDocument/2006/relationships/slide" Target="slides/slide207.xml"/><Relationship Id="rId209" Type="http://schemas.openxmlformats.org/officeDocument/2006/relationships/slide" Target="slides/slide208.xml"/><Relationship Id="rId210" Type="http://schemas.openxmlformats.org/officeDocument/2006/relationships/slide" Target="slides/slide209.xml"/><Relationship Id="rId211" Type="http://schemas.openxmlformats.org/officeDocument/2006/relationships/slide" Target="slides/slide210.xml"/><Relationship Id="rId212" Type="http://schemas.openxmlformats.org/officeDocument/2006/relationships/slide" Target="slides/slide211.xml"/><Relationship Id="rId213" Type="http://schemas.openxmlformats.org/officeDocument/2006/relationships/slide" Target="slides/slide212.xml"/><Relationship Id="rId214" Type="http://schemas.openxmlformats.org/officeDocument/2006/relationships/slide" Target="slides/slide213.xml"/><Relationship Id="rId215" Type="http://schemas.openxmlformats.org/officeDocument/2006/relationships/slide" Target="slides/slide214.xml"/><Relationship Id="rId216" Type="http://schemas.openxmlformats.org/officeDocument/2006/relationships/slide" Target="slides/slide215.xml"/><Relationship Id="rId217" Type="http://schemas.openxmlformats.org/officeDocument/2006/relationships/slide" Target="slides/slide216.xml"/><Relationship Id="rId218" Type="http://schemas.openxmlformats.org/officeDocument/2006/relationships/slide" Target="slides/slide217.xml"/><Relationship Id="rId219" Type="http://schemas.openxmlformats.org/officeDocument/2006/relationships/slide" Target="slides/slide218.xml"/><Relationship Id="rId220" Type="http://schemas.openxmlformats.org/officeDocument/2006/relationships/slide" Target="slides/slide219.xml"/><Relationship Id="rId221" Type="http://schemas.openxmlformats.org/officeDocument/2006/relationships/slide" Target="slides/slide220.xml"/><Relationship Id="rId222" Type="http://schemas.openxmlformats.org/officeDocument/2006/relationships/slide" Target="slides/slide221.xml"/><Relationship Id="rId223" Type="http://schemas.openxmlformats.org/officeDocument/2006/relationships/slide" Target="slides/slide222.xml"/><Relationship Id="rId224" Type="http://schemas.openxmlformats.org/officeDocument/2006/relationships/slide" Target="slides/slide223.xml"/><Relationship Id="rId225" Type="http://schemas.openxmlformats.org/officeDocument/2006/relationships/slide" Target="slides/slide224.xml"/><Relationship Id="rId226" Type="http://schemas.openxmlformats.org/officeDocument/2006/relationships/slide" Target="slides/slide225.xml"/><Relationship Id="rId227" Type="http://schemas.openxmlformats.org/officeDocument/2006/relationships/slide" Target="slides/slide226.xml"/><Relationship Id="rId228" Type="http://schemas.openxmlformats.org/officeDocument/2006/relationships/slide" Target="slides/slide227.xml"/><Relationship Id="rId229" Type="http://schemas.openxmlformats.org/officeDocument/2006/relationships/slide" Target="slides/slide228.xml"/><Relationship Id="rId230" Type="http://schemas.openxmlformats.org/officeDocument/2006/relationships/slide" Target="slides/slide229.xml"/><Relationship Id="rId231" Type="http://schemas.openxmlformats.org/officeDocument/2006/relationships/slide" Target="slides/slide230.xml"/><Relationship Id="rId232" Type="http://schemas.openxmlformats.org/officeDocument/2006/relationships/slide" Target="slides/slide231.xml"/><Relationship Id="rId233" Type="http://schemas.openxmlformats.org/officeDocument/2006/relationships/slide" Target="slides/slide232.xml"/><Relationship Id="rId234" Type="http://schemas.openxmlformats.org/officeDocument/2006/relationships/slide" Target="slides/slide233.xml"/><Relationship Id="rId235" Type="http://schemas.openxmlformats.org/officeDocument/2006/relationships/slide" Target="slides/slide234.xml"/><Relationship Id="rId236" Type="http://schemas.openxmlformats.org/officeDocument/2006/relationships/slide" Target="slides/slide235.xml"/><Relationship Id="rId237" Type="http://schemas.openxmlformats.org/officeDocument/2006/relationships/slide" Target="slides/slide236.xml"/><Relationship Id="rId238" Type="http://schemas.openxmlformats.org/officeDocument/2006/relationships/slide" Target="slides/slide237.xml"/><Relationship Id="rId239" Type="http://schemas.openxmlformats.org/officeDocument/2006/relationships/slide" Target="slides/slide238.xml"/><Relationship Id="rId240" Type="http://schemas.openxmlformats.org/officeDocument/2006/relationships/slide" Target="slides/slide239.xml"/><Relationship Id="rId241" Type="http://schemas.openxmlformats.org/officeDocument/2006/relationships/slide" Target="slides/slide240.xml"/><Relationship Id="rId242" Type="http://schemas.openxmlformats.org/officeDocument/2006/relationships/slide" Target="slides/slide241.xml"/><Relationship Id="rId243" Type="http://schemas.openxmlformats.org/officeDocument/2006/relationships/slide" Target="slides/slide242.xml"/><Relationship Id="rId244" Type="http://schemas.openxmlformats.org/officeDocument/2006/relationships/slide" Target="slides/slide243.xml"/><Relationship Id="rId245" Type="http://schemas.openxmlformats.org/officeDocument/2006/relationships/slide" Target="slides/slide244.xml"/><Relationship Id="rId246" Type="http://schemas.openxmlformats.org/officeDocument/2006/relationships/slide" Target="slides/slide245.xml"/><Relationship Id="rId247" Type="http://schemas.openxmlformats.org/officeDocument/2006/relationships/slide" Target="slides/slide246.xml"/><Relationship Id="rId248" Type="http://schemas.openxmlformats.org/officeDocument/2006/relationships/slide" Target="slides/slide247.xml"/><Relationship Id="rId249" Type="http://schemas.openxmlformats.org/officeDocument/2006/relationships/slide" Target="slides/slide248.xml"/><Relationship Id="rId250" Type="http://schemas.openxmlformats.org/officeDocument/2006/relationships/slide" Target="slides/slide249.xml"/><Relationship Id="rId251" Type="http://schemas.openxmlformats.org/officeDocument/2006/relationships/slide" Target="slides/slide250.xml"/><Relationship Id="rId252" Type="http://schemas.openxmlformats.org/officeDocument/2006/relationships/slide" Target="slides/slide251.xml"/><Relationship Id="rId253" Type="http://schemas.openxmlformats.org/officeDocument/2006/relationships/slide" Target="slides/slide252.xml"/><Relationship Id="rId254" Type="http://schemas.openxmlformats.org/officeDocument/2006/relationships/slide" Target="slides/slide253.xml"/><Relationship Id="rId255" Type="http://schemas.openxmlformats.org/officeDocument/2006/relationships/slide" Target="slides/slide254.xml"/><Relationship Id="rId256" Type="http://schemas.openxmlformats.org/officeDocument/2006/relationships/slide" Target="slides/slide255.xml"/><Relationship Id="rId257" Type="http://schemas.openxmlformats.org/officeDocument/2006/relationships/slide" Target="slides/slide256.xml"/><Relationship Id="rId258" Type="http://schemas.openxmlformats.org/officeDocument/2006/relationships/slide" Target="slides/slide257.xml"/><Relationship Id="rId259" Type="http://schemas.openxmlformats.org/officeDocument/2006/relationships/slide" Target="slides/slide258.xml"/><Relationship Id="rId260" Type="http://schemas.openxmlformats.org/officeDocument/2006/relationships/slide" Target="slides/slide259.xml"/><Relationship Id="rId261" Type="http://schemas.openxmlformats.org/officeDocument/2006/relationships/slide" Target="slides/slide260.xml"/><Relationship Id="rId262" Type="http://schemas.openxmlformats.org/officeDocument/2006/relationships/slide" Target="slides/slide261.xml"/><Relationship Id="rId263" Type="http://schemas.openxmlformats.org/officeDocument/2006/relationships/slide" Target="slides/slide262.xml"/><Relationship Id="rId264" Type="http://schemas.openxmlformats.org/officeDocument/2006/relationships/slide" Target="slides/slide263.xml"/><Relationship Id="rId265" Type="http://schemas.openxmlformats.org/officeDocument/2006/relationships/slide" Target="slides/slide264.xml"/><Relationship Id="rId266" Type="http://schemas.openxmlformats.org/officeDocument/2006/relationships/slide" Target="slides/slide265.xml"/><Relationship Id="rId267" Type="http://schemas.openxmlformats.org/officeDocument/2006/relationships/slide" Target="slides/slide266.xml"/><Relationship Id="rId268" Type="http://schemas.openxmlformats.org/officeDocument/2006/relationships/slide" Target="slides/slide267.xml"/><Relationship Id="rId269" Type="http://schemas.openxmlformats.org/officeDocument/2006/relationships/slide" Target="slides/slide268.xml"/><Relationship Id="rId270" Type="http://schemas.openxmlformats.org/officeDocument/2006/relationships/slide" Target="slides/slide269.xml"/><Relationship Id="rId271" Type="http://schemas.openxmlformats.org/officeDocument/2006/relationships/slide" Target="slides/slide270.xml"/><Relationship Id="rId272" Type="http://schemas.openxmlformats.org/officeDocument/2006/relationships/slide" Target="slides/slide271.xml"/><Relationship Id="rId273" Type="http://schemas.openxmlformats.org/officeDocument/2006/relationships/slide" Target="slides/slide272.xml"/><Relationship Id="rId274" Type="http://schemas.openxmlformats.org/officeDocument/2006/relationships/slide" Target="slides/slide273.xml"/><Relationship Id="rId275" Type="http://schemas.openxmlformats.org/officeDocument/2006/relationships/slide" Target="slides/slide274.xml"/><Relationship Id="rId276" Type="http://schemas.openxmlformats.org/officeDocument/2006/relationships/slide" Target="slides/slide275.xml"/><Relationship Id="rId277" Type="http://schemas.openxmlformats.org/officeDocument/2006/relationships/slide" Target="slides/slide276.xml"/><Relationship Id="rId278" Type="http://schemas.openxmlformats.org/officeDocument/2006/relationships/slide" Target="slides/slide277.xml"/><Relationship Id="rId279" Type="http://schemas.openxmlformats.org/officeDocument/2006/relationships/slide" Target="slides/slide278.xml"/><Relationship Id="rId280" Type="http://schemas.openxmlformats.org/officeDocument/2006/relationships/slide" Target="slides/slide279.xml"/><Relationship Id="rId281" Type="http://schemas.openxmlformats.org/officeDocument/2006/relationships/slide" Target="slides/slide280.xml"/><Relationship Id="rId282" Type="http://schemas.openxmlformats.org/officeDocument/2006/relationships/slide" Target="slides/slide281.xml"/><Relationship Id="rId283" Type="http://schemas.openxmlformats.org/officeDocument/2006/relationships/slide" Target="slides/slide282.xml"/><Relationship Id="rId284" Type="http://schemas.openxmlformats.org/officeDocument/2006/relationships/slide" Target="slides/slide283.xml"/><Relationship Id="rId285" Type="http://schemas.openxmlformats.org/officeDocument/2006/relationships/slide" Target="slides/slide284.xml"/><Relationship Id="rId286" Type="http://schemas.openxmlformats.org/officeDocument/2006/relationships/slide" Target="slides/slide285.xml"/><Relationship Id="rId287" Type="http://schemas.openxmlformats.org/officeDocument/2006/relationships/slide" Target="slides/slide286.xml"/><Relationship Id="rId288" Type="http://schemas.openxmlformats.org/officeDocument/2006/relationships/slide" Target="slides/slide287.xml"/><Relationship Id="rId289" Type="http://schemas.openxmlformats.org/officeDocument/2006/relationships/slide" Target="slides/slide288.xml"/><Relationship Id="rId290" Type="http://schemas.openxmlformats.org/officeDocument/2006/relationships/slide" Target="slides/slide289.xml"/><Relationship Id="rId291" Type="http://schemas.openxmlformats.org/officeDocument/2006/relationships/slide" Target="slides/slide290.xml"/><Relationship Id="rId292" Type="http://schemas.openxmlformats.org/officeDocument/2006/relationships/slide" Target="slides/slide291.xml"/><Relationship Id="rId293" Type="http://schemas.openxmlformats.org/officeDocument/2006/relationships/slide" Target="slides/slide292.xml"/><Relationship Id="rId294" Type="http://schemas.openxmlformats.org/officeDocument/2006/relationships/slide" Target="slides/slide293.xml"/><Relationship Id="rId295" Type="http://schemas.openxmlformats.org/officeDocument/2006/relationships/slide" Target="slides/slide294.xml"/><Relationship Id="rId296" Type="http://schemas.openxmlformats.org/officeDocument/2006/relationships/slide" Target="slides/slide295.xml"/><Relationship Id="rId297" Type="http://schemas.openxmlformats.org/officeDocument/2006/relationships/slide" Target="slides/slide296.xml"/><Relationship Id="rId298" Type="http://schemas.openxmlformats.org/officeDocument/2006/relationships/slide" Target="slides/slide297.xml"/><Relationship Id="rId299" Type="http://schemas.openxmlformats.org/officeDocument/2006/relationships/slide" Target="slides/slide298.xml"/><Relationship Id="rId300" Type="http://schemas.openxmlformats.org/officeDocument/2006/relationships/slide" Target="slides/slide299.xml"/><Relationship Id="rId301" Type="http://schemas.openxmlformats.org/officeDocument/2006/relationships/slide" Target="slides/slide300.xml"/><Relationship Id="rId302" Type="http://schemas.openxmlformats.org/officeDocument/2006/relationships/slide" Target="slides/slide301.xml"/><Relationship Id="rId303" Type="http://schemas.openxmlformats.org/officeDocument/2006/relationships/slide" Target="slides/slide302.xml"/><Relationship Id="rId304" Type="http://schemas.openxmlformats.org/officeDocument/2006/relationships/slide" Target="slides/slide303.xml"/><Relationship Id="rId305" Type="http://schemas.openxmlformats.org/officeDocument/2006/relationships/slide" Target="slides/slide304.xml"/><Relationship Id="rId306" Type="http://schemas.openxmlformats.org/officeDocument/2006/relationships/slide" Target="slides/slide305.xml"/><Relationship Id="rId307" Type="http://schemas.openxmlformats.org/officeDocument/2006/relationships/slide" Target="slides/slide306.xml"/><Relationship Id="rId308" Type="http://schemas.openxmlformats.org/officeDocument/2006/relationships/slide" Target="slides/slide307.xml"/><Relationship Id="rId309" Type="http://schemas.openxmlformats.org/officeDocument/2006/relationships/slide" Target="slides/slide308.xml"/><Relationship Id="rId310" Type="http://schemas.openxmlformats.org/officeDocument/2006/relationships/slide" Target="slides/slide309.xml"/><Relationship Id="rId311" Type="http://schemas.openxmlformats.org/officeDocument/2006/relationships/slide" Target="slides/slide310.xml"/><Relationship Id="rId312" Type="http://schemas.openxmlformats.org/officeDocument/2006/relationships/slide" Target="slides/slide311.xml"/><Relationship Id="rId313" Type="http://schemas.openxmlformats.org/officeDocument/2006/relationships/slide" Target="slides/slide312.xml"/><Relationship Id="rId314" Type="http://schemas.openxmlformats.org/officeDocument/2006/relationships/slide" Target="slides/slide313.xml"/><Relationship Id="rId315" Type="http://schemas.openxmlformats.org/officeDocument/2006/relationships/slide" Target="slides/slide314.xml"/><Relationship Id="rId316" Type="http://schemas.openxmlformats.org/officeDocument/2006/relationships/slide" Target="slides/slide315.xml"/><Relationship Id="rId317" Type="http://schemas.openxmlformats.org/officeDocument/2006/relationships/slide" Target="slides/slide316.xml"/><Relationship Id="rId318" Type="http://schemas.openxmlformats.org/officeDocument/2006/relationships/slide" Target="slides/slide317.xml"/><Relationship Id="rId319" Type="http://schemas.openxmlformats.org/officeDocument/2006/relationships/slide" Target="slides/slide318.xml"/><Relationship Id="rId320" Type="http://schemas.openxmlformats.org/officeDocument/2006/relationships/slide" Target="slides/slide319.xml"/><Relationship Id="rId321" Type="http://schemas.openxmlformats.org/officeDocument/2006/relationships/slide" Target="slides/slide320.xml"/><Relationship Id="rId322" Type="http://schemas.openxmlformats.org/officeDocument/2006/relationships/slide" Target="slides/slide321.xml"/><Relationship Id="rId323" Type="http://schemas.openxmlformats.org/officeDocument/2006/relationships/slide" Target="slides/slide322.xml"/><Relationship Id="rId324" Type="http://schemas.openxmlformats.org/officeDocument/2006/relationships/slide" Target="slides/slide323.xml"/><Relationship Id="rId325" Type="http://schemas.openxmlformats.org/officeDocument/2006/relationships/slide" Target="slides/slide324.xml"/><Relationship Id="rId326" Type="http://schemas.openxmlformats.org/officeDocument/2006/relationships/slide" Target="slides/slide325.xml"/><Relationship Id="rId327" Type="http://schemas.openxmlformats.org/officeDocument/2006/relationships/slide" Target="slides/slide326.xml"/><Relationship Id="rId328" Type="http://schemas.openxmlformats.org/officeDocument/2006/relationships/slide" Target="slides/slide327.xml"/><Relationship Id="rId329" Type="http://schemas.openxmlformats.org/officeDocument/2006/relationships/slide" Target="slides/slide328.xml"/><Relationship Id="rId330" Type="http://schemas.openxmlformats.org/officeDocument/2006/relationships/slide" Target="slides/slide329.xml"/><Relationship Id="rId331" Type="http://schemas.openxmlformats.org/officeDocument/2006/relationships/slide" Target="slides/slide330.xml"/><Relationship Id="rId332" Type="http://schemas.openxmlformats.org/officeDocument/2006/relationships/slide" Target="slides/slide331.xml"/><Relationship Id="rId333" Type="http://schemas.openxmlformats.org/officeDocument/2006/relationships/slide" Target="slides/slide332.xml"/><Relationship Id="rId334" Type="http://schemas.openxmlformats.org/officeDocument/2006/relationships/slide" Target="slides/slide333.xml"/><Relationship Id="rId335" Type="http://schemas.openxmlformats.org/officeDocument/2006/relationships/slide" Target="slides/slide334.xml"/><Relationship Id="rId336" Type="http://schemas.openxmlformats.org/officeDocument/2006/relationships/slide" Target="slides/slide335.xml"/><Relationship Id="rId337" Type="http://schemas.openxmlformats.org/officeDocument/2006/relationships/slide" Target="slides/slide336.xml"/><Relationship Id="rId338" Type="http://schemas.openxmlformats.org/officeDocument/2006/relationships/slide" Target="slides/slide337.xml"/><Relationship Id="rId339" Type="http://schemas.openxmlformats.org/officeDocument/2006/relationships/slide" Target="slides/slide338.xml"/><Relationship Id="rId340" Type="http://schemas.openxmlformats.org/officeDocument/2006/relationships/slide" Target="slides/slide339.xml"/><Relationship Id="rId341" Type="http://schemas.openxmlformats.org/officeDocument/2006/relationships/slide" Target="slides/slide340.xml"/><Relationship Id="rId342" Type="http://schemas.openxmlformats.org/officeDocument/2006/relationships/slide" Target="slides/slide341.xml"/><Relationship Id="rId343" Type="http://schemas.openxmlformats.org/officeDocument/2006/relationships/slide" Target="slides/slide342.xml"/><Relationship Id="rId344" Type="http://schemas.openxmlformats.org/officeDocument/2006/relationships/slide" Target="slides/slide343.xml"/><Relationship Id="rId345" Type="http://schemas.openxmlformats.org/officeDocument/2006/relationships/slide" Target="slides/slide344.xml"/><Relationship Id="rId346" Type="http://schemas.openxmlformats.org/officeDocument/2006/relationships/slide" Target="slides/slide345.xml"/><Relationship Id="rId347" Type="http://schemas.openxmlformats.org/officeDocument/2006/relationships/slide" Target="slides/slide346.xml"/><Relationship Id="rId348" Type="http://schemas.openxmlformats.org/officeDocument/2006/relationships/slide" Target="slides/slide347.xml"/><Relationship Id="rId349" Type="http://schemas.openxmlformats.org/officeDocument/2006/relationships/slide" Target="slides/slide348.xml"/><Relationship Id="rId350" Type="http://schemas.openxmlformats.org/officeDocument/2006/relationships/slide" Target="slides/slide349.xml"/><Relationship Id="rId351" Type="http://schemas.openxmlformats.org/officeDocument/2006/relationships/slide" Target="slides/slide350.xml"/><Relationship Id="rId352" Type="http://schemas.openxmlformats.org/officeDocument/2006/relationships/slide" Target="slides/slide351.xml"/><Relationship Id="rId353" Type="http://schemas.openxmlformats.org/officeDocument/2006/relationships/slide" Target="slides/slide352.xml"/><Relationship Id="rId354" Type="http://schemas.openxmlformats.org/officeDocument/2006/relationships/slide" Target="slides/slide353.xml"/><Relationship Id="rId355" Type="http://schemas.openxmlformats.org/officeDocument/2006/relationships/slide" Target="slides/slide354.xml"/><Relationship Id="rId356" Type="http://schemas.openxmlformats.org/officeDocument/2006/relationships/slide" Target="slides/slide355.xml"/><Relationship Id="rId357" Type="http://schemas.openxmlformats.org/officeDocument/2006/relationships/slide" Target="slides/slide356.xml"/><Relationship Id="rId358" Type="http://schemas.openxmlformats.org/officeDocument/2006/relationships/slide" Target="slides/slide357.xml"/><Relationship Id="rId359" Type="http://schemas.openxmlformats.org/officeDocument/2006/relationships/slide" Target="slides/slide358.xml"/><Relationship Id="rId360" Type="http://schemas.openxmlformats.org/officeDocument/2006/relationships/slide" Target="slides/slide359.xml"/><Relationship Id="rId361" Type="http://schemas.openxmlformats.org/officeDocument/2006/relationships/slide" Target="slides/slide360.xml"/><Relationship Id="rId362" Type="http://schemas.openxmlformats.org/officeDocument/2006/relationships/slide" Target="slides/slide361.xml"/><Relationship Id="rId363" Type="http://schemas.openxmlformats.org/officeDocument/2006/relationships/slide" Target="slides/slide362.xml"/><Relationship Id="rId364" Type="http://schemas.openxmlformats.org/officeDocument/2006/relationships/slide" Target="slides/slide363.xml"/><Relationship Id="rId365" Type="http://schemas.openxmlformats.org/officeDocument/2006/relationships/slide" Target="slides/slide364.xml"/><Relationship Id="rId366" Type="http://schemas.openxmlformats.org/officeDocument/2006/relationships/slide" Target="slides/slide365.xml"/><Relationship Id="rId367" Type="http://schemas.openxmlformats.org/officeDocument/2006/relationships/slide" Target="slides/slide366.xml"/><Relationship Id="rId368" Type="http://schemas.openxmlformats.org/officeDocument/2006/relationships/slide" Target="slides/slide367.xml"/><Relationship Id="rId369" Type="http://schemas.openxmlformats.org/officeDocument/2006/relationships/slide" Target="slides/slide368.xml"/><Relationship Id="rId370" Type="http://schemas.openxmlformats.org/officeDocument/2006/relationships/slide" Target="slides/slide369.xml"/><Relationship Id="rId371" Type="http://schemas.openxmlformats.org/officeDocument/2006/relationships/slide" Target="slides/slide370.xml"/><Relationship Id="rId372" Type="http://schemas.openxmlformats.org/officeDocument/2006/relationships/slide" Target="slides/slide371.xml"/><Relationship Id="rId373" Type="http://schemas.openxmlformats.org/officeDocument/2006/relationships/slide" Target="slides/slide372.xml"/><Relationship Id="rId374" Type="http://schemas.openxmlformats.org/officeDocument/2006/relationships/slide" Target="slides/slide373.xml"/><Relationship Id="rId375" Type="http://schemas.openxmlformats.org/officeDocument/2006/relationships/slide" Target="slides/slide374.xml"/><Relationship Id="rId376" Type="http://schemas.openxmlformats.org/officeDocument/2006/relationships/slide" Target="slides/slide375.xml"/><Relationship Id="rId377" Type="http://schemas.openxmlformats.org/officeDocument/2006/relationships/slide" Target="slides/slide376.xml"/><Relationship Id="rId378" Type="http://schemas.openxmlformats.org/officeDocument/2006/relationships/slide" Target="slides/slide377.xml"/><Relationship Id="rId379" Type="http://schemas.openxmlformats.org/officeDocument/2006/relationships/slide" Target="slides/slide378.xml"/><Relationship Id="rId380" Type="http://schemas.openxmlformats.org/officeDocument/2006/relationships/slide" Target="slides/slide379.xml"/><Relationship Id="rId381" Type="http://schemas.openxmlformats.org/officeDocument/2006/relationships/slide" Target="slides/slide380.xml"/><Relationship Id="rId382" Type="http://schemas.openxmlformats.org/officeDocument/2006/relationships/slide" Target="slides/slide381.xml"/><Relationship Id="rId383" Type="http://schemas.openxmlformats.org/officeDocument/2006/relationships/slide" Target="slides/slide382.xml"/><Relationship Id="rId384" Type="http://schemas.openxmlformats.org/officeDocument/2006/relationships/slide" Target="slides/slide383.xml"/><Relationship Id="rId385" Type="http://schemas.openxmlformats.org/officeDocument/2006/relationships/slide" Target="slides/slide384.xml"/><Relationship Id="rId386" Type="http://schemas.openxmlformats.org/officeDocument/2006/relationships/slide" Target="slides/slide385.xml"/><Relationship Id="rId387" Type="http://schemas.openxmlformats.org/officeDocument/2006/relationships/slide" Target="slides/slide386.xml"/><Relationship Id="rId388" Type="http://schemas.openxmlformats.org/officeDocument/2006/relationships/slide" Target="slides/slide387.xml"/><Relationship Id="rId389" Type="http://schemas.openxmlformats.org/officeDocument/2006/relationships/slide" Target="slides/slide388.xml"/><Relationship Id="rId390" Type="http://schemas.openxmlformats.org/officeDocument/2006/relationships/slide" Target="slides/slide389.xml"/><Relationship Id="rId391" Type="http://schemas.openxmlformats.org/officeDocument/2006/relationships/slide" Target="slides/slide390.xml"/><Relationship Id="rId392" Type="http://schemas.openxmlformats.org/officeDocument/2006/relationships/slide" Target="slides/slide391.xml"/><Relationship Id="rId393" Type="http://schemas.openxmlformats.org/officeDocument/2006/relationships/slide" Target="slides/slide392.xml"/><Relationship Id="rId394" Type="http://schemas.openxmlformats.org/officeDocument/2006/relationships/slide" Target="slides/slide393.xml"/><Relationship Id="rId395" Type="http://schemas.openxmlformats.org/officeDocument/2006/relationships/slide" Target="slides/slide394.xml"/><Relationship Id="rId396" Type="http://schemas.openxmlformats.org/officeDocument/2006/relationships/slide" Target="slides/slide395.xml"/><Relationship Id="rId397" Type="http://schemas.openxmlformats.org/officeDocument/2006/relationships/slide" Target="slides/slide396.xml"/><Relationship Id="rId398" Type="http://schemas.openxmlformats.org/officeDocument/2006/relationships/slide" Target="slides/slide397.xml"/><Relationship Id="rId399" Type="http://schemas.openxmlformats.org/officeDocument/2006/relationships/slide" Target="slides/slide398.xml"/><Relationship Id="rId400" Type="http://schemas.openxmlformats.org/officeDocument/2006/relationships/slide" Target="slides/slide399.xml"/><Relationship Id="rId401" Type="http://schemas.openxmlformats.org/officeDocument/2006/relationships/slide" Target="slides/slide400.xml"/><Relationship Id="rId402" Type="http://schemas.openxmlformats.org/officeDocument/2006/relationships/slide" Target="slides/slide401.xml"/><Relationship Id="rId403" Type="http://schemas.openxmlformats.org/officeDocument/2006/relationships/slide" Target="slides/slide402.xml"/><Relationship Id="rId404" Type="http://schemas.openxmlformats.org/officeDocument/2006/relationships/slide" Target="slides/slide403.xml"/><Relationship Id="rId405" Type="http://schemas.openxmlformats.org/officeDocument/2006/relationships/slide" Target="slides/slide404.xml"/><Relationship Id="rId406" Type="http://schemas.openxmlformats.org/officeDocument/2006/relationships/slide" Target="slides/slide405.xml"/><Relationship Id="rId407" Type="http://schemas.openxmlformats.org/officeDocument/2006/relationships/slide" Target="slides/slide406.xml"/><Relationship Id="rId408" Type="http://schemas.openxmlformats.org/officeDocument/2006/relationships/slide" Target="slides/slide407.xml"/><Relationship Id="rId409" Type="http://schemas.openxmlformats.org/officeDocument/2006/relationships/slide" Target="slides/slide408.xml"/><Relationship Id="rId410" Type="http://schemas.openxmlformats.org/officeDocument/2006/relationships/slide" Target="slides/slide409.xml"/><Relationship Id="rId411" Type="http://schemas.openxmlformats.org/officeDocument/2006/relationships/slide" Target="slides/slide410.xml"/><Relationship Id="rId412" Type="http://schemas.openxmlformats.org/officeDocument/2006/relationships/slide" Target="slides/slide411.xml"/><Relationship Id="rId413" Type="http://schemas.openxmlformats.org/officeDocument/2006/relationships/slide" Target="slides/slide412.xml"/><Relationship Id="rId414" Type="http://schemas.openxmlformats.org/officeDocument/2006/relationships/slide" Target="slides/slide413.xml"/><Relationship Id="rId415" Type="http://schemas.openxmlformats.org/officeDocument/2006/relationships/slide" Target="slides/slide414.xml"/><Relationship Id="rId416" Type="http://schemas.openxmlformats.org/officeDocument/2006/relationships/slide" Target="slides/slide415.xml"/><Relationship Id="rId417" Type="http://schemas.openxmlformats.org/officeDocument/2006/relationships/slide" Target="slides/slide416.xml"/><Relationship Id="rId418" Type="http://schemas.openxmlformats.org/officeDocument/2006/relationships/slide" Target="slides/slide417.xml"/><Relationship Id="rId419" Type="http://schemas.openxmlformats.org/officeDocument/2006/relationships/slide" Target="slides/slide418.xml"/><Relationship Id="rId420" Type="http://schemas.openxmlformats.org/officeDocument/2006/relationships/slide" Target="slides/slide419.xml"/><Relationship Id="rId421" Type="http://schemas.openxmlformats.org/officeDocument/2006/relationships/slide" Target="slides/slide420.xml"/><Relationship Id="rId422" Type="http://schemas.openxmlformats.org/officeDocument/2006/relationships/slide" Target="slides/slide421.xml"/><Relationship Id="rId423" Type="http://schemas.openxmlformats.org/officeDocument/2006/relationships/slide" Target="slides/slide422.xml"/><Relationship Id="rId424" Type="http://schemas.openxmlformats.org/officeDocument/2006/relationships/slide" Target="slides/slide423.xml"/><Relationship Id="rId425" Type="http://schemas.openxmlformats.org/officeDocument/2006/relationships/slide" Target="slides/slide424.xml"/><Relationship Id="rId426" Type="http://schemas.openxmlformats.org/officeDocument/2006/relationships/slide" Target="slides/slide425.xml"/><Relationship Id="rId427" Type="http://schemas.openxmlformats.org/officeDocument/2006/relationships/slide" Target="slides/slide426.xml"/><Relationship Id="rId428" Type="http://schemas.openxmlformats.org/officeDocument/2006/relationships/slide" Target="slides/slide427.xml"/><Relationship Id="rId429" Type="http://schemas.openxmlformats.org/officeDocument/2006/relationships/slide" Target="slides/slide428.xml"/><Relationship Id="rId430" Type="http://schemas.openxmlformats.org/officeDocument/2006/relationships/slide" Target="slides/slide429.xml"/><Relationship Id="rId431" Type="http://schemas.openxmlformats.org/officeDocument/2006/relationships/slide" Target="slides/slide430.xml"/><Relationship Id="rId432" Type="http://schemas.openxmlformats.org/officeDocument/2006/relationships/slide" Target="slides/slide431.xml"/><Relationship Id="rId433" Type="http://schemas.openxmlformats.org/officeDocument/2006/relationships/slide" Target="slides/slide432.xml"/><Relationship Id="rId434" Type="http://schemas.openxmlformats.org/officeDocument/2006/relationships/slide" Target="slides/slide433.xml"/><Relationship Id="rId435" Type="http://schemas.openxmlformats.org/officeDocument/2006/relationships/slide" Target="slides/slide434.xml"/><Relationship Id="rId436" Type="http://schemas.openxmlformats.org/officeDocument/2006/relationships/slide" Target="slides/slide435.xml"/><Relationship Id="rId437" Type="http://schemas.openxmlformats.org/officeDocument/2006/relationships/slide" Target="slides/slide436.xml"/><Relationship Id="rId438" Type="http://schemas.openxmlformats.org/officeDocument/2006/relationships/slide" Target="slides/slide437.xml"/><Relationship Id="rId439" Type="http://schemas.openxmlformats.org/officeDocument/2006/relationships/slide" Target="slides/slide438.xml"/><Relationship Id="rId440" Type="http://schemas.openxmlformats.org/officeDocument/2006/relationships/slide" Target="slides/slide439.xml"/><Relationship Id="rId441" Type="http://schemas.openxmlformats.org/officeDocument/2006/relationships/slide" Target="slides/slide440.xml"/><Relationship Id="rId442" Type="http://schemas.openxmlformats.org/officeDocument/2006/relationships/slide" Target="slides/slide441.xml"/><Relationship Id="rId443" Type="http://schemas.openxmlformats.org/officeDocument/2006/relationships/slide" Target="slides/slide442.xml"/><Relationship Id="rId444" Type="http://schemas.openxmlformats.org/officeDocument/2006/relationships/slide" Target="slides/slide443.xml"/><Relationship Id="rId445" Type="http://schemas.openxmlformats.org/officeDocument/2006/relationships/slide" Target="slides/slide444.xml"/><Relationship Id="rId446" Type="http://schemas.openxmlformats.org/officeDocument/2006/relationships/slide" Target="slides/slide445.xml"/><Relationship Id="rId447" Type="http://schemas.openxmlformats.org/officeDocument/2006/relationships/slide" Target="slides/slide446.xml"/><Relationship Id="rId448" Type="http://schemas.openxmlformats.org/officeDocument/2006/relationships/slide" Target="slides/slide447.xml"/><Relationship Id="rId449" Type="http://schemas.openxmlformats.org/officeDocument/2006/relationships/slide" Target="slides/slide448.xml"/><Relationship Id="rId450" Type="http://schemas.openxmlformats.org/officeDocument/2006/relationships/slide" Target="slides/slide449.xml"/><Relationship Id="rId451" Type="http://schemas.openxmlformats.org/officeDocument/2006/relationships/slide" Target="slides/slide450.xml"/><Relationship Id="rId452" Type="http://schemas.openxmlformats.org/officeDocument/2006/relationships/slide" Target="slides/slide451.xml"/><Relationship Id="rId453" Type="http://schemas.openxmlformats.org/officeDocument/2006/relationships/slide" Target="slides/slide452.xml"/><Relationship Id="rId454" Type="http://schemas.openxmlformats.org/officeDocument/2006/relationships/slide" Target="slides/slide453.xml"/><Relationship Id="rId455" Type="http://schemas.openxmlformats.org/officeDocument/2006/relationships/slide" Target="slides/slide454.xml"/><Relationship Id="rId456" Type="http://schemas.openxmlformats.org/officeDocument/2006/relationships/slide" Target="slides/slide455.xml"/><Relationship Id="rId457" Type="http://schemas.openxmlformats.org/officeDocument/2006/relationships/slide" Target="slides/slide456.xml"/><Relationship Id="rId458" Type="http://schemas.openxmlformats.org/officeDocument/2006/relationships/slide" Target="slides/slide457.xml"/><Relationship Id="rId459" Type="http://schemas.openxmlformats.org/officeDocument/2006/relationships/slide" Target="slides/slide458.xml"/><Relationship Id="rId460" Type="http://schemas.openxmlformats.org/officeDocument/2006/relationships/slide" Target="slides/slide459.xml"/><Relationship Id="rId461" Type="http://schemas.openxmlformats.org/officeDocument/2006/relationships/slide" Target="slides/slide460.xml"/><Relationship Id="rId462" Type="http://schemas.openxmlformats.org/officeDocument/2006/relationships/slide" Target="slides/slide461.xml"/><Relationship Id="rId463" Type="http://schemas.openxmlformats.org/officeDocument/2006/relationships/slide" Target="slides/slide462.xml"/><Relationship Id="rId464" Type="http://schemas.openxmlformats.org/officeDocument/2006/relationships/slide" Target="slides/slide463.xml"/><Relationship Id="rId465" Type="http://schemas.openxmlformats.org/officeDocument/2006/relationships/slide" Target="slides/slide464.xml"/><Relationship Id="rId466" Type="http://schemas.openxmlformats.org/officeDocument/2006/relationships/slide" Target="slides/slide465.xml"/><Relationship Id="rId467" Type="http://schemas.openxmlformats.org/officeDocument/2006/relationships/slide" Target="slides/slide466.xml"/><Relationship Id="rId468" Type="http://schemas.openxmlformats.org/officeDocument/2006/relationships/slide" Target="slides/slide467.xml"/><Relationship Id="rId469" Type="http://schemas.openxmlformats.org/officeDocument/2006/relationships/slide" Target="slides/slide468.xml"/><Relationship Id="rId470" Type="http://schemas.openxmlformats.org/officeDocument/2006/relationships/slide" Target="slides/slide469.xml"/><Relationship Id="rId471" Type="http://schemas.openxmlformats.org/officeDocument/2006/relationships/slide" Target="slides/slide470.xml"/><Relationship Id="rId472" Type="http://schemas.openxmlformats.org/officeDocument/2006/relationships/slide" Target="slides/slide471.xml"/><Relationship Id="rId473" Type="http://schemas.openxmlformats.org/officeDocument/2006/relationships/slide" Target="slides/slide472.xml"/><Relationship Id="rId474" Type="http://schemas.openxmlformats.org/officeDocument/2006/relationships/slide" Target="slides/slide473.xml"/><Relationship Id="rId475" Type="http://schemas.openxmlformats.org/officeDocument/2006/relationships/slide" Target="slides/slide474.xml"/><Relationship Id="rId476" Type="http://schemas.openxmlformats.org/officeDocument/2006/relationships/slide" Target="slides/slide475.xml"/><Relationship Id="rId477" Type="http://schemas.openxmlformats.org/officeDocument/2006/relationships/slide" Target="slides/slide476.xml"/><Relationship Id="rId478" Type="http://schemas.openxmlformats.org/officeDocument/2006/relationships/slide" Target="slides/slide477.xml"/><Relationship Id="rId479" Type="http://schemas.openxmlformats.org/officeDocument/2006/relationships/slide" Target="slides/slide478.xml"/><Relationship Id="rId480" Type="http://schemas.openxmlformats.org/officeDocument/2006/relationships/slide" Target="slides/slide479.xml"/><Relationship Id="rId481" Type="http://schemas.openxmlformats.org/officeDocument/2006/relationships/slide" Target="slides/slide480.xml"/><Relationship Id="rId482" Type="http://schemas.openxmlformats.org/officeDocument/2006/relationships/slide" Target="slides/slide481.xml"/><Relationship Id="rId483" Type="http://schemas.openxmlformats.org/officeDocument/2006/relationships/slide" Target="slides/slide482.xml"/><Relationship Id="rId484" Type="http://schemas.openxmlformats.org/officeDocument/2006/relationships/slide" Target="slides/slide483.xml"/><Relationship Id="rId485" Type="http://schemas.openxmlformats.org/officeDocument/2006/relationships/slide" Target="slides/slide484.xml"/><Relationship Id="rId486" Type="http://schemas.openxmlformats.org/officeDocument/2006/relationships/slide" Target="slides/slide485.xml"/><Relationship Id="rId487" Type="http://schemas.openxmlformats.org/officeDocument/2006/relationships/slide" Target="slides/slide486.xml"/><Relationship Id="rId488" Type="http://schemas.openxmlformats.org/officeDocument/2006/relationships/slide" Target="slides/slide487.xml"/><Relationship Id="rId489" Type="http://schemas.openxmlformats.org/officeDocument/2006/relationships/slide" Target="slides/slide488.xml"/><Relationship Id="rId490" Type="http://schemas.openxmlformats.org/officeDocument/2006/relationships/slide" Target="slides/slide489.xml"/><Relationship Id="rId491" Type="http://schemas.openxmlformats.org/officeDocument/2006/relationships/slide" Target="slides/slide490.xml"/><Relationship Id="rId492" Type="http://schemas.openxmlformats.org/officeDocument/2006/relationships/slide" Target="slides/slide491.xml"/><Relationship Id="rId493" Type="http://schemas.openxmlformats.org/officeDocument/2006/relationships/slide" Target="slides/slide492.xml"/><Relationship Id="rId494" Type="http://schemas.openxmlformats.org/officeDocument/2006/relationships/slide" Target="slides/slide493.xml"/><Relationship Id="rId495" Type="http://schemas.openxmlformats.org/officeDocument/2006/relationships/slide" Target="slides/slide494.xml"/><Relationship Id="rId496" Type="http://schemas.openxmlformats.org/officeDocument/2006/relationships/slide" Target="slides/slide495.xml"/><Relationship Id="rId497" Type="http://schemas.openxmlformats.org/officeDocument/2006/relationships/slide" Target="slides/slide496.xml"/><Relationship Id="rId498" Type="http://schemas.openxmlformats.org/officeDocument/2006/relationships/slide" Target="slides/slide497.xml"/><Relationship Id="rId499" Type="http://schemas.openxmlformats.org/officeDocument/2006/relationships/slide" Target="slides/slide498.xml"/><Relationship Id="rId500" Type="http://schemas.openxmlformats.org/officeDocument/2006/relationships/slide" Target="slides/slide499.xml"/><Relationship Id="rId501" Type="http://schemas.openxmlformats.org/officeDocument/2006/relationships/slide" Target="slides/slide500.xml"/><Relationship Id="rId502" Type="http://schemas.openxmlformats.org/officeDocument/2006/relationships/slide" Target="slides/slide501.xml"/><Relationship Id="rId503" Type="http://schemas.openxmlformats.org/officeDocument/2006/relationships/slide" Target="slides/slide502.xml"/><Relationship Id="rId504" Type="http://schemas.openxmlformats.org/officeDocument/2006/relationships/slide" Target="slides/slide503.xml"/><Relationship Id="rId505" Type="http://schemas.openxmlformats.org/officeDocument/2006/relationships/slide" Target="slides/slide504.xml"/><Relationship Id="rId506" Type="http://schemas.openxmlformats.org/officeDocument/2006/relationships/slide" Target="slides/slide505.xml"/><Relationship Id="rId507" Type="http://schemas.openxmlformats.org/officeDocument/2006/relationships/slide" Target="slides/slide506.xml"/><Relationship Id="rId508" Type="http://schemas.openxmlformats.org/officeDocument/2006/relationships/slide" Target="slides/slide507.xml"/><Relationship Id="rId509" Type="http://schemas.openxmlformats.org/officeDocument/2006/relationships/slide" Target="slides/slide508.xml"/><Relationship Id="rId510" Type="http://schemas.openxmlformats.org/officeDocument/2006/relationships/slide" Target="slides/slide509.xml"/><Relationship Id="rId511" Type="http://schemas.openxmlformats.org/officeDocument/2006/relationships/slide" Target="slides/slide510.xml"/><Relationship Id="rId512" Type="http://schemas.openxmlformats.org/officeDocument/2006/relationships/slide" Target="slides/slide511.xml"/><Relationship Id="rId513" Type="http://schemas.openxmlformats.org/officeDocument/2006/relationships/slide" Target="slides/slide512.xml"/><Relationship Id="rId514" Type="http://schemas.openxmlformats.org/officeDocument/2006/relationships/slide" Target="slides/slide513.xml"/><Relationship Id="rId515" Type="http://schemas.openxmlformats.org/officeDocument/2006/relationships/slide" Target="slides/slide514.xml"/><Relationship Id="rId516" Type="http://schemas.openxmlformats.org/officeDocument/2006/relationships/slide" Target="slides/slide515.xml"/><Relationship Id="rId517" Type="http://schemas.openxmlformats.org/officeDocument/2006/relationships/slide" Target="slides/slide516.xml"/><Relationship Id="rId518" Type="http://schemas.openxmlformats.org/officeDocument/2006/relationships/slide" Target="slides/slide517.xml"/><Relationship Id="rId519" Type="http://schemas.openxmlformats.org/officeDocument/2006/relationships/slide" Target="slides/slide518.xml"/><Relationship Id="rId520" Type="http://schemas.openxmlformats.org/officeDocument/2006/relationships/slide" Target="slides/slide519.xml"/><Relationship Id="rId521" Type="http://schemas.openxmlformats.org/officeDocument/2006/relationships/slide" Target="slides/slide520.xml"/><Relationship Id="rId522" Type="http://schemas.openxmlformats.org/officeDocument/2006/relationships/slide" Target="slides/slide521.xml"/><Relationship Id="rId523" Type="http://schemas.openxmlformats.org/officeDocument/2006/relationships/slide" Target="slides/slide522.xml"/><Relationship Id="rId524" Type="http://schemas.openxmlformats.org/officeDocument/2006/relationships/slide" Target="slides/slide523.xml"/><Relationship Id="rId525" Type="http://schemas.openxmlformats.org/officeDocument/2006/relationships/slide" Target="slides/slide524.xml"/><Relationship Id="rId526" Type="http://schemas.openxmlformats.org/officeDocument/2006/relationships/slide" Target="slides/slide525.xml"/><Relationship Id="rId527" Type="http://schemas.openxmlformats.org/officeDocument/2006/relationships/slide" Target="slides/slide526.xml"/><Relationship Id="rId528" Type="http://schemas.openxmlformats.org/officeDocument/2006/relationships/slide" Target="slides/slide527.xml"/><Relationship Id="rId529" Type="http://schemas.openxmlformats.org/officeDocument/2006/relationships/slide" Target="slides/slide528.xml"/><Relationship Id="rId530" Type="http://schemas.openxmlformats.org/officeDocument/2006/relationships/slide" Target="slides/slide529.xml"/><Relationship Id="rId531" Type="http://schemas.openxmlformats.org/officeDocument/2006/relationships/slide" Target="slides/slide530.xml"/><Relationship Id="rId532" Type="http://schemas.openxmlformats.org/officeDocument/2006/relationships/slide" Target="slides/slide531.xml"/><Relationship Id="rId533" Type="http://schemas.openxmlformats.org/officeDocument/2006/relationships/slide" Target="slides/slide532.xml"/><Relationship Id="rId534" Type="http://schemas.openxmlformats.org/officeDocument/2006/relationships/slide" Target="slides/slide533.xml"/><Relationship Id="rId535" Type="http://schemas.openxmlformats.org/officeDocument/2006/relationships/slide" Target="slides/slide534.xml"/><Relationship Id="rId536" Type="http://schemas.openxmlformats.org/officeDocument/2006/relationships/slide" Target="slides/slide535.xml"/><Relationship Id="rId537" Type="http://schemas.openxmlformats.org/officeDocument/2006/relationships/slide" Target="slides/slide536.xml"/><Relationship Id="rId538" Type="http://schemas.openxmlformats.org/officeDocument/2006/relationships/slide" Target="slides/slide537.xml"/><Relationship Id="rId539" Type="http://schemas.openxmlformats.org/officeDocument/2006/relationships/slide" Target="slides/slide538.xml"/><Relationship Id="rId540" Type="http://schemas.openxmlformats.org/officeDocument/2006/relationships/slide" Target="slides/slide539.xml"/><Relationship Id="rId541" Type="http://schemas.openxmlformats.org/officeDocument/2006/relationships/slide" Target="slides/slide540.xml"/><Relationship Id="rId542" Type="http://schemas.openxmlformats.org/officeDocument/2006/relationships/slide" Target="slides/slide541.xml"/><Relationship Id="rId543" Type="http://schemas.openxmlformats.org/officeDocument/2006/relationships/slide" Target="slides/slide542.xml"/><Relationship Id="rId544" Type="http://schemas.openxmlformats.org/officeDocument/2006/relationships/slide" Target="slides/slide543.xml"/><Relationship Id="rId545" Type="http://schemas.openxmlformats.org/officeDocument/2006/relationships/slide" Target="slides/slide544.xml"/><Relationship Id="rId546" Type="http://schemas.openxmlformats.org/officeDocument/2006/relationships/slide" Target="slides/slide545.xml"/><Relationship Id="rId547" Type="http://schemas.openxmlformats.org/officeDocument/2006/relationships/slide" Target="slides/slide546.xml"/><Relationship Id="rId548" Type="http://schemas.openxmlformats.org/officeDocument/2006/relationships/slide" Target="slides/slide547.xml"/><Relationship Id="rId549" Type="http://schemas.openxmlformats.org/officeDocument/2006/relationships/slide" Target="slides/slide548.xml"/><Relationship Id="rId550" Type="http://schemas.openxmlformats.org/officeDocument/2006/relationships/slide" Target="slides/slide549.xml"/><Relationship Id="rId551" Type="http://schemas.openxmlformats.org/officeDocument/2006/relationships/slide" Target="slides/slide550.xml"/><Relationship Id="rId552" Type="http://schemas.openxmlformats.org/officeDocument/2006/relationships/slide" Target="slides/slide551.xml"/><Relationship Id="rId553" Type="http://schemas.openxmlformats.org/officeDocument/2006/relationships/slide" Target="slides/slide552.xml"/><Relationship Id="rId554" Type="http://schemas.openxmlformats.org/officeDocument/2006/relationships/slide" Target="slides/slide553.xml"/><Relationship Id="rId555" Type="http://schemas.openxmlformats.org/officeDocument/2006/relationships/slide" Target="slides/slide554.xml"/><Relationship Id="rId556" Type="http://schemas.openxmlformats.org/officeDocument/2006/relationships/slide" Target="slides/slide555.xml"/><Relationship Id="rId557" Type="http://schemas.openxmlformats.org/officeDocument/2006/relationships/slide" Target="slides/slide556.xml"/><Relationship Id="rId558" Type="http://schemas.openxmlformats.org/officeDocument/2006/relationships/slide" Target="slides/slide557.xml"/><Relationship Id="rId559" Type="http://schemas.openxmlformats.org/officeDocument/2006/relationships/slide" Target="slides/slide558.xml"/><Relationship Id="rId560" Type="http://schemas.openxmlformats.org/officeDocument/2006/relationships/slide" Target="slides/slide559.xml"/><Relationship Id="rId561" Type="http://schemas.openxmlformats.org/officeDocument/2006/relationships/slide" Target="slides/slide560.xml"/><Relationship Id="rId562" Type="http://schemas.openxmlformats.org/officeDocument/2006/relationships/slide" Target="slides/slide561.xml"/><Relationship Id="rId563" Type="http://schemas.openxmlformats.org/officeDocument/2006/relationships/slide" Target="slides/slide562.xml"/><Relationship Id="rId564" Type="http://schemas.openxmlformats.org/officeDocument/2006/relationships/slide" Target="slides/slide563.xml"/><Relationship Id="rId565" Type="http://schemas.openxmlformats.org/officeDocument/2006/relationships/slide" Target="slides/slide564.xml"/><Relationship Id="rId566" Type="http://schemas.openxmlformats.org/officeDocument/2006/relationships/slide" Target="slides/slide565.xml"/><Relationship Id="rId567" Type="http://schemas.openxmlformats.org/officeDocument/2006/relationships/slide" Target="slides/slide566.xml"/><Relationship Id="rId568" Type="http://schemas.openxmlformats.org/officeDocument/2006/relationships/slide" Target="slides/slide567.xml"/><Relationship Id="rId569" Type="http://schemas.openxmlformats.org/officeDocument/2006/relationships/slide" Target="slides/slide568.xml"/><Relationship Id="rId570" Type="http://schemas.openxmlformats.org/officeDocument/2006/relationships/slide" Target="slides/slide569.xml"/><Relationship Id="rId571" Type="http://schemas.openxmlformats.org/officeDocument/2006/relationships/slide" Target="slides/slide570.xml"/><Relationship Id="rId572" Type="http://schemas.openxmlformats.org/officeDocument/2006/relationships/slide" Target="slides/slide571.xml"/><Relationship Id="rId573" Type="http://schemas.openxmlformats.org/officeDocument/2006/relationships/slide" Target="slides/slide572.xml"/><Relationship Id="rId574" Type="http://schemas.openxmlformats.org/officeDocument/2006/relationships/slide" Target="slides/slide573.xml"/><Relationship Id="rId575" Type="http://schemas.openxmlformats.org/officeDocument/2006/relationships/slide" Target="slides/slide574.xml"/><Relationship Id="rId576" Type="http://schemas.openxmlformats.org/officeDocument/2006/relationships/slide" Target="slides/slide575.xml"/><Relationship Id="rId577" Type="http://schemas.openxmlformats.org/officeDocument/2006/relationships/slide" Target="slides/slide576.xml"/><Relationship Id="rId578" Type="http://schemas.openxmlformats.org/officeDocument/2006/relationships/slide" Target="slides/slide577.xml"/><Relationship Id="rId579" Type="http://schemas.openxmlformats.org/officeDocument/2006/relationships/slide" Target="slides/slide578.xml"/><Relationship Id="rId580" Type="http://schemas.openxmlformats.org/officeDocument/2006/relationships/slide" Target="slides/slide579.xml"/><Relationship Id="rId581" Type="http://schemas.openxmlformats.org/officeDocument/2006/relationships/slide" Target="slides/slide580.xml"/><Relationship Id="rId582" Type="http://schemas.openxmlformats.org/officeDocument/2006/relationships/slide" Target="slides/slide581.xml"/><Relationship Id="rId583" Type="http://schemas.openxmlformats.org/officeDocument/2006/relationships/slide" Target="slides/slide582.xml"/><Relationship Id="rId584" Type="http://schemas.openxmlformats.org/officeDocument/2006/relationships/slide" Target="slides/slide583.xml"/><Relationship Id="rId585" Type="http://schemas.openxmlformats.org/officeDocument/2006/relationships/slide" Target="slides/slide584.xml"/><Relationship Id="rId586" Type="http://schemas.openxmlformats.org/officeDocument/2006/relationships/slide" Target="slides/slide585.xml"/><Relationship Id="rId587" Type="http://schemas.openxmlformats.org/officeDocument/2006/relationships/slide" Target="slides/slide586.xml"/><Relationship Id="rId588" Type="http://schemas.openxmlformats.org/officeDocument/2006/relationships/slide" Target="slides/slide587.xml"/><Relationship Id="rId589" Type="http://schemas.openxmlformats.org/officeDocument/2006/relationships/slide" Target="slides/slide588.xml"/><Relationship Id="rId590" Type="http://schemas.openxmlformats.org/officeDocument/2006/relationships/slide" Target="slides/slide589.xml"/><Relationship Id="rId591" Type="http://schemas.openxmlformats.org/officeDocument/2006/relationships/slide" Target="slides/slide590.xml"/><Relationship Id="rId592" Type="http://schemas.openxmlformats.org/officeDocument/2006/relationships/slide" Target="slides/slide591.xml"/><Relationship Id="rId593" Type="http://schemas.openxmlformats.org/officeDocument/2006/relationships/slide" Target="slides/slide592.xml"/><Relationship Id="rId594" Type="http://schemas.openxmlformats.org/officeDocument/2006/relationships/slide" Target="slides/slide593.xml"/><Relationship Id="rId595" Type="http://schemas.openxmlformats.org/officeDocument/2006/relationships/slide" Target="slides/slide594.xml"/><Relationship Id="rId596" Type="http://schemas.openxmlformats.org/officeDocument/2006/relationships/slide" Target="slides/slide595.xml"/><Relationship Id="rId597" Type="http://schemas.openxmlformats.org/officeDocument/2006/relationships/slide" Target="slides/slide596.xml"/><Relationship Id="rId598" Type="http://schemas.openxmlformats.org/officeDocument/2006/relationships/slide" Target="slides/slide597.xml"/><Relationship Id="rId599" Type="http://schemas.openxmlformats.org/officeDocument/2006/relationships/slide" Target="slides/slide598.xml"/><Relationship Id="rId600" Type="http://schemas.openxmlformats.org/officeDocument/2006/relationships/slide" Target="slides/slide599.xml"/><Relationship Id="rId601" Type="http://schemas.openxmlformats.org/officeDocument/2006/relationships/slide" Target="slides/slide600.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0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1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2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3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4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5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6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7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8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5.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6.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7.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8.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599.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600.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कैबिनेट मिशन योजना (1946) के तहत गठित भारत की संविधान सभा के सदस्यों का चुनाव किस पद्धति द्वारा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वयस्क मताधिकार के आधार पर प्रांतीय जनता द्वारा प्रत्यक्ष रूप 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1935 के अधिनियम के तहत गठित प्रांतीय विधान सभाओं के निम्न सदनों के सदस्यों द्वारा आनुपातिक प्रतिनिधित्व प्रणाली के अनुसार एकल संक्रमणीय मत से अप्रत्यक्ष रूप से</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गवर्नर-जनरल और प्रांतीय गवर्नरों द्वारा मनोनीत करके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रियासतों के नरेशों और ब्रिटिश संसद द्वारा संयुक्त चयन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1935 के अधिनियम के तहत गठित प्रांतीय विधान सभाओं के निम्न सदनों के सदस्यों द्वारा आनुपातिक प्रतिनिधित्व प्रणाली के अनुसार एकल संक्रमणीय मत से अप्रत्यक्ष रूप से</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वयस्क मताधिकार के आधार पर प्रांतीय जनता द्वारा प्रत्यक्ष रूप 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गवर्नर-जनरल और प्रांतीय गवर्नरों द्वारा मनोनीत करके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रियासतों के नरेशों और ब्रिटिश संसद द्वारा संयुक्त चयन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कैबिनेट मिशन योजना (Cabinet Mission Plan, 1946) के अनुसार संविधान सभा के सदस्यों का चुनाव प्रांतीय विधान सभाओं के निर्वाचित सदस्यों द्वारा अप्रत्यक्ष रूप से एकल संक्रमणीय मत प्रणाली द्वारा किया गया था। उस समय भारत में वयस्क मताधिकार लागू नहीं था, बल्कि 1935 के भारत शासन अधिनियम के तहत केवल संपत्ति, कर और शिक्षा के आधार पर सीमित मताधिकार प्राप्त था। प्रांतीय विधान सभाओं के सदस्यों ने अपने-अपने समुदायों (सामान्य, मुस्लिम, सिख) के प्रतिनिधियों का चुनाव किया, जबकि देशी रियासतों के प्रतिनिधियों का चयन रियासतों के शासकों द्वारा परामर्श और मनोनयन के माध्यम से हुआ। अतः संविधान सभा आंशिक रूप से निर्वाचित और आंशिक रूप से मनोनीत निकाय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9 दिसंबर, 1946 को आयोजित भारत की संविधान सभा की ऐतिहासिक प्रथम बैठक की अध्यक्षता किसने की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राजेन्द्र प्रसाद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सच्चिदानंद सिन्हा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चक्रवर्ती राजगोपालाचारी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बी. आर. अम्बेडकर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डॉ. सच्चिदानंद सिन्हा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राजेन्द्र प्रसाद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चक्रवर्ती राजगोपालाचारी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बी. आर. अम्बेडकर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सभा की पहली बैठक 9 दिसंबर, 1946 को नई दिल्ली के कॉन्स्टिट्यूशन हॉल (वर्तमान संसद भवन के सेंट्रल हॉल) में आयोजित की गई थी। इस प्रथम बैठक में फ्रांसीसी परंपरा का अनुसरण करते हुए सभा के सबसे वरिष्ठतम सदस्य डॉ. सच्चिदानंद सिन्हा को संविधान सभा का अस्थायी अध्यक्ष (Temporary President) चुना गया था। इसके दो दिन बाद, 11 दिसंबर, 1946 को डॉ. राजेन्द्र प्रसाद को सर्वसम्मति से संविधान सभा का स्थायी अध्यक्ष निर्वाचित किया गया, जबकि एच. सी. मुखर्जी को उपाध्यक्ष तथा सर बी. एन. राव को संवैधानिक सलाहकार नियुक्त किया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13 दिसंबर, 1946 को पंडित जवाहरलाल नेहरू द्वारा संविधान सभा में प्रस्तुत 'उद्देश्य प्रस्ताव' (Objectives Resolution) के संदर्भ में निम्नलिखित कथनों पर विचार कीजिए: A. यह प्रस्ताव 22 जनवरी, 1947 को संविधान सभा द्वारा सर्वसम्मति से अंगीकार किया गया था। B. उद्देश्य प्रस्ताव पर 16 दिसंबर, 1946 को सर्वप्रथम संशोधन प्रस्तुत करने वाले सदस्य डॉ. एम. आर. जयकर थे। C. इस प्रस्ताव ने भावी स्वतंत्र भारत के संविधान के आधारभूत दर्शन और राजनीतिक ढांचे की रूपरेखा तय की। D. यही उद्देश्य प्रस्ताव आगे चलकर भारतीय संविधान की 'प्रस्तावना' (Preamble) का मूल आधार बना।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13 दिसंबर, 1946 को पंडित जवाहरलाल नेहरू ने संविधान सभा में ऐतिहासिक 'उद्देश्य प्रस्ताव' पेश किया था, जो भारतीय संविधान का दार्शनिक आधार बना। 16 दिसंबर, 1946 को इस पर सर्वप्रथम संशोधन डॉ. एम. आर. जयकर द्वारा प्रस्तुत किया गया था, जिसमें मुस्लिम लीग और रियासतों के शामिल होने तक प्रस्ताव को स्थगित रखने की मांग की गई थी। गहन विचार-विमर्श के पश्चात 22 जनवरी, 1947 को संविधान सभा ने इसे सर्वसम्मति से अंगीकार कर लिया। इस प्रस्ताव में भारत को एक स्वतंत्र, संप्रभु गणराज्य घोषित करने तथा सभी नागरिकों को सामाजिक, आर्थिक व राजनीतिक न्याय और स्वतंत्रता सुनिश्चित करने का संकल्प लिया गया था। यही प्रस्ताव संशोधित होकर संविधान की उद्देशिका बना।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सभा की प्रमुख समितियों और उनके अध्यक्षों के संदर्भ में सही मिलान कीजिए: सूची-I: सूची-I: A. प्रारूप समिति (Drafting Committee) B. मौलिक अधिकारों एवं अल्पसंख्यकों संबंधी सलाहकार समिति C. संघ शक्ति समिति (Union Powers Committee) D. संचालन समिति (Steering Committee) सूची-II: 1. सरदार वल्लभभाई पटेल 2. डॉ. बी. आर. अम्बेडकर 3. डॉ. राजेन्द्र प्रसाद 4. पंडित जवाहरलाल नेहरू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सभा ने संविधान निर्माण के विभिन्न कार्यों के लिए कई महत्वपूर्ण समितियां गठित की थीं। प्रारूप समिति की अध्यक्षता डॉ. बी. आर. अम्बेडकर ने की थी (गठन 29 अगस्त, 1947)। मौलिक अधिकारों, अल्पसंख्यकों और जनजातीय व बहिष्कृत क्षेत्रों पर बनी वृहद सलाहकार समिति के अध्यक्ष सरदार वल्लभभाई पटेल थे (यह सदस्यों की संख्या की दृष्टि से 54 सदस्यों वाली सबसे बड़ी समिति थी)। संघ शक्ति समिति और संघ संविधान समिति दोनों के अध्यक्ष पंडित जवाहरलाल नेहरू थे। वहीं संचालन समिति, नियम समिति और वित्त व कर्मचारी समिति की अध्यक्षता संविधान सभा के अध्यक्ष डॉ. राजेन्द्र प्रसाद द्वारा की गई थी। अतः सही सुमेल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29 अगस्त, 1947 को गठित 7-सदस्यीय 'प्रारूप समिति' (Drafting Committee) में निम्नलिखित में से कौन मूलतः एकमात्र कांग्रेसी सदस्य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एन. गोपालस्वामी आयंगर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अल्लादि कृष्णास्वामी अय्यर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के. एम. मुंशी</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सैयद मोहम्मद सादुल्लाह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डॉ. के. एम. मुंशी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एन. गोपालस्वामी आयंगर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अल्लादि कृष्णास्वामी अय्यर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सैयद मोहम्मद सादुल्लाह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प्रारूप समिति में अध्यक्ष डॉ. बी. आर. अम्बेडकर के अतिरिक्त 6 अन्य सदस्य थे: एन. गोपालस्वामी आयंगर, अल्लादि कृष्णास्वामी अय्यर, डॉ. के. एम. मुंशी, सैयद मोहम्मद सादुल्लाह, एन. माधव राव (जिन्होंने बी. एल. मित्तर के त्यागपत्र के बाद स्थान लिया) और टी. टी. कृष्णमाचारी (जिन्होंने 1948 में डी. पी. खेतान की मृत्यु के बाद स्थान लिया)। इन सदस्यों में से केवल डॉ. कन्हैयालाल माणिकलाल मुंशी (के. एम. मुंशी) ही मूल रूप से सक्रिय कांग्रेसी पार्टी के सदस्य थे। सैयद मोहम्मद सादुल्लाह मुस्लिम लीग से संबंधित थे, जबकि अन्य सदस्य गैर-दलीय कानूनविद् या स्वतंत्र विशेषज्ञ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सभा में किस राजनीतिक दल की राष्ट्रीय कार्यकारिणी ने संविधान सभा को 'अप्रतिनिधिक' मानकर इसे भंग करने और वयस्क मताधिकार पर पुनर्निर्वाचन कराने की मांग की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हिंदू महासभा</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सोशलिस्ट पार्टी (समाजवादी दल)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स्वराज दल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कम्युनिस्ट पार्टी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सोशलिस्ट पार्टी (समाजवादी दल)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हिंदू महासभा</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स्वराज दल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कम्युनिस्ट पार्टी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स्वतंत्रता के समय जयप्रकाश नारायण, डॉ. राममनोहर लोहिया और आचार्य नरेंद्र देव के नेतृत्व वाली सोशलिस्ट पार्टी (समाजवादी दल) ने यह सैद्धांतिक रुख अपनाया था कि मौजूदा संविधान सभा अंग्रेजों की कैबिनेट मिशन योजना की उपज है और यह सीमित संपत्ति-आधारित मताधिकार वाली 1935 की प्रांतीय सभाओं द्वारा चुनी गई है। इसलिए सोशलिस्ट पार्टी की राष्ट्रीय कार्यकारिणी ने मांग की थी कि इस संविधान सभा को भंग कर सार्वभौमिक वयस्क मताधिकार के आधार पर एक सच्ची जन-प्रतिनिधिक संविधान सभा का पुनर्निर्वाचन कराया जाना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26 नवंबर, 1949 को जब भारतीय संविधान अंगीकृत किया गया, तब संविधान के कुल कितने अनुच्छेद तुरंत प्रभावी (लागू) हो गए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 12 अनुच्छेद</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 16 अनुच्छेद</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कुल 25 अनुच्छेद</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 संविधान उसी दिन लागू हो गया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कुल 16 अनुच्छेद</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12 अनुच्छेद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25 अनुच्छेद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 संविधान उसी दिन लागू हो गया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26 नवंबर, 1949 को संविधान सभा द्वारा संविधान को अंगीकृत, अधिनियमित और आत्मार्पित किया गया। संविधान के अनुच्छेद 394 में यह स्पष्ट प्रावधान किया गया था कि अनुच्छेद 5, 6, 7, 8, 9 (नागरिकता), अनुच्छेद 60 (राष्ट्रपति की शपथ), अनुच्छेद 324 (चुनाव आयोग), अनुच्छेद 366, 367, 379, 380, 388, 391, 392, 393 और स्वयं अनुच्छेद 394 - ये कुल 16 अनुच्छेद (15 विशेष अनुच्छेद + स्वयं अनुच्छेद 394) 26 नवंबर, 1949 को तुरंत लागू हो गए। शेष संपूर्ण संविधान 26 जनवरी, 1950 को लागू हुआ जिसे संविधान लागू होने की आधिकारिक तारीख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प्रस्तावना में प्रयुक्त शब्दों का सही क्रमिक विन्यास निम्नलिखित में से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संपूर्ण प्रभुत्व-संपन्न, पंथनिरपेक्ष, समाजवादी, लोकतंत्रात्मक गणराज्य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संपूर्ण प्रभुत्व-संपन्न, समाजवादी, पंथनिरपेक्ष, लोकतंत्रात्मक गणराज्य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संप्रभु, लोकतंत्रात्मक, समाजवादी, धर्मनिरपेक्ष गणराज्य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समाजवादी, पंथनिरपेक्ष, संप्रभु, लोकतंत्रात्मक गणराज्य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संपूर्ण प्रभुत्व-संपन्न, समाजवादी, पंथनिरपेक्ष, लोकतंत्रात्मक गणराज्य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संपूर्ण प्रभुत्व-संपन्न, पंथनिरपेक्ष, समाजवादी, लोकतंत्रात्मक गणराज्य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संप्रभु, लोकतंत्रात्मक, समाजवादी, धर्मनिरपेक्ष गणराज्य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समाजवादी, पंथनिरपेक्ष, संप्रभु, लोकतंत्रात्मक गणराज्य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प्रस्तावना भारत के स्वरूप को स्पष्ट करते हुए यह घोषणा करती है कि भारत एक 'संपूर्ण प्रभुत्व-संपन्न, समाजवादी, पंथनिरपेक्ष, लोकतंत्रात्मक गणराज्य' (Sovereign, Socialist, Secular, Democratic Republic) है। मूल संविधान की प्रस्तावना में 'संपूर्ण प्रभुत्व-संपन्न लोकतंत्रात्मक गणराज्य' शब्द थे। 42वें संविधान संशोधन अधिनियम, 1976 द्वारा प्रस्तावना में तीन नए शब्द जोड़े गए थे: 'समाजवादी' और 'पंथनिरपेक्ष' को 'संपूर्ण प्रभुत्व-संपन्न' के ठीक बाद स्थापित किया गया, तथा नीचे 'राष्ट्र की एकता' के स्थान पर 'राष्ट्र की एकता और अखंडता' स्थापित किया गया। अतः आधिकारिक सही क्रम विकल्प B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उद्देशिका में नागरिकों के लिए कितने प्रकार के 'न्याय' और किस क्रम में सुनिश्चित किए गए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 प्रकार के: आर्थिक और सामाजिक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तीन प्रकार के: सामाजिक, आर्थिक और राजनीतिक</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तीन प्रकार के: राजनीतिक, धार्मिक और नागरिक</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चार प्रकार के: सामाजिक, आर्थिक, सांस्कृतिक और विधिक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तीन प्रकार के: सामाजिक, आर्थिक और राजनीतिक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 प्रकार के: आर्थिक और सामाजिक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तीन प्रकार के: राजनीतिक, धार्मिक और नागरिक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 प्रकार के: सामाजिक, आर्थिक, सांस्कृतिक और विधिक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उद्देशिका में सभी नागरिकों को तीन प्रकार के न्याय सुनिश्चित कराने का संकल्प लिया गया है, जिनका आधिकारिक क्रम है: 1. सामाजिक न्याय (Social Justice), 2. आर्थिक न्याय (Economic Justice), और 3. राजनीतिक न्याय (Political Justice)। यह अवधारणा 1917 की रूसी क्रांति के महान आदर्शों से प्रेरित है। सामाजिक न्याय का अर्थ जाति, धर्म, लिंग के आधार पर भेदभाव की समाप्ति है; आर्थिक न्याय का अर्थ संपदा और आय की विषमता को कम करना है; और राजनीतिक न्याय का अर्थ सभी नागरिकों को समान राजनीतिक अधिकार व मताधिकार उपलब्ध कराना है। धार्मिक या विधिक न्याय का प्रस्तावना में उल्लेख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की प्रस्तावना में उल्लिखित 'स्वतंत्रता' (Liberty) और 'समता' (Equality) के संदर्भ में निम्नलिखित कथनों पर विचार कीजिए: A. प्रस्तावना में विचार, अभिव्यक्ति, विश्वास, धर्म और उपासना की स्वतंत्रता का उल्लेख है। B. प्रस्तावना में प्रतिष्ठा और अवसर की समता प्रदान करने का संकल्प लिया गया है। C. प्रस्तावना में 'आर्थिक स्वतंत्रता' शब्द का प्रत्यक्ष रूप से कोई उल्लेख नहीं किया गया है। D. स्वतंत्रता, समता और बंधुता के आदर्श 1789 की फ्रांसीसी क्रांति से प्रेरित होकर शामिल किए गए हैं।</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प्रस्तावना में 5 प्रकार की स्वतंत्रताएं क्रमबद्ध हैं: विचार (Thought), अभिव्यक्ति (Expression), विश्वास (Belief), धर्म (Faith), और उपासना (Worship) की स्वतंत्रता। इसमें आर्थिक स्वतंत्रता का कोई उल्लेख नहीं है (आर्थिक संदर्भ केवल 'आर्थिक न्याय' में आता है)। समता के अंतर्गत दो पहलू दिए गए हैं: 'प्रतिष्ठा और अवसर की समता'। ये स्वतंत्रता, समता और बंधुता (Fraternity) के महान आदर्श 1789 की फ्रांसीसी क्रांति के वैश्विक नारों से ग्रहण किए गए हैं। अतः चारों कथन तकनीकी और संवैधानिक रूप से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किस ऐतिहासिक वाद में उच्चतम न्यायालय ने यह अभिनिर्धारित किया कि "प्रस्तावना संविधान का एक अभिन्न अंग है और इसमें अनुच्छेद 368 के तहत संशोधन किया जा सकता है, बशर्ते मूल ढांचे को क्षति न पहुंचे"?</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इन री बेरुबारी यूनियन वाद (1960)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गोलकनाथ बनाम पंजाब राज्य (1967)</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केशवानंद भारती बनाम केरल राज्य (1973)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मिनर्वा मिल्स बनाम भारत संघ (1980)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केशवानंद भारती बनाम केरल राज्य (1973)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इन री बेरुबारी यूनियन वाद (1960)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गोलकनाथ बनाम पंजाब राज्य (1967)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मिनर्वा मिल्स बनाम भारत संघ (1980)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बेरुबारी यूनियन वाद (1960) में सुप्रीम कोर्ट ने कहा था कि प्रस्तावना संविधान का भाग नहीं है। लेकिन केशवानंद भारती बनाम केरल राज्य (1973) के ऐतिहासिक 13-न्यायाधीशों की संविधान पीठ के फैसले में सर्वोच्च न्यायालय ने अपने पूर्व निर्णय को पलटते हुए यह व्यवस्था दी कि प्रस्तावना संविधान का अभिन्न अंग (Integral Part) है। न्यायालय ने यह भी अभिनिर्धारित किया कि संसद अनुच्छेद 368 के अधीन प्रस्तावना में संशोधन कर सकती है, लेकिन ऐसा कोई संशोधन नहीं किया जा सकता जो संविधान के 'मूल ढांचे' (Basic Structure) को नष्ट या विकृत करता हो। इसी आधार पर 1976 में 42वें संशोधन द्वारा प्रस्तावना में संशोधन किया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एस. आर. बोम्मई बनाम भारत संघ (1994) वाद में सर्वोच्च न्यायालय की 9-न्यायाधीशों की पीठ ने संविधान की किस विशेषता को 'मूल ढांचे' (Basic Structure) का अभिन्न अंग घोषित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समाजवाद</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पंथनिरपेक्षता (Secularism)</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संसदीय संप्रभुता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एकात्मक शासन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पंथनिरपेक्षता (Secularism)</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समाजवाद</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संसदीय संप्रभुता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एकात्मक शासन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एस. आर. बोम्मई बनाम भारत संघ (1994) वाद में उच्चतम न्यायालय की नौ-न्यायाधीशों की संविधान पीठ ने ऐतिहासिक निर्णय देते हुए यह स्पष्ट किया कि 'पंथनिरपेक्षता' (Secularism) भारतीय संविधान के मूल ढांचे (Basic Structure) का एक अभिन्न और अनिवार्य लक्षण है। न्यायालय ने यह भी कहा कि यदि कोई राज्य सरकार धर्मनिरपेक्षता विरोधी नीतियों या सांप्रदायिक गतिविधियों में लिप्त पाई जाती है, तो राष्ट्रपति अनुच्छेद 356 के अंतर्गत उस राज्य की सरकार को बर्खास्त कर राष्ट्रपति शासन लगा सकते हैं। धर्म और राजनीति का अलगाव भारतीय संवैधानिक व्यवस्था का आधारभूत सिद्धांत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संविधान की उद्देशिका की कौन-सी विशेषता इस तथ्य को रेखांकित करती है कि 'भारत का राष्ट्राध्यक्ष (राष्ट्रपति) वंशानुगत न होकर एक निश्चित अवधि के लिए जनता द्वारा अप्रत्यक्ष रूप से निर्वाचित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संपूर्ण प्रभुत्व-संपन्न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समाजवादी</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पंथनिरपेक्ष</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गणराज्य (Republic)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गणराज्य (Republic)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संपूर्ण प्रभुत्व-संपन्न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समाजवादी</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पंथनिरपेक्ष</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'गणराज्य' (Republic) का संवैधानिक और राजनीतिक अर्थ यह होता है कि राज्य का सर्वोच्च प्रमुख या राष्ट्राध्यक्ष वंशानुगत (Monarchy की तरह राजा या रानी) नहीं होता, बल्कि वह जनता द्वारा प्रत्यक्ष या अप्रत्यक्ष रूप से एक निश्चित समयावधि के लिए निर्वाचित होता है। भारत में राष्ट्राध्यक्ष राष्ट्रपति हैं, जो 5 वर्ष की अवधि के लिए निर्वाचित संसद और विधान सभाओं के सदस्यों से बने निर्वाचक मंडल द्वारा अप्रत्यक्ष रूप से चुने जाते हैं। इसके विपरीत ब्रिटेन एक लोकतांत्रिक देश है परंतु वहां सम्राट वंशानुगत होने के कारण वह गणराज्य नहीं बल्कि संवैधानिक राजतंत्र (Constitutional Monarchy)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अनुसूचियों और उनके संबंधित विषयों का सही मिलान कीजिए: सूची-I: सूची-I: A. दूसरी अनुसूची B. तीसरी अनुसूची C. चौथी अनुसूची D. दसवीं अनुसूची सूची-II: 1. विभिन्न संवैधानिक पदाधिकारियों के वेतन, भत्ते एवं विशेषाधिकार 2. संसद और विधान सभाओं के सदस्यों व मंत्रियों के शपथ या प्रतिज्ञान के प्रारूप 3. राज्य सभा में राज्यों और संघ राज्य क्षेत्रों के लिए स्थानों का आवंटन 4. दल-बदल के आधार पर संसद एवं विधान सभा सदस्यों की निरर्हता संबंधी उपबंध</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B-3,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B-2, C-1, D-4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A-1, B-2,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B-1,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B-3,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B-2, C-1, D-4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विभिन्न अनुसूचियों में विशिष्ट प्रशासनिक उपबंध हैं। दूसरी अनुसूची राष्ट्रपति, राज्यपाल, लोकसभा/विधानसभा अध्यक्ष, कैग, सर्वोच्च व उच्च न्यायालय के न्यायाधीशों के वेतन, भत्ते और पेंशन से संबंधित है। तीसरी अनुसूची मंत्रियों, सांसदों, विधायकों, कैग और न्यायाधीशों द्वारा ली जाने वाली पद एवं गोपनीयता की शपथ के प्रारूप तय करती है (ध्यान रहे: राष्ट्रपति, उपराष्ट्रपति व राज्यपाल की शपथ क्रमशः अनुच्छेद 60, 69 व 159 में है, तीसरी अनुसूची में नहीं)। चौथी अनुसूची राज्यसभा में राज्यों/केंद्रशासित प्रदेशों की सीटों के आवंटन से जुड़ी है। दसवीं अनुसूची 52वें संशोधन (1985) द्वारा जोड़ी गई, जो दल-बदल विरोधी कानून से संबंधित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पाँचवीं और छठी अनुसूची के संदर्भ में निम्नलिखित कथनों पर विचार कीजिए: A. पाँचवीं अनुसूची असम, मेघालय, त्रिपुरा और मिजोरम को छोड़कर अन्य राज्यों के अनुसूचित क्षेत्रों और जनजातियों के प्रशासन से संबंधित है। B. पाँचवीं अनुसूची वाले राज्यों में राज्यपाल को यह अधिकार है कि वह जनजाति सलाहकार परिषद (Tribal Advisory Council) की स्थापना का निर्देश दे। C. छठी अनुसूची केवल चार पूर्वोत्तर राज्यों-असम, मेघालय, त्रिपुरा और मिजोरम-के जनजातीय क्षेत्रों में स्वायत्त जिला परिषदों (ADCs) के गठन का उपबंध करती है। D. छठी अनुसूची के क्षेत्रों में स्वायत्त जिला परिषदों को भू-आवंटन, वन प्रबंधन और रीति-रिवाजों पर कानून बनाने की विधायी शक्तियां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पाँचवीं और छठी अनुसूची भारत के जनजातीय क्षेत्रों के स्वशासन और संस्कृति संरक्षण के लिए अद्वितीय संवैधानिक तंत्र प्रदान करती हैं। पाँचवीं अनुसूची देश के 10 राज्यों (आंध्र, तेलंगाना, झारखंड, ओडिशा, छत्तीसगढ़, म.प्र., राजस्थान, गुजरात, महाराष्ट्र, हि.प्र.) के अनुसूचित क्षेत्रों पर लागू होती है, जहाँ 20-सदस्यीय जनजाति सलाहकार परिषद बनती है। छठी अनुसूची विशेष रूप से पूर्वोत्तर के चार राज्यों-असम, मेघालय, त्रिपुरा और मिजोरम (AMTM सूत्र)-के जनजातीय क्षेत्रों में लागू होती है, जहाँ स्वायत्त जिला परिषदों (Autonomous District Councils) को दीवानी, दांडिक न्यायिक तथा सीमित विधायी व कर लगाने की स्वायत्त शक्तियां प्राप्त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सातवीं अनुसूची की तीनों सूचियों में विषयों के वितरण के संबंध में निम्नलिखित में से कौन-सा युग्म सही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संघ सूची : बैंकिंग, रक्षा, परमाणु ऊर्जा, रेलवे तथा नागरिकता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सूची : पुलिस, लोक स्वास्थ्य और स्वच्छता, कृषि तथा सट्टा व जुआ</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समवर्ती सूची : आपराधिक कानून, सिविल प्रक्रिया, शिक्षा तथा वन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सूची : अंतर्राज्यीय व्यापार एवं वाणिज्य तथा दिवाला व शोधन अक्षमता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राज्य सूची : अंतर्राज्यीय व्यापार एवं वाणिज्य तथा दिवाला व शोधन अक्षमता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संघ सूची : बैंकिंग, रक्षा, परमाणु ऊर्जा, रेलवे तथा नागरिकता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सूची : पुलिस, लोक स्वास्थ्य और स्वच्छता, कृषि तथा सट्टा व जुआ</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समवर्ती सूची : आपराधिक कानून, सिविल प्रक्रिया, शिक्षा तथा वन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सातवीं अनुसूची के तहत संघ सूची, राज्य सूची और समवर्ती सूची में विधायी विषयों का विभाजन किया गया है। अंतर्राज्यीय व्यापार एवं वाणिज्य (Inter-State Trade and Commerce) तथा दिवाला व शोधन अक्षमता (Insolvency and Bankruptcy) राज्य सूची का विषय नहीं हैं; अंतर्राज्यीय व्यापार संघ सूची (Union List, Entry 42) का विषय है तथा दिवाला व शोधन अक्षमता समवर्ती सूची (Concurrent List, Entry 9) का विषय है। बैंकिंग, रक्षा, नागरिकता संघ सूची में हैं; पुलिस, लोक स्वास्थ्य, जेल, स्थानीय स्वशासन राज्य सूची में हैं; और शिक्षा, वन, वन्यजीव संरक्षण (42वें संशोधन द्वारा स्थानांतरित) समवर्ती सूची में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42वें संविधान संशोधन अधिनियम, 1976 द्वारा निम्नलिखित में से कौन-से 5 विषयों को राज्य सूची से हटाकर समवर्ती सूची में स्थानांतरित किया गया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पुलिस, जेल, न्याय प्रशासन, भूमि और कृषि</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शिक्षा, वन, वन्यजीवों एवं पक्षियों का संरक्षण, नाप-तौल तथा अधीनस्थ न्यायालयों का गठन एवं न्याय प्रशासन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मत्स्य पालन, सट्टा, लोक स्वास्थ्य, स्वच्छता और स्थानीय शासन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डाक-तार, रेलवे, बैंकिंग, बीमा और विदेशी व्यापार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शिक्षा, वन, वन्यजीवों एवं पक्षियों का संरक्षण, नाप-तौल तथा अधीनस्थ न्यायालयों का गठन एवं न्याय प्रशासन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पुलिस, जेल, न्याय प्रशासन, भूमि और कृषि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मत्स्य पालन, सट्टा, लोक स्वास्थ्य, स्वच्छता और स्थानीय शासन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डाक-तार, रेलवे, बैंकिंग, बीमा और विदेशी व्यापार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42वें संविधान संशोधन अधिनियम, 1976 द्वारा केंद्र-राज्य संतुलन और राष्ट्रीय एकरूपता को ध्यान में रखते हुए 5 महत्वपूर्ण विषयों को राज्य सूची (List II) से निकालकर समवर्ती सूची (List III) में स्थानांतरित किया गया था: 1. शिक्षा (Education), 2. वन (Forests), 3. वन्य जीवों और पक्षियों का संरक्षण (Protection of Wild Animals and Birds), 4. नाप और तौल के मानक (Weights and Measures), तथा 5. उच्चतम न्यायालय और उच्च न्यायालयों को छोड़कर सभी न्यायालयों का गठन और संगठन तथा न्याय प्रशासन। पुलिस और कृषि आज भी राज्य सूची में 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आठवीं अनुसूची और उसमें शामिल आधिकारिक भाषाओं के संबंध में निम्नलिखित कथनों पर विचार कीजिए: A. मूल संविधान की आठवीं अनुसूची में कुल 14 भाषाएं शामिल थीं। B. 21वें संशोधन (1967) द्वारा सिंधी भाषा को 15वीं भाषा के रूप में शामिल किया गया। C. 71वें संशोधन (1992) द्वारा कोंकणी, मणिपुरी और नेपाली (KMN) को शामिल किया गया। D. 92वें संशोधन (2003) द्वारा बोडो, डोगरी, मैथिली और संथाली (BDMS) को जोड़ा गया, जिससे कुल संख्या 22 हो गई।</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आठवीं अनुसूची में मूल रूप से 14 भाषाएं थीं (असमिया, बंगाली, गुजराती, हिंदी, कन्नड़, कश्मीरी, मलयालम, मराठी, उड़िया, पंजाबी, संस्कृत, तमिल, तेलुगु, उर्दू)। इसमें तीन संशोधनों द्वारा 8 नई भाषाएं जोड़ी गईं: 1. 21वें संशोधन 1967 से सिंधी भाषा, 2. 71वें संशोधन 1992 से कोंकणी, मणिपुरी और नेपाली, तथा 3. 92वें संशोधन 2003 (प्रभावी 2004) से बोडो, डोगरी, मैथिली और संथाली भाषाएं शामिल की गईं। वर्तमान में आठवीं अनुसूची में कुल 22 भाषाएं मान्य हैं। अंग्रेजी और राजस्थानी भाषाएं आठवीं अनुसूची की 22 भाषाओं में शामिल नहीं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आई. आर. कोएल्हो बनाम तमिलनाडु राज्य (2007) वाद में सर्वोच्च न्यायालय की 9-न्यायाधीशों की संविधान पीठ ने 'नौवीं अनुसूची' के विषय में क्या ऐतिहासिक व्यवस्था दी?</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नौवीं अनुसूची में शामिल किसी भी कानून की कभी भी न्यायिक समीक्षा नहीं हो सकती।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24 अप्रैल, 1973 के बाद नौवीं अनुसूची में डाले गए किसी भी कानून की न्यायिक समीक्षा की जा सकती है, यदि वह मौलिक अधिकारों के सारतत्व या मूल ढांचे का उल्लंघन करता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नौवीं अनुसूची को असंवैधानिक घोषित कर पूर्णतः निरस्त कर दिया गया।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संसद की पूर्वानुमति से ही नौवीं अनुसूची के कानूनों पर विचार किया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24 अप्रैल, 1973 के बाद नौवीं अनुसूची में डाले गए किसी भी कानून की न्यायिक समीक्षा की जा सकती है, यदि वह मौलिक अधिकारों के सारतत्व या मूल ढांचे का उल्लंघन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नौवीं अनुसूची में शामिल किसी भी कानून की कभी भी न्यायिक समीक्षा नहीं हो सकती।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नौवीं अनुसूची को असंवैधानिक घोषित कर पूर्णतः निरस्त कर दिया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संसद की पूर्वानुमति से ही नौवीं अनुसूची के कानूनों पर विचार किया जा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नौवीं अनुसूची प्रथम संविधान संशोधन (1951) द्वारा भूमि सुधार कानूनों को न्यायिक समीक्षा से संरक्षण देने हेतु जोड़ी गई थी। आई. आर. कोएल्हो बनाम तमिलनाडु राज्य (2007) वाद में उच्चतम न्यायालय की नौ-न्यायाधीशों की पीठ ने सर्वसम्मति से निर्णय दिया कि न्यायिक समीक्षा (Judicial Review) संविधान का मूल ढांचा है। अतः 24 अप्रैल, 1973 (केशवानंद भारती निर्णय की तिथि) के बाद नौवीं अनुसूची में शामिल किए गए किसी भी अधिनियम की संवैधानिक वैधता की अदालत द्वारा जांच की जा सकती है, यदि वह संविधान के भाग III के मौलिक अधिकारों (विशेषकर अनुच्छेद 14, 19 और 21) के सार या संविधान के मूल ढांचे को नष्ट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दसवीं अनुसूची (दल-बदल विरोधी कानून) के तहत किसी सांसद या विधायक की अयोग्यता का निर्णय किसके द्वारा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राष्ट्रपति या संबंधित राज्य का राज्यपाल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निर्वाचन आयोग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संबंधित सदन का पीठासीन अधिकारी (अध्यक्ष या सभापति)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उच्चतम न्यायालय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20/300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संबंधित सदन का पीठासीन अधिकारी (अध्यक्ष या सभापति)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राष्ट्रपति या संबंधित राज्य का राज्यपाल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निर्वाचन आयोग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उच्चतम न्यायालय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52वें संविधान संशोधन अधिनियम (1985) द्वारा जोड़ी गई दसवीं अनुसूची के पैरा 6 के अनुसार, दल-बदल (Defection) के आधार पर किसी सदस्य की अयोग्यता से संबंधित किसी भी प्रश्न का निर्णय करने का अनन्य अधिकार संबंधित सदन के पीठासीन अधिकारी (लोकसभा में अध्यक्ष और राज्यसभा में सभापति) के पास होता है। किहोतो होलोहान बनाम जचिल्हू (1992) मामले में सुप्रीम कोर्ट ने व्यवस्था दी कि पीठासीन अधिकारी इस संदर्भ में एक 'न्यायाधिकरण' (Tribunal) के रूप में कार्य करता है, इसलिए उसके अंतिम निर्णय की अदालत द्वारा न्यायिक समीक्षा (Judicial Review) की जा सकती है, लेकिन निर्णय प्रक्रिया के बीच में अदालत हस्तक्षेप नहीं कर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20/300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ग्यारहवीं और बारहवीं अनुसूची में क्रमशः पंचायतों और नगरपालिकाओं के प्रशासनिक कार्यक्षेत्र हेतु कितने-कितने विषयों को सूचीबद्ध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पंचायतों के लिए 21 विषय तथा नगरपालिकाओं के लिए 18 विषय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पंचायतों के लिए 29 विषय तथा नगरपालिकाओं के लिए 18 विषय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पंचायतों के लिए 18 विषय तथा नगरपालिकाओं के लिए 29 विषय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पंचायतों के लिए 33 विषय तथा नगरपालिकाओं के लिए 25 विषय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21/300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पंचायतों के लिए 29 विषय तथा नगरपालिकाओं के लिए 18 विषय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पंचायतों के लिए 21 विषय तथा नगरपालिकाओं के लिए 18 विषय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पंचायतों के लिए 18 विषय तथा नगरपालिकाओं के लिए 29 विषय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पंचायतों के लिए 33 विषय तथा नगरपालिकाओं के लिए 25 विषय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73वें संविधान संशोधन अधिनियम, 1992 द्वारा संविधान में 'ग्यारहवीं अनुसूची' (अनुच्छेद 243-G) जोड़ी गई, जिसके अंतर्गत पंचायती राज संस्थाओं को आर्थिक विकास और सामाजिक न्याय की योजनाएं तैयार करने हेतु 29 कार्यात्मक विषय (जैसे कृषि, लघु सिंचाई, पशुपालन, ग्रामीण आवास, पेयजल, सड़कें, गरीबी उपशमन आदि) सौंपे गए हैं। वहीं 74वें संविधान संशोधन अधिनियम, 1992 द्वारा 'बारहवीं अनुसूची' (अनुच्छेद 243-W) जोड़ी गई, जिसमें नगरपालिकाओं और शहरी स्थानीय निकायों के प्रशासनिक दायित्वों के लिए 18 विषय (जैसे नगर योजना, भूमि उपयोग नियमन, सड़कें व पुल, जल आपूर्ति, लोक स्वास्थ्य व स्वच्छता आदि) सूचीबद्ध किए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21/300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में विदेशी स्रोतों से गृहीत विशेषताओं के संदर्भ में सही युग्म का मिलान कीजिए: सूची-I: सूची-I: A. विधि का शासन एवं संसदीय शासन प्रणाली B. मूल अधिकार एवं न्यायिक पुनरावलोकन की शक्ति C. राज्य के नीति-निदेशक तत्व एवं राष्ट्रपति का निर्वाचन मंडल D. समवर्ती सूची एवं संसद के दोनों सदनों की संयुक्त बैठक सूची-II: 1. संयुक्त राज्य अमेरिका 2. ब्रिटेन 3. ऑस्ट्रेलिया 4. आयरलैंड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B-3, C-2, D-1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22/300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B-3, C-2, D-1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निर्माताओं ने विभिन्न देशों के संविधानों से उत्कृष्ट लोकतांत्रिक विशेषताओं को ग्रहण किया है। ब्रिटेन से विधि का शासन (Rule of Law), संसदीय प्रणाली, एकल नागरिकता, मंत्रिमंडलीय प्रणाली और विधायी प्रक्रिया ली गई। संयुक्त राज्य अमेरिका से मूल अधिकार, उद्देशिका का विचार, न्यायपालिका की स्वतंत्रता, न्यायिक पुनरावलोकन (Judicial Review), और राष्ट्रपति पर महाभियोग लिया गया। आयरलैंड से राज्य के नीति-निदेशक तत्व (DPSP), राष्ट्रपति की निर्वाचन पद्धति और राज्यसभा में 12 सदस्यों का मनोनयन ग्रहण किया गया। ऑस्ट्रेलिया से समवर्ती सूची का प्रावधान, व्यापार-वाणिज्य की स्वतंत्रता तथा संसद के दोनों सदनों की संयुक्त बैठक (अनुच्छेद 108) ली गई। अतः सही सुमेल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22/300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में 'सशक्त केंद्र के साथ अर्ध-संघात्मक व्यवस्था' (Quasi-Federal System) और 'केंद्र के पास अवशिष्ट शक्तियां' (Residuary Powers) किस देश के संविधान से प्रेरित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संयुक्त राज्य अमेरिका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कनाडा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ऑस्ट्रेलिया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सोवियत संघ (USSR)</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23/300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कनाडा</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संयुक्त राज्य अमेरिका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ऑस्ट्रेलिया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सोवियत संघ (USSR)</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संघवाद अमेरिकी संघवाद से भिन्न है, क्योंकि अमेरिका में राज्य अविनाशी हैं और अवशिष्ट शक्तियां राज्यों को दी गई हैं। भारत में कनाडा के संविधान से प्रेरणा लेकर एक 'सशक्त केंद्र वाला संघीय ढांचा' अपनाया गया है। कनाडा के मॉडल के अनुसार: 1. भारत को 'राज्यों का संघ' (Union of States) कहा गया है, 2. अनुच्छेद 248 के तहत अवशिष्ट शक्तियां (Residuary Powers) संसद में निहित हैं, 3. केंद्र द्वारा राज्यों के राज्यपालों की नियुक्ति की जाती है, और 4. उच्चतम न्यायालय का राष्ट्रपति को सलाहकारी क्षेत्राधिकार (अनुच्छेद 143) भी कनाडा से ही लिया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23/300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21 में प्रयुक्त पदावली 'विधि द्वारा स्थापित प्रक्रिया' (Procedure Established by Law) किस देश के संविधान से ली गई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संयुक्त राज्य अमेरिका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ब्रिटेन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जापान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दक्षिण अफ्रीका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24/300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जापान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संयुक्त राज्य अमेरिका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ब्रिटेन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दक्षिण अफ्रीका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21 में उल्लिखित 'विधि द्वारा स्थापित प्रक्रिया' (Procedure Established by Law) शब्दावली जापान के संविधान (अनुच्छेद 31) से ग्रहण की गई थी। इसके विपरीत अमेरिकी संविधान में 'विधि की सम्यक प्रक्रिया' (Due Process of Law) शब्दावली है, जो न केवल प्रक्रिया की वैधानिकता बल्कि कानून के प्राकृतिक न्याय और निष्पक्षता की भी जांच करती है। मेनका गांधी बनाम भारत संघ (1978) वाद में उच्चतम न्यायालय ने अनुच्छेद 21 का उदार निर्वचन करते हुए 'विधि द्वारा स्थापित प्रक्रिया' के भीतर ही अमेरिकी 'विधि की सम्यक प्रक्रिया' (उचित, निष्पक्ष व तर्कसंगत प्रक्रिया) को अंतर्निहित मान लिया।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24/300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किस देश से ग्रहण किए गए प्रावधान के तहत आपातकाल के दौरान राष्ट्रपति द्वारा मौलिक अधिकारों (अनुच्छेद 20 और 21 को छोड़कर) के प्रवर्तन को निलंबित करने की शक्ति प्राप्त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सोवियत संघ का संविधान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जर्मनी का वाइमर (Weimar) संविधान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दक्षिण अफ्रीका का संविधान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कनाडा का संविधान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25/300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जर्मनी का वाइमर (Weimar) संविधान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सोवियत संघ का संविधान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दक्षिण अफ्रीका का संविधान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कनाडा का संविधान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आपातकाल के दौरान मूल अधिकारों का स्थगन (अनुच्छेद 359 के तहत न्यायालय जाने के अधिकार का निलंबन) का प्रावधान जर्मनी के वाइमर संविधान (Weimar Constitution) से लिया गया है। वहीं संविधान संशोधन की प्रक्रिया तथा राज्य सभा के सदस्यों का निर्वाचन दक्षिण अफ्रीका के संविधान से गृहीत है। मूल कर्तव्य तथा प्रस्तावना में सामाजिक, आर्थिक और राजनीतिक न्याय का आदर्श सोवियत संघ (पूर्व USSR) के संविधान से प्रेरित है। आपातकाल के वित्तीय और प्रशासनिक उपबंध मुख्य रूप से भारत शासन अधिनियम, 1935 से लिए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25/300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भाग-I (संघ और उसका राज्यक्षेत्र, अनुच्छेद 1 से 4) के संदर्भ में निम्नलिखित कथनों पर विचार कीजिए: A. अनुच्छेद 1(1) घोषित करता है कि 'भारत, अर्थात् इंडिया, राज्यों का संघ होगा'। B. अनुच्छेद 2 संसद को विधि द्वारा नए राज्यों के भारतीय संघ में प्रवेश या उनकी स्थापना की शक्ति देता है। C. अनुच्छेद 3 संसद को साधारण बहुमत द्वारा किसी राज्य के क्षेत्रफल को घटाने, बढ़ाने, सीमा या नाम में परिवर्तन करने का अधिकार देता है। D. अनुच्छेद 4 के अनुसार नए राज्यों का निर्माण या सीमाओं में परिवर्तन अनुच्छेद 368 के तहत संविधान संशोधन नहीं माना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26/300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भाग-I भारत के राज्यक्षेत्रीय ढांचे का नियमन करता है। अनुच्छेद 1 भारत को 'राज्यों का संघ' कहता है, जिसका अर्थ है कि भारतीय संघ राज्यों के बीच किसी समझौते का परिणाम नहीं है और किसी राज्य को संघ से अलग होने का अधिकार नहीं है (अविनाशी संघ का विनाशी राज्य)। अनुच्छेद 2 उन क्षेत्रों के प्रवेश से संबंधित है जो पहले भारत का हिस्सा नहीं थे (जैसे सिक्किम)। अनुच्छेद 3 मौजूदा राज्यों के पुनर्गठन से संबंधित है, जिसके लिए राष्ट्रपति प्रभावित राज्य विधानसभा को राय हेतु विधेयक भेजते हैं (राय बाध्यकारी नहीं होती)। अनुच्छेद 4 स्पष्ट करता है कि अनुच्छेद 2 व 3 के तहत किया गया कोई भी कानून साधारण बहुमत से पारित होगा और अनुच्छेद 368 के तहत संशोधन नहीं माना जाएगा।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26/300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वर्ष 1953 में गठित राज्य पुनर्गठन आयोग (SRC - फजल अली आयोग) के अन्य दो सदस्य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सरदार पटेल और वी. पी. मेनन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 एम. पणिक्कर और हृदयनाथ कुंजरू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पट्टाभि सीतारमैया और जवाहरलाल नेहरू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एस. के. धर और जे. बी. कृपलानी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27/300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 एम. पणिक्कर और हृदयनाथ कुंजरू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 पटेल और वी. पी. मेनन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पट्टाभि सीतारमैया और जवाहरलाल नेहरू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एस. के. धर और जे. बी. कृपलानी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भाषा के आधार पर राज्यों के पुनर्गठन की मांग (विशेषकर आंध्र राज्य के गठन) के पश्चात दिसंबर 1953 में भारत सरकार ने सर्वोच्च न्यायालय के पूर्व मुख्य न्यायाधीश फजल अली की अध्यक्षता में तीन-सदस्यीय 'राज्य पुनर्गठन आयोग' का गठन किया। इस आयोग के अन्य दो सदस्य प्रख्यात इतिहासकार व राजनयिक के. एम. पणिक्कर तथा शिक्षाविद् व सांसद हृदयनाथ कुंजरू थे। इस आयोग ने 1955 में अपनी रिपोर्ट दी, जिसमें 'एक भाषा, एक राज्य' के सिद्धांत को अस्वीकार करते हुए प्रशासनिक सुविधा, भाषाई एकरूपता और वित्तीय व्यवहार्यता के आधार पर 16 राज्यों और 3 केंद्रशासित प्रदेशों के गठन की सिफारिश की थी। इसी रिपोर्ट के आधार पर राज्य पुनर्गठन अधिनियम, 1956 पारित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27/300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7वें संविधान संशोधन अधिनियम, 1956 द्वारा भारतीय राज्यों के तत्कालीन चार वर्गों (भाग क, ख, ग, घ) को समाप्त करके भारत में कितने राज्य और केंद्रशासित प्रदेश स्थापित किए गए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12 राज्य और 5 केंद्रशासित प्रदेश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14 राज्य और 6 केंद्रशासित प्रदेश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16 राज्य और 3 केंद्रशासित प्रदेश</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18 राज्य और 7 केंद्रशासित प्रदेश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28/300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14 राज्य और 6 केंद्रशासित प्रदेश</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12 राज्य और 5 केंद्रशासित प्रदेश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16 राज्य और 3 केंद्रशासित प्रदेश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 राज्य और 7 केंद्रशासित प्रदेश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संविधान (1950) में राज्यों को चार श्रेणियों में विभाजित किया गया था: भाग 'क' (ब्रिटिश प्रांत - 9), भाग 'ख' (बड़ी देशी रियासतें जैसे राजस्थान - 9), भाग 'ग' (मुख्य आयुक्त के प्रांत - 10) और भाग 'घ' (अंडमान-निकोबार द्वीप समूह)। 7वें संविधान संशोधन अधिनियम, 1956 द्वारा इस जटिल चार-स्तरीय वर्गीकरण और 'राजप्रमुख' के पद को समाप्त कर दिया गया तथा पूरे देश को 14 राज्यों और 6 केंद्रशासित प्रदेशों में पुनर्गठित किया गया। राजस्थान भाग 'ख' से निकलकर 1 नवंबर, 1956 को एक पूर्ण राज्य बना और राजप्रमुख का पद समाप्त कर प्रथम राज्यपाल की नियुक्ति की गई।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28/300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भाग-II (अनुच्छेद 5 से 11) तथा नागरिकता अधिनियम, 1955 के संदर्भ में निम्नलिखित कथनों पर विचार कीजिए: A. भारत का संविधान केवल एकल नागरिकता (Single Citizenship) और एकल अधिवास प्रदान करता है। B. संविधान लागू होने के समय (26 जनवरी, 1950) नागरिकता का निर्धारण संविधान के अनुच्छेद 5 से 8 द्वारा हुआ। C. अनुच्छेद 11 संसद को नागरिकता के अर्जन, समाप्ति तथा नागरिकता संबंधी सभी मामलों पर कानून बनाने की पूर्ण शक्ति देता है। D. नागरिकता अधिनियम, 1955 के तहत जन्म, वंश, पंजीकरण, प्राकृतिकरण (देशीयीकरण) और क्षेत्र समाविष्टि द्वारा नागरिकता प्राप्त की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29/300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अमेरिका की तरह दोहरी नागरिकता नहीं है, बल्कि पूरे देश के लिए एकल नागरिकता है। संविधान के अनुच्छेद 5 से 8 केवल 26 जनवरी, 1950 के समय नागरिकों की पहचान से संबंधित थे। भविष्य के लिए अनुच्छेद 11 ने संसद को नागरिकता संबंधी कानून बनाने की शक्ति दी, जिसके तहत संसद ने 'नागरिकता अधिनियम, 1955' पारित किया। इस अधिनियम के अनुसार नागरिकता प्राप्त करने के 5 तरीके हैं: 1. जन्म द्वारा, 2. वंशानुगत, 3. पंजीकरण, 4. प्राकृतिकरण, और 5. नए राज्यक्षेत्र के भारत में विलय द्वारा। वहीं नागरिकता समाप्ति के 3 आधार हैं: स्वैच्छिक त्याग (Renunciation), अन्य देश की नागरिकता लेने पर पर्यवसान (Termination), और सरकार द्वारा वंचित करना (Deprivation)।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29/300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नागरिकता (संशोधन) अधिनियम, 2019 (CAA) के तहत किन तीन पड़ोसी देशों के छह प्रताड़ित अल्पसंख्यक समुदायों (हिंदू, सिख, बौद्ध, जैन, पारसी और ईसाई) को भारतीय नागरिकता हेतु विशेष पात्रता प्रदान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पाकिस्तान, श्रीलंका और बांग्लादेश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पाकिस्तान, बांग्लादेश और अफगानिस्तान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पाकिस्तान, म्यांमार और नेपाल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अफगानिस्तान, भूटान और मालदीव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30/300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पाकिस्तान, बांग्लादेश और अफगानिस्तान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पाकिस्तान, श्रीलंका और बांग्लादेश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पाकिस्तान, म्यांमार और नेपाल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अफगानिस्तान, भूटान और मालदीव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नागरिकता (संशोधन) अधिनियम, 2019 (Citizenship Amendment Act - CAA) 12 दिसंबर, 2019 को अधिसूचित हुआ तथा 10 जनवरी, 2020 से प्रभावी हुआ (इसके नियम मार्च 2024 में अधिसूचित किए गए)। यह कानून तीन पड़ोसी देशों-पाकिस्तान, बांग्लादेश और अफगानिस्तान-से धार्मिक प्रताड़ना के कारण 31 दिसंबर, 2014 को या उससे पहले भारत आए छह गैर-मुस्लिम अल्पसंख्यक समुदायों (हिंदू, सिख, बौद्ध, जैन, पारसी और ईसाई) को अवैध प्रवासी न मानते हुए देशीयीकरण द्वारा त्वरित भारतीय नागरिकता प्रदान करता है। यह कानून संविधान की छठी अनुसूची के जनजातीय क्षेत्रों और बंगाल ईस्टर्न फ्रंटियर रेगुलेशन 1873 के इनर लाइन परमिट (ILP) वाले पूर्वोत्तर क्षेत्रों पर लागू नहीं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30/300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12 के अंतर्गत 'राज्य' (State) की परिभाषा में निम्नलिखित में से कौन-सा निकाय शामिल नहीं माना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राजस्थान राज्य विद्युत मंडल एवं जीवन बीमा निगम (LIC)</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वैज्ञानिक और औद्योगिक अनुसंधान परिषद (CSIR) तथा तेल एवं प्राकृतिक गैस निगम (ONGC)</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भारतीय क्रिकेट नियंत्रण बोर्ड (BCCI)</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दिल्ली नगर निगम तथा स्थानीय प्राधिकरण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425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31/300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भारतीय क्रिकेट नियंत्रण बोर्ड (BCCI)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राजस्थान राज्य विद्युत मंडल एवं जीवन बीमा निगम (LIC)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वैज्ञानिक और औद्योगिक अनुसंधान परिषद (CSIR) तथा तेल एवं प्राकृतिक गैस निगम (ONGC)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दिल्ली नगर निगम तथा स्थानीय प्राधिकरण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 III के प्रयोजनों के लिए अनुच्छेद 12 'राज्य' को परिभाषित करता है, जिसमें भारत सरकार, संसद, राज्य सरकारें, विधानमंडल, सभी स्थानीय प्राधिकारी (नगरपालिकाएं, पंचायतें) तथा 'अन्य प्राधिकारी' (Other Authorities) शामिल हैं। ज़ी टेलीफिल्म्स बनाम भारत संघ (2005) मामले में उच्चतम न्यायालय ने व्यवस्था दी कि भारतीय क्रिकेट नियंत्रण बोर्ड (BCCI) एक गैर-सरकारी स्वायत्त सोसाइटी है, जिसे न तो सरकार से वित्तीय सहायता मिलती है और न ही इस पर सरकार का प्रत्यक्ष प्रशासनिक नियंत्रण है, अतः यह अनुच्छेद 12 के तहत 'राज्य' की परिभाषा में नहीं आता। इसके विपरीत बिजली बोर्ड, एलआईसी, ओएनजीसी, सीएसआईआर आदि वैधानिक निगम सरकारी नियंत्रण में होने के कारण राज्य माने गए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425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31/300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13 तथा मौलिक अधिकारों के न्यायिक संरक्षण के संदर्भ में निम्नलिखित कथनों पर विचार कीजिए: A. अनुच्छेद 13(1) संविधान-पूर्व विधियों पर 'आच्छादन का सिद्धांत' (Doctrine of Eclipse) लागू करता है। B. अनुच्छेद 13(2) राज्य को ऐसा कोई कानून बनाने से रोकता है जो भाग III के मौलिक अधिकारों को छीनता या न्यून करता हो। C. 'पृथक्करणीयता का सिद्धांत' (Doctrine of Severability) यह तय करता है कि किसी कानून का केवल उतना ही भाग शून्य होगा जो मौलिक अधिकारों से असंगत है, न कि पूरा अधिनियम। D. भारतीय नागरिकों को मौलिक अधिकारों के परित्याग या 'अधित्यजन का अधिकार' (Doctrine of Waiver) प्राप्त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825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32/300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13 भारत में न्यायिक समीक्षा का आधार स्तंभ है। भीकाजी बनाम मध्य प्रदेश राज्य (1955) में 'आच्छादन का सिद्धांत' प्रतिपादित हुआ कि संविधान-पूर्व असंगत कानून मृत नहीं होते बल्कि मौलिक अधिकारों द्वारा ढक (eclipse) लिए जाते हैं। आर.एम.डी.सी. बनाम भारत संघ (1957) में 'पृथक्करणीयता का सिद्धांत' मान्य हुआ कि असंगत भाग को शेष वैध भाग से अलग किया जा सकता है। बशेश्वर नाथ बनाम सीआईटी (1959) में सुप्रीम कोर्ट ने तय किया कि भारत में कोई भी नागरिक अपने मौलिक अधिकारों का स्वैच्छिक अधित्यजन (Waiver) नहीं कर सकता, क्योंकि ये अधिकार लोक नीति और सामाजिक कल्याण के संवैधानिक संरक्षण हैं।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825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32/300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14 में प्रयुक्त 'विधि के समक्ष समता' और 'विधियों का समान संरक्षण' की संकल्पनाएं क्रमशः किन दो देशों के संवैधानिक दर्शन से प्रेरित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संयुक्त राज्य अमेरिका और ब्रिटेन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ब्रिटेन और संयुक्त राज्य अमेरिका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आयरलैंड और ऑस्ट्रेलिया</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कनाडा और फ्रांस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22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33/300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ब्रिटेन और संयुक्त राज्य अमेरिका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संयुक्त राज्य अमेरिका और ब्रिटेन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आयरलैंड और ऑस्ट्रेलिया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कनाडा और फ्रांस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14 घोषित करता है कि 'राज्य, भारत के राज्यक्षेत्र में किसी व्यक्ति को विधि के समक्ष समता से या विधियों के समान संरक्षण से वंचित नहीं करेगा'। इसमें पहला वाक्यांश 'विधि के समक्ष समता' (Equality before Law) ब्रिटिश कॉमन लॉ परंपरा और ए. वी. डायसी के 'विधि के शासन' (Rule of Law) से लिया गया एक नकारात्मक सिद्धांत है, जिसका अर्थ है कि कानून की नजर में कोई भी व्यक्ति विशेषाधिकार प्राप्त नहीं है। दूसरा वाक्यांश 'विधियों का समान संरक्षण' (Equal Protection of the Laws) अमेरिकी संविधान के 14वें संशोधन से लिया गया एक सकारात्मक सिद्धांत है, जिसका अर्थ है कि समान परिस्थितियों में स्थित व्यक्तियों के साथ कानून द्वारा समान व्यवहार किया जाना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22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33/300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उच्चतम न्यायालय ने ई. पी. रोयप्पा (1974) और मेनका गांधी (1978) मामलों में अनुच्छेद 14 की व्याख्या करते हुए समानता का कौन-सा नया गतिशील सिद्धांत प्रतिपादित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यथार्थवादी वर्गीकरण का सिद्धांत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स्वेच्छाचारिता के विरुद्ध संरक्षण का सिद्धांत (Doctrine against Arbitrariness)</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न्यायिक संयम का सिद्धांत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संसदीय सर्वोच्चता का सिद्धांत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3627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34/300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स्वेच्छाचारिता के विरुद्ध संरक्षण का सिद्धांत (Doctrine against Arbitrariness)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यथार्थवादी वर्गीकरण का सिद्धांत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न्यायिक संयम का सिद्धांत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संसदीय सर्वोच्चता का सिद्धांत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पूर्व में अनुच्छेद 14 को केवल 'उचित वर्गीकरण' (Reasonable Classification) की कसौटी पर परखा जाता था। लेकिन ई. पी. रोयप्पा बनाम तमिलनाडु राज्य (1974) मामले में न्यायमूर्ति पी. एन. भगवती ने समानता के गतिशील सिद्धांत का प्रतिपादन करते हुए कहा कि "समानता एक जीवंत अवधारणा है और इसे केवल वर्गीकरण के पारंपरिक ढांचे में नहीं बांधा जा सकता। समानता और स्वेच्छाचारिता एक-दूसरे के धुर विरोधी हैं। जहाँ कोई कार्य स्वेच्छाचारी (Arbitrary) है, वहां समानता का अनिवार्यतः उल्लंघन होता है।" मेनका गांधी वाद में इस सिद्धांत को और सुदृढ़ किया गया कि कार्यपालिका की मनमानी और अनियंत्रित विवेकाधिकार अनुच्छेद 14 का उल्लंघन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3627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34/300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अनुच्छेद 15(1) के तहत राज्य को अपने नागरिकों के विरुद्ध केवल किन आधारों पर विभेद करने से स्पष्ट रूप से प्रतिबंधित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धर्म, मूलवंश, जाति, लिंग, जन्मस्थान और निवास</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धर्म, मूलवंश, जाति, लिंग या जन्मस्थान (केवल ये 5 आधार)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धर्म, जाति, भाषा, लिंग और संपत्ति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जाति, प्रजाति, पंथ, वर्ग और समुदाय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028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35/300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धर्म, मूलवंश, जाति, लिंग या जन्मस्थान (केवल ये 5 आधार)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धर्म, मूलवंश, जाति, लिंग, जन्मस्थान और निवास</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धर्म, जाति, भाषा, लिंग और संपत्ति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जाति, प्रजाति, पंथ, वर्ग और समुदाय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15(1) में प्रयुक्त शब्दावली है: "राज्य किसी नागरिक के विरुद्ध केवल धर्म, मूलवंश, जाति, लिंग, जन्मस्थान या इनमें से किसी के आधार पर कोई विभेद नहीं करेगा।" संविधान निर्माताओं ने इसमें अत्यंत सतर्कता से 'केवल' (Only) शब्द का प्रयोग किया है और इसमें केवल 5 आधार उल्लिखित हैं: धर्म (Religion), मूलवंश (Race), जाति (Caste), लिंग (Sex) और जन्मस्थान (Place of birth)। इसमें 'निवास' (Residence) या 'भाषा' शामिल नहीं है, इसलिए राज्य शैक्षणिक संस्थानों या कल्याणकारी योजनाओं में अपने राज्य के निवासियों को वरीयता दे सकता है (जैसे डी. पी. जोशी वाद 1955)।</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028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35/300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15 और 16 में विभिन्न संशोधनों द्वारा अंतःस्थापित उपबंधों का सही मिलान कीजिए: सूची-I: सूची-I: A. अनुच्छेद 15 B. अनुच्छेद 15(5) - निजी गैर-सहायता प्राप्त शिक्षण संस्थानों में प्रवेश में आरक्षण C. अनुच्छेद 16(4क) - SC/ST कर्मचारियों को पदोन्नति में परिणामी वरिष्ठता सहित आरक्षण D. अनुच्छेद 15(6) एवं 16(6) - आर्थिक रूप से कमजोर वर्गों (EWS) को 10% आरक्षण सूची-II: 4. - सामाजिक एवं शैक्षणिक रूप से पिछड़े वर्गों/SC/ST हेतु विशेष उपबंध 1. 93वां संविधान संशोधन अधिनियम, 2005 2. प्रथम संविधान संशोधन अधिनियम, 1951 3. 103वां संविधान संशोधन अधिनियम, 2019 4. 77वां एवं 85वां संविधान संशोधन अधिनियम</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429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36/300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मद्रास राज्य बनाम चंपकम दोरईराजन (1951) निर्णय के प्रभाव को समाप्त करने के लिए प्रथम संशोधन 1951 द्वारा अनुच्छेद 15(4) जोड़ा गया। पी. ए. इनामदार वाद (2005) के बाद 93वें संशोधन 2005 द्वारा अनुच्छेद 15(5) जोड़ा गया, जिसके तहत अल्पसंख्यक संस्थानों को छोड़कर सभी निजी शिक्षण संस्थानों में ओबीसी/एससी/एसटी आरक्षण लागू हुआ (अशोक कुमार ठाकुर केस में वैध ठहराया गया)। इंद्रा साहनी निर्णय में पदोन्नति में आरक्षण पर रोक के बाद 77वें संशोधन (1995) द्वारा अनुच्छेद 16(4क) जोड़ा गया और 85वें संशोधन (2001) से परिणामी वरिष्ठता दी गई। 103वें संशोधन 2019 द्वारा अनुच्छेद 15(6) और 16(6) जोड़कर सामान्य वर्ग के EWS को 10% आरक्षण दिया गया (जनहित अभियान वाद 2022 में वैध मान्य)।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429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36/300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ऐतिहासिक इंद्रा साहनी बनाम भारत संघ (1992 - मंडल वाद) में उच्चतम न्यायालय की 9-न्यायाधीशों की पीठ के निर्णय के संदर्भ में निम्नलिखित कथनों पर विचार कीजिए: A. अन्य पिछड़ा वर्ग (OBC) के लिए 27% आरक्षण की संवैधानिक वैधता को बरकरार रखा गया। B. पिछड़े वर्गों में से संपन्न तबके यानी 'क्रीमी लेयर' (Creamy Layer) को आरक्षण के लाभ से बाहर रखने का आदेश दिया गया। C. विशेष और असाधारण परिस्थितियों को छोड़कर आरक्षण की कुल सीमा 50% से अधिक नहीं होनी चाहिए। D. प्रारंभिक नियुक्तियों में आरक्षण अनुमेय है, लेकिन पदोन्नति में आरक्षण लागू नहीं किया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4830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37/300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इंद्रा साहनी बनाम भारत संघ (1992) भारतीय आरक्षण विधि का सबसे युगांतरकारी निर्णय है। इसमें 9 जजों की संविधान पीठ ने 6:3 के बहुमत से फैसला सुनाया: 1. ओबीसी हेतु 27% आरक्षण वैध है, 2. आरक्षण केवल सामाजिक व शैक्षणिक पिछड़ेपन पर हो सकता है, विशुद्ध आर्थिक आधार पर नहीं, 3. पिछड़े वर्ग के संपन्न लोगों की पहचान के लिए 'क्रीमी लेयर' सिद्धांत अनिवार्य किया गया (जिसके लिए सरकार ने 1993 में रामनंदन समिति गठित की), 4. अनुच्छेद 16(4) के तहत कुल आरक्षण 50% की सीमा से अधिक नहीं होना चाहिए, और 5. आरक्षण केवल सीधी भर्ती में होगा, पदोन्नति (Promotions) में नहीं। अतः चारों कथन पूर्णतः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4830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37/300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17 द्वारा 'अस्पृश्यता' (Untouchability) के अंत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'अस्पृश्यता' शब्द को संविधान में या किसी अधिनियम में कहीं भी परिभाषित नहीं किया गया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17 एक पूर्ण (Absolute) अधिकार है और यह राज्य के साथ-साथ निजी व्यक्तियों के विरुद्ध भी लागू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ने अनुच्छेद 35 के तहत शक्तियों का प्रयोग करते हुए अस्पृश्यता (अपराध) अधिनियम, 1955 पारित किया, जिसका नाम 1976 में बदलकर 'नागरिक अधिकार संरक्षण अधिनियम' कर दिया गया।</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अस्पृश्यता के आचरण के दोषी व्यक्ति को संसद या राज्य विधानसभा का चुनाव लड़ने की अनुमति प्राप्त रहती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23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38/300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अस्पृश्यता के आचरण के दोषी व्यक्ति को संसद या राज्य विधानसभा का चुनाव लड़ने की अनुमति प्राप्त रहती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'अस्पृश्यता' शब्द को संविधान में या किसी अधिनियम में कहीं भी परिभाषित नहीं किया गया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17 एक पूर्ण (Absolute) अधिकार है और यह राज्य के साथ-साथ निजी व्यक्तियों के विरुद्ध भी लागू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ने अनुच्छेद 35 के तहत शक्तियों का प्रयोग करते हुए अस्पृश्यता (अपराध) अधिनियम, 1955 पारित किया, जिसका नाम 1976 में बदलकर 'नागरिक अधिकार संरक्षण अधिनियम' कर दिया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प्रतिनिधित्व अधिनियम, 1951 की धारा 8 और नागरिक अधिकार संरक्षण अधिनियम, 1955 के तहत यदि किसी व्यक्ति को अस्पृश्यता के आचरण या प्रचार के अपराध में दोषी ठहराया जाता है, तो वह संसद या राज्य विधानमंडल का चुनाव लड़ने के लिए स्वतः अयोग्य (Disqualified) हो जाता है। अतः कथन D गलत है। अस्पृश्यता शब्द को संविधान या कानून में परिभाषित नहीं किया गया है, मैसूर उच्च न्यायालय ने इसे ऐतिहासिक सामाजिक कुप्रथा माना है। अनुच्छेद 17 उन गिने-चुने मौलिक अधिकारों में से है जो निरपेक्ष हैं (जिनका कोई अपवाद नहीं है) और यह राज्य तथा निजी नागरिकों दोनों के विरुद्ध प्रवर्तनीय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23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38/300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बालाजी राघवन बनाम भारत संघ (1996) वाद में उच्चतम न्यायालय ने भारत रत्न और पद्म पुरस्कारों के संबंध में क्या निर्णय दिया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 पुरस्कार अनुच्छेद 18(1) के अंतर्गत निषिद्ध 'उपाधियां' (Titles) हैं, अतः इन्हें तत्काल बंद किया जाए।</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 पुरस्कार केवल राष्ट्रीय सम्मान और अलंकरण (Decorations) हैं, न कि अनुच्छेद 18(1) में निषिद्ध उपाधियां, लेकिन इनका उपयोग नाम के आगे या पीछे उपसर्ग या प्रत्यय के रूप में नहीं किया जा सकता।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 पुरस्कार केवल सेना और पुलिस के जवानों को ही दिए जा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एक वर्ष में अधिकतम 10 भारत रत्न पुरस्कार दिए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5631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39/300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 पुरस्कार केवल राष्ट्रीय सम्मान और अलंकरण (Decorations) हैं, न कि अनुच्छेद 18(1) में निषिद्ध उपाधियां, लेकिन इनका उपयोग नाम के आगे या पीछे उपसर्ग या प्रत्यय के रूप में नहीं किया जा सकता।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 पुरस्कार अनुच्छेद 18(1) के अंतर्गत निषिद्ध 'उपाधियां' (Titles) हैं, अतः इन्हें तत्काल बंद किया जाए।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 पुरस्कार केवल सेना और पुलिस के जवानों को ही दिए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एक वर्ष में अधिकतम 10 भारत रत्न पुरस्कार दिए जा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18(1) राज्य को सेना या विद्या संबंधी सम्मान के अलावा कोई भी 'उपाधि' (Title) प्रदान करने से रोकता है। बालाजी राघवन बनाम भारत संघ (1996) मामले में सुप्रीम कोर्ट की संविधान पीठ ने निर्णय दिया कि 1954 में प्रारंभ किए गए भारत रत्न, पद्म विभूषण, पद्म भूषण और पद्म श्री पुरस्कार अनुच्छेद 18(1) के अर्थ में 'उपाधियां' नहीं हैं, बल्कि ये नागरिकों की उत्कृष्ट सेवाओं के लिए राष्ट्रीय 'अलंकरण' (Decorations/Honours) हैं। अतः ये संवैधानिक रूप से वैध हैं। हालांकि न्यायालय ने यह सख्त हिदायत दी कि पुरस्कार प्राप्तकर्ता इन अलंकरणों का उपयोग अपने नाम के उपसर्ग (Prefix) या प्रत्यय (Suffix) के रूप में नहीं कर सकते; ऐसा करने पर पुरस्कार वापस लिया जा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5631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39/300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1887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40</a:t>
            </a:r>
          </a:p>
        </p:txBody>
      </p:sp>
      <p:sp>
        <p:nvSpPr>
          <p:cNvPr id="13" name="t13"/>
          <p:cNvSpPr txBox="1">
            <a:spLocks noGrp="1"/>
          </p:cNvSpPr>
          <p:nvPr/>
        </p:nvSpPr>
        <p:spPr>
          <a:xfrm>
            <a:off x="1508760" y="164592"/>
            <a:ext cx="10378440" cy="914400"/>
          </a:xfrm>
          <a:prstGeom prst="rect">
            <a:avLst/>
          </a:prstGeom>
          <a:noFill/>
          <a:ln>
            <a:noFill/>
          </a:ln>
        </p:spPr>
        <p:txBody>
          <a:bodyPr wrap="square" anchor="t">
            <a:normAutofit/>
          </a:bodyPr>
          <a:lstStyle/>
          <a:p>
            <a:pPr algn="l"/>
            <a:r>
              <a:rPr lang="hi-IN" altLang="en-US" sz="3200" b="1" dirty="0">
                <a:solidFill>
                  <a:srgbClr val="FFFFFF"/>
                </a:solidFill>
                <a:latin typeface="Nirmala UI"/>
                <a:cs typeface="Nirmala UI"/>
              </a:rPr>
              <a:t>अनुच्छेद 19 A. 1. C. 1.</a:t>
            </a:r>
          </a:p>
        </p:txBody>
      </p:sp>
      <p:sp>
        <p:nvSpPr>
          <p:cNvPr id="14" name="r14"/>
          <p:cNvSpPr>
            <a:spLocks noGrp="1"/>
          </p:cNvSpPr>
          <p:nvPr/>
        </p:nvSpPr>
        <p:spPr>
          <a:xfrm>
            <a:off x="164592" y="11887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417320"/>
            <a:ext cx="5806440" cy="21717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537460"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1417320"/>
            <a:ext cx="5806440" cy="21717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15544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599932" y="15087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3817620"/>
            <a:ext cx="5806440" cy="21717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537460"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3817620"/>
            <a:ext cx="5806440" cy="21717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3954780"/>
            <a:ext cx="1897380" cy="18973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599932" y="3909060"/>
            <a:ext cx="3406140" cy="19888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032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40/300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19(1) भारतीय नागरिकों को 6 लोकतांत्रिक स्वतंत्रताओं की गारंटी देता है: 19(1)(क) - वाक् एवं अभिव्यक्ति की स्वतंत्रता; 19(1)(ख) - शांतिपूर्वक और बिना हथियारों के सम्मेलन की स्वतंत्रता; 19(1)(ग) - संगम, संघ या सहकारी समिति (97वें संशोधन 2011 द्वारा जोड़ी गई) बनाने का अधिकार; 19(1)(घ) - भारत के राज्यक्षेत्र में सर्वत्र अबाध संचरण का अधिकार; 19(1)(ङ) - भारत के किसी भाग में निवास करने और बस जाने का अधिकार; [19(1)(च) - संपत्ति का अधिकार 44वें संशोधन 1978 द्वारा विलोपित]; और 19(1)(छ) - कोई भी वृत्ति, व्यापार या कारोबार करने की स्वतंत्रता। ये सभी अधिकार केवल भारतीय नागरिकों को उपलब्ध हैं, विदेशियों को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032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40/300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अनुच्छेद 19 A. को आधार के रूप में अंतःस्थापित किया गया। D. वर्तमान में अनुच्छेद 19 B. के तहत कुल 8 विशिष्ट आधारों पर अभिव्यक्ति की स्वतंत्रता पर प्रतिबंध लगाया जा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433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41/300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B, C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A गलत है क्योंकि 'विदेशी राज्यों से मित्रवत संबंध' और 'लोक व्यवस्था' मूल संविधान में नहीं थे, इन्हें रमेश थापर वाद के बाद 1st संशोधन 1951 द्वारा जोड़ा गया था। वर्तमान में अनुच्छेद 19(2) के तहत कुल 8 आधार हैं: 1. भारत की संप्रभुता और अखंडता (16वां संशोधन 1963), 2. राज्य की सुरक्षा, 3. विदेशी राज्यों के साथ मैत्रीपूर्ण संबंध (1st संशोधन), 4. लोक व्यवस्था (1st संशोधन), 5. शिष्टाचार या सदाचार, 6. न्यायालय की अवमानना, 7. मानहानि, और 8. अपराध के लिए उकसाना/उद्दीपन (1st संशोधन)। इन 8 आधारों से इतर कोई प्रतिबंध नहीं लगाया जा सकता और प्रतिबंध हमेशा 'युक्तियुक्त' (Reasonable) होने चाहिए, जिसकी जांच न्यायपालिका कर सकती है। अतः विकल्प C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433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41/300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किस वाद में उच्चतम न्यायालय ने सूचना प्रौद्योगिकी अधिनियम (IT Act), 2000 की धारा 66A को संविधान के अनुच्छेद 19(1)(क) का उल्लंघन मानते हुए असंवैधानिक घोषित कर निरस्त कर दिया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नाज़ फाउंडेशन वाद (2009)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श्रेया सिंघल बनाम भारत संघ (2015)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विशाखा बनाम राजस्थान राज्य (1997)</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शायरा बानो बनाम भारत संघ (2017)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6834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42/300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श्रेया सिंघल बनाम भारत संघ (2015)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नाज़ फाउंडेशन वाद (2009)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विशाखा बनाम राजस्थान राज्य (1997)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शायरा बानो बनाम भारत संघ (2017)</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श्रेया सिंघल बनाम भारत संघ (2015) वाद में उच्चतम न्यायालय ने सूचना प्रौद्योगिकी अधिनियम की धारा 66A को असंवैधानिक घोषित करते हुए रद्द कर दिया। धारा 66A के तहत कंप्यूटर या सोशल मीडिया पर 'आपत्तिजनक या असुविधाजनक' संदेश भेजने पर 3 साल तक की जेल का प्रावधान था। न्यायमूर्ति जे. चेलामेश्वर और न्यायमूर्ति रोहिंटन नरीमन की खंडपीठ ने फैसला दिया कि धारा 66A अत्यधिक अस्पष्ट (Vague), व्यापक और मनमानी थी, जिसने नागरिकों के वाक् एवं अभिव्यक्ति की स्वतंत्रता के मौलिक अधिकार [अनुच्छेद 19(1)(क)] पर असंगत प्रहार किया और यह अनुच्छेद 19(2) के किसी भी उचित प्रतिबंध के दायरे में नहीं आती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6834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42/300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नवीन जिंदल बनाम भारत संघ (2004) वाद में उच्चतम न्यायालय ने प्रत्येक नागरिक द्वारा सम्मान और गरिमा के साथ राष्ट्रीय ध्वज फहराने को किस अनुच्छेद के तहत मूल अधिकार माना?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19(1)(क)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234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43/300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19(1)(क)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संघ बनाम नवीन जिंदल (2004) के प्रसिद्ध मामले में सर्वोच्च न्यायालय के तीन जजों की पीठ ने ऐतिहासिक फैसला सुनाते हुए अभिनिर्धारित किया कि अपने घर, कार्यालय या परिसर में गरिमा और सम्मान के साथ राष्ट्रीय ध्वज (तिरंगा) फहराना भारत के प्रत्येक नागरिक का संविधान के अनुच्छेद 19(1)(क) [वाक् एवं अभिव्यक्ति की स्वतंत्रता] के अंतर्गत एक मौलिक अधिकार है। न्यायालय ने स्पष्ट किया कि राष्ट्रीय ध्वज फहराना राष्ट्र के प्रति निष्ठा, गर्व और देशभक्ति की अभिव्यक्ति का माध्यम है। हालांकि यह अधिकार निरपेक्ष नहीं है और यह 'प्रतीक और नाम अधिनियम 1950' तथा 'राष्ट्रीय गौरव अपमान निवारण अधिनियम 1971' के वैधानिक नियमों के अधीन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234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43/300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20 में अपराधों के लिए दोषसिद्धि के संबंध में प्रदत्त तीन सुरक्षा उपायों के संदर्भ में निम्नलिखित कथनों पर विचार कीजिए: A. अनुच्छेद 20(1) 'कार्योत्तर विधियों से संरक्षण' (Ex-post Facto Law) प्रदान करता है, जो केवल आपराधिक कानूनों पर लागू होता है, दीवानी या कर कानूनों पर नहीं। B. अनुच्छेद 20(2) 'दोहरे जोखिम से संरक्षण' (Protection against Double Jeopardy) देता है कि किसी व्यक्ति को एक ही अपराध के लिए एक से अधिक बार अभियोजित और दंडित नहीं किया जाएगा। C. अनुच्छेद 20(2) का संरक्षण केवल अदालत या न्यायिक न्यायाधिकरण की कार्यवाही पर लागू होता है, विभागीय या प्रशासनिक जांच पर नहीं। D. अनुच्छेद 20(3) 'आत्म-अभिशंसन से संरक्षण' (Protection against Self-Incrimination) देता है कि किसी भी अभियुक्त को स्वयं अपने विरुद्ध गवाह बनने के लिए बाध्य नहीं किया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7635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44/300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20 एक अत्यंत शक्तिशाली मौलिक अधिकार है जिसे 44वें संशोधन (1978) के बाद आपातकाल में भी निलंबित नहीं किया जा सकता। 20(1) के अनुसार किसी व्यक्ति को केवल उस कानून के उल्लंघन के लिए दोषी ठहराया जा सकता है जो कृत्य करते समय लागू था, और उस समय विहित सजा से अधिक सजा नहीं दी जा सकती (यह केवल दांडिक कानूनों पर लागू है, कर कानून पूर्वव्यापी हो सकते हैं)। 20(2) 'निमो डिबेट बिस वेक्सारी' सिद्धांत पर आधारित है, जो विभागीय अनुशासनात्मक दंड को दूसरी सजा नहीं मानता। 20(3) किसी आरोपी को अपने खिलाफ सबूत देने से बचाता है। अतः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7635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44/300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श्रीमती सेल्वी बनाम कर्नाटक राज्य (2010) के ऐतिहासिक निर्णय में सर्वोच्च न्यायालय ने अभियुक्त की सहमति के बिना नार्को-एनालिसिस, पॉलीग्राफ (लाई-डिटेक्टर) और ब्रेन-मैपिंग परीक्षणों को किन अनुच्छेदों का उल्लंघन माना?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अनुच्छेद 14 और 19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20(3) [आत्म-अभिशंसन] और अनुच्छेद 21 [व्यक्तिगत स्वतंत्रता व निजता]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अनुच्छेद 22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अनुच्छेद 25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036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45/300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अनुच्छेद 20(3) [आत्म-अभिशंसन] और अनुच्छेद 21 [व्यक्तिगत स्वतंत्रता व निजता]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अनुच्छेद 14 और 19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अनुच्छेद 22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अनुच्छेद 25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श्रीमती सेल्वी बनाम कर्नाटक राज्य (2010) मामले में भारत के प्रधान न्यायाधीश के. जी. बालकृष्णन की अध्यक्षता वाली तीन-न्यायाधीशों की पीठ ने निर्णय दिया कि किसी भी अभियुक्त या संदिग्ध व्यक्ति की स्वतंत्र सहमति के बिना उस पर नार्को-एनालिसिस (Narco-analysis), पॉलीग्राफ टेस्ट या ब्रेन इलेक्ट्रिकल एक्टिवेशन प्रोफाइल (BEAP/Brain Mapping) जैसी तकनीकें जबरन लागू करना असंवैधानिक है। यह प्रक्रिया संविधान के अनुच्छेद 20(3) द्वारा प्रदत्त 'आत्म-अभिशंसन के विरुद्ध अधिकार' (चूंकि यह व्यक्ति के अवचेतन मन से गवाही उगलवाती है) तथा अनुच्छेद 21 द्वारा संरक्षित 'दैहिक स्वतंत्रता और मानसिक निजता के अधिकार' का सीधा उल्लंघन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036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45/300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ए. के. गोपालन बनाम मद्रास राज्य (1950) से मेनका गांधी बनाम भारत संघ (1978) तक अनुच्छेद 21 के न्यायिक निर्वचन में सबसे क्रांतिकारी बदलाव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'विधि द्वारा स्थापित प्रक्रिया' की संकीर्ण व्याख्या को त्यागकर प्राकृतिक न्याय पर आधारित 'उचित, निष्पक्ष और न्यायसंगत प्रक्रिया' (विधि की सम्यक प्रक्रिया) को स्वीकार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जीवन के अधिकार को केवल भौतिक अस्तित्व (सांस लेने) तक सीमित कर देना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14, 19 और 21 को पूरी तरह से अलग-अलग (वाटरटाइट कंपार्टमेंट) घोषित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यात्रा के अधिकार को मौलिक अधिकारों से बाहर कर 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437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46/300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'विधि द्वारा स्थापित प्रक्रिया' की संकीर्ण व्याख्या को त्यागकर प्राकृतिक न्याय पर आधारित 'उचित, निष्पक्ष और न्यायसंगत प्रक्रिया' (विधि की सम्यक प्रक्रिया) को स्वीकार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जीवन के अधिकार को केवल भौतिक अस्तित्व (सांस लेने) तक सीमित कर 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14, 19 और 21 को पूरी तरह से अलग-अलग (वाटरटाइट कंपार्टमेंट) घोषित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यात्रा के अधिकार को मौलिक अधिकारों से बाहर कर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गोपालन वाद (1950) में अदालत ने अनुच्छेद 21 की संकीर्ण व्याख्या करते हुए कहा था कि यदि संसद ने कानून बनाकर कोई प्रक्रिया तय कर दी है, तो अदालत उस कानून की निष्पक्षता नहीं जांच सकती। लेकिन मेनका गांधी वाद (1978) में उच्चतम न्यायालय ने इसे पूरी तरह पलट दिया। न्यायालय ने अभिनिर्धारित किया कि अनुच्छेद 21 में केवल कोई भी मनमानी 'प्रक्रिया' पर्याप्त नहीं है; वह प्रक्रिया 'उचित, निष्पक्ष और तर्कसंगत' (Right, Just and Fair) होनी चाहिए, जो प्राकृतिक न्याय के सिद्धांतों के अनुरूप हो। साथ ही न्यायालय ने अनुच्छेद 14, 19 और 21 को परस्पर अनन्य न मानकर 'संवैधानिक स्वर्णिम त्रिभुज' (Golden Triangle) घोषित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437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46/300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न्यायमूर्ति के. एस. पुट्टास्वामी (सेवानिवृत्त) बनाम भारत संघ (2017) के 9-न्यायाधीशों की संविधान पीठ के ऐतिहासिक सर्वसम्मत फैसले ने 'निजता के अधिकार' (Right to Privacy) को संविधान के किस अनुच्छेद के तहत मौलिक अधिकार घोषित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19</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8838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47/300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21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न्यायमूर्ति के. एस. पुट्टास्वामी बनाम भारत संघ (2017) वाद में उच्चतम न्यायालय के सभी 9 न्यायाधीशों की संविधान पीठ ने सर्वसम्मति से निर्णय देते हुए एम. पी. शर्मा (1954) और खड़क सिंह (1962) के पुराने फैसलों को निरस्त कर दिया। पीठ ने घोषित किया कि 'निजता का अधिकार' (Right to Privacy) भारतीय संविधान के अनुच्छेद 21 के अंतर्गत 'जीवन और व्यक्तिगत स्वतंत्रता के अधिकार' का एक आंतरिक और अभिन्न अंग है तथा यह भाग III द्वारा गारंटीकृत स्वतंत्रताओं से प्रस्फुटित होता है। हालांकि निजता का अधिकार आत्यंतिक (Absolute) नहीं है और यह कानून की वैधता, वैध राज्य हित और आनुपातिकता (Proportionality) की कसौटी पर उचित प्रतिबंधों के अधीन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8838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47/300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उच्चतम न्यायालय द्वारा अनुच्छेद 21 के उदार निर्वचन के तहत घोषित विभिन्न अधिकारों और उनके संबंधित मील के पत्थर वादों पर विचार कीजिए: A. कार्यस्थल पर महिलाओं के यौन उत्पीड़न से संरक्षण - विशाखा बनाम राजस्थान राज्य (1997) B. जीवन रक्षा के लिए तत्काल निःशुल्क चिकित्सीय सहायता पाने का अधिकार - परमानंद कटारा बनाम भारत संघ (1989) C. गरिमापूर्ण जीवन के तहत आश्रय (आवास) का अधिकार - चमेली सिंह बनाम उत्तर प्रदेश राज्य (1996) D. निष्पक्ष एवं त्वरित विचारण का अधिकार तथा निःशुल्क विधिक सहायता - हुस्नआरा खातून एवं एम. एच. होसकोट वाद</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23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48/300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उच्चतम न्यायालय ने अनुच्छेद 21 का विस्तार करते हुए इसमें मानवीय गरिमा से जुड़े अनेक अधिकारों को समाहित किया है। विशाखा वाद (1997) में कार्यस्थल पर यौन उत्पीड़न रोकने हेतु ऐतिहासिक विशाखा गाइडलाइंस जारी की गईं। परमानंद कटारा वाद में तय हुआ कि हर डॉक्टर का पहला फर्ज घायल की जान बचाना है, चाहे पुलिस केस हो या नहीं। चमेली सिंह वाद में आवास और स्वच्छ वातावरण को गरिमापूर्ण जीवन का हिस्सा माना गया। हुस्नआरा खातून वाद (1979) से त्वरित विचारण और जेल में बंद विचाराधीन कैदियों की रिहाई की नींव पड़ी, और एम. एच. होसकोट वाद में कानूनी सहायता को मौलिक अधिकार माना गया। अतः चारों युग्म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23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48/300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49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निष्क्रिय इच्छामृत्यु (Passive Euthanasia) और 'लिविंग विल' (Living Will / Advance Medical Directive) को असाध्य रूप से बीमार व्यक्तियों के लिए अनुच्छेद 21 के गरिमापूर्ण जीवन के अधिकार के तहत किस वाद में कानूनी मान्यता दी गई?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 रथिनाम बनाम भारत संघ (1994)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ज्ञान कौर बनाम पंजाब राज्य (1996)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कॉमन कॉज बनाम भारत संघ (2018)</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अरुणा शानबाग बनाम भारत संघ (2011)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9639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49/300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कॉमन कॉज बनाम भारत संघ (2018)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 रथिनाम बनाम भारत संघ (1994)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ज्ञान कौर बनाम पंजाब राज्य (1996)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अरुणा शानबाग बनाम भारत संघ (2011)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ज्ञान कौर वाद (1996) में न्यायालय ने स्पष्ट किया था कि अनुच्छेद 21 में 'जीने के अधिकार' में 'मरने का अधिकार' शामिल नहीं है। अरुणा शानबाग वाद (2011) में पहली बार सख्त अदालती निगरानी में पैसिव यूथेनेशिया की संभावना स्वीकार की गई। अंततः कॉमन कॉज (ए रजिस्टर्ड सोसाइटी) बनाम भारत संघ (2018) के ऐतिहासिक संविधान पीठ के फैसले में सर्वोच्च न्यायालय ने फैसला दिया कि अनुच्छेद 21 में 'गरिमापूर्ण जीवन के अधिकार' में 'गरिमापूर्ण मृत्यु का अधिकार' (Right to Die with Dignity) भी समाहित है। न्यायालय ने असाध्य रोग से पीड़ित मरणासन्न मरीजों के लिए पैसिव यूथेनेशिया (लाइफ सपोर्ट हटाना) और पहले से लिखी गई 'लिविंग विल' (Advance Directive) को वैध मान्यता प्रदान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9639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49/300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नवतेज सिंह जौहर बनाम भारत संघ (2018) के फैसले में उच्चतम न्यायालय ने भारतीय दंड संहिता (IPC) की धारा 377 के उस हिस्से को असंवैधानिक घोषित किया जो वयस्कों के बीच सहमति से समलैंगिक संबंधों को अपराध मानता था। यह निर्णय मुख्यतः किन अनुच्छेदों के उल्लंघन पर आधारित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अनुच्छेद 19 और 25</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14 (समानता), अनुच्छेद 15 (लिंग आधारित गैर-भेदभाव) और अनुच्छेद 21 (निजता व गरिमा)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अनुच्छेद 32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अनुच्छेद 29 और 30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040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50/300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अनुच्छेद 14 (समानता), अनुच्छेद 15 (लिंग आधारित गैर-भेदभाव) और अनुच्छेद 21 (निजता व गरिमा)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अनुच्छेद 19 और 25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अनुच्छेद 32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अनुच्छेद 29 और 30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नवतेज सिंह जौहर बनाम भारत संघ (2018) में सर्वोच्च न्यायालय की 5-न्यायाधीशों की संविधान पीठ ने सर्वसम्मति से सुरेश कौशल (2013) के निर्णय को पलट दिया। पीठ ने 158 वर्ष पुरानी आईपीसी की धारा 377 के उस हिस्से को गैर-संवैधानिक घोषित कर दिया जो वयस्कों के बीच निजी सहमति से बनाए गए समलैंगिक यौन संबंधों (Consensual same-sex relations) को अपराध मानता था। न्यायालय ने माना कि यौन रुझान (Sexual Orientation) व्यक्ति की अस्मिता, गरिमा और निजता का अनिवार्य अंग है। अतः वयस्कों के सहमतिजन्य संबंधों को अपराध मानना अनुच्छेद 14 (समानता), अनुच्छेद 15 (लिंग/सेक्स पर भेदभाव निषेध) और अनुच्छेद 21 (गरिमापूर्ण जीवन) का सीधा हनन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040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50/300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मोहिनी जैन (199 B. द्वारा अंतःस्थापित 'अनुच्छेद 21क' राज्य को क्या संवैधानिक अधिदेश देता है? C. वादों की न्यायिक</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0 से 6 वर्ष के बच्चों के लिए प्रारंभिक बाल्यावस्था देखभाल</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6 से 14 वर्ष की आयु वाले सभी बालकों के लिए विधि बनाकर निःशुल्क और अनिवार्य शिक्षा उपलब्ध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उच्च शिक्षण संस्थानों में 50% सीटें आरक्षित करना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नागरिकों को स्नातकोत्तर स्तर तक मुफ्त शिक्षा 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441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51/300</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6 से 14 वर्ष की आयु वाले सभी बालकों के लिए विधि बनाकर निःशुल्क और अनिवार्य शिक्षा उपलब्ध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0 से 6 वर्ष के बच्चों के लिए प्रारंभिक बाल्यावस्था देखभाल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उच्च शिक्षण संस्थानों में 50% सीटें आरक्षित करना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नागरिकों को स्नातकोत्तर स्तर तक मुफ्त शिक्षा 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उन्नीकृष्णन जे. पी. बनाम आंध्र प्रदेश राज्य (1993) वाद में सुप्रीम कोर्ट ने व्यवस्था दी थी कि अनुच्छेद 21 के जीवन के अधिकार में 14 वर्ष तक के बच्चों के लिए शिक्षा का अधिकार अंतर्निहित है। मुही राम सैकिया समिति (1997) की सिफारिशों पर संसद ने 86वां संविधान संशोधन अधिनियम, 2002 पारित किया, जिसके द्वारा अनुच्छेद 21क (Article 21A) जोड़ा गया। यह राज्य को यह दायित्व सौंपता है कि वह 6 से 14 वर्ष की आयु के सभी बच्चों को, विधि द्वारा निर्धारित रीति से, 'निःशुल्क और अनिवार्य शिक्षा' (Free and Compulsory Education) प्रदान करेगा। इसे प्रभावी करने के लिए संसद ने 'शिक्षा का अधिकार अधिनियम, 2009' (RTE Act) पारित किया, जो 1 अप्रैल, 2010 से लागू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441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51/300</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शिक्षा का अधिकार अधिनियम, 2009 (RTE Act) के प्रमुख कानूनी प्रावधानों के संदर्भ में निम्नलिखित कथनों पर विचार कीजिए: A. यह 6 से 14 वर्ष की आयु वर्ग के प्रत्येक बच्चे को पड़ोस के विद्यालय में प्रारंभिक शिक्षा पूर्ण होने तक निःशुल्क शिक्षा का अधिकार देता है। B. गैर-सहायता प्राप्त निजी मान्यता प्राप्त विद्यालयों को अपनी पहली कक्षा की कम से कम 25% सीटें आर्थिक रूप से कमजोर और अलाभान्वित वर्गों के बच्चों के लिए आरक्षित करनी होती हैं। C. शिक्षकों को जनगणना, आपदा राहत और संसद/विधानसभा/स्थानीय निकाय चुनावों के अलावा किसी गैर-शैक्षणिक कार्य में नहीं लगाया जा सकता। D. किसी भी बच्चे को प्रारंभिक शिक्षा पूरी होने तक कक्षा में रोके रखने (No-detention policy) का प्रावधान था, जिसे 2019 के संशोधन द्वारा राज्यों के विवेक पर छोड़ दिया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0842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52/300</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शिक्षा का अधिकार अधिनियम (RTE Act), 2009 बच्चों के निशुल्क और अनिवार्य शिक्षा अधिकार को धरातल पर उतारता है। धारा 12(1)(ग) के तहत सभी निजी गैर-सहायता प्राप्त स्कूलों में प्रवेश स्तर पर 25% सीटें कमजोर व वंचित वर्ग के बच्चों के लिए अनिवार्य रूप से आरक्षित होती हैं, जिसकी फीस प्रतिपूर्ति सरकार करती है (सोसायटी फॉर अन-एडेड प्राइवेट स्कूल्स वाद में सुप्रीम कोर्ट द्वारा वैध ठहराया गया)। धारा 27 शिक्षकों को गैर-शैक्षणिक कार्यों में लगाने पर रोक लगाती है (अपवाद: चुनाव, जनगणना, आपदा)। 2019 में आरटीई संशोधन द्वारा धारा 16 में बदलाव कर राज्यों को 5वीं व 8वीं कक्षा में नियमित परीक्षा लेने और अनुत्तीर्ण होने पर रोकने की छूट दी गई।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0842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52/300</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एम. सी. मेहता बनाम तमिलनाडु राज्य (1996) के ऐतिहासिक फैसले में उच्चतम न्यायालय ने संविधान के अनुच्छेद 24 के क्रियान्वयन हेतु क्या अनिवार्य निर्देश दिए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प्रकार के बाल श्रम को तुरंत पूर्णतः प्रतिबंधित कर दिया जाए</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बाल श्रम पुनर्वास सह-कल्याण कोष (Child Labour Rehabilitation-cum-Welfare Fund) की स्थापना की जाए, जिसमें उल्लंघनकर्ता नियोक्ताओं से प्रति बालक ₹20,000 जुर्माना वसूला जाए</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18 वर्ष से कम आयु के सभी किशोरों को कारखानों में 12 घंटे काम करने की छूट दी जाए</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सरकारी उद्योगों में ही बाल श्रम निषिद्ध रहेगा</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243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53/300</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बाल श्रम पुनर्वास सह-कल्याण कोष (Child Labour Rehabilitation-cum-Welfare Fund) की स्थापना की जाए, जिसमें उल्लंघनकर्ता नियोक्ताओं से प्रति बालक ₹20,000 जुर्माना वसूला जाए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प्रकार के बाल श्रम को तुरंत पूर्णतः प्रतिबंधित कर दिया जाए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18 वर्ष से कम आयु के सभी किशोरों को कारखानों में 12 घंटे काम करने की छूट दी जाए</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सरकारी उद्योगों में ही बाल श्रम निषिद्ध रहेगा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24 स्पष्ट घोषित करता है कि '14 वर्ष से कम आयु के किसी बालक को किसी कारखाने या खान में काम करने के लिए नियोजित नहीं किया जाएगा या किसी अन्य परिसंकटमय (Hazardous) नियोजन में नहीं लगाया जाएगा'। शिवकाशी के पटाखा कारखानों में बाल श्रम से जुड़े एम. सी. मेहता बनाम तमिलनाडु राज्य (1996) मामले में सुप्रीम कोर्ट ने बाल श्रम उन्मूलन के लिए विस्तृत दिशा-निर्देश दिए। न्यायालय ने आदेश दिया कि खतरनाक उद्योगों में बाल श्रम कराने वाले प्रत्येक नियोक्ता से प्रति बालक ₹20,000 की राशि जुर्माने के रूप में वसूल कर 'बाल श्रम पुनर्वास एवं कल्याण कोष' में जमा कराई जाए, जिसका उपयोग उस बच्चे की शिक्षा और कल्याण के लिए किया जाए।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243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53/300</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रुदल साह बनाम बिहार राज्य (1983) और भीम सिंह बनाम जम्मू-कश्मीर राज्य (1985) के प्रसिद्ध मुकदमों में उच्चतम न्यायालय ने अनुच्छेद 21 के उल्लंघन पर किस नए उपचारात्मक सिद्धांत की नींव रखी?</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लोक सेवकों को नौकरी से बर्खास्त करने का आदेश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द्वारा मौलिक अधिकारों के हनन पर पीड़ित को आर्थिक मुआवजा (Monetary Compensation) भुगतान करने का सिद्धांत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को आपातकाल लगाने की सिफारिश</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मामले को अंतरराष्ट्रीय मानवाधिकार न्यायालय को भेजना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1643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54/300</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राज्य द्वारा मौलिक अधिकारों के हनन पर पीड़ित को आर्थिक मुआवजा (Monetary Compensation) भुगतान करने का सिद्धांत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लोक सेवकों को नौकरी से बर्खास्त करने का आदेश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को आपातकाल लगाने की सिफारिश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मामले को अंतरराष्ट्रीय मानवाधिकार न्यायालय को भेजना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रुदल साह बनाम बिहार राज्य (1983) भारत के संवैधानिक विधिशास्त्र में एक ऐतिहासिक मोड़ था। रुदल साह को अदालत द्वारा बरी किए जाने के बाद भी 14 वर्षों तक गैर-कानूनी तरीके से जेल में बंद रखा गया था। सुप्रीम कोर्ट के तत्कालीन मुख्य न्यायाधीश वाई. वी. चंद्रचूड़ ने बंदी प्रत्यक्षीकरण याचिका पर सुनवाई करते हुए फैसला दिया कि केवल पीड़ित को रिहा करना काफी नहीं है; राज्य द्वारा अनुच्छेद 21 के दैहिक स्वतंत्रता के घोर उल्लंघन की भरपाई के लिए राज्य को पीड़ित को आर्थिक हर्जाना/मुआवजा (Monetary Compensation) देना होगा। भीम सिंह वाद (1985) में विधायक को अवैध हिरासत में रखने पर भी ₹50,000 का मुआवजा दिलवाया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1643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54/300</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डी. के. बसु बनाम पश्चिम बंगाल राज्य (1997) वाद में उच्चतम न्यायालय द्वारा गिरफ्तारी और हिरासत में रखे जाने के संबंध में जारी दिशा-निर्देशों पर विचार कीजिए: A. गिरफ्तारी करने वाले पुलिस अधिकारी को अपनी स्पष्ट पहचान, नाम और पदनाम का बैज धारण करना अनिवार्य है। B. गिरफ्तारी के समय एक गिरफ्तारी ज्ञापन (Memo of Arrest) तैयार किया जाएगा जिस पर कम से कम एक गवाह और गिरफ्तार व्यक्ति के हस्ताक्षर होंगे। C. गिरफ्तार व्यक्ति को यह अधिकार है कि वह अपनी गिरफ्तारी और स्थान की सूचना अपने किसी मित्र, रिश्तेदार या शुभचिंतक को 8 से 12 घंटे के भीतर दिलवाए। D. हिरासत के दौरान प्रत्येक 48 घंटे में एक प्रशिक्षित डॉक्टर द्वारा गिरफ्तार व्यक्ति की चिकित्सीय जांच कराई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044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55/300</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हिरासत में हिंसा, यातना और मौतों (Custodial Deaths) को रोकने के लिए डी. के. बसु बनाम पश्चिम बंगाल राज्य (1997) में सर्वोच्च न्यायालय ने सभी पुलिस और सुरक्षा एजेंसियों के लिए 11-सूत्रीय अनिवार्य दिशा-निर्देश (Guidelines) जारी किए। इनमें शामिल हैं: पुलिस अधिकारी की दृश्यमान पहचान व नेमप्लेट, स्वतंत्र गवाह की मौजूदगी में अरेस्ट मेमो बनाना, परिवार/मित्र को तत्काल सूचना देना, केस डायरी में प्रविष्टि करना, पूछताछ के दौरान वकील से मिलने की अनुमति और प्रत्येक 48 घंटे में मेडिकल जांच। इन निर्देशों का उल्लंघन करने वाले पुलिस अधिकारी विभागीय कार्रवाई के साथ-साथ अदालत की अवमानना (Contempt of Court) के भी भागीदार होते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044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55/300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अनुच्छेद 21 के अंतर्गत 'विदेश यात्रा करने का अधिकार' (Right to Travel Abroad) व्यक्तिगत स्वतंत्रता का एक अभिन्न अंग है, यह सिद्धांत सर्वप्रथम किस प्रमुख वाद में स्थापित हुआ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सतवंत सिंह साहनी बनाम सहायक पासपोर्ट अधिकारी (1967) एवं मेनका गांधी वाद (1978)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खड़क सिंह बनाम उत्तर प्रदेश राज्य (1963)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बेला बनर्जी बनाम पश्चिम बंगाल राज्य (1954)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 के. गोपालन बनाम मद्रास राज्य (1950)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445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56/300</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सतवंत सिंह साहनी बनाम सहायक पासपोर्ट अधिकारी (1967) एवं मेनका गांधी वाद (1978)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खड़क सिंह बनाम उत्तर प्रदेश राज्य (1963)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बेला बनर्जी बनाम पश्चिम बंगाल राज्य (1954)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 के. गोपालन बनाम मद्रास राज्य (1950)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सतवंत सिंह साहनी बनाम सहायक पासपोर्ट अधिकारी नई दिल्ली (1967) मामले में उच्चतम न्यायालय की संविधान पीठ ने पहली बार निर्णय दिया था कि विदेश यात्रा करने का अधिकार (Right to Travel Abroad) संविधान के अनुच्छेद 21 में गारंटीकृत 'व्यक्तिगत स्वतंत्रता' का ही एक भाग है, और किसी भी नागरिक का पासपोर्ट बिना विधि द्वारा स्थापित प्रक्रिया के नहीं छीना जा सकता। इस फैसले के बाद संसद ने पासपोर्ट अधिनियम, 1967 पारित किया। आगे चलकर मेनका गांधी बनाम भारत संघ (1978) वाद में जब सरकार ने बिना कारण बताए मेनका गांधी का पासपोर्ट जब्त किया, तो सुप्रीम कोर्ट ने सतवंत सिंह के सिद्धांत की पुनः पुष्टि करते हुए इसे प्राकृतिक न्याय और अनुच्छेद 14, 19 व 21 से जोड़कर विस्तृत किया।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445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56/300</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उच्चतम न्यायालय के किस ऐतिहासिक फैसले में यह निर्धारित किया गया कि "आश्रय का अधिकार (Right to Shelter) केवल पशुवत आवास नहीं बल्कि मानव गरिमा के साथ सुरक्षित रहने का अधिकार है और यह अनुच्छेद 21 का मूल अधिकार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चमेली सिंह बनाम उत्तर प्रदेश राज्य (1996)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अजय हासिया बनाम खालिद मुजीब (1981)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आर. राजगोपाल बनाम तमिलनाडु राज्य (1994)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सुनील बत्रा बनाम दिल्ली प्रशासन (1980)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2846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57/300</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चमेली सिंह बनाम उत्तर प्रदेश राज्य (1996)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अजय हासिया बनाम खालिद मुजीब (1981)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आर. राजगोपाल बनाम तमिलनाडु राज्य (1994)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सुनील बत्रा बनाम दिल्ली प्रशासन (1980)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चमेली सिंह बनाम उत्तर प्रदेश राज्य (1996) वाद में उच्चतम न्यायालय की तीन-न्यायाधीशों की पीठ ने यह व्यवस्था दी कि संविधान के अनुच्छेद 21 के तहत प्रत्याभूत 'जीवन का अधिकार' केवल पशु के समान जीवित रहना नहीं है। सभ्य समाज में एक नागरिक के रूप में जीने के अधिकार में भोजन, पानी, सभ्य वातावरण, शिक्षा, चिकित्सा और सबसे बढ़कर 'उचित आश्रय का अधिकार' (Right to Shelter) शामिल है। आश्रय का अर्थ केवल सिर पर छत होना नहीं, बल्कि ऐसा सुरक्षित भौतिक और सामाजिक ढांचा है जहाँ व्यक्ति और उसका परिवार गरिमा, शांति और शारीरिक सुरक्षा के साथ विकसित हो सके। अतः राज्य का कर्तव्य है कि वह निर्धनों और वंचितों के लिए आवास योजनाएं बनाए।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2846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57/300</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मुरली एस. देवड़ा बनाम भारत संघ (2001) वाद में उच्चतम न्यायालय ने किस अधिकार को अनुच्छेद 21 के उल्लंघन के आधार पर प्रतिबंधित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सिनेमा हॉलों में राष्ट्रगान बजाना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सार्वजनिक स्थानों पर धूम्रपान (Smoking in Public Places)</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लाउडस्पीकरों का रात्रि में उपयोग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 में कैदियों को हथकड़ी लगाना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24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58/300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सार्वजनिक स्थानों पर धूम्रपान (Smoking in Public Places)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सिनेमा हॉलों में राष्ट्रगान बजाना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लाउडस्पीकरों का रात्रि में उपयोग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में कैदियों को हथकड़ी लगाना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मुरली एस. देवड़ा बनाम भारत संघ (2001) वाद में सर्वोच्च न्यायालय ने सार्वजनिक स्थानों पर धूम्रपान को गैर-धूम्रपान करने वाले निर्दोष नागरिकों के स्वास्थ्य और जीवन के अधिकार (अनुच्छेद 21) पर गंभीर प्रहार माना। न्यायालय ने कहा कि अप्रत्यक्ष धूम्रपान (Passive Smoking) कैंसर और फेफड़ों की घातक बीमारियों का कारण बनता है। किसी व्यक्ति को अपनी पसंद से धूम्रपान करने का अधिकार हो सकता है, लेकिन उसे दूसरों को प्रदूषणकारी धुएं से असहाय शिकार बनाने का कोई अधिकार नहीं है। इस आधार पर अदालत ने देश भर में अस्पतालों, शैक्षणिक संस्थानों, रेलवे, बसों, पुस्तकालयों, सार्वजनिक कार्यालयों आदि सार्वजनिक स्थलों पर धूम्रपान को तुरंत प्रतिबंधित करने का ऐतिहासिक आदेश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24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58/300</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103वें संविधान संशोधन अधिनियम, 2019 और जनहित अभियान बनाम भारत संघ (2022) वाद के संदर्भ में निम्नलिखित कथनों पर विचार कीजिए: A. 103वें संशोधन द्वारा संविधान में अनुच्छेद 15(6) और 16(6) जोड़े गए। B. इसके तहत अनुसूचित जाति (SC), अनुसूचित जनजाति (ST) और गैर-क्रीमी लेयर OBC को छोड़कर शेष आर्थिक रूप से कमजोर वर्गों (EWS) को अधिकतम 10% आरक्षण दिया गया। C. उच्चतम न्यायालय की 5-न्यायाधीशों की संविधान पीठ ने 3:2 के बहुमत से 103वें संशोधन की संवैधानिक वैधता को बरकरार रखा। D. न्यायालय ने माना कि केवल आर्थिक मानदंडों पर आधारित आरक्षण संविधान के मूल ढांचे का उल्लंघन नहीं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3647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59/300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जनवरी 2019 में 103वें संविधान संशोधन द्वारा सामान्य वर्ग के आर्थिक रूप से कमजोर नागरिकों (EWS) के लिए शैक्षणिक संस्थानों (निजी संस्थानों सहित) और सरकारी नौकरियों में 10% तक आरक्षण का प्रावधान किया गया। जनहित अभियान बनाम भारत संघ (7 नवंबर, 2022) में भारत के तत्कालीन मुख्य न्यायाधीश यू. यू. ललित की अध्यक्षता वाली 5 जजों की पीठ ने 3:2 के बहुमत से ऐतिहासिक निर्णय दिया। बहुमत (न्यायमूर्ति दिनेश माहेश्वरी, बेला एम. त्रिवेदी, जे. बी. पारदीवाला) ने अभिनिर्धारित किया कि: 1. आरक्षण केवल सामाजिक-शैक्षणिक पिछड़ेपन तक सीमित नहीं है, आर्थिक आधार पर भी आरक्षण अनुमेय है, 2. 50% की सीमा पूर्णतः अनम्य (Inflexible) नहीं है, और 3. SC/ST/OBC को इससे बाहर रखना अनुचित नहीं है क्योंकि उन्हें पहले से विशेष आरक्षण प्राप्त है। अतः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3647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59/300</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किस वाद में उच्चतम न्यायालय की 5-न्यायाधीशों की संविधान पीठ ने सर्वसम्मति से निर्णय दिया कि 'सार्वजनिक स्थानों पर फुटपाथ या फेरी लगाकर व्यापार करने का अधिकार' अनुच्छेद 19(1)(छ) का मौलिक अधिकार है, लेकिन यह नगर निगम के यातायात नियमन के अधीन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सौदान सिंह बनाम नई दिल्ली नगरपालिका समिति (NDMC, 1989)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 ए. इनामदार बनाम महाराष्ट्र राज्य (2005)</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मध्य प्रदेश राज्य बनाम बलदेव प्रसाद (1961)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अनुज गर्ग बनाम होटल एसोसिएशन ऑफ इंडिया (2008)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048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60/300</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सौदान सिंह बनाम नई दिल्ली नगरपालिका समिति (NDMC, 1989)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 ए. इनामदार बनाम महाराष्ट्र राज्य (2005)</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मध्य प्रदेश राज्य बनाम बलदेव प्रसाद (1961)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अनुज गर्ग बनाम होटल एसोसिएशन ऑफ इंडिया (2008)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सौदान सिंह बनाम नई दिल्ली नगरपालिका समिति (NDMC, 1989) वाद को 'फेरीवालों के अधिकार का वाद' (Hawkers Case) कहा जाता है। इसमें सुप्रीम कोर्ट की संविधान पीठ ने अभिनिर्धारित किया कि फुटपाथों और सड़कों के किनारे फेरी लगाना, खोखा लगाना या व्यापार करना भारतीय नागरिकों का संविधान के अनुच्छेद 19(1)(छ) के तहत 'आजीविका और व्यापार का मौलिक अधिकार' है। हालांकि यह अधिकार निर्बाध नहीं है और नगर निगम लोक व्यवस्था, सुरक्षा और पैदल यात्रियों के सुगम आवागमन को सुनिश्चित करने के लिए 'हॉकिंग और नॉन-हॉकिंग जोन' तय कर सकती है तथा फेरीवालों की संख्या को लाइसेंस प्रणाली द्वारा नियमित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048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60/300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22 के अंतर्गत निवारक निरोध (Preventive Detention) विधियों और संवैधानिक सुरक्षा उपायों पर विचार कीजिए: A. निवारक निरोध किसी व्यक्ति को अपराध करने से पहले केवल आशंका या संदेह के आधार पर भविष्य में अपराध रोकने हेतु हिरासत में लेना है। B. किसी भी व्यक्ति को सामान्य परिस्थितियों में सलाहकार बोर्ड (Advisory Board) की पुष्टि के बिना 3 महीने से अधिक समय तक निरुद्ध नहीं रखा जा सकता। C. निरोध आदेश जारी करने वाले प्राधिकारी को निरुद्ध व्यक्ति को यथाशीघ्र वे आधार सूचित करने होते हैं जिन पर आदेश दिया गया है। D. यदि प्राधिकारी को लगता है कि कुछ तथ्य उजागर करना लोकहित के विरुद्ध होगा, तो उसे ऐसे तथ्य प्रकट करने से छूट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449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61/300</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22 दांडिक और निवारक दोनों प्रकार की हिरासत से संरक्षण प्रदान करता है। निवारक निरोध (Preventive Detention) किसी अपराध की सजा नहीं बल्कि अपराध की रोकथाम का एहतियाती उपाय है। अनुच्छेद 22(4) के अनुसार, किसी व्यक्ति को 3 महीने से अधिक समय तक निरुद्ध नहीं रखा जा सकता, जब तक कि उच्च न्यायालय के न्यायाधीशों वाले सलाहकार बोर्ड की अनुमति न मिल जाए (हालाँकि 44वें संशोधन 1978 ने इस अवधि को घटाकर 2 महीने करने का प्रावधान किया था, लेकिन वह अधिसूचना आज तक औपचारिक रूप से लागू नहीं की गई है)। 22(5) के तहत निरोध के आधार बताना अनिवार्य है, लेकिन 22(6) प्राधिकारी को जनहित में गोपनीय तथ्य छिपाने की छूट देता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449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61/300</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पी.यू.डी.आर. बनाम भारत संघ (एशियाड वर्कर्स वाद, 1982) में उच्चतम न्यायालय ने न्यूनतम मजदूरी से कम मजदूरी के भुगतान को किस अनुच्छेद का उल्लंघन माना?</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अनुच्छेद 14</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23 [बलात् श्रम का प्रतिषेध]</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19(1)(छ)</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अनुच्छेद 21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4850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62/300</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23 [बलात् श्रम का प्रतिषेध]</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अनुच्छेद 14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19(1)(छ)</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अनुच्छेद 21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पीपुल्स यूनियन फॉर डेमोक्रेटिक राइट्स (PUDR) बनाम भारत संघ (1982), जिसे 'एशियाड वर्कर्स केस' कहा जाता है, में न्यायमूर्ति पी. एन. भगवती की पीठ ने अनुच्छेद 23 के 'बलात् श्रम' (Forced Labour / Begar) की ऐतिहासिक और क्रांतिकारी व्याख्या की। न्यायालय ने अभिनिर्धारित किया कि 'बलात् श्रम' का अर्थ केवल शारीरिक बल या कोड़े मारकर काम कराना ही नहीं है; यदि कोई व्यक्ति गरीबी, बेबसी या भूख की लाचारी के कारण कानूनी रूप से निर्धारित न्यूनतम मजदूरी से कम दर पर काम करने को विवश है, तो वह भी अनुच्छेद 23 के तहत 'बलात् श्रम' की श्रेणी में आता है और यह उसके मौलिक अधिकार का हनन है। संजीत रॉय बनाम राजस्थान राज्य (1983) में अकाल राहत कार्यों में कम मजदूरी देने को भी इसी आधार पर असंवैधानिक घोषित किया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4850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62/300</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25(1) के अनुसार, 'अंतःकरण की स्वतंत्रता' और धर्म को अबाध रूप से मानने, आचरण करने और प्रचार करने का अधिकार किन तीन संवैधानिक प्रतिबंधों के अध्यधीन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राष्ट्रीय सुरक्षा, संप्रभुता और एकता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 व्यवस्था (Public Order), सदाचार (Morality) और स्वास्थ्य (Health)</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वित्तीय व्यवहार्यता और विधि का शासन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संसदीय बहुमत और राष्ट्रपति की संतुष्टि</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25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63/300</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लोक व्यवस्था (Public Order), सदाचार (Morality) और स्वास्थ्य (Health)</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राष्ट्रीय सुरक्षा, संप्रभुता और एकता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वित्तीय व्यवहार्यता और विधि का शासन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संसदीय बहुमत और राष्ट्रपति की संतुष्टि</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25(1) सभी व्यक्तियों को अंतःकरण की स्वतंत्रता तथा धर्म को स्वतंत्र रूप से मानने, उसका आचरण करने और शांतिपूर्ण प्रचार करने का समान अधिकार देता है। लेकिन यह अधिकार पूर्ण (Absolute) नहीं है। अनुच्छेद 25(1) की प्रारंभिक पंक्ति ही स्पष्ट करती है कि यह अधिकार तीन अनिवार्य आधारों-1. लोक व्यवस्था (Public Order), 2. सदाचार/नैतिकता (Morality), और 3. स्वास्थ्य (Health)-तथा संविधान के भाग III के अन्य उपबंधों (जैसे समानता का अनुच्छेद 14 व 15) के अध्यधीन है। इसके अलावा राज्य को अनुच्छेद 25(2) के तहत धार्मिक आचरण से जुड़ी आर्थिक, वित्तीय या राजनीतिक गतिविधियों को विनियमित करने तथा समाज सुधार हेतु कानून बनाने का पूरा अधिकार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25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63/300</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सबरीमाला मंदिर प्रवेश वाद (इंडियन यंग लॉयर्स एसोसिएशन बनाम केरल राज्य, 2018) के संदर्भ में निम्नलिखित कथनों पर विचार कीजिए: A. 5-न्यायाधीशों की संविधान पीठ ने 4:1 के बहुमत से मंदिर में 10 से 50 वर्ष की महिलाओं के प्रवेश पर लगे पारंपरिक प्रतिबंध को असंवैधानिक ठहराया। B. बहुमत ने माना कि जैविक कारणों से महिलाओं को पूजा से रोकना अनुच्छेद 14, 15 और 25(1) का उल्लंघन है। C. पीठ की एकमात्र महिला न्यायाधीश न्यायमूर्ति इंदु मल्होत्रा ने अल्पमत में असहमतिपूर्ण निर्णय (Dissenting Opinion) दिया। D. न्यायमूर्ति इंदु मल्होत्रा के अनुसार, धर्मनिरपेक्ष अदालतों को यह तय नहीं करना चाहिए कि कौन-सी धार्मिक प्रथा अनिवार्य है, जब तक कि वह सती जैसी गंभीर कुप्रथा 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5651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64/300</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सबरीमाला मंदिर वाद (2018) भारत के संवैधानिक विधिशास्त्र का एक अत्यंत चर्चित मामला है। भारत के तत्कालीन मुख्य न्यायाधीश दीपक मिश्रा की अध्यक्षता वाली 5 जजों की पीठ ने 4:1 के बहुमत से केरल उच्च न्यायालय के पुराने फैसले को पलट दिया और भगवान अयप्पा मंदिर में प्रजनन आयु (10 से 50 वर्ष) की महिलाओं के प्रवेश पर रोक को असंवैधानिक घोषित किया। न्यायालय ने कहा कि पितृसत्तात्मक धारणाओं और जैविक कारणों से महिलाओं को रोकना समानता (अनुच्छेद 14-15) और पूजा के अधिकार (अनुच्छेद 25) का हनन है। न्यायमूर्ति इंदु मल्होत्रा ने असहमति जताते हुए कहा कि आस्था और धार्मिक प्रथाओं की तर्कसंगतता अदालतें तय नहीं कर सकतीं और अयप्पा भक्त अनुच्छेद 26 के तहत अपने अनुष्ठानों के संरक्षण के हकदार हैं।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5651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64/300</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शायरा बानो बनाम भारत संघ (2017) वाद में उच्चतम न्यायालय की 5-न्यायाधीशों की बहु-धार्मिक संविधान पीठ ने 'तीन तलाक' (तलाक-ए-बिद्दत) को किस आधार पर असंवैधानिक घोषित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इस्लाम का अभिन्न अंग नहीं है और यह पति को मनमाना अधिकार देता है, अतः यह अनुच्छेद 14 का उल्लंघन होने के कारण स्वेच्छाचारी (Arbitrary)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वित्तीय घाटे का कारण बनता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संसद की संप्रभुता के विरुद्ध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उपभोक्ता संरक्षण नियमों के विपरीत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052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65/300</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इस्लाम का अभिन्न अंग नहीं है और यह पति को मनमाना अधिकार देता है, अतः यह अनुच्छेद 14 का उल्लंघन होने के कारण स्वेच्छाचारी (Arbitrary)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वित्तीय घाटे का कारण बनता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संसद की संप्रभुता के विरुद्ध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उपभोक्ता संरक्षण नियमों के विपरीत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शायरा बानो बनाम भारत संघ (2017) में 5 धर्मों के जजों वाली संविधान पीठ ने 3:2 के बहुमत से एक ही बार में तीन तलाक (Talaq-e-Biddat) की प्रथा को असंवैधानिक घोषित कर दिया। न्यायमूर्ति रोहिंटन नरीमन और न्यायमूर्ति यू. यू. ललित ने व्यवस्था दी कि तीन तलाक मुस्लिम पुरुष को बिना किसी सुलह के प्रयास के क्षणिक आवेश में विवाह तोड़ने का स्वेच्छाचारी अधिकार देता है। चूंकि स्वेच्छाचारिता (Arbitrariness) अनुच्छेद 14 में निहित समानता के अधिकार का घोर हनन है, अतः यह कानूनन अमान्य है। न्यायमूर्ति कुरियन जोसेफ ने भी माना कि जो कुरान के अनुसार बुरा है, वह कानूनन अच्छा नहीं हो सकता और यह इस्लाम का अनिवार्य धार्मिक अंग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052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65/300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धार्मिक और भाषाई अल्पसंख्यकों के अधिकारों से संबंधित अनुच्छेदों का सही मिलान कीजिए: सूची-I: सूची-I: A. अनुच्छेद 26 B. अनुच्छेद 27 C. अनुच्छेद 28 D. अनुच्छेद 30(1) सूची-II: 1. किसी धर्म-विशेष की अभिवृद्धि हेतु करों के संदाय से स्वतंत्रता 2. धार्मिक कार्यों के प्रबंध एवं धार्मिक संस्थाओं की स्थापना की स्वतंत्रता 3. धर्म या भाषा पर आधारित अल्पसंख्यकों को अपनी पसंद की शिक्षण संस्थाओं की स्थापना व प्रशासन का अधिकार 4. राज्य-निधि से पूर्णतः पोषित शिक्षण संस्थाओं में धार्मिक शिक्षा दिए जाने का पूर्ण प्रतिषेध</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453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66/300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धार्मिक व अल्पसंख्यक स्वतंत्रता के प्रावधान: अनुच्छेद 26 प्रत्येक धार्मिक संप्रदाय को धार्मिक व पूर्त प्रयोजनों के लिए संस्थाएं स्थापित करने और अपने धार्मिक मामलों के प्रबंधन का सामूहिक अधिकार देता है। अनुच्छेद 27 राज्य को किसी विशिष्ट धर्म की उन्नति के लिए कर (Tax) लगाने से रोकता है (शुल्क/Fee लगाई जा सकती है)। अनुच्छेद 28(1) के अनुसार राज्य निधि से पूरी तरह चलने वाले स्कूलों में कोई धार्मिक शिक्षा नहीं दी जा सकती। अनुच्छेद 30(1) केवल धर्म और भाषा पर आधारित अल्पसंख्यकों को अपनी रुचि की शिक्षण संस्थाएं स्थापित करने और उनका प्रशासन करने का विशेष मौलिक अधिकार देता है। अतः सही सुमेल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453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66/300</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टी. एम. ए. पई फाउंडेशन (2002) और पी. ए. इनामदार (2005) मामलों में उच्चतम न्यायालय द्वारा अल्पसंख्यकों के शिक्षण संस्थानों (अनुच्छेद 30) के संबंध में क्या सिद्धांत स्थापित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अल्पसंख्यक संस्थानों पर पूर्ण वित्तीय और प्रशासनिक नियंत्रण कर सकता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30(1) के तहत अल्पसंख्यक संस्थानों का प्रबंधन का अधिकार निरपेक्ष नहीं है; राज्य शैक्षणिक उत्कृष्टता, राष्ट्रीय सुरक्षा और शिक्षकों के कल्याण के लिए उचित नियमन लागू कर सकता है, लेकिन कुप्रबंधन की छूट नहीं दी जा सकती।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अल्पसंख्यक शिक्षण संस्थानों को सभी सरकारी नियमों से पूर्ण उन्मुक्ति प्राप्त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अल्पसंख्यक संस्थान कभी भी व्यावसायिक पाठ्यक्रम नहीं चला सकते।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6854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67/300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अनुच्छेद 30(1) के तहत अल्पसंख्यक संस्थानों का प्रबंधन का अधिकार निरपेक्ष नहीं है; राज्य शैक्षणिक उत्कृष्टता, राष्ट्रीय सुरक्षा और शिक्षकों के कल्याण के लिए उचित नियमन लागू कर सकता है, लेकिन कुप्रबंधन की छूट नहीं दी जा सकती।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अल्पसंख्यक संस्थानों पर पूर्ण वित्तीय और प्रशासनिक नियंत्रण कर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अल्पसंख्यक शिक्षण संस्थानों को सभी सरकारी नियमों से पूर्ण उन्मुक्ति प्राप्त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अल्पसंख्यक संस्थान कभी भी व्यावसायिक पाठ्यक्रम नहीं चला सकते।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टी. एम. ए. पई फाउंडेशन बनाम कर्नाटक राज्य (2002) की 11-जजों की पीठ और पी. ए. इनामदार (2005) वाद में सुप्रीम कोर्ट ने व्यवस्था दी कि अनुच्छेद 30(1) का अधिकार अल्पसंख्यक समुदायों को समानता के स्तर पर लाने के लिए है, बहुसंख्यकों से श्रेष्ठ विशेषाधिकार देने के लिए नहीं। न्यायालय ने स्पष्ट कहा कि "प्रशासन का अधिकार कुप्रबंधन का अधिकार नहीं है" (The right to administer is not the right to maladminister)। राज्य शिक्षा की गुणवत्ता, शिक्षकों की योग्यता, सेवा शर्तें, वित्तीय पारदर्शिता और राष्ट्रीय सुरक्षा के हित में नियामक शर्तें लगा सकता है, बशर्ते वे संस्था के अल्पसंख्यक चरित्र को नष्ट 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6854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67/300</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32 (संवैधानिक उपचारों का अधिकार) के संदर्भ में निम्नलिखित कथनों पर विचार कीजिए: A. डॉ. बी. आर. अम्बेडकर ने अनुच्छेद 32 को 'संविधान का हृदय और आत्मा' (Heart and Soul of the Constitution) कहा था। B. अनुच्छेद 32 स्वयं में एक मौलिक अधिकार है, जिसके तहत सीधे सर्वोच्च न्यायालय का दरवाजा खटखटाया जा सकता है। C. अनुच्छेद 32 केवल मौलिक अधिकारों (भाग III) के प्रवर्तन के लिए लागू होता है, सामान्य कानूनी अधिकारों के लिए नहीं। D. अनुच्छेद 359 के तहत राष्ट्रीय आपातकाल के दौरान राष्ट्रपति द्वारा अनुच्छेद 32 के प्रवर्तन को निलंबित किया जा सकता है (अनुच्छेद 20 व 21 को छोड़कर)।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255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68/300</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32 मौलिक अधिकारों का सबसे महत्वपूर्ण रक्षक है। इसके बिना सभी मौलिक अधिकार अर्थहीन हो जाते, इसलिए डॉ. अम्बेडकर ने इसे संविधान की आत्मा कहा। अनुच्छेद 226 (उच्च न्यायालय) सामान्य विधिक अधिकारों के लिए भी लागू होता है, जबकि अनुच्छेद 32 (उच्चतम न्यायालय) का प्रयोग केवल भाग III में दिए गए मौलिक अधिकारों के हनन पर ही किया जा सकता है। आपातकाल के समय अनुच्छेद 359 के तहत राष्ट्रपति आदेश जारी कर न्यायालय जाने के अधिकार को स्थगित कर सकते हैं (44वें संशोधन के बाद अनुच्छेद 20 और 21 को किसी भी स्थिति में निलंबित नहीं किया जा सकता)। अतः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255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68/300</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सर्वोच्च न्यायालय और उच्च न्यायालयों द्वारा जारी की जाने वाली 5 संवैधानिक रिटों (Writs) और उनके शाब्दिक अर्थों का सही मिलान कीजिए: सूची-I: सूची-I: A. बंदी प्रत्यक्षीकरण (Habeas Corpus) B. परमादेश (Mandamus) C. प्रतिषेध (Prohibition) D. अधिकार-पृच्छा (Quo-Warranto) सूची-II: 1. "हम आदेश देते हैं" - सार्वजनिक कर्तव्य पूरा करने हेतु लोक प्राधिकारी को आदेश 2. "सशरीर प्रस्तुत किया जाए" - गैर-कानूनी रूप से हिरासत में लिए गए व्यक्ति की रिहाई 3. "आपका अधिकार क्या है?" - किसी सार्वजनिक पद पर अवैध कब्जे की जांच 4. "रोकना या मना करना" - अधीनस्थ अदालत को क्षेत्राधिकार से बाहर जाने से रोकना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7656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69/300</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32 और 226 के तहत 5 ऐतिहासिक लैटिन रिटें जारी होती हैं: 1. हेबियस कॉर्पस (बंदी प्रत्यक्षीकरण) = 'You may have the body', अवैध रूप से निरुद्ध व्यक्ति को अदालत के सामने पेश कर रिहा कराना (यह राज्य व निजी दोनों के खिलाफ जारी होती है)। 2. मैंडमस (परमादेश) = 'We command', किसी सार्वजनिक अधिकारी को अपने वैधानिक कर्तव्य के पालन का आदेश देना (राष्ट्रपति, राज्यपाल और निजी व्यक्ति के खिलाफ नहीं)। 3. प्रोहिबिशन (प्रतिषेध) = उच्च न्यायालय द्वारा निचली अदालत या ट्रिब्यूनल को अधिकार क्षेत्र के अतिक्रमण से रोकना। 4. सर्शियोरारी (उत्प्रेषण) = निचली अदालत के अवैध आदेश को रद्द करना। 5. क्वो-वारंटो (अधिकार-पृच्छा) = सार्वजनिक पद पर अनधिकृत कब्जे को रोकना (इसमें लोकस स्टैंडी की बाध्यता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7656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69/300</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जनहित याचिका (Public Interest Litigation - PIL) की अवधारणा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उद्भव 1980 के दशक में भारत में न्यायमूर्ति पी. एन. भगवती और न्यायमूर्ति वी. आर. कृष्णा अय्यर की न्यायिक सक्रियता से हुआ।</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माध्यम से पारंपरिक 'लोकस स्टैंडी' (वाद लाने का अधिकार) के कठोर नियम को शिथिल कर दिया गया।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कोई भी जन-हितैषी नागरिक या संस्था उन वंचित वर्गों के अधिकारों के लिए अदालत जा सकती है जो गरीबी या लाचारी के कारण स्वयं अदालत नहीं पहुंच सकते।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जनहित याचिका का प्रयोग किसी निजी कंपनी के आंतरिक सेवा विवादों और कर्मचारियों के तबादलों को चुनौती देने के लिए सामान्य रूप से किया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056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70/300</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जनहित याचिका का प्रयोग किसी निजी कंपनी के आंतरिक सेवा विवादों और कर्मचारियों के तबादलों को चुनौती देने के लिए सामान्य रूप से किया जा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उद्भव 1980 के दशक में भारत में न्यायमूर्ति पी. एन. भगवती और न्यायमूर्ति वी. आर. कृष्णा अय्यर की न्यायिक सक्रियता से हुआ।</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माध्यम से पारंपरिक 'लोकस स्टैंडी' (वाद लाने का अधिकार) के कठोर नियम को शिथिल कर दिया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कोई भी जन-हितैषी नागरिक या संस्था उन वंचित वर्गों के अधिकारों के लिए अदालत जा सकती है जो गरीबी या लाचारी के कारण स्वयं अदालत नहीं पहुंच सकते।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जनहित याचिका (PIL) का उद्देश्य समाज के गरीब, असहाय, अशिक्षित और वंचित वर्गों को न्याय तक पहुंच (Access to Justice) सुलभ कराना है। इसके तहत 'लोकस स्टैंडी' (व्यक्तिगत क्षति होने पर ही अदालत जाने का नियम) को शिथिल कर दिया गया, ताकि कोई भी सामाजिक कार्यकर्ता या संस्था जनहित के मुद्दों (जैसे बंधुआ मजदूरी, बाल श्रम, पर्यावरण प्रदूषण, विचाराधीन कैदियों की दुर्दशा, पुलिस हिरासत में हिंसा) पर पत्र या पोस्टकार्ड भेजकर भी रिट दायर करा सके। उच्चतम न्यायालय ने स्पष्ट दिशा-निर्देश जारी किए हैं कि निजी लाभ, राजनीतिक प्रचार, व्यक्तिगत रंजिश, मकान मालिक-किरायेदार विवाद, या सामान्य सेवा/तबादला मामलों में PIL स्वीकार नहीं की जाएगी। अतः कथन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056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70/300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33 के अंतर्गत संसद को सशस्त्र बलों, पुलिस बलों और खुफिया एजेंसियों के सदस्यों के मौलिक अधिकारों को सीमित करने की शक्ति दी गई है। इस शक्ति का प्रयोग कौन कर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संबंधित राज्य का विधानमंडल</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भारत की संसद कानून बनाकर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राष्ट्रपति अपनी विवेकाधीन शक्ति से</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केवल सेना प्रमुख</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457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71/300</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केवल भारत की संसद कानून बनाकर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संबंधित राज्य का विधानमंडल</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राष्ट्रपति अपनी विवेकाधीन शक्ति से</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सेना प्रमुख</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33 संसद को यह विशेष शक्ति प्रदान करता है कि वह विधि (कानून) बनाकर यह निर्धारित कर सकती है कि सशस्त्र बलों, लोक व्यवस्था बनाए रखने वाले बलों (पुलिस), आसूचना/खुफिया संगठनों (Intelligence) और दूरसंचार प्रणालियों में कार्यरत व्यक्तियों पर मौलिक अधिकार किस सीमा तक लागू होंगे या प्रतिबंधित रहेंगे। इसका उद्देश्य इन बलों के कर्तव्यों का समुचित निर्वहन और उनके बीच अनुशासन सुनिश्चित करना है। ध्यान रहे कि यह शक्ति केवल संसद (Parliament) को प्राप्त है, राज्य विधानमंडलों को नहीं। इसके तहत संसद ने सेना अधिनियम 1950, नौसेना अधिनियम 1950, पुलिस बल (अधिकारों का निर्बंधन) अधिनियम 1966 आदि कानून बनाए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457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71/300</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 IV (राज्य के नीति-निदेशक तत्व - DPSP) के दार्शनिक आधार और प्रकृति के संदर्भ में निम्नलिखित कथनों पर विचार कीजिए: A. ये तत्व 1937 के आयरलैंड के संविधान से ग्रहण किए गए हैं, जिसने इन्हें स्पेनिश संविधान से लिया था। B. ग्रेनविले ऑस्टिन ने मूल अधिकारों और नीति-निदेशक तत्वों को संयुक्त रूप से 'संविधान की अंतरात्मा' (Conscience of the Constitution) कहा है। C. अनुच्छेद 37 स्पष्ट करता है कि ये तत्व किसी न्यायालय द्वारा प्रवर्तनीय (Non-justiciable) नहीं हैं, किंतु देश के शासन में मूलभूत हैं। D. इनका उद्देश्य भारत में 'राजनीतिक लोकतंत्र' की स्थापना के साथ-साथ मुख्य रूप से 'सामाजिक और आर्थिक लोकतंत्र' तथा एक लोक कल्याणकारी राज्य की स्थापना करना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8858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72/300</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नीति-निदेशक तत्व (अनुच्छेद 36 से 51) भारत सरकार अधिनियम 1935 के 'अनुदेश प्रपत्र' (Instrument of Instructions) के समान हैं। मूल अधिकार जहां मुख्य रूप से राज्य पर नकारात्मक प्रतिबंध लगाकर राजनीतिक लोकतंत्र स्थापित करते हैं, वहीं नीति-निदेशक तत्व राज्य को सकारात्मक दिशा-निर्देश देकर सामाजिक और आर्थिक न्याय (Social &amp; Economic Democracy) तथा गांधीवादी रामराज्य व लोक कल्याणकारी राज्य (Welfare State) का निर्माण करते हैं। यद्यपि अनुच्छेद 37 के तहत ये गैर-न्यायसंगत हैं (अर्थात इनके लागू न होने पर अदालत रिट जारी नहीं कर सकती), फिर भी यह राज्य का नैतिक व संवैधानिक कर्तव्य घोषित किया गया है कि वह कानून बनाते समय इन सिद्धांतों को लागू करे।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8858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72/300</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के नीति-निदेशक तत्वों के अंतर्गत गांधीवादी सिद्धांतों (Gandhian Principles) पर आधारित अनुच्छेदों का उनके विषयों से सही मिलान कीजिए: सूची-I: सूची-I: A. अनुच्छेद 40 B. अनुच्छेद 43 C. अनुच्छेद 43ख D. अनुच्छेद 47 सूची-II: 1. ग्रामीण क्षेत्रों में व्यक्तिगत या सहकारी आधार पर कुटीर उद्योगों को प्रोत्साहन 2. ग्राम पंचायतों का गठन और उन्हें स्वायत्त शासन की इकाइयों के रूप में कार्य करने की शक्तियां देना 3. मादक पेयों और स्वास्थ्य के लिए हानिकारक नशीले पदार्थों के उपभोग पर प्रतिबंध 4. सहकारी समितियों का स्वैच्छिक गठन, स्वायत्त संचालन और लोकतांत्रिक नियंत्रण</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259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73/300</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नीति-निदेशक तत्वों को तीन वैचारिक श्रेणियों में बांटा जा सकता है: समाजवादी, गांधीवादी और उदार-बौद्धिक। गांधीवादी दर्शन ग्रामीण पुनर्निर्माण, स्वदेशी और नैतिक मूल्यों पर बल देता है। अनुच्छेद 40 ग्राम पंचायतों के गठन का अधिदेश देता है (जिसके आधार पर 73वां संशोधन हुआ)। अनुच्छेद 43 ग्रामीण क्षेत्रों में कुटीर उद्योगों को बढ़ावा देता है। अनुच्छेद 43ख (97वें संशोधन 2011 द्वारा जोड़ा गया) सहकारी समितियों के स्वायत्त गठन और संवर्धन से संबंधित है। अनुच्छेद 47 स्वास्थ्य के सुधार के तहत नशीली दवाओं और शराबबंदी (गौ-वध निषेध अनुच्छेद 48 में है) का निर्देश देता है। अतः सही मिलान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259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73/300</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42वें संविधान संशोधन अधिनियम, 1976 द्वारा राज्य के नीति-निदेशक तत्वों (DPSP) में निम्नलिखित में से कौन-से चार नए अनुच्छेद अंतःस्थापित किए गए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38</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39(च) [बालकों का स्वस्थ विकास], 39क [समान न्याय व निःशुल्क विधिक सहायता], 43क [उद्योगों के प्रबंधन में कामगारों की भागीदारी], और 48क [पर्यावरण एवं वन्यजीव संरक्षण]</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40, 44, 46 और 50</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अनुच्छेद 39क और अनुच्छेद 44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29660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74/300</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अनुच्छेद 39(च) [बालकों का स्वस्थ विकास], 39क [समान न्याय व निःशुल्क विधिक सहायता], 43क [उद्योगों के प्रबंधन में कामगारों की भागीदारी], और 48क [पर्यावरण एवं वन्यजीव संरक्षण]</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38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40, 44, 46 और 50</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अनुच्छेद 39क और अनुच्छेद 44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42वें संविधान संशोधन अधिनियम, 1976 द्वारा स्वर्ण सिंह समिति की सिफारिशों के आधार पर नीति-निदेशक तत्वों में 4 नए अनुच्छेदों का समावेश किया गया था: 1. अनुच्छेद 39(च) - बालकों को स्वतंत्र और गरिमामय वातावरण में स्वस्थ विकास के अवसर देना, 2. अनुच्छेद 39क - गरीबों को समान न्याय और निःशुल्क कानूनी सहायता (Free Legal Aid) सुनिश्चित करना (जिसके तहत 1987 में विधिक सेवा प्राधिकरण अधिनियम / NALSA बना), 3. अनुच्छेद 43क - उद्योगों के प्रबंधन में कर्मकारों की सहभागिता सुनिश्चित करना, तथा 4. अनुच्छेद 48क - पर्यावरण का संरक्षण तथा संवर्धन और वनों तथा वन्यजीवों की रक्षा करना।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29660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74/300</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अनुच्छेद 39 A. द्वारा अंतःस्थापित अनुच्छेद 31C ने व्यवस्था दी कि अनुच्छेद 39 B. और 39</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060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75/300</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39(ख) और 39(ग) समाजवादी भारत के आर्थिक आधार हैं, जिनका उद्देश्य निजी इजारेदारी तोड़कर धन का समान वितरण करना है। 1971 में 25वें संशोधन द्वारा अनुच्छेद 31C जोड़कर इन दोनों अनुच्छेदों को अनुच्छेद 14 व 19 पर प्राथमिकता दी गई। 42वें संशोधन ने सभी नीति-निदेशक तत्वों को मूल अधिकारों पर वरीयता दे दी थी, जिसे मिनर्वा मिल्स वाद (1980) में असंवैधानिक घोषित करते हुए निरस्त कर दिया गया। न्यायमूर्ति वाई. वी. चंद्रचूड़ ने कहा: "भाग III और भाग IV एक रथ के दो पहिए हैं। मूल अधिकारों को वरीयता देकर नीति-निदेशक तत्वों को कुचलना या इसके विपरीत करना संविधान की मूल संरचना को नष्ट करना है।" चारों कथन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060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75/300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रणधीर सिंह बनाम भारत संघ (1982) वाद में उच्चतम न्यायालय ने संविधान के किस अनुच्छेद में उल्लिखित 'पुरुषों और स्त्रियों दोनों के लिए समान कार्य के लिए समान वेतन' के सिद्धांत को अनुच्छेद 14 और 16 के आलोक में मौलिक अधिकार का दर्जा प्रदान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39(क)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39(घ) [Article 39(d)]</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42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43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461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76/300</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39(घ) [Article 39(d)]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39(क)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रणधीर सिंह बनाम भारत संघ (1982) मामले में उच्चतम न्यायालय के तीन न्यायाधीशों की पीठ ने ऐतिहासिक व्यवस्था दी कि 'समान कार्य के लिए समान वेतन' (Equal Pay for Equal Work) यद्यपि अनुच्छेद 39(घ) के तहत राज्य का नीति-निदेशक तत्व है, किंतु जब इसे संविधान के अनुच्छेद 14 (समानता का अधिकार) और अनुच्छेद 16 (सार्वजनिक रोजगार में समान अवसर) के साथ मिलाकर पढ़ा जाता है, तो यह राज्य के सभी कर्मचारियों के लिए एक प्रवर्तनीय संवैधानिक अधिकार और मौलिक अधिकार का रूप ले लेता है। यदि दो पदधारियों का कार्यभार, दायित्व और योग्यताएं समान हैं, तो राज्य उनके वेतनमान में मनमाना भेदभाव नहीं कर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461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76/300</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44 में वर्णित 'नागरिकों के लिए एक समान सिविल संहिता' (Uniform Civil Code - UCC) के संदर्भ में निम्नलिखित में से कौन-सा कथन सही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राज्य को पूरे भारत में विवाह, तलाक, उत्तराधिकार और गोद लेने जैसे नागरिक मामलों में एक समान कानून लागू करने का प्रयास करने का निर्देश देता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गोवा भारत का एकमात्र राज्य है जहाँ पुर्तगाली नागरिक संहिता 1867 के रूप में समान नागरिक संहिता लंबे समय से लागू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उत्तराखंड स्वतंत्रता के बाद समान नागरिक संहिता (UCC) विधेयक पारित करने वाला भारत का पहला राज्य बना (2024)।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44 एक मौलिक अधिकार है और इसे किसी भी नागरिक द्वारा सीधे अदालत से रिट जारी करवाकर लागू कराया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0862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77/300</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अनुच्छेद 44 एक मौलिक अधिकार है और इसे किसी भी नागरिक द्वारा सीधे अदालत से रिट जारी करवाकर लागू कराया जा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राज्य को पूरे भारत में विवाह, तलाक, उत्तराधिकार और गोद लेने जैसे नागरिक मामलों में एक समान कानून लागू करने का प्रयास करने का निर्देश देता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गोवा भारत का एकमात्र राज्य है जहाँ पुर्तगाली नागरिक संहिता 1867 के रूप में समान नागरिक संहिता लंबे समय से लागू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उत्तराखंड स्वतंत्रता के बाद समान नागरिक संहिता (UCC) विधेयक पारित करने वाला भारत का पहला राज्य बना (2024)।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44 राज्य के नीति-निदेशक तत्वों (भाग IV) का हिस्सा है, मूल अधिकार (भाग III) का नहीं। अतः अनुच्छेद 37 के अनुसार यह न्यायालय द्वारा प्रवर्तनीय (Justiciable) नहीं है और अदालत सरकार को समान नागरिक संहिता लागू करने का परमादेश (Mandamus) जारी नहीं कर सकती। हालांकि शाह बानो (1985), सरला मुद्गल (1995) और जॉन वल्लमतम (2003) मामलों में सुप्रीम कोर्ट ने बार-बार केंद्र सरकार को याद दिलाया है कि देश में राष्ट्रीय एकता और लैंगिक न्याय हेतु यूसीसी लागू करने के प्रयास किए जाने चाहिए। गोवा में ऐतिहासिक रूप से और उत्तराखंड में 2024 में राज्य स्तर पर इसे लागू किया गया। अतः कथन D असत्य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0862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77/300</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'काम की न्यायसंगत और मानवोचित दशाएं सुनिश्चित करना तथा मातृत्व सहायता (Maternity Relief) का उपबंध करना' संविधान के किस अनुच्छेद में राज्य का कर्तव्य बताया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41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42</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43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47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263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78/300</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42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47</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42 राज्य को यह निर्देश देता है कि वह कार्यस्थल पर काम की न्यायसंगत और मानवीय दशाएं (Just and humane conditions of work) सुनिश्चित करने के लिए तथा महिलाओं के लिए 'मातृत्व राहत' (Maternity Relief) की व्यवस्था करने के लिए कानून बनाएगा। इसी अनुच्छेद के अनुसरण में भारतीय संसद ने मातृत्व लाभ अधिनियम 1961 (संशोधित 2017 - जिसमें सवेतन मातृत्व अवकाश 12 सप्ताह से बढ़ाकर 26 सप्ताह किया गया) तथा कारखाना अधिनियम 1948 पारित किए हैं। अनुच्छेद 41 काम, शिक्षा और लोक सहायता पाने के अधिकार से संबंधित है, जबकि अनुच्छेद 43 निर्वाह मजदूरी से संबंधित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263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78/300</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79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50 के अंतर्गत 'राज्य की लोक सेवाओं में कार्यपालिका से न्यायपालिका का पृथक्करण' (Separation of Judiciary from Executive) सुनिश्चित करने हेतु किस कानून के द्वारा दांडिक मजिस्ट्रेटों को कार्यपालिका से अलग किया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सिविल प्रक्रिया संहिता, 1908</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दंड प्रक्रिया संहिता, 1973 (CrPC, 1973)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साक्ष्य अधिनियम, 1872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पुलिस अधिनियम, 1861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1664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79/300</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दंड प्रक्रिया संहिता, 1973 (CrPC, 1973)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सिविल प्रक्रिया संहिता, 1908</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भारतीय साक्ष्य अधिनियम, 1872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पुलिस अधिनियम, 1861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50 राज्य को यह संवैधानिक आदेश देता है कि वह लोक सेवाओं में न्यायपालिका को कार्यपालिका के नियंत्रण से पृथक करने के लिए कदम उठाएगा, ताकि न्यायपालिका की स्वतंत्रता और निष्पक्षता अक्षुण्ण रहे। इस नीति-निदेशक तत्व को अमलीजामा पहनाने के लिए संसद ने पुरानी 1898 की संहिता को निरस्त कर 'दंड प्रक्रिया संहिता, 1973' (CrPC, 1973) पारित की, जो 1 अप्रैल, 1974 से लागू हुई। इसके तहत न्यायिक मजिस्ट्रेटों (Judicial Magistrates) को उच्च न्यायालय के सीधे प्रशासनिक नियंत्रण में रखा गया और कार्यपालक मजिस्ट्रेटों (Executive Magistrates - जैसे डीएम, एसडीएम) से आपराधिक मामलों के विचारण और सजा सुनाने की न्यायिक शक्तियां छीन ली गईं।</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1664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79/300</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 IV-क में अंतःस्थापित 'मूल कर्तव्यों' (Fundamental Duties, अनुच्छेद 51A) के संबंध में निम्नलिखित कथनों पर विचार कीजिए: A. मूल संविधान में मौलिक कर्तव्यों का कोई उल्लेख नहीं था; इन्हें सरदार स्वर्ण सिंह समिति (1976) की सिफारिश पर 42वें संशोधन द्वारा जोड़ा गया। B. स्वर्ण सिंह समिति ने 8 कर्तव्यों की सिफारिश की थी और कर अदायगी (Duty to pay taxes) को भी कर्तव्य बनाने का सुझाव दिया था, जिसे सरकार ने स्वीकार नहीं किया। C. 42वें संशोधन (1976) द्वारा पूर्व सोवियत संघ (USSR) से प्रेरित होकर 10 मूल कर्तव्य शामिल किए गए। D. 86वें संविधान संशोधन (2002) द्वारा 11वां मूल कर्तव्य [51A(k) - 6 से 14 वर्ष के बच्चों को शिक्षा के अवसर उपलब्ध कराना] जोड़ा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064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80/300</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1975-77 के आपातकाल के दौरान नागरिकों में अनुशासन और राष्ट्र निर्माण की भावना जगाने हेतु स्वर्ण सिंह समिति बनी। समिति की सिफारिश पर 42वें संशोधन 1976 द्वारा नया भाग IV-क और अनुच्छेद 51क जोड़ा गया। स्वर्ण सिंह समिति ने कर भुगतान का कर्तव्य और कर्तव्य न मानने पर संसद द्वारा दंड देने की सिफारिश की थी जिसे नहीं माना गया। 1976 में 10 कर्तव्य शामिल हुए। वर्ष 2002 में 86वें संशोधन से 11वां कर्तव्य जोड़ा गया, जिसमें माता-पिता या संरक्षक का यह कर्तव्य तय किया गया कि वे 6 से 14 वर्ष के अपने बच्चों को शिक्षा के अवसर प्रदान करें।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064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80/300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81</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अनुच्छेद 51क के अंतर्गत उल्लिखित मूल कर्तव्यों के विशिष्ट उपखंडों का सही मिलान कीजिए: सूची-I: सूची-I: A. अनुच्छेद 51क(क) B. अनुच्छेद 51क(ग) C. अनुच्छेद 51क(छ) D. अनुच्छेद 51क(झ) सूची-II: 1. भारत की संप्रभुता, एकता और अखंडता की रक्षा करना और उसे अक्षुण्ण रखना 2. संविधान का पालन करना और उसके आदर्शों, संस्थाओं, राष्ट्रध्वज और राष्ट्रगान का आदर करना 3. सार्वजनिक संपत्ति को सुरक्षित रखना और हिंसा से दूर रहना 4. प्राकृतिक पर्यावरण की, जिसके अंतर्गत वन, झील, नदी और वन्यजीव हैं, रक्षा और संवर्धन करना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465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81/300</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51क के सभी 11 कर्तव्यों का एक निश्चित क्रमिक विन्यास है: 51क(क) - संविधान, राष्ट्रध्वज और राष्ट्रगान का सम्मान; 51क(ख) - स्वतंत्रता संग्राम के उच्च आदर्शों को संजोना; 51क(ग) - भारत की संप्रभुता, एकता और अखंडता की रक्षा; 51क(घ) - देश की रक्षा व राष्ट्र सेवा; 51क(ङ) - समरसता, भ्रातृत्व और स्त्रियों के सम्मान विरोधी प्रथाओं का त्याग; 51क(च) - सामासिक संस्कृति की गौरवशाली परंपरा का परिरक्षण; 51क(छ) - पर्यावरण (वन, झील, नदी, वन्यजीव) की रक्षा; 51क(ज) - वैज्ञानिक दृष्टिकोण, मानववाद व ज्ञानार्जन का विकास; 51क(झ) - सार्वजनिक संपत्ति की सुरक्षा व हिंसा का त्याग; 51क(ञ) - सभी क्षेत्रों में उत्कर्ष का प्रयास; और 51क(ट) - 6-14 वर्ष के बच्चों को शिक्षा।</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465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81/300</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नागरिकों को मौलिक कर्तव्य सिखाने और उनके विधिक क्रियान्वयन संबंधी उपायों के लिए वर्ष 1999 में भारत सरकार द्वारा गठित समिति के अध्यक्ष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जे. एस. वर्मा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एम. एन. वेंकटचेलैया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डॉ. कर्ण सिंह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टी. एन. शेषन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2866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82/300</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न्यायमूर्ति जे. एस. वर्मा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एम. एन. वेंकटचेलैया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कर्ण सिंह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 एन. शेषन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नागरिकों में विशेषकर युवाओं और शिक्षण संस्थाओं में मौलिक कर्तव्यों के प्रति जागरूकता और उन्हें व्यवहार में लाने के तौर-तरीकों की पहचान के लिए 1999 में भारत के पूर्व मुख्य न्यायाधीश न्यायमूर्ति जे. एस. वर्मा की अध्यक्षता में एक उच्चस्तरीय समिति ('वर्मा समिति') का गठन किया गया था। इस समिति ने स्पष्ट किया कि यद्यपि मौलिक कर्तव्य गैर-न्यायसंगत हैं, फिर भी कई कर्तव्यों को लागू करने के लिए पहले से ही कठोर वैधानिक कानून मौजूद हैं; जैसे: राष्ट्रीय गौरव अपमान निवारण अधिनियम 1971 (राष्ट्रध्वज व राष्ट्रगान हेतु), सिविल अधिकार संरक्षण अधिनियम 1955 (जाति/धर्म भेदभाव हेतु), वन्यजीव संरक्षण अधिनियम 1972 और लोक प्रतिनिधित्व अधिनियम 1951।</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2866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82/300</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बिजो इमैनुएल बनाम केरल राज्य (1986 - राष्ट्रगान वाद) में उच्चतम न्यायालय ने विद्यार्थियों द्वारा राष्ट्रगान गाए बिना केवल सम्मानपूर्वक खड़े रहने को किस मौलिक अधिकार के तहत वैध माना?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अनुच्छेद 14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19(1)(क) [वाक् व मौन रहने की स्वतंत्रता] और अनुच्छेद 25(1) [धार्मिक अंतःकरण की स्वतंत्रता]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21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30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267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83/300</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अनुच्छेद 19(1)(क) [वाक् व मौन रहने की स्वतंत्रता] और अनुच्छेद 25(1) [धार्मिक अंतःकरण की स्वतंत्रता]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अनुच्छेद 14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21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30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 इमैनुएल बनाम केरल राज्य (1986) को प्रसिद्ध 'राष्ट्रगान वाद' (National Anthem Case) कहा जाता है। केरल के एक स्कूल में 'यहोवा के साक्षी' (Jehovah's Witnesses) संप्रदाय के तीन बच्चों को इसलिए निष्कासित कर दिया गया था क्योंकि वे अपनी धार्मिक मान्यताओं के कारण सुबह की प्रार्थना में राष्ट्रगान गा नहीं रहे थे, हालांकि वे राष्ट्रगान के समय आदरपूर्वक सीधे खड़े रहते थे। न्यायमूर्ति ओ. चिनप्पा रेड्डी की पीठ ने बच्चों के निष्कासन को असंवैधानिक ठहराते हुए आदेश दिया कि किसी व्यक्ति को राष्ट्रगान गाने के लिए बाध्य नहीं किया जा सकता यदि वह उसका अपमान नहीं कर रहा है और सम्मानपूर्वक खड़ा है। यह मौन रहने की स्वतंत्रता [19(1)(क)] और धार्मिक आस्था [25(1)] द्वारा संरक्षित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267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83/300</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निम्नलिखित में से कौन-सा विषय ऐसा है जिसका उल्लेख भारतीय संविधान के 'राज्य के नीति-निदेशक तत्वों' (DPSP) और 'मूल कर्तव्यों' (Fundamental Duties) दोनों में समान रूप से मिलता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कार्यपालिका से न्यायपालिका का पृथक्करण</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पर्यावरण, वनों तथा वन्यजीवों का संरक्षण एवं संवर्धन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ग्राम पंचायतों का गठन और स्वायत्तता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सहकारी समितियों को प्रोत्साहन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3668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84/300</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पर्यावरण, वनों तथा वन्यजीवों का संरक्षण एवं संवर्धन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कार्यपालिका से न्यायपालिका का पृथक्करण</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ग्राम पंचायतों का गठन और स्वायत्तता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सहकारी समितियों को प्रोत्साहन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'पर्यावरण, वनों और वन्यजीवों का संरक्षण' संविधान में राज्य और नागरिक दोनों की साझी जिम्मेदारी के रूप में दोहराया गया है। नीति-निदेशक तत्वों के अंतर्गत अनुच्छेद 48A (42वें संशोधन 1976 द्वारा) में राज्य का कर्तव्य है कि "राज्य, देश के पर्यावरण के संरक्षण तथा संवर्धन का और वन तथा वन्यजीवों की रक्षा करने का प्रयास करेगा।" वहीं मूल कर्तव्यों के अंतर्गत अनुच्छेद 51A(छ) में प्रत्येक भारतीय नागरिक का कर्तव्य घोषित किया गया है कि "प्राकृतिक पर्यावरण की, जिसके अंतर्गत वन, झील, नदी और वन्यजीव हैं, रक्षा करे और उसका संवर्धन करे तथा प्राणिमात्र के प्रति दयाभाव रखे।" अन्य तीनों विकल्प केवल नीति-निदेशक तत्वों में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3668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84/300</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में केवल 'नागरिकों' को प्राप्त और 'नागरिकों तथा विदेशियों दोनों' को प्राप्त मौलिक अधिकारों के वर्गीकरण पर विचार कीजिए: A. अनुच्छेद 15, 16, 19, 29 और 30 द्वारा प्रदत्त मौलिक अधिकार केवल और केवल भारत के 'नागरिकों' को उपलब्ध हैं। B. अनुच्छेद 14, 20, 21, 21A, 22, 23, 24, 25, 26, 27 और 28 भारत के राज्यक्षेत्र में रहने वाले सभी 'व्यक्तियों' (नागरिकों और विदेशियों दोनों) को प्राप्त हैं। C. विदेशी नागरिकों को भी शत्रु अन्यदेशीय (Enemy Alien) होने पर अनुच्छेद 22 के तहत गिरफ्तारी और निरोध से सुरक्षा प्राप्त नहीं होती। D. कानूनी व्यक्तियों जैसे कंपनियों और निगमों को भी अनुच्छेद 14 और 21 के तहत कुछ मौलिक अधिकार प्राप्त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069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85/300</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निर्माताओं ने नागरिक और मानव अधिकारों में स्पष्ट संतुलन बनाया है। वे अधिकार जो राजनीतिक और सामाजिक विशेषाधिकार हैं-अनुच्छेद 15 (गैर-भेदभाव), अनुच्छेद 16 (सार्वजनिक रोजगार में अवसर की समता), अनुच्छेद 19 (छह स्वतंत्रताएं), तथा अनुच्छेद 29 व 30 (अल्पसंख्यकों के सांस्कृतिक व शैक्षणिक अधिकार)-केवल भारतीय नागरिकों को प्राप्त हैं। जबकि जीवन, व्यक्तिगत स्वतंत्रता, धार्मिक स्वतंत्रता और शोषण से मुक्ति से जुड़े अधिकार सभी व्यक्तियों (विदेशियों सहित) को उपलब्ध हैं। अनुच्छेद 22(3) स्पष्ट करता है कि भारत के साथ युद्धरत देश के नागरिक (शत्रु अन्यदेशीय) को 24 घंटे में मजिस्ट्रेट के सामने पेश करने और वकील से सलाह लेने का अधिकार नहीं मिलता।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069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85/300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किस अनुच्छेद के तहत राष्ट्रपति को यह अधिकार है कि वह कानून बनाकर सशस्त्र बलों, अर्धसैनिक बलों और पुलिस बलों के सदस्यों के मौलिक अधिकारों के प्रयोग को संशोधित या समाप्त कर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469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86/300</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33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33 में संसद को यह विशेष विधायी अधिकार दिया गया है कि वह सशस्त्र बलों, नौसेना, वायुसेना, पुलिस बलों, खुफिया एजेंसियों (जैसे IB, RAW) और सेना के दूरसंचार विंग में कार्यरत कार्मिकों के मौलिक अधिकारों (जैसे हड़ताल करने, संगठन बनाने, मीडिया में बोलने के अधिकार) को आंशिक या पूर्ण रूप से प्रतिबंधित या निरसित कर सकती है। इसका उद्देश्य राष्ट्रीय सुरक्षा के संवेदनशील मामलों में इन बलों की कार्यकुशलता और सख्त अनुशासन बनाए रखना है। अनुच्छेद 34 सेना विधि (मार्शल लॉ) लागू होने पर क्षतिपूर्ति से जुड़ा है, और अनुच्छेद 35 इन अधिकारों को प्रभावी करने के लिए संसद की अनन्य विधायी शक्ति से संबंधित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469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86/300</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एम. एच. होसकोट बनाम महाराष्ट्र राज्य (1978) और शीला बार्से बनाम महाराष्ट्र राज्य (1983) वादों में उच्चतम न्यायालय ने किस अधिकार को अनुच्छेद 21 के तहत कैदियों का मौलिक अधिकार घोषित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 के भीतर राजनीतिक चुनाव लड़ने का अधिकार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विचाराधीन कैदियों और गरीब सजायाफ्ता कैदियों को राज्य के खर्च पर निःशुल्क कानूनी सहायता और निर्णय की प्रतिलिपि पाने का अधिकार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 में स्मार्टफोन और इंटरनेट का उपयोग करने का अधिकार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आजीवन कारावास की सजा को स्वतः 5 वर्ष में बदलने का अधिकार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4870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87/300</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विचाराधीन कैदियों और गरीब सजायाफ्ता कैदियों को राज्य के खर्च पर निःशुल्क कानूनी सहायता और निर्णय की प्रतिलिपि पाने का अधिकार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जेल के भीतर राजनीतिक चुनाव लड़ने का अधिकार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जेल में स्मार्टफोन और इंटरनेट का उपयोग करने का अधिकार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आजीवन कारावास की सजा को स्वतः 5 वर्ष में बदलने का अधिकार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एम. एच. होसकोट बनाम महाराष्ट्र राज्य (1978) वाद में न्यायमूर्ति वी. आर. कृष्णा अय्यर ने ऐतिहासिक व्यवस्था दी कि जेल में बंद किसी भी गरीब, असहाय या अशिक्षित कैदी को, जो गरीबी के कारण वकील नहीं रख सकता, अपील करने के लिए सरकारी खर्च पर फैसले की प्रति उपलब्ध कराना और सक्षम वकील की 'निःशुल्क कानूनी सहायता' (Free Legal Aid) प्रदान करना अनुच्छेद 21 के तहत निष्पक्ष विचारण का अनिवार्य मौलिक अधिकार है। शीला बार्से वाद (1983) में महिला कैदियों की पुलिस हिरासत में सुरक्षा, कानूनी सहायता और जेल नियमावली के पालन के सख्त निर्देश दिए गए।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4870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87/300</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प्रेम शंकर शुक्ला बनाम दिल्ली प्रशासन (1980) और सुनील बत्रा बनाम दिल्ली प्रशासन (1978/1980) मामलों में उच्चतम न्यायालय के मानवीय कारागार सुधार निर्णयों पर विचार कीजिए: A. विचाराधीन कैदियों को जेल से अदालत ले जाते समय हथकड़ी लगाना और जंजीरों में बांधना मानव गरिमा के विरुद्ध और असंवैधानिक है। B. किसी कैदी को केवल असाधारण परिस्थितियों में (जब उसके भागने या अत्यधिक हिंसक होने का पुख्ता प्रमाण हो) और मजिस्ट्रेट की पूर्वानुमति से ही हथकड़ी लगाई जा सकती है। C. कैदियों को एकांत कारावास (Solitary Confinement) में डालना और अमानवीय यातनाएं देना अनुच्छेद 21 का सीधा उल्लंघन है। D. कैदी भी 'मानव' हैं और जेल की चहारदीवारी के भीतर प्रवेश करने मात्र से उनके मौलिक अधिकार समाप्त नहीं हो जाते।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271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88/300</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मानवाधिकार विधिशास्त्र में सुनील बत्रा और प्रेम शंकर शुक्ला के मामले मील के पत्थर हैं। न्यायमूर्ति वी. आर. कृष्णा अय्यर ने 'हथकड़ी वाद' (प्रेम शंकर शुक्ला 1980) में कहा: "हथकड़ी लगाना प्रथम दृष्टया अमानवीय, बर्बर और अनुच्छेद 21 का उल्लंघन है।" पुलिस को नियमित रूप से कैदियों को बांधने की छूट नहीं दी जा सकती; यदि ऐसा करना अपरिहार्य हो तो कारण केस डायरी में दर्ज करने होंगे और मजिस्ट्रेट की लिखित अनुमति लेनी होगी। सुनील बत्रा वाद में तिहाड़ जेल के भीतर एकांत कोठरी में बंद कैदी की सुरक्षा पर ऐतिहासिक फैसला आया कि जेल प्रशासन की बर्बरता के विरुद्ध बंदी प्रत्यक्षीकरण रिट जेल के भीतर भी लागू होती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271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88/300</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89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किस संवैधानिक संशोधन अधिनियम द्वारा संपत्ति के अधिकार को मौलिक अधिकारों (अनुच्छेद 19(1)(च) और अनुच्छेद 31) की सूची से हटाकर संविधान के भाग XII के तहत केवल एक 'विधिक/कानूनी अधिकार' (अनुच्छेद 300क) बना दिया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24वां संविधान संशोधन, 1971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42वां संविधान संशोधन, 1976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44वां संविधान संशोधन अधिनियम, 1978</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86वां संविधान संशोधन, 2002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5672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89/300</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44वां संविधान संशोधन अधिनियम, 1978</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24वां संविधान संशोधन, 1971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42वां संविधान संशोधन, 1976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86वां संविधान संशोधन, 2002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संविधान में संपत्ति का अधिकार अनुच्छेद 19(1)(च) और अनुच्छेद 31 के तहत एक मौलिक अधिकार था, जिसके कारण भूमि सुधार, जमींदारी उन्मूलन और सार्वजनिक परियोजनाओं के क्रियान्वयन में सरकार और न्यायपालिका के बीच लगातार गंभीर टकराव (कामेश्वर सिंह, बेला बनर्जी, गोलकनाथ आदि) हुए। मोरारजी देसाई के नेतृत्व वाली जनता पार्टी सरकार ने 44वें संविधान संशोधन अधिनियम, 1978 द्वारा संपत्ति के अधिकार को मौलिक अधिकारों के भाग III से पूर्णतः विलोपित कर दिया। इसे संविधान के भाग XII के अध्याय IV में 'अनुच्छेद 300क' (Article 300A) के तहत केवल एक सामान्य 'संवैधानिक एवं विधिक अधिकार' (Legal/Constitutional Right) बना दिया गया, जिसके तहत किसी व्यक्ति को उसकी संपत्ति से 'विधि के प्राधिकार' के बिना वंचित नहीं किया जाएगा।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5672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89/300</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संजीत रॉय बनाम राजस्थान राज्य (1983) वाद में उच्चतम न्यायालय ने राज्य सरकार की किस प्रथा को अनुच्छेद 23 के तहत असंवैधानिक घोषित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अकाल राहत कार्यों में कार्यरत मजदूरों को न्यूनतम मजदूरी से कम मजदूरी का भुगतान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सचिवालय में संविदा पर कर्मचारियों की नियुक्ति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जेल के कैदियों से कठोर श्रम करवाना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कारखानों में महिला श्रमिकों से रात्रि पाली में कार्य करवाना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073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90/300</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अकाल राहत कार्यों में कार्यरत मजदूरों को न्यूनतम मजदूरी से कम मजदूरी का भुगतान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सचिवालय में संविदा पर कर्मचारियों की नियुक्ति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जेल के कैदियों से कठोर श्रम करवाना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कारखानों में महिला श्रमिकों से रात्रि पाली में कार्य करवाना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संजीत रॉय बनाम राजस्थान राज्य (1983) वाद में राजस्थान सरकार द्वारा बनाए गए 'राजस्थान अकाल सहायता और राहत संकर्म (मजदूरी का विनियमन) अधिनियम, 1964' की संवैधानिक वैधता को चुनौती दी गई थी। इस कानून के तहत अकाल और सूखे से प्रभावित लोगों को राहत कार्य में रोजगार देते समय 'न्यूनतम मजदूरी अधिनियम 1948' के तहत तय वैधानिक न्यूनतम मजदूरी से काफी कम मजदूरी दी जा रही थी। उच्चतम न्यायालय के न्यायमूर्ति पी. एन. भगवती ने ऐतिहासिक फैसला सुनाते हुए कहा कि अकाल या आपदा की स्थिति में भी राज्य सरकार द्वारा न्यूनतम मजदूरी से कम भुगतान करना संविधान के अनुच्छेद 23 द्वारा निषिद्ध 'बलात् श्रम' (Forced Labour) है। सरकार संकट का फायदा उठाकर नागरिकों के मौलिक अधिकार का हनन नहीं कर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073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90/300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के निर्वाचक मंडल (Electoral College, अनुच्छेद 54) और मत-मूल्य गणना (अनुच्छेद 55) के संदर्भ में निम्नलिखित कथनों पर विचार कीजिए: A. निर्वाचक मंडल में संसद के दोनों सदनों के निर्वाचित सदस्य तथा राज्यों व दिल्ली-पुदुचेरी विधानसभाओं के निर्वाचित सदस्य शामिल होते हैं। B. संसद के दोनों सदनों और राज्य विधानसभाओं के मनोनीत सदस्य राष्ट्रपति के चुनाव में मतदान करने के हकदार नहीं होते। C. किसी विधायक (MLA) के मत का मूल्य = (राज्य की कुल जनसंख्या / विधानसभा के कुल निर्वाचित सदस्य) × (1/1000) होता है। D. 84वें संविधान संशोधन (2001) के अनुसार राष्ट्रपति चुनाव में राज्यों की जनसंख्या का आधार वर्ष 2026 के बाद की पहली जनगणना के आंकड़े प्रकाशित होने तक 1971 की जनगणना ही रहेगा।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473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91/300</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के निर्वाचन मंडल में संसद (लोकसभा व राज्यसभा) के केवल निर्वाचित सदस्य तथा 28 राज्यों और 2 केंद्रशासित प्रदेशों (दिल्ली व पुदुचेरी, 70वें संशोधन 1992 द्वारा) की विधानसभाओं के केवल निर्वाचित सदस्य शामिल होते हैं। संसद व विधानसभाओं के मनोनीत सदस्य तथा विधान परिषदों (MLCs) के सदस्य इसमें भाग नहीं लेते। विधायक के मत-मूल्य का सूत्र = (राज्य की 1971 की जनसंख्या / निर्वाचित विधायकों की संख्या) × 1/1000 है। सांसदों के मत-मूल्य की गणना सभी राज्यों के विधायकों के कुल मत-मूल्यों के योग को निर्वाचित सांसदों (543+233=776) की संख्या से भाग देकर निकाली जाती है। 84वें संशोधन द्वारा 1971 की जनसंख्या को 2026 के बाद तक फ्रीज किया गया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473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91/300</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राष्ट्रपति चुनाव, 2022 के आधिकारिक आंकड़ों के अनुसार, किस राज्य के एक विधायक (MLA) का मत-मूल्य सबसे कम (न्यूनतम)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पुदुचेरी (मत मूल्य: 16)</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अरुणाचल प्रदेश (मत मूल्य: 8)</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मिजोरम (मत मूल्य: 8)</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सिक्किम (मत मूल्य: 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6874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92/300</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सिक्किम (मत मूल्य: 7)</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पुदुचेरी (मत मूल्य: 16)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अरुणाचल प्रदेश (मत मूल्य: 8)</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मिजोरम (मत मूल्य: 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चुनाव में प्रत्येक राज्य की 1971 की जनसंख्या और निर्वाचित विधायकों की संख्या के अनुपात के आधार पर विधायक के मत का मूल्य भिन्न-भिन्न होता है। वर्ष 2022 के राष्ट्रपति चुनाव में सर्वाधिक मत-मूल्य उत्तर प्रदेश के विधायक का था (208 मत मूल्य)। वहीं सबसे कम मत-मूल्य सिक्किम राज्य के विधायक का था, जिसका मान केवल 7 था। इसके बाद अरुणाचल प्रदेश और मिजोरम के विधायकों का मत-मूल्य 8-8 तथा नागालैंड का 9 था। केंद्रशासित प्रदेश पुदुचेरी के विधायक का मत-मूल्य 16 था। राजस्थान के प्रत्येक विधायक का मत-मूल्य 129 था (राजस्थान के सभी 200 विधायकों का कुल मत-मूल्य = 129 × 200 = 25,800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6874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92/300</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स्वतंत्र भारत के इतिहास में वह एकमात्र राष्ट्रपति चुनाव कौन-सा था जिसमें किसी भी प्रत्याशी को पहली वरीयता में जीत का कोटा नहीं मिला और 'द्वितीय वरीयता के मतों की गणना' करनी पड़ी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1967 का चुनाव (डॉ. ज़ाकिर हुसैन)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1969 का चुनाव (वी. वी. गिरि)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1977 का चुनाव (नीलम संजीव रेड्डी)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1982 का चुनाव (ज्ञानी जैल 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275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93/300</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1969 का चुनाव (वी. वी. 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1967 का चुनाव (डॉ. ज़ाकिर हुसैन)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1977 का चुनाव (नीलम संजीव रेड्डी)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1982 का चुनाव (ज्ञानी जैल 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1969 का राष्ट्रपति चुनाव भारतीय राजनीतिक इतिहास का सबसे रोमांचक और ऐतिहासिक चुनाव था। तत्कालीन राष्ट्रपति डॉ. ज़ाकिर हुसैन के असामयिक निधन के बाद कांग्रेस के आधिकारिक उम्मीदवार नीलम संजीव रेड्डी के विरुद्ध तत्कालीन उपराष्ट्रपति वी. वी. गिरि ने स्वतंत्र उम्मीदवार के रूप में चुनाव लड़ा और प्रधानमंत्री इंदिरा गांधी ने सांसदों-विधायकों से 'अंतरात्मा की आवाज पर मतदान' करने की अपील की। प्रथम वरीयता की मतगणना में किसी भी उम्मीदवार को निर्धारित जीत का कोटा (कुल वैध मतों का 50% + 1) प्राप्त नहीं हुआ। इसके बाद सबसे कम वोट पाने वाले उम्मीदवारों को एलिमिनेट करके द्वितीय वरीयता (Second Preference) के मतों की गणना की गई, जिसमें वी. वी. गिरि विजयी घोषित 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275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93/300</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61 के तहत भारत के राष्ट्रपति पर 'महाभियोग' (Impeachment) चलाने की प्रक्रिया के संदर्भ में निम्नलिखित कथनों पर विचार कीजिए: A. महाभियोग का एकमात्र संवैधानिक आधार 'संविधान का अतिक्रमण' (Violation of the Constitution) है, जिसे संविधान में परिभाषित नहीं किया गया है। B. महाभियोग का आरोप संसद के किसी भी सदन (लोकसभा या राज्यसभा) में प्रारंभ किया जा सकता है। C. आरोप पत्र पर उस सदन के कम से कम एक-चौथाई (1/4) सदस्यों के हस्ताक्षर और राष्ट्रपति को 14 दिन की लिखित पूर्व सूचना अनिवार्य है। D. यह प्रस्ताव दोनों सदनों द्वारा अलग-अलग उस सदन की 'कुल सदस्य संख्या के कम से कम दो-तिहाई बहुमत' से पारित होना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7676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94/300</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61 में राष्ट्रपति पर महाभियोग की एक अर्द्ध-न्यायिक (Quasi-judicial) प्रक्रिया दी गई है। यह प्रस्ताव संसद के किसी भी सदन में लाया जा सकता है, जिसके लिए 1/4 सदस्यों के हस्ताक्षर और 14 दिन की पूर्व सूचना जरूरी है। पहले सदन द्वारा कुल सदस्य संख्या के दो-तिहाई विशेष बहुमत से पारित होने के बाद दूसरा सदन आरोपों की जांच करता है (जहाँ राष्ट्रपति को स्वयं उपस्थित होने या वकील रखने का अधिकार है)। यदि दूसरा सदन भी कुल सदस्य संख्या के दो-तिहाई बहुमत से प्रस्ताव पारित कर दे, तो राष्ट्रपति को उसी दिन से पद छोड़ना पड़ता है। ध्यान रहे: संसद के मनोनीत सदस्य महाभियोग में वोट देते हैं, लेकिन राज्य विधानसभाओं के विधायक इसमें भाग नहीं लेते।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7676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94/300</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अनुच्छेद 71 के तहत राष्ट्रपति और उपराष्ट्रपति के चुनाव से जुड़े सभी संदेहों और विवादों की जांच और अंतिम विनिश्चय किसके द्वारा किया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 का निर्वाचन आयोग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संसद की संयुक्त संसदीय समिति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 का उच्चतम न्यायालय (Supreme Court)</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दिल्ली उच्च न्यायालय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077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95/300</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 का उच्चतम न्यायालय (Supreme Court)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निर्वाचन आयोग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 की संयुक्त संसदीय समिति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दिल्ली उच्च न्यायालय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71(1) में स्पष्ट प्रावधान है कि राष्ट्रपति या उपराष्ट्रपति के चुनाव से उत्पन्न या संबंधित सभी शंकाओं और विवादों की जांच और फैसला केवल और केवल 'भारत के उच्चतम न्यायालय' (Supreme Court of India) द्वारा किया जाएगा और उसका निर्णय अंतिम होगा। अनुच्छेद 71(4) यह भी स्पष्ट करता है कि राष्ट्रपति या उपराष्ट्रपति के चुनाव को इस आधार पर कभी चुनौती नहीं दी जा सकती कि उनके निर्वाचक मंडल के सदस्यों में कोई स्थान रिक्त था (उदाहरण के लिए किसी राज्य की विधानसभा भंग होने पर भी चुनाव नहीं रोका जा सकता, जैसा कि 1974 के राष्ट्रपति चुनाव संदर्भ में तय हुआ था)। चुनाव आयोग का इस पर विवाद निस्तारण अधिकार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077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95/300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72 के तहत राष्ट्रपति की क्षमादान शक्ति (Pardoning Power) के संदर्भ में निम्नलिखित कथनों पर विचार कीजिए: A. राष्ट्रपति को सैन्य न्यायालय (Court Martial) द्वारा दिए गए दंड तथा मृत्यु दंडादेश के सभी मामलों में क्षमादान देने का अनन्य अधिकार है। B. राष्ट्रपति क्षमादान शक्ति का प्रयोग अपने व्यक्तिगत विवेक से नहीं बल्कि केंद्रीय मंत्रिपरिषद की सलाह पर करता है। C. राष्ट्रपति दया याचिका पर निर्णय लेते समय मौखिक सुनवाई (Oral Hearing) देने के लिए बाध्य नहीं है। D. उच्चतम न्यायालय के अनुसार दया याचिका पर राष्ट्रपति का निर्णय मनमाना, दुर्भावनापूर्ण या असंगत होने पर सीमित न्यायिक समीक्षा (Judicial Review) के अधीन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477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96/300</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72 राष्ट्रपति को 5 प्रकार की राहत देने की शक्ति देता है: क्षमा (Pardon - पूर्ण मुक्ति), लघुकरण (Commutation - सजा का स्वरूप बदलना), परिहार (Remission - सजा की प्रकृति बदले बिना अवधि कम करना), विराम (Respite - विशेष कारणों जैसे गर्भावस्था पर कम सजा), और प्रविलंबन (Reprieve - मृत्युदंड पर अस्थायी रोक)। मारू राम (1980) और केहर सिंह (1989) मामलों में तय हुआ कि राष्ट्रपति केंद्रीय कैबिनेट की सलाह पर काम करता है और मौखिक सुनवाई अनिवार्य नहीं है। शत्रुघ्न चौहान बनाम भारत संघ (2014) में सुप्रीम कोर्ट ने तय किया कि राष्ट्रपति द्वारा दया याचिका पर अत्यधिक और अकारण देरी करने पर मृत्युदंड को आजीवन कारावास में बदला जा सकता है और यह सीमित न्यायिक समीक्षा के अधीन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477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96/300</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1986 में तत्कालीन राष्ट्रपति ज्ञानी जैल सिंह ने संसद द्वारा पारित किस विवादित विधेयक पर भारतीय इतिहास में पहली बार 'पॉकेट वीटो' (Pocket Veto / जेबी निषेधाधिकार) का प्रयोग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दहेज प्रतिषेध संशोधन विधेयक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डाकघर (संशोधन) विधेयक</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बैंक सेवा आयोग (निरसन) विधेयक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कोड ऑफ क्रिमिनल प्रोसीजर संशोधन विधेयक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8878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97/300</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भारतीय डाकघर (संशोधन) विधेयक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दहेज प्रतिषेध संशोधन विधेयक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 सेवा आयोग (निरसन) विधेयक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कोड ऑफ क्रिमिनल प्रोसीजर संशोधन विधेयक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राष्ट्रपति के पास अमेरिकी राष्ट्रपति की तरह 'पॉकेट वीटो' की अनूठी शक्ति है, क्योंकि भारतीय संविधान के अनुच्छेद 111 में राष्ट्रपति द्वारा विधेयक पर निर्णय लेने की कोई समय-सीमा निर्धारित नहीं की गई है ("राष्ट्रपति की जेब अमेरिकी राष्ट्रपति की तुलना में बड़ी है")। वर्ष 1986 में राजीव गांधी सरकार ने 'भारतीय डाकघर (संशोधन) विधेयक' पारित कराया, जिसमें सरकार को नागरिकों के पत्रों और संदेशों को इंटरसेप्ट व सेंसर करने की व्यापक शक्तियां दी गई थीं। इसे निजता और प्रेस स्वतंत्रता का हनन मानते हुए राष्ट्रपति ज्ञानी जैल सिंह ने इस पर न तो अपनी सहमति दी, न इसे पुनर्विचार के लिए लौटाया और न ही इसे अस्वीकार किया, बल्कि अनिश्चितकाल के लिए लंबित रख दिया (पॉकेट वीटो)।</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8878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97/300</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123 के अंतर्गत राष्ट्रपति की अध्यादेश निर्माण शक्ति (Ordinance-making Power) के संदर्भ में निम्नलिखित कथनों पर विचार कीजिए: A. राष्ट्रपति अध्यादेश केवल तभी प्रख्यापित कर सकता है जब संसद के दोनों सदन या दोनों में से कोई एक सदन सत्र में न हो। B. अध्यादेश केवल उन्हीं विषयों पर जारी किया जा सकता है जिन पर संसद को कानून बनाने की संवैधानिक शक्ति प्राप्त है। C. अध्यादेश संसद के पुनः संवेत (Reassemble) होने की तारीख से 6 सप्ताह के भीतर दोनों सदनों द्वारा अनुमोदित न होने पर स्वतः समाप्त हो जाता है। D. डी. सी. वाधवा (1987) और कृष्ण कुमार सिंह (2017) मामलों में न्यायालय ने विधायिका को दरकिनार कर बार-बार अध्यादेश को पुनः प्रख्यापित करने को असंवैधानिक घोषित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279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98/300</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123 राष्ट्रपति को संसद के अवकाश काल में आपातकालीन विधायी अधिकार देता है। इसका प्रभाव संसद के अधिनियम के बिल्कुल बराबर होता है। किसी अध्यादेश का अधिकतम सैद्धांतिक जीवनकाल 6 माह और 6 सप्ताह हो सकता है (अनुच्छेद 85 के तहत दो सत्रों के बीच अधिकतम अंतर 6 माह + सत्र शुरू होने के बाद 6 सप्ताह)। डी. सी. वाधवा बनाम बिहार राज्य (1987) तथा कृष्ण कुमार सिंह बनाम बिहार राज्य (2017) की 7-जजों की संविधान पीठ ने फैसला दिया कि बिना विधानसभा में पेश किए अध्यादेशों का लगातार पुनर्प्रख्यापन (Re-promulgation) संविधान के साथ धोखाधड़ी और विधायी शक्तियों का असंवैधानिक दुरुपयोग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279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98/300</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99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उपराष्ट्रपति (Vice-President) के निर्वाचन मंडल और उन्हें पद से हटाए जाने की संवैधानिक प्रक्रिया के संदर्भ में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उपराष्ट्रपति का निर्वाचन केवल संसद के दोनों सदनों के निर्वाचित सदस्यों द्वारा 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उपराष्ट्रपति को हटाने का प्रस्ताव केवल लोक सभा में ही प्रारंभ किया जा सकता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उपराष्ट्रपति को हटाने का प्रस्ताव केवल राज्य सभा में ही पेश किया जा सकता है, जिसे राज्य सभा के तत्कालीन समस्त सदस्यों के बहुमत (प्रभावी बहुमत) से पारित होना और लोक सभा द्वारा केवल साधारण बहुमत से सहमत होना अनिवार्य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उपराष्ट्रपति पर महाभियोग चलाने के लिए सर्वोच्च न्यायालय की पूर्व अनुमति अनिवार्य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39680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99/300</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उपराष्ट्रपति को हटाने का प्रस्ताव केवल राज्य सभा में ही पेश किया जा सकता है, जिसे राज्य सभा के तत्कालीन समस्त सदस्यों के बहुमत (प्रभावी बहुमत) से पारित होना और लोक सभा द्वारा केवल साधारण बहुमत से सहमत होना अनिवार्य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उपराष्ट्रपति का निर्वाचन केवल संसद के दोनों सदनों के निर्वाचित सदस्यों द्वारा 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उपराष्ट्रपति को हटाने का प्रस्ताव केवल लोक सभा में ही प्रारंभ किया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उपराष्ट्रपति पर महाभियोग चलाने के लिए सर्वोच्च न्यायालय की पूर्व अनुमति अनिवार्य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66 के अनुसार, उपराष्ट्रपति के निर्वाचक मंडल में संसद के दोनों सदनों (लोकसभा और राज्यसभा) के सभी सदस्य (निर्वाचित और मनोनीत दोनों) शामिल होते हैं; इसमें राज्यों की विधानसभाएं भाग नहीं लेतीं। अनुच्छेद 67(ख) के अनुसार, उपराष्ट्रपति को पद से हटाने की प्रक्रिया केवल राज्य सभा में ही शुरू हो सकती है, जिसके लिए 14 दिन की अग्रिम लिखित सूचना अनिवार्य है। राज्य सभा इसे अपने 'तत्कालीन समस्त सदस्यों के बहुमत' (Effective Majority) से पारित करती है और लोक सभा का इससे केवल साधारण बहुमत (Simple Majority) से सहमत होना आवश्यक होता है। संविधान में उपराष्ट्रपति को हटाने के लिए किसी औपचारिक महाभियोग या आधार का उल्लेख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39680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99/300</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42वें और 44वें संविधान संशोधन के पश्चात संविधान के अनुच्छेद 74(1) के तहत राष्ट्रपति की मंत्रिपरिषद की सलाह मानने की संवैधानिक बाध्यता की वर्तमान स्थिति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मंत्रिपरिषद की किसी भी सलाह को मानने के लिए बाध्य नहीं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मंत्रिपरिषद की सलाह को एक बार पुनर्विचार के लिए वापस भेज सकता है, किंतु पुनर्विचार के बाद दी गई सलाह को मानने के लिए राष्ट्रपति पूर्णतः बाध्य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को सलाह पर निर्णय लेने के लिए उच्चतम न्यायालय से परामर्श लेना अनिवार्य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सलाह को अनिश्चितकाल के लिए रोक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081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100/300</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राष्ट्रपति मंत्रिपरिषद की सलाह को एक बार पुनर्विचार के लिए वापस भेज सकता है, किंतु पुनर्विचार के बाद दी गई सलाह को मानने के लिए राष्ट्रपति पूर्णतः बाध्य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मंत्रिपरिषद की किसी भी सलाह को मानने के लिए बाध्य नहीं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को सलाह पर निर्णय लेने के लिए उच्चतम न्यायालय से परामर्श लेना अनिवार्य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सलाह को अनिश्चितकाल के लिए रोक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संविधान के अनुच्छेद 74(1) में कहा गया था कि "राष्ट्रपति को सहायता और सलाह देने के लिए एक मंत्रिपरिषद होगी जिसका प्रधान प्रधानमंत्री होगा।" 42वें संशोधन (1976) ने 'सलाह के अनुसार कार्य करेगा' जोड़कर राष्ट्रपति को कैबिनेट की सलाह मानने के लिए पूर्णतः बाध्य कर दिया। जनता पार्टी सरकार द्वारा 44वें संविधान संशोधन (1978) द्वारा इसमें एक लोकतांत्रिक संतुलन बनाया गया: राष्ट्रपति को मंत्रिपरिषद की सलाह को 'साधारणतया या अन्यथा पुनर्विचार' (Reconsideration) के लिए एक बार वापस भेजने का अधिकार दिया गया। परंतु यदि मंत्रिपरिषद पुनर्विचार के बाद वही सलाह पुनः भेजती है, तो राष्ट्रपति उस सलाह के अनुसार कार्य करने के लिए बाध्य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081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100/300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75 के अंतर्गत मंत्रिपरिषद के उत्तरदायित्व और संरचना के संदर्भ में निम्नलिखित कथनों पर विचार कीजिए: A. अनुच्छेद 75(3) के अनुसार, मंत्रिपरिषद सामूहिक रूप से 'लोक सभा' के प्रति उत्तरदायी होती है, संपूर्ण संसद के प्रति नहीं। B. अनुच्छेद 75(2) के अनुसार, मंत्री व्यक्तिगत रूप से 'राष्ट्रपति के प्रसादपर्यंत' (During the pleasure of the President) अपना पद धारण करते हैं। C. 91वें संविधान संशोधन (2003) द्वारा अनुच्छेद 75(1क) जोड़कर मंत्रिपरिषद में प्रधानमंत्री सहित मंत्रियों की कुल संख्या लोक सभा की कुल सदस्य संख्या के 15% से अधिक नहीं होने का नियम तय किया गया। D. कोई भी व्यक्ति जो संसद के किसी भी सदन का सदस्य नहीं है, मंत्री बन सकता है, बशर्ते वह नियुक्ति की तारीख से 6 माह के भीतर किसी एक सदन का सदस्य निर्वाचित या मनोनीत हो जाए।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482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101/300</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75 संसदीय शासन प्रणाली का मुख्य इंजन है। 75(3) सामूहिक उत्तरदायित्व (Collective Responsibility) तय करता है: यदि लोकसभा अविश्वास प्रस्ताव पारित कर दे तो पूरे मंत्रिमंडल को इस्तीफा देना पड़ता है। 75(2) व्यक्तिगत उत्तरदायित्व तय करता है: प्रधानमंत्री की सलाह पर राष्ट्रपति किसी भी मंत्री को बर्खास्त कर सकते हैं। 91वें संशोधन 2003 ने मंत्रियों की संख्या पर 15% की अधिकतम सीमा लगाई (केंद्र में 543 का 15% यानी अधिकतम 81-82 मंत्री)। 75(5) के तहत गैर-सांसद (जैसे पी. वी. नरसिम्हा राव, डॉ. मनमोहन सिंह, एस. जयशंकर आदि) 6 माह के लिए मंत्री बन सकते हैं, लेकिन 6 माह में संसद सदस्य न बनने पर मंत्री पद समाप्त हो जाता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482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101/300</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अनुच्छेद 78 के अंतर्गत प्रधानमंत्री का राष्ट्रपति के प्रति कौन-सा संवैधानिक कर्तव्य विहित किया गया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वार्षिक बजट पेश करने की अनुमति लेना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संघ के प्रशासन संबंधी मंत्रिपरिषद के सभी विनिश्चय और विधान की प्रस्थापनाएं राष्ट्रपति को संसूचित करना तथा राष्ट्रपति द्वारा मांगी गई जानकारी उपलब्ध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प्रत्येक माह राष्ट्रपति भवन में व्यक्तिगत हाजिरी लगाना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विदेशों में की जाने वाली सभी संधियों पर राष्ट्रपति के प्रत्यक्ष हस्ताक्षर कराना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0882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102/300</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संघ के प्रशासन संबंधी मंत्रिपरिषद के सभी विनिश्चय और विधान की प्रस्थापनाएं राष्ट्रपति को संसूचित करना तथा राष्ट्रपति द्वारा मांगी गई जानकारी उपलब्ध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वार्षिक बजट पेश करने की अनुमति लेना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प्रत्येक माह राष्ट्रपति भवन में व्यक्तिगत हाजिरी लगाना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विदेशों में की जाने वाली सभी संधियों पर राष्ट्रपति के प्रत्यक्ष हस्ताक्षर कराना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78 प्रधानमंत्री को राष्ट्रपति और मंत्रिपरिषद के बीच संवाद का मुख्य सेतु (Channel of Communication) बनाता है। इसके तहत प्रधानमंत्री के तीन मुख्य कर्तव्य हैं: (क) संघ के कार्यकलाप के प्रशासन संबंधी और विधान की प्रस्थापनाओं संबंधी मंत्रिपरिषद के सभी विनिश्चय राष्ट्रपति को संसूचित करे; (ख) संघ के प्रशासन या विधान संबंधी जो जानकारी राष्ट्रपति मांगे, वह दे; और (ग) यदि राष्ट्रपति अपेक्षा करे तो किसी ऐसे विषय को जिस पर किसी मंत्री ने निर्णय ले लिया है किंतु मंत्रिपरिषद ने विचार नहीं किया है, मंत्रिपरिषद के विचार के लिए रखे।</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0882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102/300</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सरकार (कार्य आवंटन) नियम, 1961 के अनुसार, संघ के मंत्रियों के लिए 'आचार-संहिता' (Code of Conduct for Ministers) तैयार करने और उसे लागू रखने के लिए कौन-सा मंत्रालय उत्तरदायी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संसदीय कार्य मंत्रालय</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कार्मिक, लोक शिकायत तथा पेंशन मंत्रालय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गृह मंत्रालय (Ministry of Home Affairs)</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विधि और न्याय मंत्रालय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283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103/300</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गृह मंत्रालय (Ministry of Home Affairs)</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संसदीय कार्य मंत्रालय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कार्मिक, लोक शिकायत तथा पेंशन मंत्रालय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विधि और न्याय मंत्रालय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(कार्य आवंटन) नियम, 1961 [Government of India (Allocation of Business) Rules, 1961] के तहत केंद्रीय मंत्रियों और राज्य सरकारों के मुख्यमंत्रियों व मंत्रियों के लिए आचार संहिता (Code of Conduct) का निर्माण, निगरानी और उससे जुड़े मामलों का निष्पादन 'केंद्रीय गृह मंत्रालय' (Ministry of Home Affairs) के प्रशासनिक क्षेत्राधिकार में आता है। मंत्रियों द्वारा संपत्ति व देनदारियों की घोषणा भी गृह मंत्रालय और प्रधानमंत्री कार्यालय के नियमों के तहत की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283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103/300</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में से कौन-सा उप-प्रधानमंत्री और प्रधानमंत्री का युग्म सही सुमेलित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सरदार वल्लभभाई पटेल - पंडित जवाहरलाल नेहरू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मोरारजी देसाई - इंदिरा गांधी</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चौधरी देवी लाल - चौधरी चरण सिंह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लालकृष्ण आडवाणी - अटल बिहारी वाजपेयी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1684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104/300</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चौधरी देवी लाल - चौधरी चरण सिंह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सरदार वल्लभभाई पटेल - पंडित जवाहरलाल नेहरू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मोरारजी देसाई - इंदिरा गांधी</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लालकृष्ण आडवाणी - अटल बिहारी वाजपेयी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चौधरी देवी लाल 1989 से 1990 में वी. पी. सिंह (विश्वनाथ प्रताप सिंह) सरकार में तथा 1990-1991 में चंद्रशेखर सरकार में उप-प्रधानमंत्री रहे थे, वे चौधरी चरण सिंह के कार्यकाल में उप-प्रधानमंत्री नहीं थे। चौधरी चरण सिंह स्वयं 1979 में मोरारजी देसाई की जनता पार्टी सरकार में उप-प्रधानमंत्री (जगजीवन राम के साथ) रहे थे। सरदार पटेल स्वतंत्र भारत के प्रथम उप-प्रधानमंत्री (नेहरू मंत्रिमंडल), मोरारजी देसाई इंदिरा गांधी के मंत्रिमंडल (1967-69) में, वाई. बी. चव्हाण चरण सिंह सरकार (1979) में, और लालकृष्ण आडवाणी अटल बिहारी वाजपेयी सरकार (2002-2004) में उप-प्रधानमंत्री रहे। उप-प्रधानमंत्री का पद संवैधानिक नहीं बल्कि राजनीतिक पद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1684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104/300</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महान्यायवादी (Attorney General for India, अनुच्छेद 76) के संदर्भ में निम्नलिखित कथनों पर विचार कीजिए: A. उसकी नियुक्ति राष्ट्रपति द्वारा की जाती है और उसमें वे सभी योग्यताएं होनी चाहिए जो उच्चतम न्यायालय का न्यायाधीश बनने के लिए आवश्यक हैं। B. वह राष्ट्रपति के प्रसादपर्यंत (During the pleasure of the President) पद धारण करता है और संविधान में उसका कोई निश्चित कार्यकाल या पारिश्रमिक तय नहीं है। C. अनुच्छेद 88 के तहत उसे संसद के दोनों सदनों की कार्यवाही और संयुक्त बैठक में बोलने और भाग लेने का अधिकार है, किंतु मतदान का अधिकार नहीं है। D. वह सरकार का पूर्णकालिक सरकारी नौकर नहीं है, अतः उसे निजी वकालत से रोका नहीं जाता, बशर्ते वह भारत सरकार के विरुद्ध सलाह या मुकदमा न लड़े।</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085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105/300</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76 के तहत महान्यायवादी देश का सर्वोच्च विधि अधिकारी (Highest Law Officer) होता है। उसकी अर्हता सुप्रीम कोर्ट जज के समान (10 वर्ष वकालत या 5 वर्ष हाई कोर्ट जज) होती है। उसका कार्यकाल संविधान में निश्चित नहीं है, वह राष्ट्रपति के प्रसादपर्यंत रहता है (पारंपरिक रूप से सरकार बदलने पर वह इस्तीफा दे देता है)। अनुच्छेद 88 उसे संसद में बैठने और बोलने का अधिकार देता है पर वोट देने का नहीं। उसे एक सांसद के सभी विशेषाधिकार मिलते हैं। वह एक स्वतंत्र व्यवसायी विधि अधिकारी है (सरकारी कर्मचारी नहीं), इसलिए वह निजी केस लड़ सकता है (आपराधिक मामलों में अभियुक्त की पैरवी सरकार की अनुमति से ही कर सकता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085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105/300</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सॉलिसिटर जनरल (Solicitor General of India) और अतिरिक्त सॉलिसिटर जनरल के संबंध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सॉलिसिटर जनरल का पद संविधान के अनुच्छेद 76 में उल्लिखित एक संवैधानिक पद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सॉलिसिटर जनरल देश का दूसरा सबसे बड़ा कानून अधिकारी होता है, किंतु यह पद पूरी तरह से वैधानिक/प्रशासनिक है, संविधान में इसका कोई उल्लेख नहीं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सॉलिसिटर जनरल की नियुक्ति भारत के मुख्य न्यायाधीश द्वारा की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सॉलिसिटर जनरल को संसद में बोलने का संवैधानिक अधिकार प्राप्त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486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106/300</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सॉलिसिटर जनरल देश का दूसरा सबसे बड़ा कानून अधिकारी होता है, किंतु यह पद पूरी तरह से वैधानिक/प्रशासनिक है, संविधान में इसका कोई उल्लेख नहीं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सॉलिसिटर जनरल का पद संविधान के अनुच्छेद 76 में उल्लिखित एक संवैधानिक पद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सॉलिसिटर जनरल की नियुक्ति भारत के मुख्य न्यायाधीश द्वारा की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सॉलिसिटर जनरल को संसद में बोलने का संवैधानिक अधिकार प्राप्त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76 में केवल 'भारत के महान्यायवादी' (Attorney General) का उल्लेख है। संविधान में सॉलिसिटर जनरल (SGI) या अतिरिक्त सॉलिसिटर जनरल (Addl. SG) के पदों का कोई उल्लेख नहीं है। ये पद महान्यायवादी की आधिकारिक जिम्मेदारियों में सहायता करने के लिए केंद्र सरकार द्वारा 'लॉ ऑफिसर्स (कंडीशंस ऑफ सर्विस) रूल्स 1987' के तहत बनाए गए प्रशासनिक पद हैं। सॉलिसिटर जनरल देश का दूसरा सर्वोच्च विधि अधिकारी होता है, जिसकी नियुक्ति केंद्रीय मंत्रिमंडल की नियुक्ति समिति (ACC) द्वारा की जाती है। चूंकि यह संवैधानिक पद नहीं है, अतः सॉलिसिटर जनरल को अनुच्छेद 88 के तहत संसद में बोलने का अधिकार स्वतः प्राप्त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486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106/300</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कैबिनेट सचिवालय (Cabinet Secretariat) और कैबिनेट सचिव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कैबिनेट सचिवालय सीधे भारत के प्रधानमंत्री के प्रशासनिक नियंत्रण में कार्य करता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कैबिनेट सचिव देश का सर्वोच्च प्रशासनिक अधिकारी और सिविल सेवा बोर्ड (Civil Services Board) का पदेन अध्यक्ष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कैबिनेट सचिव केंद्रीय मंत्रिमंडल की बैठकों में उपस्थित रहता है और बैठकों की कार्यसूची (Agenda) तैयार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कैबिनेट सचिवालय मंत्रालयों और विभागों को केंद्रीय बजट के वित्तीय संसाधनों का प्रत्यक्ष आवंटन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2886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107/300</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कैबिनेट सचिवालय मंत्रालयों और विभागों को केंद्रीय बजट के वित्तीय संसाधनों का प्रत्यक्ष आवंटन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कैबिनेट सचिवालय सीधे भारत के प्रधानमंत्री के प्रशासनिक नियंत्रण में कार्य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कैबिनेट सचिव देश का सर्वोच्च प्रशासनिक अधिकारी और सिविल सेवा बोर्ड (Civil Services Board) का पदेन अध्यक्ष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कैबिनेट सचिव केंद्रीय मंत्रिमंडल की बैठकों में उपस्थित रहता है और बैठकों की कार्यसूची (Agenda) तैयार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मंत्रालयों और विभागों को वार्षिक बजटीय और वित्तीय संसाधनों का आवंटन करना केंद्रीय वित्त मंत्रालय (विशेषकर आर्थिक कार्य विभाग एवं व्यय विभाग) का कार्य है, कैबिनेट सचिवालय का नहीं। अतः कथन D गलत है। कैबिनेट सचिवालय सीधे प्रधानमंत्री के अधीन काम करता है। इसका मुख्य दायित्व मंत्रिमंडल व उसकी समितियों को सचिवालयी सहायता प्रदान करना, अंतर-मंत्रालयी समन्वय स्थापित करना और बड़े संकटों के समय संकट प्रबंधन संभालना है। कैबिनेट सचिव भारतीय प्रशासनिक सेवा (IAS) का सर्वोच्च पद है, जो सचिवों की समिति और सिविल सेवा बोर्ड की अध्यक्षता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2886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107/300</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यदि भारत के प्रधानमंत्री की अचानक मृत्यु हो जाती है या वह त्यागपत्र दे देता है, तो संवैधानिक और प्रशासनिक रूप से क्या घटित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लोकसभा स्वतः भंग हो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संपूर्ण मंत्रिपरिषद स्वतः ही विघटित (Dissolved) हो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सबसे वरिष्ठ मंत्री स्वतः ही स्थायी प्रधानमंत्री बन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राष्ट्रपति शासन लागू हो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287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108/300</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संपूर्ण मंत्रिपरिषद स्वतः ही विघटित (Dissolved) हो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लोकसभा स्वतः भंग हो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सबसे वरिष्ठ मंत्री स्वतः ही स्थायी प्रधानमंत्री बन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राष्ट्रपति शासन लागू हो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शासन प्रणाली में प्रधानमंत्री सरकार की धुरी (Keystone of the Cabinet Arch) होता है। मंत्रिपरिषद का अस्तित्व प्रधानमंत्री के पद पर बने रहने से ही जुड़ा है। यदि कोई सामान्य मंत्री इस्तीफा देता है या उसकी मृत्यु होती है, तो केवल एक रिक्ति पैदा होती है जिसे भरा जा सकता है। किंतु यदि प्रधानमंत्री त्यागपत्र दे देता है या उसका आकस्मिक निधन हो जाता है, तो संपूर्ण मंत्रिपरिषद स्वतः ही भंग/विघटित (Dissolved) हो जाती है। इसके पश्चात राष्ट्रपति नए नेता के चयन तक निवर्तमान मंत्रियों को कार्यवाहक रूप से बने रहने को कह सकते हैं या अंतरिम व्यवस्था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287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108/300</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109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चुनाव में मतदान हेतु मतपत्रों (Ballot Papers) के रंगों और मतदान प्रक्रिया के संदर्भ में निम्नलिखित कथनों पर विचार कीजिए: A. संसद के दोनों सदनों के निर्वाचित सदस्यों (सांसदों) के लिए मतपत्र का रंग हरा (Green) होता है। B. सभी राज्यों और केंद्रशासित प्रदेशों की विधानसभाओं के निर्वाचित सदस्यों (विधायकों) के लिए मतपत्र का रंग गुलाबी (Pink) होता है। C. राष्ट्रपति चुनाव में राजनीतिक दल अपने सदस्यों को किसी विशेष उम्मीदवार के पक्ष में वोट देने के लिए कोई व्हिप (Whip) जारी नहीं कर सकते। D. चुनाव आयोग द्वारा लोकसभा और राज्यसभा के महासचिवों में से बारी-बारी से किसी एक को निर्वाचन अधिकारी (Returning Officer) नियुक्त किया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3688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109/300</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और उपराष्ट्रपति निर्वाचन नियम, 1974 के अनुसार मतों की आसान पहचान और गणना के लिए मतपत्रों के रंग विशिष्ट तय हैं: सांसदों के लिए 'हरे रंग' का मतपत्र और विधायकों के लिए 'गुलाबी रंग' का मतपत्र होता है। राष्ट्रपति चुनाव गुप्त मतदान द्वारा आनुपातिक प्रतिनिधित्व प्रणाली से होता है, जहाँ मतदाता अपनी स्वतंत्र इच्छा से वरीयता तय करते हैं; सुप्रीम कोर्ट (चरणजीत सिंह अटवाल केस) के अनुसार राजनीतिक दल व्हिप जारी नहीं कर सकते और व्हिप उल्लंघन पर दल-बदल कानून लागू नहीं होता। चुनाव आयोग बारी-बारी से एक चुनाव में लोकसभा महासचिव और अगले चुनाव में राज्यसभा महासचिव को रिटर्निंग ऑफिसर बनाता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3688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109/300</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संविधान के अनुच्छेद 361 के अंतर्गत राष्ट्रपति और राज्यपालों को अपने पद पर रहते हुए किन विशेष विधिक उन्मुक्तियां और संरक्षण (Immunities) प्राप्त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अपने कार्यालयीन कर्तव्यों के निर्वहन में किए गए किसी कार्य के लिए किसी न्यायालय के प्रति जवाबदेह नहीं होंगे।</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उनकी पदावधि के दौरान उनके विरुद्ध किसी न्यायालय में कोई दांडिक कार्यवाही (Criminal Proceedings) संस्थित नहीं की जाएगी।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उनकी पदावधि के दौरान उनकी गिरफ्तारी या कारावास के लिए किसी न्यायालय से कोई अधिपत्र (Warrant) जारी नहीं होगा।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संरक्षण प्राप्त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089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110/300</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संरक्षण प्राप्त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 अपने कार्यालयीन कर्तव्यों के निर्वहन में किए गए किसी कार्य के लिए किसी न्यायालय के प्रति जवाबदेह नहीं होंगे।</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उनकी पदावधि के दौरान उनके विरुद्ध किसी न्यायालय में कोई दांडिक कार्यवाही (Criminal Proceedings) संस्थित नहीं की जाएगी।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उनकी पदावधि के दौरान उनकी गिरफ्तारी या कारावास के लिए किसी न्यायालय से कोई अधिपत्र (Warrant) जारी नहीं होगा।</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361 राष्ट्रपति और राज्यपालों को गरिमापूर्ण और स्वतंत्र कार्यप्रणाली के लिए व्यापक संवैधानिक संरक्षण देता है: 1. वे अपने पद की शक्तियों और कर्तव्यों के प्रयोग के लिए किसी न्यायालय के प्रति उत्तरदायी नहीं हैं (हालाँकि उनके कृत्यों पर सरकार के विरुद्ध मुकदमा हो सकता है); 2. उनके कार्यकाल के दौरान किसी भी अदालत में कोई भी आपराधिक मुकदमा दर्ज या जारी नहीं रखा जा सकता; 3. उनकी गिरफ्तारी या जेल भेजने का कोई वारंट जारी नहीं हो सकता; 4. उनके द्वारा व्यक्तिगत हैसियत से किए गए कार्यों पर दीवानी मुकदमा (Civil Suit) भी 2 माह की लिखित पूर्व सूचना दिए बिना दर्ज नहीं किया जा सकता। अतः सभी विकल्प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089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110/300</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राष्ट्रपति द्वारा संसद के दोनों सदनों द्वारा पारित गैर-धन विधेयक को पुनर्विचार के लिए लौटाने की शक्ति (निलंबनकारी वीटो) संविधान के किस अनुच्छेद में दी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107</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109</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110</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111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490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111/300</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111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107</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109</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110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111 संसद द्वारा पारित विधेयकों पर राष्ट्रपति की अनुमति से संबंधित है। जब कोई विधेयक दोनों सदनों द्वारा पारित होकर राष्ट्रपति के समक्ष प्रस्तुत किया जाता है, तो राष्ट्रपति के पास तीन विकल्प होते हैं: 1. वह विधेयक पर अनुमति दे दे (विधेयक अधिनियम बन जाता है); 2. अनुमति रोक ले (आत्यंतिक वीटो); या 3. यदि वह धन विधेयक नहीं है, तो वह विधेयक को संदेश के साथ सदनों को पुनर्विचार के लिए लौटा सकता है (निलंबनकारी वीटो / Suspensive Veto)। परंतु यदि दोनों सदन उस विधेयक को संशोधन के साथ या बिना संशोधन के पुनः पारित कर देते हैं, तो राष्ट्रपति उस पर अनुमति देने के लिए बाध्य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490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111/300</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की कैबिनेट समितियों (Cabinet Committees) की कार्यप्रणाली के संदर्भ में निम्नलिखित कथनों पर विचार कीजिए: A. ये समितियां संविधानेत्तर (Extra-constitutional) निकाय हैं, जिनका उल्लेख संविधान में नहीं है बल्कि कार्य आवंटन नियम 1961 के तहत गठित होती हैं। B. राजनीतिक मामलों की मंत्रिमंडलीय समिति (CCPA) को अत्यंत शक्तिशाली होने के कारण अक्सर 'सुपर कैबिनेट' (Super Cabinet) कहा जाता है। C. आर्थिक मामलों की मंत्रिमंडलीय समिति (CCEA) देश के व्यापक आर्थिक नीतिगत फैसलों और न्यूनतम समर्थन मूल्य (MSP) का निर्धारण करती है। D. मंत्रिमंडल की नियुक्ति समिति (ACC), CCPA और CCEA तीनों की अध्यक्षता भारत के प्रधानमंत्री द्वारा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4890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112/300</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कैबिनेट समितियां मंत्रिमंडल के भारी कार्यभार को कम करने और त्वरित निर्णय लेने के लिए गठित की जाती हैं। ये संविधान में वर्णित नहीं हैं बल्कि कार्य संचालन नियमों द्वारा स्थापित होती हैं। सामान्यतः दो प्रकार की होती हैं: स्थायी (Standing) और तदर्थ (Ad-hoc)। वर्तमान में 8 स्थायी कैबिनेट समितियां हैं। 'राजनीतिक मामलों की समिति' (CCPA) घरेलू व विदेशी मामलों की सर्वोच्च नीति निर्माता है जिसे 'सुपर कैबिनेट' कहा जाता है। प्रधानमंत्री की अध्यक्षता वाली 'मंत्रिमंडल की नियुक्ति समिति' (ACC) उच्च प्रशासनिक पदों (जैसे तीनों सेना प्रमुख, सीबीआई निदेशक, आरबीआई गवर्नर, सचिव) की नियुक्तियां करती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4890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112/300</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75(1ख) [91वें संशोधन 2003 द्वारा अंतःस्थापित] के अनुसार यदि संसद या राज्य विधानसभा का कोई सदस्य दल-बदल (10वीं अनुसूची) के आधार पर अयोग्य घोषित हो जाता है, तो मंत्री पद के संदर्भ में क्या प्रावधान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अगले 5 वर्ष तक कभी मंत्री नहीं बन सकता।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अपनी अयोग्यता की तारीख से अपनी सदस्यता की अवधि समाप्त होने तक अथवा पुनः निर्वाचित होने तक मंत्री पद के लिए भी अयोग्य रहेगा।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केवल राज्यमंत्री बन सकता है, कैबिनेट मंत्री नहीं।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के विशेष आदेश से वह मंत्री बना रह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291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113/300</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वह अपनी अयोग्यता की तारीख से अपनी सदस्यता की अवधि समाप्त होने तक अथवा पुनः निर्वाचित होने तक मंत्री पद के लिए भी अयोग्य रहेगा।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अगले 5 वर्ष तक कभी मंत्री नहीं बन सकता।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केवल राज्यमंत्री बन सकता है, कैबिनेट मंत्री नहीं।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के विशेष आदेश से वह मंत्री बना रह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91वें संविधान संशोधन अधिनियम, 2003 ने दल-बदलुओं द्वारा मंत्री पद के लालच में दल बदलने की अनैतिक प्रवृत्ति पर अंकुश लगाने के लिए अनुच्छेद 75(1ख) और अनुच्छेद 164(1ख) जोड़े। इसके अनुसार, संसद के किसी भी सदन या राज्य विधानमंडल के किसी सदन का कोई सदस्य जो 10वीं अनुसूची के तहत दल-बदल के आधार पर अयोग्य (Disqualified) ठहराया जाता है, वह अपनी निरर्हता की तिथि से लेकर उस सदन के सदस्य के रूप में अपने कार्यकाल की समाप्ति तक अथवा जब तक कि वह पुनः चुनाव जीतकर नहीं आता (इनमें से जो भी पहले हो), मंत्री पद पर नियुक्त होने के लिए भी अयोग्य रहेगा।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291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113/300</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के निम्नलिखित मुख्य न्यायाधीशों में से किसने भारत के राष्ट्रपति पद का भी कार्यवाहक रूप से कार्यभार संभाला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पी. एन. भगवती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एम. हिदायतुल्लाह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के. जी. बालकृष्णन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न्यायमूर्ति डी. वाई. चंद्रचूड़</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5692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114/300</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न्यायमूर्ति एम. हिदायतुल्लाह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पी. एन. भगवती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के. जी. बालकृष्णन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न्यायमूर्ति डी. वाई. चंद्रचूड़</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1969 में राष्ट्रपति डॉ. ज़ाकिर हुसैन के आकस्मिक निधन के बाद उपराष्ट्रपति वी. वी. गिरि कार्यवाहक राष्ट्रपति बने। किंतु कुछ समय बाद वी. वी. गिरि ने राष्ट्रपति का चुनाव लड़ने के लिए उपराष्ट्रपति और कार्यवाहक राष्ट्रपति दोनों पदों से इस्तीफा दे दिया। इस अभूतपूर्व संवैधानिक संकट के समाधान के लिए संसद ने 'राष्ट्रपति उत्तराधिकार अधिनियम, 1969' पारित किया। इसके तहत भारत के तत्कालीन मुख्य न्यायाधीश (CJI) न्यायमूर्ति मोहम्मद हिदायतुल्लाह ने 20 जुलाई, 1969 से 24 अगस्त, 1969 तक भारत के कार्यवाहक राष्ट्रपति का पदभार संभाला। वे भारत के एकमात्र मुख्य न्यायाधीश हैं जिन्होंने राष्ट्रपति पद का निर्वहन किया (आगे चलकर वे 1979-84 में निर्विरोध उपराष्ट्रपति भी चुने गए)।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5692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114/300</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राष्ट्रपति की उस निषेधाधिकार शक्ति को क्या कहा जाता है जिसके तहत वह संसद द्वारा पारित किसी सामान्य विधेयक पर अपनी अनुमति देने से स्पष्ट रूप से इनकार कर देता है और विधेयक समाप्त हो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निलंबनकारी वीटो (Suspensive Veto)</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आत्यंतिक वीटो (Absolute Veto)</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पॉकेट वीटो (Pocket Veto)</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विशेषित वीटो (Qualified Veto)</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093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115/300</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आत्यंतिक वीटो (Absolute Veto)</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निलंबनकारी वीटो (Suspensive Veto)</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पॉकेट वीटो (Pocket Veto)</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विशेषित वीटो (Qualified Veto)</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'आत्यंतिक वीटो' (Absolute Veto) का तात्पर्य राष्ट्रपति की उस शक्ति से है जिसके तहत वह संसद द्वारा पारित किसी विधेयक पर अपनी अनुमति सुरक्षित रख लेता है (विधेयक पर हस्ताक्षर करने से मना कर देता है), जिससे वह विधेयक समाप्त हो जाता है और कानून नहीं बन पाता। भारत में राष्ट्रपति सामान्यतः दो परिस्थितियों में इसका प्रयोग करता है: 1. किसी गैर-सरकारी सदस्य (Private Member) द्वारा पेश किए गए विधेयक के मामले में, और 2. जब किसी सरकार द्वारा पारित विधेयक पर राष्ट्रपति की अनुमति मिलने से पहले ही वह मंत्रिमंडल त्यागपत्र दे दे और नया मंत्रिमंडल राष्ट्रपति को उस विधेयक पर अनुमति न देने की सलाह दे (जैसे 1954 में डॉ. राजेन्द्र प्रसाद द्वारा पेप्सू विनियोग विधेयक पर प्रयोग)।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093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115/300</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राष्ट्रपति चुनाव में जमानत राशि (Security Deposit) और नामांकन पत्रों के संदर्भ में निम्नलिखित कथनों पर विचार कीजिए: A. राष्ट्रपति पद के उम्मीदवार के नामांकन पत्र पर कम से कम 50 प्रस्तावक (Proposers) और 50 समर्थक (Seconders) होने चाहिए, जो निर्वाचक मंडल के सदस्य हों। B. उम्मीदवार को भारतीय रिजर्व बैंक (RBI) या सरकारी खजाने में ₹15,000 की प्रतिभूति निक्षेप (जमानत राशि) जमा करानी होती है। C. यदि कोई उम्मीदवार कुल डाले गए वैध मतों का 1/6 भाग (16.66%) प्राप्त करने में असफल रहता है, तो उसकी जमानत राशि जब्त हो जाती है। D. यदि कोई उम्मीदवार एक से अधिक नामांकन पत्र दाखिल करता है, तब भी उसे केवल एक ही बार ₹15,000 की जमानत राशि जमा करनी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494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116/300</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और उपराष्ट्रपति निर्वाचन अधिनियम, 1952 (1997 में संशोधित) के तहत गैर-गंभीर उम्मीदवारों को रोकने के लिए सख्त शर्तें तय की गईं। 1997 से पूर्व केवल 10 प्रस्तावक, 10 समर्थक और ₹2,500 जमानत राशि थी, जिसे 1997 में बढ़ाकर 50 प्रस्तावक और 50 समर्थक तथा ₹15,000 जमानत राशि कर दिया गया। ये प्रस्तावक और समर्थक निर्वाचक मंडल के वास्तविक सदस्य (सांसद या विधायक) होने चाहिए। चुनाव में डाले गए कुल वैध मतों का 1/6 (एक-छठा) मत न पाने पर जमानत जब्त हो जाती है। कोई उम्मीदवार अधिकतम 4 नामांकन पत्र दाखिल कर सकता है, लेकिन जमानत राशि केवल एक बार ही देय होती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494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116/300</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संविधान के किस अनुच्छेद के तहत केंद्र सरकार के सभी संविदात्मक दायित्वों, अधिकारों और संपत्ति संबंधी मामलों में भारत सरकार पर 'भारत संघ' (Union of India) के नाम से मुकदमा चलाया जा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299</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300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301</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361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6895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117/300</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300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299</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301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361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300 भारत सरकार और राज्य सरकारों के विधिक व्यक्तित्व (Juristic Personality) और वाद योग्यता से संबंधित है। अनुच्छेद 300(1) घोषित करता है कि भारत सरकार पर 'भारत संघ' (Union of India) के नाम से मुकदमा किया जा सकेगा या वह स्वयं उस नाम से मुकदमा कर सकेगी। इसी प्रकार किसी राज्य की सरकार पर संबंधित 'राज्य' (State of X) के नाम से वाद लाया जा सकता है। अनुच्छेद 299 यह तय करता है कि संघ की ओर से की जाने वाली सभी संविदाएं और अनुबंध राष्ट्रपति के नाम से किए जाएंगे और राष्ट्रपति द्वारा प्राधिकृत व्यक्तियों द्वारा हस्ताक्षरित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6895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117/300</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निम्नलिखित पूर्व प्रधानमंत्रियों में से कौन अपने प्रधानमंत्री पद की शपथ ग्रहण करते समय संसद के किसी भी सदन (लोकसभा या राज्यसभा) के सदस्य नहीं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इंदिरा गांधी (1966)</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पी. वी. नरसिम्हा राव (1991) एवं एच. डी. देवगौड़ा (1996)</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डॉ. मनमोहन सिंह (2004)</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इंद्र कुमार गुजराल (1997)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295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118/300</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पी. वी. नरसिम्हा राव (1991) एवं एच. डी. देवगौड़ा (1996)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इंदिरा गांधी (1966)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डॉ. मनमोहन सिंह (2004)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इंद्र कुमार गुजराल (1997)</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 वी. नरसिम्हा राव ने जून 1991 में जब प्रधानमंत्री पद की शपथ ली, तब वे संसद के किसी भी सदन के सदस्य नहीं थे (बाद में उन्होंने आंध्र प्रदेश की नंद्याल लोकसभा सीट से उपचुनाव जीता)। इसी प्रकार एच. डी. देवगौड़ा ने जून 1996 में जब प्रधानमंत्री पद की शपथ ली, तब वे कर्नाटक के मुख्यमंत्री थे और संसद सदस्य नहीं थे (बाद में वे कर्नाटक से राज्यसभा सदस्य चुने गए)। इसके विपरीत इंदिरा गांधी (1966), इंद्र कुमार गुजराल (1997) और डॉ. मनमोहन सिंह (2004) पद ग्रहण के समय पहले से ही राज्य सभा के सदस्य थे। संविधान के अनुच्छेद 75(5) के तहत 6 माह के भीतर संसद सदस्य बनना अनिवार्य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295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118/300</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119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संविधान के किस अनुच्छेद में यह प्रावधान किया गया है कि "राष्ट्रपति को अपने पद के दायित्वों के निर्वहन में सहायता और सलाह देने के लिए एक मंत्रिपरिषद होगी, किंतु राष्ट्रपति को दी गई मंत्रियों की सलाह की किसी न्यायालय में जांच नहीं की जाएगी"?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74(1) और 74(2)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75(1)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77(3)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78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7696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119/300</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74(1) और 74(2)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75(1)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77(3)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78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74(1) राष्ट्रपति को सहायता और सलाह देने के लिए प्रधानमंत्री की अध्यक्षता वाली मंत्रिपरिषद का उपबंध करता है। अनुच्छेद 74(2) कार्यपालिका की आंतरिक मंत्रणा को पूर्ण न्यायिक संरक्षण प्रदान करता है: "इस प्रश्न की किसी न्यायालय में जांच नहीं की जाएगी कि क्या मंत्रियों ने राष्ट्रपति को कोई सलाह दी, और यदि दी तो क्या दी।" एस. आर. बोम्मई वाद (1994) में सुप्रीम कोर्ट ने स्पष्ट किया कि यद्यपि मंत्रियों द्वारा दी गई सलाह की सामग्री की जांच अदालत नहीं कर सकती, लेकिन उस सलाह का आधारभूत रिकॉर्ड और तथ्य (Material on which advice is based) न्यायिक समीक्षा के दायरे में आते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7696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119/300</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कार्यवाहक प्रधानमंत्री (Acting Prime Minister) के ऐतिहासिक संदर्भ में निम्नलिखित कथनों पर विचार कीजिए: A. भारतीय संविधान में औपचारिक रूप से 'कार्यवाहक प्रधानमंत्री' (Acting Prime Minister) पद का कोई स्पष्ट उल्लेख नहीं है। B. गुलजारीलाल नंदा स्वतंत्र भारत के एकमात्र ऐसे व्यक्ति हैं जिन्होंने दो बार कार्यवाहक प्रधानमंत्री के रूप में कार्य किया। C. उन्होंने पहली बार मई 1964 में पंडित जवाहरलाल नेहरू के निधन के बाद 13 दिन तक कार्यवाहक प्रधानमंत्री का पद संभाला। D. उन्होंने दूसरी बार जनवरी 1966 में ताशकंद में लाल बहादुर शास्त्री के निधन के बाद पुनः 13 दिन के लिए कार्यवाहक प्रधानमंत्री के रूप में कार्य किया।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097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120/300</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'कार्यवाहक प्रधानमंत्री' की कोई पृथक अवधारणा नहीं है; अनुच्छेद 75 केवल 'प्रधानमंत्री' की नियुक्ति की बात करता है। लेकिन संसदीय लोकतंत्र की निरंतरता बनाए रखने के लिए राष्ट्रपति द्वारा अंतरिम व्यवस्था की जाती रही है। गुलजारीलाल नंदा भारत के एकमात्र नेता हैं जिन्होंने दो बार कार्यवाहक प्रधानमंत्री के रूप में दायित्व निभाया: पहली बार 27 मई 1964 को पंडित नेहरू के निधन के बाद (लाल बहादुर शास्त्री के चुने जाने तक 13 दिन), और दूसरी बार 11 जनवरी 1966 को ताशकंद में शास्त्री जी के निधन के बाद (श्रीमती इंदिरा गांधी के चुने जाने तक 13 दिन)। 1997 में उन्हें 'भारत रत्न' से सम्मानित किया गया था।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097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120/300</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संसद की संरचना और सदनों के संवैधानिक स्वरूप (अनुच्छेद 79 से 81) के संदर्भ में निम्नलिखित कथनों पर विचार कीजिए: A. अनुच्छेद 79 के अनुसार, भारतीय संसद तीन घटकों-राष्ट्रपति, राज्य सभा (उच्च सदन) और लोक सभा (निम्न सदन)-से मिलकर बनती है। B. राज्य सभा एक स्थायी सदन है, जिसका कभी विघटन नहीं होता; इसके एक-तिहाई सदस्य प्रत्येक दूसरे वर्ष सेवानिवृत्त हो जाते हैं। C. राज्य सभा में राष्ट्रपति द्वारा साहित्य, विज्ञान, कला और समाज सेवा के क्षेत्र में विशेष ज्ञान रखने वाले 12 सदस्य मनोनीत किए जाते हैं। D. 104वें संविधान संशोधन (2019) द्वारा लोक सभा और राज्य विधानसभाओं में आंग्ल-भारतीय (Anglo-Indian) समुदाय के 2 सदस्यों के मनोनयन के प्रावधान को समाप्त कर दिया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498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121/300</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संसद द्विसदनीय व्यवस्था वाली विधायिका है। राष्ट्रपति संसद का अभिन्न अंग होता है क्योंकि दोनों सदनों द्वारा पारित विधेयक राष्ट्रपति के हस्ताक्षर के बिना कानून नहीं बन सकता। राज्य सभा राज्यों का प्रतिनिधित्व करती है और इसका कार्यकाल अनिश्चित/स्थायी है, जहाँ प्रत्येक सदस्य 6 वर्ष के लिए चुना जाता है और 1/3 सदस्य हर दो साल में अवकाश ग्रहण करते हैं (अनुच्छेद 80 में 12 मनोनीत सदस्यों के 4 आधार हैं: साहित्य, विज्ञान, कला और समाज सेवा; इसमें 'खेल' या 'राज्य सेवा' अलग से शामिल नहीं है)। 104वें संशोधन 2019 द्वारा अनुच्छेद 334 में संशोधन कर एससी/एसटी आरक्षण 2030 तक बढ़ाया गया, किंतु आंग्ल-भारतीयों के 70 वर्ष पुराने मनोनयन प्रावधान को समाप्त कर दिया गया।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498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121/300</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राज्य सभा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सभा में राज्यों की सीटों का आवंटन उनकी जनसंख्या के अनुपात के आधार पर संविधान की चौथी अनुसूची में किया गया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राजस्थान और ओडिशा दोनों राज्यों को राज्य सभा में समान संख्या में 10-10 सीटें आवंटित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वर्ष 2003 में जनप्रतिनिधित्व अधिनियम में संशोधन करके राज्य सभा चुनाव लड़ने के लिए उस राज्य का निवासी (Domicile) होने की अनिवार्यता समाप्त कर दी गई।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सभी 28 राज्यों और 8 केंद्रशासित प्रदेशों का राज्य सभा में समान प्रतिनिधित्व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8899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122/300</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भारत के सभी 28 राज्यों और 8 केंद्रशासित प्रदेशों का राज्य सभा में समान प्रतिनिधित्व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राज्य सभा में राज्यों की सीटों का आवंटन उनकी जनसंख्या के अनुपात के आधार पर संविधान की चौथी अनुसूची में किया गया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राजस्थान और ओडिशा दोनों राज्यों को राज्य सभा में समान संख्या में 10-10 सीटें आवंटित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वर्ष 2003 में जनप्रतिनिधित्व अधिनियम में संशोधन करके राज्य सभा चुनाव लड़ने के लिए उस राज्य का निवासी (Domicile) होने की अनिवार्यता समाप्त कर दी गई।</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कथन D पूर्णतः गलत है। अमेरिका की सीनेट की तरह भारत में सभी राज्यों को समान सीटें नहीं दी गई हैं, बल्कि जनसंख्या के आधार पर सीटें आवंटित हैं (जैसे उत्तर प्रदेश को 31 सीटें और छोटे पूर्वोत्तर राज्यों को 1-1 सीट)। इसके अतिरिक्त 8 केंद्रशासित प्रदेशों में से केवल 3 केंद्रशासित प्रदेशों-दिल्ली (3), पुदुचेरी (1) और जम्मू-कश्मीर (4)-की अपनी विधानसभाएं हैं, अतः केवल इन्हीं का राज्य सभा में कुल 8 सीटों पर प्रतिनिधित्व है; शेष 5 केंद्रशासित प्रदेशों की राज्य सभा में कोई सीट नहीं है। राजस्थान और ओडिशा दोनों के पास 10-10 सीटें हैं। 2003 के संशोधन (कुलदीप नायर वाद में सुप्रीम कोर्ट द्वारा वैध मान्य) से अधिवास की शर्त समाप्त हुई और खुला मतदान लागू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8899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122/300</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सभा की उन अनन्य एवं विशेष शक्तियों पर विचार कीजिए जो लोक सभा को प्राप्त नहीं हैं: A. अनुच्छेद 249 के तहत राज्य सभा अपने उपस्थित और मतदान करने वाले सदस्यों के दो-तिहाई बहुमत से प्रस्ताव पारित कर संसद को राज्य सूची के किसी विषय पर राष्ट्रीय हित में कानून बनाने हेतु अधिकृत कर सकती है। B. अनुच्छेद 312 के तहत राज्य सभा अपने उपस्थित और मतदान करने वाले सदस्यों के दो-तिहाई बहुमत से नई 'अखिल भारतीय सेवाओं' (All India Services) के सृजन का प्रस्ताव पारित कर सकती है। C. अनुच्छेद 67(ख) के अनुसार, उपराष्ट्रपति को पद से हटाने का प्रस्ताव केवल राज्य सभा में ही प्रस्तुत किया जा सकता है। D. यदि लोक सभा विघटित हो चुकी हो, तो आपातकाल (अनुच्छेद 352, 356) के अनुमोदन की शक्ति अकेले राज्य सभा के पास रहती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299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123/300</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निर्माताओं ने राज्यों के हितों के रक्षक के रूप में राज्य सभा को कई अद्वितीय संघीय शक्तियां दी हैं। अनुच्छेद 249 के तहत राज्य सूची पर संसद द्वारा कानून बनाने का अधिकार तभी मिलता है जब राज्य सभा 2/3 विशेष बहुमत से ऐसा संकल्प पारित करे (यह कानून 1 वर्ष तक प्रभावी रहता है)। अनुच्छेद 312 के तहत नई अखिल भारतीय सेवा (जैसे IAS, IPS, IFS के अतिरिक्त) का सृजन राज्य सभा की पहल पर ही हो सकता है। चूंकि उपराष्ट्रपति राज्य सभा का पदेन सभापति होता है, अतः उसे हटाने की प्रक्रिया केवल राज्य सभा में ही शुरू हो सकती है। जब लोकसभा भंग हो, तब आपातकाल की घोषणा को राज्य सभा द्वारा अनुमोदित कराया जाता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299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123/300</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सभा के अध्यक्ष (Speaker) के पद और शक्तियों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 सभा भंग होने पर भी अध्यक्ष अपना पद तुरंत रिक्त नहीं करता, बल्कि वह नई लोक सभा की प्रथम बैठक के ठीक पहले तक पद पर बना रहता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अध्यक्ष अपना त्यागपत्र लोक सभा के उपाध्यक्ष (Deputy Speaker) को संबोधित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 विधेयक के 'धन विधेयक' (Money Bill) होने या न होने पर लोक सभा अध्यक्ष का निर्णय अंतिम और बाध्यकारी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अध्यक्ष संसद के दोनों सदनों की संयुक्त बैठक की अध्यक्षता करता है और प्रथम दृष्टया सामान्य मतदान में भाग लेता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49700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124/300</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अध्यक्ष संसद के दोनों सदनों की संयुक्त बैठक की अध्यक्षता करता है और प्रथम दृष्टया सामान्य मतदान में भाग लेता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 सभा भंग होने पर भी अध्यक्ष अपना पद तुरंत रिक्त नहीं करता, बल्कि वह नई लोक सभा की प्रथम बैठक के ठीक पहले तक पद पर बना रहता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अध्यक्ष अपना त्यागपत्र लोक सभा के उपाध्यक्ष (Deputy Speaker) को संबोधित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 विधेयक के 'धन विधेयक' (Money Bill) होने या न होने पर लोक सभा अध्यक्ष का निर्णय अंतिम और बाध्यकारी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100(1) के अनुसार, लोक सभा अध्यक्ष प्रथम दृष्टया (In the first instance) सदन में मतदान नहीं करता है। वह केवल तभी अपने 'निर्णायक मत' (Casting Vote) का प्रयोग करता है जब किसी प्रस्ताव पर पक्ष और विपक्ष के मत बिल्कुल बराबर (TIE) हो जाएं। अतः कथन D गलत है। अनुच्छेद 94 के तहत लोकसभा के विघटन पर भी स्पीकर का पद समाप्त नहीं होता, वह अगली लोकसभा की पहली बैठक तक बना रहता है। अनुच्छेद 118(4) के तहत संयुक्त बैठक की अध्यक्षता स्पीकर करता है (उसकी अनुपस्थिति में डिप्टी स्पीकर, फिर राज्य सभा का उपसभापति)। अनुच्छेद 110(3) के तहत धन विधेयक पर उसका प्रमाणपत्र अंतिम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49700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124/300</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जब लोक सभा अध्यक्ष (स्पीकर) को पद से हटाने का संकल्प सदन में विचाराधीन हो (अनुच्छेद 96), तब उसकी विधिक स्थिति क्या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सदन में उपस्थित नहीं हो सकता और न ही कार्यवाही में भाग ले सकता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सदन की बैठक में उपस्थित रह सकता है, बोल सकता है और प्रथम दृष्टया मतदान कर सकता है, लेकिन वह पीठासीन अधिकारी (अध्यक्षता) के रूप में कार्य नहीं करेगा और न ही निर्णायक मत (Casting vote) दे सकेगा।</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 सामान्य दिनों की तरह सदन की अध्यक्षता करता रहेगा।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द्वारा उसका पद स्वतः समाप्त कर दिया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101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125/300</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वह सदन की बैठक में उपस्थित रह सकता है, बोल सकता है और प्रथम दृष्टया मतदान कर सकता है, लेकिन वह पीठासीन अधिकारी (अध्यक्षता) के रूप में कार्य नहीं करेगा और न ही निर्णायक मत (Casting vote) दे सकेगा।</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सदन में उपस्थित नहीं हो सकता और न ही कार्यवाही में भाग ले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 सामान्य दिनों की तरह सदन की अध्यक्षता करता रहेगा।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द्वारा उसका पद स्वतः समाप्त कर दिया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96 में यह निष्पक्ष व्यवस्था की गई है कि जब लोक सभा अध्यक्ष को पद से हटाने का संकल्प विचाराधीन हो, तो वह सदन की अध्यक्षता (Presiding Officer) नहीं करेगा (उस समय उपाध्यक्ष या सभापति तालिका का सदस्य पीठासीन होगा)। हालांकि वह सदन का निर्वाचित सांसद है, इसलिए उसे सदन में बैठने, कार्यवाही में बोलने और भाग लेने का पूरा अधिकार है। इस स्थिति में वह एक सामान्य सदस्य की भांति 'प्रथमतः मत' (Vote in the first instance) दे सकता है, लेकिन मत बराबर होने पर वह 'निर्णायक मत' (Casting Vote) नहीं दे सकता। यही नियम अनुच्छेद 92 के तहत राज्य सभा में उपराष्ट्रपति (सभापति) पर भी लागू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101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125/300</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के दोनों सदनों की 'संयुक्त बैठक' (Joint Sitting, अनुच्छेद 108) के संदर्भ में निम्नलिखित कथनों पर विचार कीजिए: A. संयुक्त बैठक केवल साधारण विधेयक और वित्त विधेयकों के संदर्भ में सदनों के गतिरोध को सुलझाने के लिए राष्ट्रपति द्वारा बुलाई जा सकती है। B. धन विधेयक (Money Bill) और संविधान संशोधन विधेयक के मामले में संयुक्त बैठक बुलाने का कोई संवैधानिक प्रावधान नहीं है। C. संयुक्त बैठक की अध्यक्षता हमेशा लोक सभा का अध्यक्ष (या उसकी अनुपस्थिति में उपाध्यक्ष) करता है। D. संयुक्त बैठक में विधेयक दोनों सदनों के उपस्थित और मतदान करने वाले कुल सदस्यों के 'साधारण बहुमत' से पारित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502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126/300</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108 विधायी गतिरोध समाप्त करने का तंत्र है। जब एक सदन द्वारा पारित विधेयक को दूसरा सदन अस्वीकार कर दे, या 6 महीने से अधिक समय तक रोके रखे, तो राष्ट्रपति संयुक्त बैठक बुला सकता है। धन विधेयक में 14 दिन की सीमा होने और संविधान संशोधन विधेयक (अनुच्छेद 368) में दोनों सदनों द्वारा अलग-अलग विशेष बहुमत की अनिवार्यता होने के कारण इन दोनों मामलों में संयुक्त बैठक नहीं हो सकती। स्वतंत्र भारत में अब तक केवल 3 बार संयुक्त बैठक हुई है: 1. दहेज प्रतिषेध विधेयक (1961), 2. बैंकिंग सेवा आयोग निरसन विधेयक (1978), और 3. पोटा (POTA) आतंकवाद निवारण विधेयक (2002)। लोकसभा की अधिक सदस्य संख्या के कारण इसमें लोकसभा की इच्छा प्रभावी रहती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502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126/300</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110 के तहत 'धन विधेयक' (Money Bill) के प्रमुख लक्षणों का सही मिलान कीजिए: सूची-I: सूची-I: A. धन विधेयक की प्रस्तुति B. राज्य सभा की शक्तियां C. राष्ट्रपति की शक्तियां D. गतिरोध की स्थिति सूची-II: 1. केवल 14 दिन के भीतर सिफारिशों सहित या बिना सिफारिश के वापस भेजना, अस्वीकार या संशोधन की शक्ति नहीं 2. केवल लोक सभा में राष्ट्रपति की पूर्व अनुशंसा से ही पुरःस्थापित किया जा सकता है 3. अनुमति दे सकता है या रोक सकता है, लेकिन पुनर्विचार के लिए लौटा नहीं सकता 4. दोनों सदनों के बीच कोई संयुक्त बैठक नहीं बुलाई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0903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127/300</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109 और 110 धन विधेयक की विशिष्ट प्रक्रिया तय करते हैं। अनुच्छेद 110(1) में कर लगाने, समाप्त करने, सरकारी ऋण, संचित निधि से धन निकालने आदि को धन विधेयक माना गया है। यह केवल लोकसभा में राष्ट्रपति की पूर्व अनुमति से पेश होता है। राज्यसभा को यह विधेयक भेजे जाने पर उसके पास केवल 14 दिन का समय होता है। राज्यसभा इसमें संशोधन या अस्वीकार नहीं कर सकती, केवल सुझाव दे सकती है जिन्हें मानना लोकसभा के विवेक पर है। यदि 14 दिन में वापस न भेजे, तो यह दोनों सदनों द्वारा पारित मान लिया जाता है। राष्ट्रपति इसे पुनर्विचार के लिए नहीं लौटा सकते क्योंकि यह उनकी पूर्व अनुमति से ही पेश हुआ था। संयुक्त बैठक का कोई प्रावधान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0903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127/300</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सभा के विघटन (Dissolution) पर संसद में लंबित विधेयकों के व्यपगत (Lapse) होने के नियमों (अनुच्छेद 107) पर विचार कीजिए: A. लोक सभा में लंबित कोई भी विधेयक लोक सभा के विघटन पर स्वतः ही व्यपगत (Lapse) हो जाता है। B. लोक सभा द्वारा पारित किंतु राज्य सभा में लंबित विधेयक लोक सभा के विघटन पर व्यपगत हो जाता है। C. राज्य सभा में लंबित ऐसा विधेयक जिसे लोक सभा ने अभी पारित नहीं किया है, लोक सभा के विघटन पर व्यपगत नहीं होता। D. दोनों सदनों द्वारा पारित विधेयक जो राष्ट्रपति की सहमति के लिए लंबित है, या राष्ट्रपति द्वारा पुनर्विचार हेतु लौटाया गया विधेयक व्यपगत नहीं 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303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128/300</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107 के अनुसार लोकसभा के विघटन पर विधेयकों के व्यपगत होने के स्पष्ट नियम हैं: 1. जो विधेयक लोकसभा में लंबित था या लोकसभा से पास होकर राज्यसभा में गया था, वह लोकसभा के साथ ही समाप्त (Lapse) हो जाता है; 2. यदि कोई विधेयक केवल राज्यसभा में पेश हुआ था और वहीं लंबित है (लोकसभा ने पास नहीं किया), तो वह व्यपगत नहीं होता और जीवित रहता है; 3. यदि राष्ट्रपति ने विघटन से पहले ही संयुक्त बैठक की अधिसूचना जारी कर दी हो, तो विधेयक समाप्त नहीं होता; 4. दोनों सदनों द्वारा पारित विधेयक जो राष्ट्रपति के पास सहमति हेतु भेजा जा चुका है या राष्ट्रपति द्वारा पुनर्विचार के लिए लौटाया गया है, वह भी समाप्त नहीं होता।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303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128/300</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129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वार्षिक वित्तीय विवरण (केंद्रीय बजट, अनुच्छेद 112) के संबंध में 'भारत की संचित निधि पर भारित व्यय' (Expenditure Charged upon the Consolidated Fund of India) की क्या विशेषता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पर संसद में न तो चर्चा हो सकती है और न ही मतदान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पर संसद के दोनों सदनों में केवल विचार-विमर्श (चर्चा) हो सकता है, लेकिन इस पर संसद में मतदान नहीं कराया जाता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पर केवल राज्य सभा में मतदान होता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व्यय को संसद के साधारण बहुमत से खारिज किया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1704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129/300</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इस पर संसद के दोनों सदनों में केवल विचार-विमर्श (चर्चा) हो सकता है, लेकिन इस पर संसद में मतदान नहीं कराया जाता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पर संसद में न तो चर्चा हो सकती है और न ही मतदान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पर केवल राज्य सभा में मतदान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व्यय को संसद के साधारण बहुमत से खारिज किया जा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112(3) के तहत भारत की संचित निधि पर भारित व्यय (जैसे राष्ट्रपति का वेतन व भत्ते, राज्यसभा सभापति/उपसभापति व लोकसभा अध्यक्ष/उपाध्यक्ष के वेतन, सर्वोच्च न्यायालय के न्यायाधीशों के वेतन व पेंशन, उच्च न्यायालय के न्यायाधीशों की पेंशन, कैग का वेतन व पेंशन, तथा सरकार के ऋण प्रभार) को कार्यपालिका और न्यायपालिका की स्वतंत्रता सुनिश्चित करने के लिए विशेष संरक्षण दिया गया है। अनुच्छेद 113(1) स्पष्ट करता है कि भारित व्यय संसद में मतदान के लिए नहीं रखे जाते (Non-votable); हालांकि संसद के दोनों सदनों में इन पर व्यापक चर्चा और बहस की जा सकती है। केवल 'अन्य व्यय' (Demands for Grants) पर लोकसभा में मतदान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1704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129/300</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बजट प्रक्रिया में लोक सभा में प्रस्तुत किए जाने वाले तीन प्रकार के 'कटौती प्रस्तावों' (Cut Motions) का उनके प्रभावों से सही मिलान कीजिए: सूची-I: सूची-I: A. नीतिगत कटौती प्रस्ताव (Policy Disapproval Cut) B. मितव्ययिता कटौती प्रस्ताव (Economy Cut) C. सांकेतिक कटौती प्रस्ताव (Token Cut) D. गिलोटिन (Guillotine) सूची-II: 1. मांग की राशि में से एक निर्दिष्ट राशि (जैसे ₹100 करोड़) कम करने का प्रस्ताव 2. मांग की राशि को घटाकर केवल '₹1' करने का प्रस्ताव (जो नीति की पूर्ण अस्वीकृति दर्शाता है) 3. मांग की राशि में से '₹100' की प्रतीकात्मक कटौती (किसी विशिष्ट शिकायत को उठाने हेतु) 4. समय सीमा समाप्त होने पर बची हुई सभी अनुदान मांगों को बिना चर्चा के एक साथ मतदान के लिए रखना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105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130/300</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बजट के दौरान अनुदानों की मांगों पर विपक्ष द्वारा तीन कटौती प्रस्ताव लाए जाते हैं: 1. नीतिगत कटौती (Policy Cut) में मांग को घटाकर ₹1 करने को कहा जाता है, जो सरकार की पूरी नीति को अस्वीकार करता है (यदि यह पास हो जाए तो सरकार गिर जाती है)। 2. मितव्ययिता कटौती (Economy Cut) में खर्च कम करने के लिए एकमुश्त राशि कम करने का प्रस्ताव होता है। 3. सांकेतिक कटौती (Token Cut) में भारत सरकार के किसी विशिष्ट दायित्व के प्रति विरोध दर्ज कराने के लिए मांग में से ₹100 काटने का प्रस्ताव होता है। वहीं 'गिलोटिन' संसदीय प्रक्रिया का वह अस्त्र है जिसके तहत बजट सत्र के अंतिम दिन समय की कमी के कारण शेष सभी अनिर्णीत अनुदान मांगों को बिना किसी बहस के सीधे मतदान के लिए रख दिया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105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130/300</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नए वित्तीय वर्ष के आरंभ में जब तक संसद द्वारा बजट (विनियोग विधेयक) पारित नहीं हो जाता, तब तक सरकार को अपने दैनिक प्रशासनिक खर्चों को पूरा करने के लिए अग्रिम धन निकालने की अनुमति संविधान का कौन-सा अनुच्छेद देता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114 [विनियोग विधेयक]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115 [अनुपूरक अनुदान]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116(क) [लेखानुदान / Vote on Account]</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अनुच्छेद 116(ख) [प्रत्ययानुदान / Vote of Credit]</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506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131/300</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अनुच्छेद 116(क) [लेखानुदान / Vote on Account]</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114 [विनियोग विधेयक]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115 [अनुपूरक अनुदान]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116(ख) [प्रत्ययानुदान / Vote of Credit]</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114 के अनुसार विनियोग अधिनियम (Appropriation Act) पारित हुए बिना संचित निधि से एक पैसा भी नहीं निकाला जा सकता। चूंकि बजट पारित होने की प्रक्रिया में अप्रैल-मई तक का समय लग जाता है, इसलिए वित्तीय वर्ष की शुरुआत (1 अप्रैल) से सरकार का कामकाज न रुके, इसके लिए अनुच्छेद 116(क) के तहत 'लेखानुदान' (Vote on Account) का उपबंध है। इसके तहत लोकसभा सरकार को संपूर्ण वित्तीय वर्ष के कुल अनुमानित खर्च का सामान्यतः 1/6 भाग (दो महीने के खर्च के बराबर राशि) अग्रिम रूप से स्वीकृत कर देती है। हाल के वर्षों में 1 फरवरी को बजट पेश किए जाने के कारण विनियोग विधेयक 31 मार्च से पहले ही पास हो जाता है, जिससे नियमित बजट में लेखानुदान की आवश्यकता समाप्त हो गई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506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131/300</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सभा में 'अविश्वास प्रस्ताव' (No-Confidence Motion) की प्रक्रिया और संवैधानिक नियमों के संदर्भ में निम्नलिखित कथनों पर विचार कीजिए: A. भारतीय संविधान में 'अविश्वास प्रस्ताव' शब्द का कहीं भी स्पष्ट उल्लेख नहीं है; यह केवल लोक सभा की प्रक्रिया तथा कार्य संचालन नियमों के 'नियम 198' द्वारा शासित होता है। B. अविश्वास प्रस्ताव केवल 'लोक सभा' में ही प्रस्तुत किया जा सकता है, राज्य सभा में नहीं। C. प्रस्ताव प्रस्तुत करने की अनुमति मांगने के लिए सदन के कम से कम 50 सदस्यों का समर्थन अनिवार्य होता है। D. अविश्वास प्रस्ताव पूरी मंत्रिपरिषद के विरुद्ध ही लाया जा सकता है, किसी एक व्यक्तिगत मंत्री के विरुद्ध नहीं, और इसके लिए कोई विशिष्ट आधार या कारण बताना आवश्यक नहीं 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2907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132/300</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अविश्वास प्रस्ताव अनुच्छेद 75(3) के 'मंत्रिपरिषद के लोकसभा के प्रति सामूहिक उत्तरदायित्व' को धरातल पर जांचने का मुख्य संसदीय हथियार है। संविधान में इसका नाम नहीं है, यह लोकसभा नियम 198 के तहत संचालित होता है। इसे पेश करने के लिए न्यूनतम 50 सांसदों का समर्थन आवश्यक है और अनुमति मिलने के 10 दिन के भीतर इस पर चर्चा और मतदान कराया जाता है। यह किसी एक मंत्री के विरुद्ध नहीं बल्कि समूची मंत्रिपरिषद के विरुद्ध लाया जाता है और इसके लिए कारण बताना आवश्यक नहीं होता। यदि प्रस्ताव साधारण बहुमत से पारित हो जाए, तो प्रधानमंत्री सहित पूरी सरकार को तुरंत इस्तीफा देना पड़ता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2907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132/300</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संसदीय प्रक्रिया में 'निंदा प्रस्ताव' (Censure Motion) और 'अविश्वास प्रस्ताव' (No-Confidence Motion) के बीच मुख्य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निंदा प्रस्ताव केवल राज्य सभा में लाया जाता है, जबकि अविश्वास प्रस्ताव केवल लोक सभा 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निंदा प्रस्ताव के लिए कारण बताना अनिवार्य होता है और यह किसी एक मंत्री या मंत्रियों के समूह के विरुद्ध भी लाया जा सकता है, जबकि इसके पारित होने पर मंत्रिपरिषद को त्यागपत्र देना अनिवार्य नहीं होता।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प्रस्तावों में कोई अंतर नहीं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निंदा प्रस्ताव के लिए 100 सदस्यों का समर्थन अनिवार्य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308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133/300</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निंदा प्रस्ताव के लिए कारण बताना अनिवार्य होता है और यह किसी एक मंत्री या मंत्रियों के समूह के विरुद्ध भी लाया जा सकता है, जबकि इसके पारित होने पर मंत्रिपरिषद को त्यागपत्र देना अनिवार्य नहीं होता।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निंदा प्रस्ताव केवल राज्य सभा में लाया जाता है, जबकि अविश्वास प्रस्ताव केवल लोक सभा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प्रस्तावों में कोई अंतर नहीं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निंदा प्रस्ताव के लिए 100 सदस्यों का समर्थन अनिवार्य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निंदा प्रस्ताव (Censure Motion) और अविश्वास प्रस्ताव में महत्वपूर्ण अंतर हैं: 1. निंदा प्रस्ताव लोकसभा में स्वीकार करने के लिए विशिष्ट नीतियां, विफलताएं या कारण बताना अनिवार्य होता है, जबकि अविश्वास प्रस्ताव के लिए कोई कारण बताना जरूरी नहीं होता; 2. निंदा प्रस्ताव किसी एक व्यक्तिगत मंत्री, मंत्रियों के समूह या संपूर्ण मंत्रिपरिषद के विरुद्ध उनकी विशिष्ट प्रशासनिक नीतियों या गलतियों की निंदा करने के लिए लाया जा सकता है; 3. यदि लोकसभा में निंदा प्रस्ताव पारित हो जाता है, तो सरकार को तत्काल त्यागपत्र देना संवैधानिक रूप से बाध्यकारी नहीं होता (यद्यपि सरकार को अपना विश्वास सिद्ध करना पड़ सकता है), जबकि अविश्वास प्रस्ताव पारित होते ही सरकार गिर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308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133/300</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लोक सभा में किसी तात्कालिक और अत्यंत महत्वपूर्ण सार्वजनिक मुद्दे पर सदन की नियमित कार्यवाही को रोककर बहस कराने के लिए कौन-सा प्रस्ताव लाया जाता है, जिसके लिए न्यूनतम 50 सदस्यों का समर्थन आवश्यक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ध्यानाकर्षण प्रस्ताव (Calling Attention Motion)</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विशेषाधिकार प्रस्ताव (Privilege Motion)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स्थगन प्रस्ताव (Adjournment Motion)</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अविश्वास प्रस्ताव</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3708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134/300</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स्थगन प्रस्ताव (Adjournment Motion)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ध्यानाकर्षण प्रस्ताव (Calling Attention Motion)</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विशेषाधिकार प्रस्ताव (Privilege Motion)</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अविश्वास प्रस्ताव</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'स्थगन प्रस्ताव' (Adjournment Motion) एक असाधारण संसदीय प्रक्रिया है, जिसका उद्देश्य हाल ही में घटी किसी निश्चित, गंभीर और अविलंबनीय लोक महत्व की घटना (Definite matter of urgent public importance) पर सदन की पूर्व-निर्धारित नियमित कार्यसूची को स्थगित करके तत्काल चर्चा कराना होता है। इसमें सरकार की विफलता की प्रत्यक्ष निंदा का तत्व छिपा होता है, इसलिए इसे राज्य सभा में नहीं बल्कि केवल लोक सभा में लाया जा सकता है। इसे पेश करने के लिए अध्यक्ष की अनुमति और कम से कम 50 सांसदों का समर्थन आवश्यक होता है। इस पर चर्चा सामान्यतः शाम 4 बजे प्रारंभ होती है और कम से कम 2 घंटे 30 मिनट तक चलती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3708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134/300</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तीन वित्तीय संसदीय समितियों (Financial Committees) के स्वरूप का सही मिलान कीजिए: सूची-I: सूची-I: A. लोक लेखा समिति (PAC) B. प्राक्कलन समिति (Estimates Committee) C. सरकारी उपक्रमों संबंधी समिति (CoPU) D. विभागीय स्थायी समितियां (DRSCs) सूची-II: 1. 30 सदस्य (सभी केवल लोक सभा से, राज्य सभा का कोई सदस्य नहीं) 2. 22 सदस्य (15 लोक सभा + 7 राज्य सभा), परंपरा के अनुसार अध्यक्ष विपक्षी दल से 3. कुल 24 समितियां, प्रत्येक में 31 सदस्य (21 लोक सभा + 10 राज्य सभा) 4. 22 सदस्य (15 लोक सभा + 7 राज्य सभा), 1964 में कृष्ण मेनन समिति की सिफारिश पर गठित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109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135/300</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वित्तीय समितियां संसद के सबसे महत्वपूर्ण प्रहरी अंग हैं। 1. लोक लेखा समिति (PAC, स्थापना 1921): 22 सदस्य (15 LS + 7 RS), कैग की ऑडिट रिपोर्ट की जांच करती है, 1967 से इसका अध्यक्ष विपक्ष का सांसद होता है। 2. प्राक्कलन समिति (Estimates Committee, 1950 जॉन मथाई की सिफारिश): संसद की सबसे बड़ी समिति जिसमें 30 सदस्य होते हैं और सभी केवल लोकसभा से होते हैं। 3. सरकारी उपक्रम समिति (CoPU, 1964): 22 सदस्य (15 LS + 7 RS), सार्वजनिक उपक्रमों (PSUs) की जांच करती है। 4. 24 विभागीय स्थायी समितियां (1993 में प्रारंभ): प्रत्येक में 31 सदस्य होते हैं जो मंत्रालयों की अनुदान मांगों की जांच करते हैं। किसी भी मंत्री को इन समितियों का सदस्य नहीं चुना जा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109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135/300</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लेखा समिति (Public Accounts Committee - PAC) की कार्यप्रणाली और शक्तियों के संदर्भ में निम्नलिखित कथनों पर विचार कीजिए: A. समिति के सदस्यों का चुनाव संसद के दोनों सदनों द्वारा आनुपातिक प्रतिनिधित्व प्रणाली के अनुसार एकल संक्रमणीय मत से 1 वर्ष के लिए होता है। B. समिति का मुख्य कार्य भारत सरकार के विनियोग लेखों और नियंत्रक एवं महालेखापरीक्षक (CAG) के प्रतिवेदनों की गहन जांच करना है। C. कैग (CAG) लोक लेखा समिति के 'मित्र, दार्शनिक और पथ-प्रदर्शक' (Friend, Philosopher and Guide) के रूप में कार्य करता है। D. समिति की सिफारिशें सरकार के लिए केवल सलाहकारी होती हैं, बाध्यकारी नहीं।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510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136/300</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लेखा समिति भारत की सबसे पुरानी और प्रतिष्ठित वित्तीय समिति है। यह सरकारी व्यय की न केवल तकनीकी और कानूनी वैधता की जांच करती है, बल्कि यह भी देखती है कि जनता के धन का कहीं अपव्यय, फिजूलखर्ची या भ्रष्टाचार तो नहीं हुआ। समिति अपनी बैठकों में कैग की सहायता से मंत्रालयों के सचिवों को तलब कर पूछताछ करती है। कैग समिति की हर बैठक में उपस्थित रहकर उसके सलाहकार और मार्गदर्शक की भूमिका निभाता है। समिति का कोई भी फैसला सरकार पर कानूनी रूप से बाध्यकारी नहीं होता, किंतु सरकार को समिति की सिफारिशों पर की गई कार्रवाई की रिपोर्ट (Action Taken Report) संसद में देनी होती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510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136/300</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प्राक्कलन समिति (Estimates Committee) को प्रशासनिक और वित्तीय समीक्षा में किस अन्य लोकप्रिय नाम से जाना जाता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सुपर कैबिनेट</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सतत मितव्ययिता समिति (Continuous Economy Committee)</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सतर्कता समिति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कार्य मंत्रणा समिति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4911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137/300</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सतत मितव्ययिता समिति (Continuous Economy Committee)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सुपर कैबिनेट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सतर्कता समिति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कार्य मंत्रणा समिति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प्राक्कलन समिति को 'सतत मितव्ययिता समिति' (Continuous Economy Committee) कहा जाता है। इसका मुख्य कार्य बजट में शामिल अनुमानों (Estimates) की विस्तृत जांच करना, प्रशासन में मितव्ययिता, कार्यकुशलता और संगठनात्मक सुधारों के लिए सुझाव देना तथा यह देखना है कि नीतियां धन का अपव्यय किए बिना दक्षता से लागू की जा रही हैं या नहीं। चूंकि यह समिति बजट पेश होने के बाद पूरे वर्ष लगातार अलग-अलग मंत्रालयों के खर्चों और योजनाओं का परीक्षण करती रहती है, इसलिए इसे निरंतर या सतत मितव्ययिता समिति कहा जाता है। इसमें केवल लोकसभा के 30 सदस्य होते हैं और इसका अध्यक्ष सत्तारूढ़ दल से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4911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137/300</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संसद में 'प्रश्न काल' (Question Hour) और 'शून्य काल' (Zero Hour) की कार्यप्रणाली के संदर्भ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शून्य काल का उल्लेख संसद की प्रक्रिया और कार्य संचालन नियमावली में औपचारिक रूप से किया गया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तारांकित प्रश्नों (Starred Questions) का उत्तर मंत्री द्वारा मौखिक रूप से दिया जाता है और इनके पूरक प्रश्न (Supplementary Questions) पूछे जा सकते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अतारांकित प्रश्नों के भी पूरक प्रश्न पूछे जा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शून्य काल केवल 15 मिनट की अवधि का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312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138/300</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तारांकित प्रश्नों (Starred Questions) का उत्तर मंत्री द्वारा मौखिक रूप से दिया जाता है और इनके पूरक प्रश्न (Supplementary Questions) पूछे जा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शून्य काल का उल्लेख संसद की प्रक्रिया और कार्य संचालन नियमावली में औपचारिक रूप से किया गया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अतारांकित प्रश्नों के भी पूरक प्रश्न पूछे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शून्य काल केवल 15 मिनट की अवधि का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की बैठक का पहला घंटा (प्रातः 11 से 12 बजे) 'प्रश्न काल' होता है। इसमें 'तारांकित प्रश्न' (जिन पर तारा बना होता है) का उत्तर मंत्री मौखिक देता है और सदस्य तत्काल काउंटर/पूरक प्रश्न (Supplementary questions) पूछ सकते हैं। 'अतारांकित प्रश्न' का उत्तर लिखित रूप में टेबल पर रखा जाता है और इस पर कोई पूरक प्रश्न नहीं पूछा जा सकता। 'शून्य काल' (Zero Hour) का संसद की नियमावली में कोई उल्लेख नहीं है; यह 1962 से भारतीय संसदीय प्रथा द्वारा विकसित एक अनौपचारिक नवाचार (Indian Innovation) है, जो प्रश्नकाल के ठीक बाद (दोपहर 12 बजे) शुरू होता है और इसमें बिना पूर्व सूचना के अविलंबनीय सार्वजनिक महत्व के मुद्दे उठाए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312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138/300</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अनुच्छेद 102 और जनप्रतिनिधित्व अधिनियम, 1951 के तहत संसद सदस्यों की निरर्हता (Disqualification) के संबंध में निम्नलिखित में से कौन-सा कथन सही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कोई सदस्य भारत सरकार या राज्य सरकार के अधीन कोई 'लाभ का पद' (Office of Profit) धारण करता है, तो वह अयोग्य हो जाता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किसी सांसद को आपराधिक मामले में कम से कम 2 वर्ष के कारावास की सजा सुनाई जाती है, तो वह सजा की तारीख से ही अयोग्य हो जाता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लाभ के पद या चुनावी भ्रष्टाचार के आधार पर सांसदों की अयोग्यता का अंतिम निर्णय राष्ट्रपति द्वारा चुनाव आयोग की बाध्यकारी राय के अनुसार किया जाता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कोई सदस्य बिना अनुमति के लगातार 30 दिनों तक सदन की सभी बैठकों से अनुपस्थित रहता है, तो उसका स्थान स्वतः रिक्त हो जाता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5712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139/300</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यदि कोई सदस्य बिना अनुमति के लगातार 30 दिनों तक सदन की सभी बैठकों से अनुपस्थित रहता है, तो उसका स्थान स्वतः रिक्त हो जाता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कोई सदस्य भारत सरकार या राज्य सरकार के अधीन कोई 'लाभ का पद' (Office of Profit) धारण करता है, तो वह अयोग्य हो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किसी सांसद को आपराधिक मामले में कम से कम 2 वर्ष के कारावास की सजा सुनाई जाती है, तो वह सजा की तारीख से ही अयोग्य हो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लाभ के पद या चुनावी भ्रष्टाचार के आधार पर सांसदों की अयोग्यता का अंतिम निर्णय राष्ट्रपति द्वारा चुनाव आयोग की बाध्यकारी राय के अनुसार किया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101(4) के अनुसार, यदि संसद के किसी भी सदन का कोई सदस्य सदन की अनुमति के बिना लगातार '60 दिनों' (न कि 30 दिनों) की अवधि तक उसकी सभी बैठकों से अनुपस्थित रहता है, तो सदन प्रस्ताव पारित करके उसके स्थान को रिक्त घोषित कर सकता है। इस 60 दिन की गणना में सदन के सत्रावसान या लगातार 4 से अधिक दिनों के स्थगन को नहीं गिना जाता। अतः कथन D गलत है। लिली थॉमस बनाम भारत संघ (2013) में सुप्रीम कोर्ट ने धारा 8(4) को निरस्त कर दिया, जिससे 2 वर्ष या अधिक की सजा पाते ही सांसद तुरंत अयोग्य हो जाते हैं। 10वीं अनुसूची के अलावा अन्य अयोग्यता का निर्णय अनुच्छेद 103 में राष्ट्रपति चुनाव आयोग की सलाह पर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5712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139/300</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और उसके सदस्यों के 'विशेषाधिकारों' (Parliamentary Privileges, अनुच्छेद 105) के संदर्भ में निम्नलिखित कथनों पर विचार कीजिए: A. संसद में कही गई किसी बात या दिए गए किसी मत (वोट) के संबंध में किसी भी सदस्य के विरुद्ध किसी न्यायालय में कोई कार्यवाही नहीं की जा सकती। B. दीवानी मामलों (Civil Cases) में सांसदों को सदन के सत्र के दौरान तथा सत्र से 40 दिन पहले और 40 दिन बाद तक गिरफ्तारी से उन्मुक्ति प्राप्त है। C. यह गिरफ्तारी से छूट आपराधिक मामलों या निवारक निरोध (Preventive Detention) पर लागू नहीं होती है। D. संसद को अपने विशेषाधिकारों के हनन या सदन की अवमानना (Contempt of the House) के लिए बाहरी व्यक्तियों और अपने सदस्यों दोनों को दंडित करने की शक्ति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113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140/300</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105 सांसदों और संसद को बिना किसी भय के अपने कर्तव्यों के निर्वहन हेतु व्यक्तिगत और सामूहिक विशेषाधिकार देता है। अभिव्यक्ति की पूर्ण स्वतंत्रता संसद के भीतर सुरक्षित है और इसके लिए अदालत में मानहानि का मुकदमा नहीं हो सकता (पी. वी. नरसिम्हा राव वाद)। सिविल प्रक्रिया संहिता के तहत दीवानी मामलों में सत्र के 40 दिन पूर्व व पश्चात गिरफ्तारी से संरक्षण है, लेकिन आपराधिक मामलों, देशद्रोह या प्रिवेंटिव डिटेंशन में कोई छूट नहीं है (पुलिस को केवल स्पीकर को सूचित करना होता है)। संसद एक अदालत की तरह अपनी अवमानना के लिए किसी भी नागरिक या पत्रकार को फटकार लगा सकती है या जेल भेज सकती है (सर्चलाइट वाद एवं केशव सिंह वाद)।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113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140/300</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सभा में विपक्ष के नेता (Leader of Opposition - LoP) के पद के संबंध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प्रावधान मूल संविधान में अनुच्छेद 85 के तहत किया गया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विपक्ष के नेता को वैधानिक दर्जा 'संसद में विपक्ष के नेता का वेतन और भत्ते अधिनियम, 1977' द्वारा दिया गया और इसे कैबिनेट मंत्री के समकक्ष दर्जा व सुविधाएं प्राप्त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 भी विपक्षी दल के नेता को स्वतः ही विपक्ष का नेता घोषित कर दिया जाता है, चाहे उसकी सीटें कितनी भी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पहली लोकसभा (1952) में स्वतंत्र पार्टी के नेता को औपचारिक विपक्ष के नेता की मान्यता दी गई थी।</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514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141/300</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विपक्ष के नेता को वैधानिक दर्जा 'संसद में विपक्ष के नेता का वेतन और भत्ते अधिनियम, 1977' द्वारा दिया गया और इसे कैबिनेट मंत्री के समकक्ष दर्जा व सुविधाएं प्राप्त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प्रावधान मूल संविधान में अनुच्छेद 85 के तहत किया गया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 भी विपक्षी दल के नेता को स्वतः ही विपक्ष का नेता घोषित कर दिया जाता है, चाहे उसकी सीटें कितनी भी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पहली लोकसभा (1952) में स्वतंत्र पार्टी के नेता को औपचारिक विपक्ष के नेता की मान्यता दी गई थी।</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'विपक्ष के नेता' का कोई उल्लेख नहीं था। पहली बार 1969 में राम सुभग सिंह को विपक्ष के नेता के रूप में मान्यता मिली। 1977 में संसद ने कानून पारित कर इस पद को आधिकारिक वैधानिक मान्यता (Statutory Recognition) दी और इसे कैबिनेट मंत्री का दर्जा, वेतन व सुविधाएं प्रदान की गईं। पीठासीन अधिकारी के नियमों के अनुसार विपक्ष का नेता बनने के लिए किसी विपक्षी दल के पास सदन की कुल सदस्य संख्या का कम से कम 10% (लोकसभा में 55 सीटें) होना अनिवार्य है। पहली लोकसभा (1952) में किसी भी दल के पास 10% सीटें नहीं थीं, यद्यपि भारतीय कम्युनिस्ट पार्टी (CPI - 16 सीटें) सबसे बड़ा विपक्षी दल थी।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514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141/300</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संसद में 'गैर-सरकारी सदस्य विधेयक' (Private Member's Bill) के संदर्भ में निम्नलिखित में से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विधेयक संसद के किसी ऐसे सदस्य द्वारा पेश किया जाता है जो सरकार में मंत्री नहीं है (चाहे वह सत्तारूढ़ दल का सांसद हो या विपक्ष का)।</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राष्ट्रपति द्वारा मनोनीत सांसदों द्वारा पेश किया जाता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में प्रत्येक कार्यदिवस को गैर-सरकारी विधेयकों पर चर्चा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कोई गैर-सरकारी विधेयक लोकसभा में गिर जाता है, तो प्रधानमंत्री को इस्तीफा देना पड़ता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6915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142/300</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विधेयक संसद के किसी ऐसे सदस्य द्वारा पेश किया जाता है जो सरकार में मंत्री नहीं है (चाहे वह सत्तारूढ़ दल का सांसद हो या विपक्ष का)।</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राष्ट्रपति द्वारा मनोनीत सांसदों द्वारा पेश किया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में प्रत्येक कार्यदिवस को गैर-सरकारी विधेयकों पर चर्चा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कोई गैर-सरकारी विधेयक लोकसभा में गिर जाता है, तो प्रधानमंत्री को इस्तीफा देना पड़ता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व्यवस्था में जो सांसद मंत्रिपरिषद का सदस्य (मंत्री) नहीं होता, उसे 'गैर-सरकारी सदस्य' (Private Member) कहा जाता है, भले ही वह सत्ताधारी पार्टी का ही सांसद क्यों न हो। ऐसे सांसद द्वारा पेश किया गया विधेयक 'प्राइवेट मेंबर बिल' कहलाता है। इसके लिए सदन में 1 माह की पूर्व लिखित सूचना देनी होती है और संसद में इसके लिए सामान्यतः शुक्रवार का दूसरा पहर (दोपहर बाद का समय) निर्धारित होता है। चूंकि यह सरकार की आधिकारिक नीति का हिस्सा नहीं होता, इसलिए इसका अस्वीकार होना सरकार के गिरने का कारण नहीं बनता। भारतीय संसद के इतिहास में अब तक कुल 14 गैर-सरकारी विधेयक पारित होकर अधिनियम बने हैं (अंतिम बार 1970 में सुप्रीम कोर्ट आपराधिक अपीलीय क्षेत्राधिकार विस्तार अधिनियम पारित हुआ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6915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142/300</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104 के तहत संसद में शपथ लिए बिना या अयोग्य होते हुए बैठने और मतदान करने पर शास्ति (Penalty) के प्रावधानों पर विचार कीजिए: A. यदि कोई व्यक्ति अनुच्छेद 99 के तहत शपथ या प्रतिज्ञान किए बिना संसद के किसी सदन में सदस्य के रूप में बैठता है या मतदान करता है। B. यदि वह जानता है कि वह उस सदन का सदस्य बनने के लिए अर्हित (Qualified) नहीं है या निरर्हित (Disqualified) कर दिया गया है। C. वह प्रत्येक दिन के लिए, जब वह इस प्रकार बैठता है या मतदान करता है, पाँच सौ रुपये (₹500) की शास्ति का भागी होगा। D. यह शास्ति संघ को देय ऋण (Debt due to the Union) के रूप में वसूल की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316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143/300</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99 प्रत्येक सांसद को सदन में स्थान ग्रहण करने से पहले राष्ट्रपति या उसके द्वारा नियुक्त व्यक्ति के समक्ष तीसरी अनुसूची के प्रारूप में शपथ लेने का आदेश देता है। अनुच्छेद 104 एक अत्यंत सख्त दंडात्मक उपबंध है: यदि कोई व्यक्ति बिना शपथ लिए, या अयोग्य होते हुए, या संसद के किसी कानून द्वारा रोके जाने के बावजूद सदन की कार्यवाही में बैठता है या वोट डालता है, तो वह जितने दिन भी ऐसा करेगा, उसे प्रति दिन ₹500 का व्यक्तिगत जुर्माना भरना होगा। इस राशि की वसूली भारत सरकार को देय नागरिक ऋण के रूप में कानूनी तरीके से की जाती है। यही समान प्रावधान राज्यों की विधानसभाओं के लिए अनुच्छेद 193 में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316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143/300</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सभा में 'सदन का नेता' (Leader of the House) सामान्यतः कौन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 सभा का अध्यक्ष (स्पीकर)</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प्रधानमंत्री, यदि वह लोक सभा का सदस्य है, या प्रधानमंत्री द्वारा मनोनीत कोई अन्य कैबिनेट मंत्री जो लोक सभा का सदस्य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गृह मंत्री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संसदीय कार्य मंत्री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7716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144/300</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भारत का प्रधानमंत्री, यदि वह लोक सभा का सदस्य है, या प्रधानमंत्री द्वारा मनोनीत कोई अन्य कैबिनेट मंत्री जो लोक सभा का सदस्य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 सभा का अध्यक्ष (स्पीकर)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गृह मंत्री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संसदीय कार्य मंत्री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सभा की प्रक्रिया और कार्य संचालन नियमों के नियम 2 के अनुसार, 'सदन का नेता' (Leader of the House) भारत का प्रधानमंत्री होता है, बशर्ते वह लोक सभा का सदस्य हो। यदि प्रधानमंत्री राज्य सभा का सदस्य है (जैसे श्रीमती इंदिरा गांधी 1966 में, एच. डी. देवगौड़ा 1996 में, इंद्र कुमार गुजराल 1997 में, या डॉ. मनमोहन सिंह 2004-2014 में), तो प्रधानमंत्री लोक सभा के सदस्य किसी वरिष्ठ कैबिनेट मंत्री (जैसे प्रणब मुखर्जी या सुशील कुमार शिंदे) को लोक सभा में 'सदन का नेता' मनोनीत करता है। सदन का नेता विधायी कार्यसूची तय करने और सदन की गरिमा बनाए रखने में अत्यंत महत्वपूर्ण भूमिका निभाता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7716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144/300</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सभा के 'सामयिक अध्यक्ष' (Pro-tem Speaker) की नियुक्ति कौन करता है और उसका मुख्य वैधानिक कार्य क्या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निवर्तमान स्पीकर द्वारा नियुक्ति; बजट पेश कराना</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द्वारा नियुक्ति; नवनिर्वाचित सांसदों को शपथ दिलाना तथा नए नियमित स्पीकर के चुनाव तक सदन की अध्यक्षता करना</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प्रधानमंत्री द्वारा नियुक्ति; लोकसभा की समितियां बनाना</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के मुख्य न्यायाधीश द्वारा नियुक्ति; चुनाव याचिकाएं सुनना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117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145/300</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राष्ट्रपति द्वारा नियुक्ति; नवनिर्वाचित सांसदों को शपथ दिलाना तथा नए नियमित स्पीकर के चुनाव तक सदन की अध्यक्षता करना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निवर्तमान स्पीकर द्वारा नियुक्ति; बजट पेश कराना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प्रधानमंत्री द्वारा नियुक्ति; लोकसभा की समितियां बनाना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के मुख्य न्यायाधीश द्वारा नियुक्ति; चुनाव याचिकाएं सुनना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नई लोकसभा के आम चुनाव के बाद जब तक नया नियमित अध्यक्ष नहीं चुन लिया जाता, तब तक सदन के संचालन के लिए संविधान के अनुच्छेद 95(1) के तहत भारत के राष्ट्रपति द्वारा एक वरिष्ठतम सांसद को 'प्रोटेम स्पीकर' (सामयिक अध्यक्ष) नियुक्त किया जाता है। राष्ट्रपति स्वयं राष्ट्रपति भवन में प्रोटेम स्पीकर को शपथ दिलाते हैं। इसके बाद प्रोटेम स्पीकर नवनिर्वाचित सभी सांसदों को संविधान के अनुच्छेद 99 के तहत पद एवं गोपनीयता की शपथ दिलाता है और नए स्थायी लोक सभा अध्यक्ष के चुनाव की प्रक्रिया संपन्न कराता है। नए अध्यक्ष के निर्वाचित होते ही प्रोटेम स्पीकर का पद स्वतः समाप्त हो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117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145/300</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संसद की 'अधीनस्थ विधान संबंधी समिति' (Committee on Subordinate Legislation) के संदर्भ में निम्नलिखित कथनों पर विचार कीजिए: A. यह समिति लोक सभा और राज्य सभा दोनों में अलग-अलग गठित होती है (प्रत्येक में 15 सदस्य)। B. इसका मुख्य कार्य यह संवीक्षा करना है कि कार्यपालिका द्वारा बनाए जा रहे नियम, विनियम, उप-नियम और उप-विधियां संसद द्वारा प्रत्यायोजित विधायी शक्तियों की परिधि के भीतर हैं या नहीं। C. यह सुनिश्चित करती है कि कार्यपालिका संसद द्वारा प्रदत्त शक्तियों का अतिक्रमण न करे या नागरिकों पर अनुचित कर व दायित्व न थोपे। D. कोई भी मंत्री इस समिति का सदस्य बनने का पात्र नहीं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518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146/300</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समय की कमी और तकनीकी जटिलताओं के कारण कानूनों में केवल मूल ढांचा तय करती है और विस्तृत नियम बनाने की शक्ति कार्यपालिका को सौंप देती है, जिसे 'प्रत्यायोजित विधायन' (Delegated Legislation) कहा जाता है। कार्यपालिका इस शक्ति का दुरुपयोग न करे, इसके लिए संसद की 'अधीनस्थ विधान संबंधी समिति' बनाई गई है। यह समिति कार्यपालिका द्वारा बनाए गए सभी नियमों/नोटिफिकेशनों की बारीकी से जांच करती है कि क्या वे मूल अधिनियम के दायरे में हैं, क्या वे संविधान का उल्लंघन करते हैं, या क्या वे पूर्वव्यापी प्रभाव वाले हैं। यदि समिति कोई विसंगति पाती है, तो वह सदन को सूचित करती है। दोनों सदनों में 15-15 सदस्यों वाली अलग समितियां होती हैं और मंत्री इसमें शामिल नहीं होते।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518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146/300</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संसद के किसी सदन की बैठक के 'स्थगन' (Adjournment) और 'सत्रावसान' (Prorogation) के बीच मुख्य संवैधानिक अंतर क्या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स्थगन राष्ट्रपति द्वारा किया जाता है, जबकि सत्रावसान पीठासीन अधिकारी द्वारा किया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स्थगन सदन के पीठासीन अधिकारी (अध्यक्ष/सभापति) द्वारा बैठक को कुछ घंटों, दिनों या अनिश्चितकाल (sine die) के लिए रोकना है, जबकि सत्रावसान राष्ट्रपति द्वारा पूरे सत्र की औपचारिक समाप्ति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सत्रावसान से सदन में लंबित सभी विधेयक स्वतः समाप्त हो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में कोई अंतर नहीं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8919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147/300</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स्थगन सदन के पीठासीन अधिकारी (अध्यक्ष/सभापति) द्वारा बैठक को कुछ घंटों, दिनों या अनिश्चितकाल (sine die) के लिए रोकना है, जबकि सत्रावसान राष्ट्रपति द्वारा पूरे सत्र की औपचारिक समाप्ति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स्थगन राष्ट्रपति द्वारा किया जाता है, जबकि सत्रावसान पीठासीन अधिकारी द्वारा किया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सत्रावसान से सदन में लंबित सभी विधेयक स्वतः समाप्त हो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में कोई अंतर नहीं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स्थगन (Adjournment) सदन के पीठासीन अधिकारी (लोकसभा अध्यक्ष या राज्यसभा सभापति) का विशेषाधिकार है। इसके द्वारा केवल सदन की चालू बैठक को कुछ घंटों, दिनों या अनिश्चितकाल (Sine Die - बिना अगली तारीख तय किए) के लिए स्थगित किया जाता है; इससे सत्र समाप्त नहीं होता। इसके विपरीत सत्रावसान (Prorogation) अनुच्छेद 85(2)(क) के तहत भारत के राष्ट्रपति द्वारा मंत्रिपरिषद की सलाह पर जारी आदेश से होता है, जिससे संसद का पूरा सत्र (जैसे बजट सत्र या मानसून सत्र) समाप्त हो जाता है। सत्रावसान से सदन में लंबित विधेयक समाप्त नहीं होते, केवल लंबित नोटिस समाप्त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8919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147/300</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148</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संसद में 'आचार समिति' (Ethics Committee) के संदर्भ में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समिति केवल मंत्रियों के भ्रष्टाचार की जांच करती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राज्य सभा में आचार समिति का गठन 1997 में और लोक सभा में 2000 में हुआ, जो सांसदों के नैतिक आचरण, अनुशासन और कदाचार संबंधी शिकायतों की जांच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कोई गैर-सांसद नागरिक कभी भी आचार समिति को शिकायत नहीं कर सकता।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समिति सीधे आरोपी सांसद को उम्रकैद की सजा सुना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320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148/300</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राज्य सभा में आचार समिति का गठन 1997 में और लोक सभा में 2000 में हुआ, जो सांसदों के नैतिक आचरण, अनुशासन और कदाचार संबंधी शिकायतों की जांच करती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समिति केवल मंत्रियों के भ्रष्टाचार की जांच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कोई गैर-सांसद नागरिक कभी भी आचार समिति को शिकायत नहीं कर सकता।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समिति सीधे आरोपी सांसद को उम्रकैद की सजा सुना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सदस्यों के नैतिक मूल्यों, शुचिता और गरिमा को बनाए रखने के लिए दोनों सदनों में 'आचार समिति' (Ethics Committee) गठित है। राज्य सभा में इसका गठन 1997 में तत्कालीन उपराष्ट्रपति के. आर. नारायणन की पहल पर हुआ (यह भारत की पहली आचार समिति थी), जबकि लोक सभा में 2000 में तदर्थ समिति के रूप में बनी और 2015 में स्थायी समिति बनी। यह समिति सांसदों के अनैतिक आचरण, हितों के टकराव (Conflict of interest) और 'पैसे लेकर सवाल पूछने' या संसद में कदाचार जैसी गंभीर शिकायतों की जांच करती है और सांसद को निलंबित या निष्कासित करने की सिफारिश सदन को भेजती है। शिकायत कोई भी व्यक्ति हलफनामे के साथ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320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148/300</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149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सभा में 'नियम 377' (Rule 377) के अंतर्गत सांसदों द्वारा उठाए जाने वाले मामलों के संदर्भ में क्या नियम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तहत एक दिन में अधिकतम 50 मामले उठाए जा सकते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जो मामले प्रश्नकाल, ध्यानाकर्षण या स्थगन प्रस्ताव के तहत नहीं उठाए जा सकते, उन्हें सांसद अध्यक्ष की अनुमति से नियम 377 के तहत संक्षिप्त रूप में उठा सकते हैं (प्रतिदिन अधिकतम 20 मामले)।</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 पर सदन में मतदान कराया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केवल मंत्रियों के निजी भाषणों से संबंधित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59720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149/300</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जो मामले प्रश्नकाल, ध्यानाकर्षण या स्थगन प्रस्ताव के तहत नहीं उठाए जा सकते, उन्हें सांसद अध्यक्ष की अनुमति से नियम 377 के तहत संक्षिप्त रूप में उठा सकते हैं (प्रतिदिन अधिकतम 20 मामले)।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तहत एक दिन में अधिकतम 50 मामले उठाए जा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 पर सदन में मतदान कराया जाता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केवल मंत्रियों के निजी भाषणों से संबंधित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सभा की प्रक्रिया के नियम 377 के तहत वे सभी महत्वपूर्ण लोक हित के मुद्दे उठाए जाते हैं जो व्यवस्था के प्रश्न नहीं हैं और जिन्हें कार्य संचालन के किसी अन्य नियम (जैसे अविश्वास प्रस्ताव, ध्यानाकर्षण, प्रश्नकाल या आधे घंटे की चर्चा) के अंतर्गत नहीं उठाया जा सकता। इसके तहत सांसद अपने संसदीय क्षेत्र की गंभीर समस्याओं या केंद्रीय नीति से जुड़े मामलों को अध्यक्ष की पूर्व अनुमति से सदन के पटल पर रखते हैं। लोक सभा के नियमों के अनुसार प्रतिदिन नियम 377 के तहत अधिकतम 20 मामले उठाए जाने की अनुमति दी जाती है। संबंधित मंत्रालय को कुछ सप्ताह के भीतर इसका लिखित उत्तर सांसद को भेजना अनिवार्य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59720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149/300</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संघीय बजट में 'राजकोषीय उत्तरदायित्व एवं बजट प्रबंधन अधिनियम, 2003' (FRBM Act, 2003) के अधिदेश के तहत वित्त मंत्री द्वारा प्रस्तुत किए जाने वाले अनिवार्य प्रलेखों पर विचार कीजिए: A. वार्षिक वित्तीय विवरण (Annual Financial Statement - अनुच्छेद 112) B. मांग अनुदान विवरण (Demands for Grants - अनुच्छेद 113) C. वृहद आर्थिक रूपरेखा विवरण (Macro-Economic Framework Statement) D. मध्यम-अवधि राजकोषीय नीति सह राजकोषीय नीति रणनीति विवरण (Medium-Term Fiscal Policy cum Fiscal Policy Strategy Statement)</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121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150/300</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में बजट पेश करते समय केवल आय-व्यय का ब्योरा ही नहीं दिया जाता, बल्कि संविधान और एफआरबीएम कानून के तहत कई दस्तावेज अनिवार्य रूप से पटल पर रखे जाते हैं। संविधान के अनुच्छेद 112, 113 और 110(क) के तहत वार्षिक वित्तीय विवरण, अनुदान मांगें और वित्त विधेयक पेश होते हैं। इसके अलावा वित्तीय अनुशासन और पारदर्शिता सुनिश्चित करने के लिए 'राजकोषीय उत्तरदायित्व एवं बजट प्रबंधन अधिनियम, 2003' (FRBM Act, 2003) की धारा 3(1) के तहत वित्त मंत्री द्वारा तीन अतिरिक्त नीतिगत दस्तावेज अनिवार्य रूप से प्रस्तुत किए जाते हैं: 1. वृहद आर्थिक रूपरेखा विवरण, 2. मध्यम अवधि राजकोषीय नीति विवरण, और 3. राजकोषीय नीति रणनीति विवरण। अतः सभी प्रलेख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121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150/300</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उच्चतम न्यायालय में न्यायाधीशों की नियुक्ति और कॉलेजियम प्रणाली (Collegium System) के ऐतिहासिक विकास पर विचार कीजिए: A. प्रथम न्यायाधीश वाद (1981, एस. पी. गुप्त) में न्यायालय ने माना कि अनुच्छेद 124 में 'परामर्श' का अर्थ 'सहमति' नहीं है और कार्यपालिका की प्रधानता है। B. द्वितीय न्यायाधीश वाद (1993, एडवोकेट्स-ऑन-रिकॉर्ड एसोसिएशन) में न्यायालय ने अपने रुख को पलटते हुए 'परामर्श' का अर्थ 'सहमति' माना और कॉलेजियम प्रणाली की नींव रखी। C. तृतीय न्यायाधीश वाद (1998, राष्ट्रपति संदर्भ) में उच्चतम न्यायालय ने स्पष्ट किया कि कॉलेजियम में भारत के मुख्य न्यायाधीश (CJI) और 4 वरिष्ठतम न्यायाधीश शामिल होंगे। D. चतुर्थ न्यायाधीश वाद (2015) में 5-न्यायाधीशों की पीठ ने 99वें संविधान संशोधन द्वारा स्थापित 'राष्ट्रीय न्यायिक नियुक्ति आयोग' (NJAC) को न्यायपालिका की स्वतंत्रता का हनन मानकर असंवैधानिक घोषित कर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522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151/300</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उच्चतम न्यायालय में न्यायाधीशों की नियुक्ति की कॉलेजियम प्रणाली संविधान में नहीं लिखी है बल्कि तीन प्रसिद्ध 'जजेस केसेज' के न्यायिक निर्णयों से विकसित हुई है। 1981 में कार्यपालिका को प्राथमिकता मिली, जिसे 1993 में 9 जजों की पीठ ने पलटकर मुख्य न्यायाधीश और दो वरिष्ठ जजों की कॉलेजियम प्रणाली स्थापित की। 1998 में राष्ट्रपति के अनुच्छेद 143 के संदर्भ में इसे 1 CJI + 4 वरिष्ठतम न्यायाधीशों का 5-सदस्यीय निकाय बनाया गया। 2014 में संसद ने नियुक्तियों में कार्यपालिका और नागरिक समाज की भूमिका हेतु 99वें संशोधन से NJAC बनाया, जिसे अक्टूबर 2015 में सुप्रीम कोर्ट की संविधान पीठ ने 4:1 के बहुमत से रद्द कर दिया क्योंकि यह संविधान के मूल ढांचे 'न्यायपालिका की स्वतंत्रता' पर आघात करता था।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522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151/300</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उच्चतम न्यायालय या उच्च न्यायालय के किसी न्यायाधीश को 'सिद्ध कदाचार' या 'असमर्थता' के आधार पर पद से हटाने की जांच प्रक्रिया (अनुच्छेद 124(4) एवं न्यायाधीश जांच अधिनियम, 1968) के तहत गठित तीन-सदस्यीय जांच समिति में कौन शामिल नहीं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मुख्य न्यायाधीश या उच्चतम न्यायालय का कोई न्यायाधीश</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किसी उच्च न्यायालय का एक मुख्य न्यायाधीश</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एक प्रतिष्ठित विधिवेत्ता (Distinguished Jurist)</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महान्यायवादी (Attorney General for India)</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0923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152/300</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भारत का महान्यायवादी (Attorney General for India)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मुख्य न्यायाधीश या उच्चतम न्यायालय का कोई न्यायाधीश</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किसी उच्च न्यायालय का एक मुख्य न्यायाधीश</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एक प्रतिष्ठित विधिवेत्ता (Distinguished Jurist)</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न्यायाधीश (जांच) अधिनियम, 1968 के तहत न्यायाधीश पर महाभियोग प्रक्रिया संचालित होती है। लोकसभा के 100 या राज्यसभा के 50 सांसदों के हस्ताक्षर वाले प्रस्ताव को स्वीकार करने के बाद पीठासीन अधिकारी आरोपों की जांच के लिए 3-सदस्यीय विशेष समिति गठित करता है। इस समिति में तीन व्यक्ति होते हैं: 1. उच्चतम न्यायालय का मुख्य न्यायाधीश या कोई न्यायाधीश, 2. किसी उच्च न्यायालय का एक मुख्य न्यायाधीश, और 3. लोकसभा अध्यक्ष/सभापति की राय में एक प्रतिष्ठित न्यायविद् (Distinguished Jurist)। इसमें महान्यायवादी शामिल नहीं होता। यदि यह समिति न्यायाधीश को दोषी पाती है, तभी दोनों सदनों में विशेष बहुमत से प्रस्ताव पारित कर राष्ट्रपति द्वारा हटाया जा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0923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152/300</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131 के अंतर्गत उच्चतम न्यायालय के 'आरंभिक अनन्य क्षेत्राधिकार' (Original and Exclusive Jurisdiction) के संदर्भ में निम्नलिखित कथनों पर विचार कीजिए: A. यह भारत सरकार और एक या अधिक राज्यों के बीच के कानूनी विवादों का निपटारा करता है। B. यह एक ओर भारत सरकार व राज्य और दूसरी ओर एक या अधिक अन्य राज्यों के बीच विवादों को सुनता है। C. यह दो या अधिक राज्यों के बीच परस्पर अधिकारों से जुड़े कानूनी विवादों पर लागू होता है। D. अंतर्राज्यीय नदी जल विवाद (अनुच्छेद 262) और वित्त आयोग के संदर्भ अनुच्छेद 131 के आरंभिक क्षेत्राधिकार के दायरे से बाहर रखे गए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324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153/300</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131 संघीय ढांचे का मुख्य सुरक्षा कवच है। 'आरंभिक' का अर्थ है कि मुकदमा सीधे सुप्रीम कोर्ट में शुरू होगा, और 'अनन्य' का अर्थ है कि कोई अन्य अदालत इसे नहीं सुन सकती। इसमें केंद्र और राज्यों के बीच किसी विधिक अधिकार के अस्तित्व या विस्तार पर विवाद शामिल होते हैं (राजनीतिक विवाद नहीं)। हालांकि संविधान ने कई संघीय विवादों को अनुच्छेद 131 के दायरे से बाहर रखा है: 1. अनुच्छेद 262 के तहत अंतर्राज्यीय नदी जल विवाद, 2. वित्त आयोग से संबंधित मामले, 3. संविधान-पूर्व की संधियां व समझौते (Pre-constitution treaties), और 4. केंद्र व राज्य के बीच खर्चों व पेंशन का सामान्य समायोजन।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324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153/300</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154</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136 में अंतर्विष्ट 'विशेष इजाजत याचिका' (Special Leave Petition - SLP) के संबंध में निम्नलिखित में से कौन-सा कथन सत्य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नागरिकों का एक अनिवार्य अधिकार है और उच्चतम न्यायालय प्रत्येक SLP को स्वीकार करने के लिए बाध्य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यह उच्चतम न्यायालय की एक असाधारण और पूर्णतः विवेकाधीन (Discretionary) शक्ति है, जिसके तहत वह भारत के किसी भी न्यायालय या अधिकरण द्वारा दिए गए किसी भी निर्णय, डिक्री या आदेश के विरुद्ध अपील की विशेष अनुमति दे सकता है (सैन्य अदालत को छोड़कर)।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SLP केवल उच्च न्यायालय के अंतिम निर्णयों के विरुद्ध ही दायर की जा सकती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SLP केवल दीवानी मामलों पर लागू होती है, आपराधिक मामलों पर नहीं।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1725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154/300</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यह उच्चतम न्यायालय की एक असाधारण और पूर्णतः विवेकाधीन (Discretionary) शक्ति है, जिसके तहत वह भारत के किसी भी न्यायालय या अधिकरण द्वारा दिए गए किसी भी निर्णय, डिक्री या आदेश के विरुद्ध अपील की विशेष अनुमति दे सकता है (सैन्य अदालत को छोड़कर)।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यह नागरिकों का एक अनिवार्य अधिकार है और उच्चतम न्यायालय प्रत्येक SLP को स्वीकार करने के लिए बाध्य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SLP केवल उच्च न्यायालय के अंतिम निर्णयों के विरुद्ध ही दायर की जा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SLP केवल दीवानी मामलों पर लागू होती है, आपराधिक मामलों पर नहीं।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136 सर्वोच्च न्यायालय का एक अत्यंत व्यापक और विशेषाधिकार युक्त अपीलीय शस्त्र है। यह अपील का सामान्य अधिकार नहीं है, बल्कि न्यायालय का स्वैच्छिक व विवेकाधीन अधिकार है। इसके तहत देश के किसी भी न्यायालय या ट्रिब्यूनल (चाहे वह जिला अदालत हो, हाईकोर्ट हो या ट्रिब्यूनल) के किसी भी अंतरिम या अंतिम निर्णय, डिक्री, दंड या आदेश के विरुद्ध सुप्रीम कोर्ट में अपील की विशेष अनुमति मांगी जा सकती है। यह दीवानी, आपराधिक, आयकर, श्रम और संवैधानिक सभी मामलों पर लागू होती है। इसका एकमात्र अपवाद अनुच्छेद 136(2) है: सेना न्यायालय (Court Martial) द्वारा पारित किसी फैसले के विरुद्ध SLP लागू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1725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154/300</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कौन-सा अद्वितीय अनुच्छेद उच्चतम न्यायालय को अपनी अधिकारिता का प्रयोग करते हुए अपने समक्ष लंबित किसी मामले में 'पूर्ण न्याय' (Complete Justice) करने के लिए कोई भी आदेश, डिक्री या दिशा-निर्देश जारी करने की असाधारण शक्ति प्रदान करता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137</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125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155/300</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142</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137</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142(1) सर्वोच्च न्यायालय की सबसे शक्तिशाली और अद्वितीय अंतर्निहित शक्ति (Inherent Power) है। यह उपबंध करता है कि उच्चतम न्यायालय अपने क्षेत्राधिकार का प्रयोग करते हुए ऐसी डिक्री पारित कर सकता है या ऐसा आदेश दे सकता है जो उसके समक्ष लंबित किसी भी मामले या वाद में 'पूर्ण न्याय' (Complete Justice) करने के लिए आवश्यक हो। न्यायालय ने स्पष्ट किया है कि सामान्य संविधिक कानून या प्रक्रियाएं अनुच्छेद 142 की संवैधानिक शक्तियों को सीमित नहीं कर सकतीं। यूनियन कार्बाइड (भोपाल गैस कांड), अयोध्या भूमि विवाद, राजमार्गों पर शराब बिक्री प्रतिबंध और संविधान पीठ के कई ऐतिहासिक फैसलों में 'पूर्ण न्याय' के लिए इसी अनुच्छेद 142 का प्रयोग किया गया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125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155/300</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143 के अंतर्गत राष्ट्रपति द्वारा उच्चतम न्यायालय से 'सलाहकारी क्षेत्राधिकार' (Advisory Jurisdiction) मांगने के संदर्भ में निम्नलिखित कथनों पर विचार कीजिए: A. राष्ट्रपति विधि या तथ्य के ऐसे सार्वजनिक महत्व के प्रश्न पर जो उत्पन्न हुआ हो या जिसके उत्पन्न होने की संभावना हो, सर्वोच्च न्यायालय से राय मांग सकता है। B. सार्वजनिक महत्व के सामान्य मामलों में उच्चतम न्यायालय राष्ट्रपति को अपनी सलाह देने से इनकार भी कर सकता है। C. संविधान-पूर्व की संधियों और समझौतों (अनुच्छेद 131 के परंतुक) से जुड़े विवादों में उच्चतम न्यायालय के लिए राष्ट्रपति को अपनी राय देना अनिवार्य होता है। D. उच्चतम न्यायालय द्वारा दी गई सलाह केवल परामर्शदात्री (सलाहकारी) होती है, जिसे मानने के लिए राष्ट्रपति या केंद्र सरकार विधिक रूप से बाध्य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526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156/300</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143 (कनाडा के संविधान से प्रेरित) राष्ट्रपति को दो श्रेणियों में सुप्रीम कोर्ट से राय लेने का अधिकार देता है: 1. सार्वजनिक महत्व का कानूनी या तथ्यात्मक प्रश्न (जहाँ सुप्रीम कोर्ट सलाह दे भी सकता है और मना भी कर सकता है; जैसे राम जन्मभूमि बाबरी मस्जिद संदर्भ 1993 में कोर्ट ने सलाह देने से मना कर दिया था); 2. संविधान-पूर्व की संधियों व समझौतों से जुड़े मामले (जहाँ सुप्रीम कोर्ट के लिए राय देना 'अनिवार्य' है)। अनुच्छेद 145(3) के अनुसार ऐसी सलाह कम से कम 5 जजों की संविधान पीठ द्वारा खुले न्यायालय में दी जाती है। यह राय न्यायिक निर्णय नहीं बल्कि विशुद्ध परामर्श है, अतः सरकार इसे मानने के लिए बाध्य नहीं होती।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526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156/300</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157</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129 और 215 के तहत 'अभिलेख न्यायालय' (Court of Record) होने का क्या कानूनी अर्थ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न्यायालय की कार्यवाहियों और निर्णयों के रिकॉर्ड शाश्वत स्मृति और साक्ष्य के रूप में सुरक्षित रखे जाते हैं तथा इनकी प्रामाणिकता पर किसी अधीनस्थ अदालत में प्रश्न नहीं उठाया जा सकता।</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न्यायालय को अपनी स्वयं की अवमानना (Contempt of Court) के लिए दंडित करने की अंतर्निहित शक्ति प्राप्त होती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पूर्व-निर्णय (Precedents) सभी अधीनस्थ न्यायालयों के लिए बाध्यकारी कानून की तरह कार्य करते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2927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157/300</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न्यायालय की कार्यवाहियों और निर्णयों के रिकॉर्ड शाश्वत स्मृति और साक्ष्य के रूप में सुरक्षित रखे जाते हैं तथा इनकी प्रामाणिकता पर किसी अधीनस्थ अदालत में प्रश्न नहीं उठाया जा सकता।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न्यायालय को अपनी स्वयं की अवमानना (Contempt of Court) के लिए दंडित करने की अंतर्निहित शक्ति प्राप्त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पूर्व-निर्णय (Precedents) सभी अधीनस्थ न्यायालयों के लिए बाध्यकारी कानून की तरह कार्य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129 सर्वोच्च न्यायालय को तथा अनुच्छेद 215 उच्च न्यायालय को 'अभिलेख न्यायालय' (Court of Record) घोषित करते हैं। इसके दो मूलभूत परिणाम होते हैं: 1. इस न्यायालय के सभी निर्णय, कार्यवाहियां और साक्ष्य स्थायी रूप से दर्ज और प्रकाशित होते हैं, जिनका पूर्व-निर्णय (Precedent) और विधिक साक्ष्य के रूप में स्वतः सिद्ध मूल्य होता है और किसी भी निचली अदालत में उनके प्रमाण पर सवाल नहीं उठाया जा सकता; 2. अभिलेख न्यायालय को अपनी मर्यादा और प्राधिकार की रक्षा के लिए अपनी अवमानना करने वाले किसी भी व्यक्ति या संस्था को दंडित (आर्थिक जुर्माना या कारावास) करने की स्वतंत्र शक्ति होती है। संसद ने इस प्रक्रिया को नियमित करने के लिए न्यायालय अवमानना अधिनियम, 1971 पारित किया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2927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157/300</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उच्च न्यायालयों (High Courts) की संरचना और अधिकारिता के संदर्भ में निम्नलिखित कथनों पर विचार कीजिए: A. वर्तमान में भारत में कुल 25 उच्च न्यायालय कार्यरत हैं (25वां उच्च न्यायालय आंध्र प्रदेश उच्च न्यायालय, अमरावती है)। B. संविधान के अनुच्छेद 231 के तहत संसद कानून बनाकर दो या अधिक राज्यों अथवा राज्यों व संघ राज्य क्षेत्रों के लिए एक साझा उच्च न्यायालय स्थापित कर सकती है। C. उच्च न्यायालय का न्यायाधीश बनने के लिए 'भारत के राष्ट्रपति की राय में एक प्रतिष्ठित विधिवेत्ता' (Distinguished Jurist) होना एक वैध योग्यता नहीं है। D. उच्च न्यायालय के मुख्य न्यायाधीश और अन्य न्यायाधीश 62 वर्ष की आयु तक पद धारण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328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158/300</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उच्च न्यायालय राज्य की सर्वोच्च न्यायिक संस्था है। अनुच्छेद 217(2) के अनुसार उच्च न्यायालय का जज बनने की केवल दो ही अर्हताएं हैं: 1. भारत में कम से कम 10 वर्ष तक न्यायिक पद पर रहा हो, या 2. कम से कम 10 वर्ष तक किसी उच्च न्यायालय में अधिवक्ता रहा हो। ध्यान रहे: 'प्रतिष्ठित विधिवेत्ता' (Distinguished Jurist) केवल उच्चतम न्यायालय का जज बनने की अर्हता है [अनुच्छेद 124(3)(ग)], यह उच्च न्यायालय के जज बनने की अर्हता नहीं है! संसद ने अनुच्छेद 231 के तहत कई साझा हाईकोर्ट बनाए हैं (जैसे बॉम्बे हाईकोर्ट: महाराष्ट्र, गोवा, दादरा-नगर हवेली व दमन-दीव; गुवाहाटी हाईकोर्ट: असम, नागालैंड, मिजोरम, अरुणाचल)। 15वें संशोधन 1963 द्वारा हाईकोर्ट जज की सेवानिवृत्ति आयु 60 से 62 वर्ष की गई थी।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328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158/300</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159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उच्चतम न्यायालय के अनुच्छेद 32 के तहत रिट क्षेत्राधिकार और उच्च न्यायालय के अनुच्छेद 226 के तहत रिट क्षेत्राधिकार की तुलना में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उच्चतम न्यायालय का रिट क्षेत्राधिकार उच्च न्यायालय की तुलना में अधिक व्यापक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उच्च न्यायालय का रिट क्षेत्राधिकार उच्चतम न्यायालय से अधिक व्यापक है, क्योंकि उच्च न्यायालय मौलिक अधिकारों के साथ-साथ अन्य सामान्य कानूनी/संवैधानिक अधिकारों के प्रवर्तन के लिए भी रिट जारी कर सकता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 की शक्तियां बिल्कुल एक समान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उच्च न्यायालय केवल बंदी प्रत्यक्षीकरण रिट ही जारी कर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3729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159/300</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उच्च न्यायालय का रिट क्षेत्राधिकार उच्चतम न्यायालय से अधिक व्यापक है, क्योंकि उच्च न्यायालय मौलिक अधिकारों के साथ-साथ अन्य सामान्य कानूनी/संवैधानिक अधिकारों के प्रवर्तन के लिए भी रिट जारी कर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उच्चतम न्यायालय का रिट क्षेत्राधिकार उच्च न्यायालय की तुलना में अधिक व्यापक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 की शक्तियां बिल्कुल एक समान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उच्च न्यायालय केवल बंदी प्रत्यक्षीकरण रिट ही जारी कर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न्यायिक समीक्षा और रिट अधिकारिता में उच्च न्यायालय का दायरा सर्वोच्च न्यायालय से अधिक विस्तृत है। अनुच्छेद 32 के तहत सुप्रीम कोर्ट केवल और केवल भाग III में दिए गए 'मौलिक अधिकारों' के उल्लंघन पर ही रिट जारी कर सकता है, किसी अन्य कानूनी अधिकार के लिए नहीं। इसके विपरीत, अनुच्छेद 226(1) के तहत उच्च न्यायालय मौलिक अधिकारों के प्रवर्तन के अलावा "किसी अन्य प्रयोजन के लिए भी" (For any other purpose) रिट जारी कर सकता है, जिसमें सामान्य कानूनी, प्रशासनिक या संवैधानिक अधिकारों का उल्लंघन शामिल है। साथ ही अनुच्छेद 32 स्वयं एक मौलिक अधिकार है (सुप्रीम कोर्ट इनकार नहीं कर सकता), जबकि अनुच्छेद 226 एक विवेकाधीन संवैधानिक उपचार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3729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159/300</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233 के अनुसार, किसी राज्य में 'जिला न्यायाधीशों' (District Judges) की नियुक्ति, पदस्थापन और पदोन्नति किसके द्वारा और किसके परामर्श से की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लोक सेवा आयोग के परामर्श से मुख्यमंत्री द्वारा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संबंधित राज्य के उच्च न्यायालय के परामर्श से राज्य के राज्यपाल द्वारा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मुख्य न्यायाधीश द्वारा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 एवं सत्र न्यायाधीशों की समिति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129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160/300</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संबंधित राज्य के उच्च न्यायालय के परामर्श से राज्य के राज्यपाल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लोक सेवा आयोग के परामर्श से मुख्यमंत्री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मुख्य न्यायाधीश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एवं सत्र न्यायाधीशों की समिति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 VI के अध्याय VI में अधीनस्थ न्यायपालिका (Subordinate Courts) के प्रावधान हैं। अनुच्छेद 233(1) स्पष्ट व्यवस्था करता है कि किसी राज्य में जिला न्यायाधीश (जिसमें सिविल जज, अतिरिक्त जिला जज, सत्र न्यायाधीश आदि शामिल हैं) के रूप में व्यक्तियों की नियुक्ति, उनकी पदस्थापना (Posting) और पदोन्नति उस राज्य के 'राज्यपाल द्वारा उस राज्य के उच्च न्यायालय के परामर्श से' की जाएगी। अनुच्छेद 233(2) के अनुसार जो व्यक्ति पहले से सरकारी सेवा में नहीं है, वह कम से कम 7 वर्ष तक अधिवक्ता या प्लीडर रहने पर ही सीधे जिला जज बनने का पात्र होता है, यदि उच्च न्यायालय उसकी सिफारिश करे।</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129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160/300</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विधिक सेवा प्राधिकरण अधिनियम, 1987 के तहत संचालित 'लोक अदालतों' (Lok Adalats) की कार्यप्रणाली और विधिक प्रभाव पर विचार कीजिए: A. लोक अदालतें विवादों के सौहार्दपूर्ण और त्वरित समाधान के लिए वैकल्पिक विवाद निवारण (ADR) का एक वैधानिक मंच हैं। B. लोक अदालत का प्रत्येक अधिनिर्णय (Award) एक सिविल कोर्ट की डिक्री के समान अंतिम और सभी पक्षों पर बाध्यकारी होता है। C. लोक अदालत के अधिनिर्णय के विरुद्ध किसी भी नियमित सिविल या अपीलीय न्यायालय में कोई अपील नहीं की जा सकती। D. लोक अदालत में दोनों पक्षों के बीच सुलह न होने पर मामला पुनः उस नियमित अदालत को भेज दिया जाता है जहाँ वह पहले लंबित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530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161/300</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अदालतें गांधीवादी सिद्धांतों पर आधारित त्वरित, अनौपचारिक और निःशुल्क न्याय का माध्यम हैं, जिन्हें विधिक सेवा प्राधिकरण अधिनियम, 1987 द्वारा वैधानिक दर्जा दिया गया। इसमें लंबित मामलों तथा वाद-पूर्व (Pre-litigation) मामलों का दोनों पक्षों की आपसी सहमति और समझौते से निपटारा किया जाता है। धारा 21 के तहत लोक अदालत का फैसला सिविल कोर्ट की डिक्री माना जाता है। चूंकि यह फैसला दोनों पक्षों की रजामंदी से होता है, अतः कानूनन इसके खिलाफ किसी भी अदालत में कोई अपील दायर नहीं हो सकती (हालांकि असाधारण धोखेबाजी पर अनुच्छेद 226 में रिट याचिका दायर हो सकती है)। सुलह न होने पर केस वापस नियमित अदालत लौट जाता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530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161/300</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केंद्र और राज्यों के बीच विधायी शक्तियों के वितरण में यदि यह प्रश्न उठता है कि किसी विधानमंडल द्वारा बनाया गया कानून वास्तव में उसके अधिकार क्षेत्र में आता है या नहीं, तो न्यायालय किस प्रसिद्ध न्यायशास्त्रीय सिद्धांत का प्रयोग करता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आनुपातिकता का सिद्धांत</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 और तत्व का सिद्धांत (Doctrine of Pith and Substance)</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ग्रहण का सिद्धांत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अधित्यजन का सिद्धांत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4931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162/300</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सार और तत्व का सिद्धांत (Doctrine of Pith and Substance)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आनुपातिकता का सिद्धांत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ग्रहण का सिद्धांत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अधित्यजन का सिद्धांत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'सार और तत्व का सिद्धांत' (Doctrine of Pith and Substance) कनाडा के संविधान से प्रेरित होकर भारतीय संवैधानिक व्याख्या में अपनाया गया एक महत्वपूर्ण सिद्धांत है। जब किसी राज्य विधानमंडल या संसद द्वारा बनाए गए कानून पर यह आरोप लगता है कि उसने दूसरी सूची के विषय पर अतिक्रमण किया है, तो अदालत उस कानून के नाम या बाहरी रूप को नहीं देखती, बल्कि उसकी वास्तविक प्रकृति, मूल विषयवस्तु, उद्देश्य और प्रभाव (Pith and Substance) की जांच करती है। यदि कानून का मुख्य सार उस विधायिका की अपनी अधिकृत सूची में आता है, तो केवल प्रासंगिक या आकस्मिक रूप से (Incidental encroachment) दूसरी सूची को छूने मात्र से वह कानून अमान्य नहीं होता (जैसे प्रफुल्ल कुमार बनाम बैंक ऑफ कॉमर्स वाद)।</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4931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162/300</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उन विशिष्ट प्रावधानों पर विचार कीजिए जिनके तहत संसद 'राज्य सूची' (State List) के विषयों पर राष्ट्रीय हित में कानून बना सकती है: A. अनुच्छेद 249 - राज्य सभा द्वारा अपने उपस्थित और मतदान करने वाले सदस्यों के दो-तिहाई बहुमत से प्रस्ताव पारित करने पर (1 वर्ष के लिए)। B. अनुच्छेद 250 - राष्ट्रीय आपातकाल (अनुच्छेद 352) के प्रवृत्त रहने के दौरान संपूर्ण देश या उसके किसी भाग के लिए। C. अनुच्छेद 252 - दो या दो से अधिक राज्यों के विधानमंडलों द्वारा संसद से कानून बनाने का अनुरोध करते हुए संकल्प पारित करने पर। D. अनुच्छेद 253 - किसी अंतरराष्ट्रीय संधि, करार या अभिसमय को प्रभावी करने के लिए सभी राज्यों की सहमति के बिना भी।</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332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163/300</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संघवाद में आपातकाल के बिना भी सामान्य काल में संसद को 5 परिस्थितियों में राज्य सूची पर कानून बनाने की शक्ति है: 1. अनुच्छेद 249 (राज्यसभा का राष्ट्रीय महत्व का प्रस्ताव), 2. अनुच्छेद 250 (राष्ट्रीय आपातकाल के दौरान), 3. अनुच्छेद 252 (जब दो या अधिक राज्य अपनी सहमति से कानून बनाने का प्रस्ताव पारित करें - जैसे वन्यजीव संरक्षण अधिनियम 1972 इसी के तहत बना), 4. अनुच्छेद 253 (अंतरराष्ट्रीय समझौतों को लागू करने के लिए, जिसके लिए राज्यों की सहमति आवश्यक नहीं है), और 5. अनुच्छेद 356 (राष्ट्रपति शासन के दौरान उस राज्य हेतु)। ये प्रावधान भारत के सशक्त केंद्रीय ढांचे को प्रदर्शित करते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332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163/300</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संविधान के किस अनुच्छेद के तहत यदि कोई राज्य सरकार केंद्र सरकार द्वारा संविधान के तहत दिए गए वैध कार्यकारी निर्देशों (Directions) का पालन करने में विफल रहती है, तो राष्ट्रपति यह मान सकता है कि उस राज्य में संवैधानिक तंत्र विफल हो गया है और अनुच्छेद 356 के तहत राष्ट्रपति शासन लगाया जा सकता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256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257</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365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355</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5733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164/300</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365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256</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257</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355</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256 और 257 के तहत केंद्र सरकार को राज्यों को प्रशासनिक निर्देश देने की शक्ति है (जैसे केंद्रीय कानूनों का अनुपालन, संचार साधनों का रखरखाव, रेलवे की सुरक्षा)। अनुच्छेद 365 (Article 365) एक अत्यंत कठोर दंडात्मक प्रशासनिक उपबंध है: यह उपबंध करता है कि यदि कोई राज्य संघ की कार्यपालिका द्वारा अपनी संवैधानिक शक्तियों के तहत दिए गए किसी निर्देश का अनुपालन करने में या उसे प्रभावी करने में असफल रहता है, तो राष्ट्रपति के लिए यह मानना विधिपूर्ण होगा कि ऐसी स्थिति उत्पन्न हो गई है जिसमें उस राज्य की सरकार संविधान के उपबंधों के अनुसार नहीं चलाई जा सकती (अर्थात अनुच्छेद 356 के तहत राष्ट्रपति शासन का आधार बन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5733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164/300</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भारतीय संविधान के अनुच्छेद 262 के अंतर्गत 'अंतर्राज्यीय नदी जल विवाद' के न्यायनिर्णयन के संबंध में संसद को कौन-सी असाधारण शक्ति प्राप्त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जल विवादों का फैसला सीधे लोकसभा में मतदान कराकर कर सकती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विधि द्वारा किसी अंतर्राज्यीय नदी या नदी घाटी के जल के उपयोग, वितरण या नियंत्रण से संबंधित विवाद के न्यायनिर्णयन के लिए विशेष अधिकरण (Tribunal) की स्थापना कर सकती है और ऐसे विवादों में उच्चतम न्यायालय सहित किसी भी न्यायालय के क्षेत्राधिकार को पूरी तरह अपवर्जित (Bar) कर सकती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नदी जल विवाद केवल राष्ट्रपति के व्यक्तिगत विवेक से सुलझाए जाएंगे।</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ऐसे विवाद केवल अंतरराष्ट्रीय मध्यस्थता न्यायालय को भेजे जा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133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165/300</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संसद विधि द्वारा किसी अंतर्राज्यीय नदी या नदी घाटी के जल के उपयोग, वितरण या नियंत्रण से संबंधित विवाद के न्यायनिर्णयन के लिए विशेष अधिकरण (Tribunal) की स्थापना कर सकती है और ऐसे विवादों में उच्चतम न्यायालय सहित किसी भी न्यायालय के क्षेत्राधिकार को पूरी तरह अपवर्जित (Bar) कर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जल विवादों का फैसला सीधे लोकसभा में मतदान कराकर कर सकती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नदी जल विवाद केवल राष्ट्रपति के व्यक्तिगत विवेक से सुलझाए जाएंगे।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ऐसे विवाद केवल अंतरराष्ट्रीय मध्यस्थता न्यायालय को भेजे जा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अंतर्राज्यीय नदियां भारत के संघीय ढांचे में संवेदनशील विवादों का कारण बनती हैं। अनुच्छेद 262(1) संसद को कानून बनाकर अंतर्राज्यीय नदियों और नदी घाटियों के जल बंटवारे पर विशेष न्यायाधिकरण बनाने की शक्ति देता है। अनुच्छेद 262(2) अत्यंत असाधारण उपबंध है: यह संसद को यह शक्ति देता है कि वह कानून बनाकर यह प्रावधान कर सकती है कि उच्चतम न्यायालय या कोई अन्य अदालत ऐसे जल विवादों के संबंध में अपने अधिकार क्षेत्र का प्रयोग नहीं करेगी। इसी के तहत संसद ने 'अंतर्राज्यीय नदी जल विवाद अधिनियम, 1956' पारित किया, जिसके तहत गठित कावेरी, कृष्णा, नर्मदा आदि जल विवाद अधिकरणों के निर्णयों पर अदालतों का प्रत्यक्ष क्षेत्राधिकार प्रतिबंधित रहता है (हालाँकि अनुच्छेद 136 में SLP के जरिए सुप्रीम कोर्ट विधिक पहलुओं की समीक्षा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133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165/300</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सरकारिया आयोग (1988) की सिफारिशों के आधार पर राष्ट्रपति के आदेश द्वारा वर्ष 1990 में स्थापित 'अंतर-राज्य परिषद' (Inter-State Council, अनुच्छेद 263) के संदर्भ में निम्नलिखित कथनों पर विचार कीजिए: A. यह एक संवैधानिक निकाय है जिसका गठन राष्ट्रपति द्वारा सार्वजनिक हित में किसी भी समय किया जा सकता है। B. भारत का प्रधानमंत्री इस परिषद का पदेन अध्यक्ष होता है। C. सभी राज्यों के मुख्यमंत्री, विधानसभा वाले केंद्रशासित प्रदेशों के मुख्यमंत्री और अन्य केंद्रशासित प्रदेशों के प्रशासक इसके सदस्य होते हैं। D. प्रधानमंत्री द्वारा नामित केंद्रीय कैबिनेट के 6 मंत्री (जिसमें गृह मंत्री अनिवार्यतः शामिल हैं) इसके सदस्य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534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166/300</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प्रथम प्रशासनिक सुधार आयोग और विशेष रूप से सरकारिया आयोग (1983-88) ने केंद्र-राज्य समन्वय के लिए अनुच्छेद 263 के तहत एक स्थायी मंच बनाने की पुरजोर सिफारिश की थी। 28 मई, 1990 को राष्ट्रपति के आदेश द्वारा 'अंतर-राज्य परिषद' की स्थापना की गई। यह एक स्वतंत्र संवैधानिक निकाय है जिसका कार्य राज्यों के बीच विवादों की जांच व सलाह देना, साझी नीतियों पर चर्चा करना और केंद्र-राज्य समन्वय को बढ़ावा देना है। प्रधानमंत्री इसके अध्यक्ष होते हैं और सभी राज्यों/UTs के मुख्यमंत्री और गृह मंत्री सहित 6 कैबिनेट मंत्री इसके सदस्य होते हैं। यह वर्ष में कम से कम तीन बार मिलने का नियम रखती है और इसके सभी निर्णय सर्वसम्मति से लिए जाते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534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166/300</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101वें संविधान संशोधन अधिनियम, 2016 द्वारा अंतःस्थापित 'अनुच्छेद 279A' के तहत गठित 'वस्तु एवं सेवा कर परिषद' (GST Council) में केंद्र और राज्यों के मताधिकार के महत्व (Voting Weightage) का अनुपात क्या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 सरकार का मत 50% और सभी राज्यों का संयुक्त मत 50%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 सरकार के मत का भार कुल डाले गए मतों का एक-तिहाई (1/3) और सभी राज्य सरकारों के मतों का भार कुल डाले गए मतों का दो-तिहाई (2/3) होता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सभी राज्यों और केंद्र का एक समान 1-1 वोट होता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केंद्र सरकार को वीटो शक्ति प्राप्त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6935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167/300</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केंद्र सरकार के मत का भार कुल डाले गए मतों का एक-तिहाई (1/3) और सभी राज्य सरकारों के मतों का भार कुल डाले गए मतों का दो-तिहाई (2/3)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 सरकार का मत 50% और सभी राज्यों का संयुक्त मत 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सभी राज्यों और केंद्र का एक समान 1-1 वोट होता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केंद्र सरकार को वीटो शक्ति प्राप्त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वस्तु एवं सेवा कर (GST) परिषद भारत में सहकारी संघवाद का सबसे संस्थागत संवैधानिक उदाहरण है। अनुच्छेद 279A के अनुसार, परिषद का अध्यक्ष केंद्रीय वित्त मंत्री होता है और केंद्रीय वित्त राज्य मंत्री तथा सभी राज्यों के वित्त/कर मंत्री इसके सदस्य होते हैं। परिषद का कोई भी निर्णय उपस्थित और मतदान करने वाले सदस्यों के कम से कम 'तीन-चौथाई' (75%) भारित बहुमत (Weighted Majority) से ही लिया जा सकता है। इसमें मतों का भार इस प्रकार तय है: 1. केंद्र सरकार के वोट का मूल्य कुल पड़े वोटों का 1/3 (33.33%) है, और 2. सभी राज्य सरकारों के वोटों का कुल मूल्य 2/3 (66.67%) है। इसका अर्थ है कि न तो केंद्र अकेले अपनी मर्जी से कोई फैसला थोप सकता है और न ही राज्य केंद्र की सहमति के बिना कोई फैसला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6935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167/300</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केंद्र-राज्य संबंधों पर गठित दो प्रमुख ऐतिहासिक आयोगों-सरकारिया आयोग (1983-1988) और एम. एम. पुंछी आयोग (2007-2010)-की प्रमुख सिफारिशों पर विचार कीजिए: A. दोनों आयोगों ने एकमत से सिफारिश की कि अनुच्छेद 356 (राष्ट्रपति शासन) का प्रयोग अंतिम विकल्प (Measure of Last Resort) के रूप में अत्यंत विरल परिस्थितियों में ही होना चाहिए। B. राज्यपाल के पद पर किसी ऐसे निष्पक्ष व प्रतिष्ठित व्यक्ति को नियुक्त किया जाना चाहिए जो उस राज्य का निवासी न हो और सक्रिय राजनीति से दूर रहा हो। C. राज्यपाल की नियुक्ति से पूर्व संबंधित राज्य के मुख्यमंत्री से अनिवार्य और प्रभावी परामर्श किया जाना चाहिए। D. पुंछी आयोग ने सिफारिश की कि राज्यपालों पर महाभियोग चलाने की प्रक्रिया राज्य विधानमंडल द्वारा तय की जानी चाहिए और उन्हें 5 वर्ष का निश्चित कार्यकाल मिलना चाहिए।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336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168/300</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केंद्र-राज्य संबंधों में टकराव कम करने के लिए न्यायमूर्ति आर. एस. सरकारिया और न्यायमूर्ति एम. एम. पुंछी के नेतृत्व में दो सबसे महत्वपूर्ण आयोग बने। दोनों ने राज्यपाल पद के राजनीतिक दुरुपयोग को रोकने के लिए समान सिफारिशें दीं: राज्यपाल बाहर का व्यक्ति हो, स्थानीय राजनीति में लिप्त न हो, नियुक्ति से पहले मुख्यमंत्री से वास्तविक परामर्श हो, और केंद्र में सरकार बदलने पर राज्यपालों को मनमाने ढंग से बर्खास्त न किया जाए। पुंछी आयोग ने आगे बढ़कर सुझाव दिया कि राज्यपाल को केंद्र के 'प्रसादपर्यंत' सिद्धांत से हटाकर राज्य विधानसभा द्वारा महाभियोग (Impeachment) द्वारा ही हटाया जाना चाहिए और विश्वविद्यालय के कुलाधिपति पद से राज्यपाल को अलग रखना चाहिए।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336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168/300</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169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अनूप बरनवाल बनाम भारत संघ (2023) के ऐतिहासिक फैसले में उच्चतम न्यायालय की 5-न्यायाधीशों की संविधान पीठ ने मुख्य चुनाव आयुक्त (CEC) और चुनाव आयुक्तों (ECs) की निष्पक्ष नियुक्ति हेतु समिति में किसे शामिल करने का आदेश दिया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प्रधानमंत्री, गृह मंत्री और विधि मंत्री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प्रधानमंत्री, लोक सभा में विपक्ष के नेता (या सबसे बड़े विपक्षी दल के नेता), और भारत के मुख्य न्यायाधीश (CJI)</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राष्ट्रपति, उपराष्ट्रपति और प्रधानमंत्री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केवल सर्वोच्च न्यायालय की कॉलेजियम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7737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169/300</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प्रधानमंत्री, लोक सभा में विपक्ष के नेता (या सबसे बड़े विपक्षी दल के नेता), और भारत के मुख्य न्यायाधीश (CJI)</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प्रधानमंत्री, गृह मंत्री और विधि मंत्री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राष्ट्रपति, उपराष्ट्रपति और प्रधानमंत्री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केवल सर्वोच्च न्यायालय की कॉलेजियम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 मार्च, 2023 को अनूप बरनवाल बनाम भारत संघ मामले में न्यायमूर्ति के. एम. जोसेफ की अध्यक्षता वाली 5 जजों की संविधान पीठ ने ऐतिहासिक निर्णय दिया कि चुनाव आयोग की स्वतंत्रता और निष्पक्षता बनाए रखने के लिए जब तक संसद कानून नहीं बना देती, तब तक मुख्य चुनाव आयुक्त (CEC) और चुनाव आयुक्तों (ECs) की नियुक्ति 3-सदस्यीय उच्चस्तरीय समिति की सिफारिश पर राष्ट्रपति द्वारा की जाएगी। इस समिति में: 1. भारत के प्रधानमंत्री, 2. लोकसभा में विपक्ष के नेता (या सबसे बड़े विपक्षी दल के नेता), और 3. भारत के मुख्य न्यायाधीश (CJI) शामिल होंगे। बाद में संसद ने दिसंबर 2023 में नया कानून पारित कर CJI के स्थान पर एक केंद्रीय कैबिनेट मंत्री को समिति में शामिल कर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7737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169/300</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324 के तहत 'भारत के निर्वाचन आयोग' (ECI) की संवैधानिक स्थिति और कार्यप्रणाली के संदर्भ में निम्नलिखित कथनों पर विचार कीजिए: A. चुनाव आयोग संसद, राज्य विधानमंडलों, राष्ट्रपति और उपराष्ट्रपति के पदों के चुनावों का अधीक्षण, निदेशन और नियंत्रण करता है। B. नगरपालिकाओं और पंचायतों के चुनावों से केंद्रीय चुनाव आयोग का कोई संबंध नहीं है; उनके चुनाव राज्य निर्वाचन आयोग (अनुच्छेद 243K) कराता है। C. मुख्य चुनाव आयुक्त (CEC) को पद से केवल उसी रीति और उन्हीं आधारों पर हटाया जा सकता है जिस प्रकार उच्चतम न्यायालय के न्यायाधीश को हटाया जाता है। D. अन्य चुनाव आयुक्तों को मुख्य चुनाव आयुक्त की सिफारिश के बिना राष्ट्रपति द्वारा पद से नहीं हटाया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138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170/300</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324 एक स्थायी और स्वतंत्र संवैधानिक चुनाव आयोग स्थापित करता है। इसका क्षेत्राधिकार राष्ट्रीय और राज्य स्तर के चुनावों तक है (पंचायतों व नगरपालिकाओं के चुनाव 73वें व 74वें संशोधन से राज्य चुनाव आयोग के पास हैं)। 1 अक्टूबर, 1993 से चुनाव आयोग को स्थायी रूप से 1 CEC + 2 ECs वाला तीन-सदस्यीय आयोग बना दिया गया। तीनों को समान वेतन (सुप्रीम कोर्ट जज के बराबर) और समान मत अधिकार प्राप्त है और निर्णय बहुमत से होते हैं। अनुच्छेद 324(5) CEC को महाभियोग जैसी सुरक्षा प्रदान करता है (साबित कदाचार या असमर्थता पर संसद के दोनों सदनों द्वारा 2/3 विशेष बहुमत)। अन्य आयुक्तों को केवल CEC की अनुशंसा पर ही हटाया जा सकता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138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170/300</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171</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चुनाव आयोग द्वारा किसी राजनीतिक दल को 'राष्ट्रीय दल' (National Party) के रूप में मान्यता देने के लिए चुनाव चिन्ह (आरक्षण व आवंटन) आदेश, 1968 के तहत निर्धारित अनिवार्य शर्तों में से कौन-सी एक शर्त सही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दल कम से कम 4 अलग-अलग राज्यों से लोक सभा में 4% सीटें जीतता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दल लोक सभा के पिछले आम चुनाव में कम से कम 3 अलग-अलग राज्यों से लोक सभा की कुल सीटों का कम से कम 2% (वर्तमान में 11 सीटें) जीतता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दल 10 राज्यों में मान्यता प्राप्त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वह दल पूरे भारत में 15% वोट प्राप्त करता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5388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171/300</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यदि वह दल लोक सभा के पिछले आम चुनाव में कम से कम 3 अलग-अलग राज्यों से लोक सभा की कुल सीटों का कम से कम 2% (वर्तमान में 11 सीटें) जीतता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वह दल कम से कम 4 अलग-अलग राज्यों से लोक सभा में 4% सीटें जीतता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वह दल 10 राज्यों में मान्यता प्राप्त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वह दल पूरे भारत में 15% वोट प्राप्त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निर्वाचन आयोग के नियमों के अनुसार किसी दल को 'राष्ट्रीय राजनीतिक दल' की मान्यता प्राप्त करने के लिए निम्नलिखित 3 शर्तों में से कोई एक शर्त पूरी करनी होती है: 1. वह दल कम से कम 4 अलग-अलग राज्यों में 'राज्य स्तरीय दल' (State Party) के रूप में मान्यता प्राप्त हो; या 2. वह दल लोकसभा के पिछले आम चुनाव में कम से कम 3 अलग-अलग राज्यों से लोकसभा की कुल सीटों की कम से कम 2% सीटें (अर्थात 543 का 2% = 11 सीटें) जीतता है; या 3. वह दल लोकसभा या विधानसभा के आम चुनाव में 4 या अधिक राज्यों में कुल वैध मतों का कम से कम 6% मत प्राप्त करता है और साथ ही किसी राज्य या राज्यों से कम से कम 4 लोकसभा सीटें जीतता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5388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171/300</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नियंत्रक एवं महालेखापरीक्षक (CAG, अनुच्छेद 148 से 151) के संवैधानिक पद और स्वतंत्रता के संदर्भ में निम्नलिखित कथनों पर विचार कीजिए: A. डॉ. बी. आर. अम्बेडकर ने कैग को "भारतीय संविधान के तहत सबसे महत्वपूर्ण अधिकारी" कहा था। B. कैग की नियुक्ति राष्ट्रपति द्वारा की जाती है और उसे केवल उच्चतम न्यायालय के न्यायाधीश की तरह महाभियोग प्रक्रिया द्वारा ही हटाया जा सकता है। C. कैग का कार्यकाल 6 वर्ष या 65 वर्ष की आयु (जो भी पहले हो) तक होता है। D. पदमुक्त होने के पश्चात कैग भारत सरकार या किसी राज्य सरकार के अधीन किसी अन्य पद या नियोजन का पात्र नहीं होता (अनुच्छेद 148(4))।</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8939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172/300</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कैग (अनुच्छेद 148) सार्वजनिक धन का मुख्य संरक्षक (Guardian of the Public Purse) और देश की संपूर्ण वित्तीय प्रणाली का नियंत्रक है। उसकी प्रशासनिक और वित्तीय स्वतंत्रता सुनिश्चित करने के लिए संविधान ने कई सुरक्षा उपाय किए हैं: 1. राष्ट्रपति द्वारा अपने हस्ताक्षर और मुद्रा सहित अधिपत्र द्वारा नियुक्ति, 2. सुप्रीम कोर्ट जज जैसी सुरक्षा (संसद द्वारा विशेष बहुमत से ही पदच्युति), 3. वेतन और भत्ते संसद तय करती है और यह भारत की संचित निधि पर भारित होता है, 4. सेवानिवृत्ति के बाद केंद्र या राज्य सरकार में किसी अन्य लाभ के पद पर नियुक्ति पर पूर्ण प्रतिबंध (अनुच्छेद 148(4))। अनुच्छेद 151 के तहत कैग अपनी ऑडिट रिपोर्टें राष्ट्रपति को सौंपता है, जो उन्हें संसद के समक्ष रखवाते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8939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172/300</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संघ लोक सेवा आयोग (UPSC) के अध्यक्ष और सदस्यों के संदर्भ में निम्नलिखित में से कौन-सा कथन सही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आयोग के अध्यक्ष और सदस्यों की नियुक्ति भारत के राष्ट्रपति द्वारा की जाती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 6 वर्ष की अवधि तक या 65 वर्ष की आयु प्राप्त करने तक (जो भी पहले हो) पद धारण करते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कदाचार के आधार पर आयोग के किसी सदस्य को हटाने के लिए राष्ट्रपति द्वारा उच्चतम न्यायालय को संदर्भ भेजा जाता है और उच्चतम न्यायालय द्वारा अनुच्छेद 145 के तहत की गई जांच की रिपोर्ट राष्ट्रपति पर बाध्यकारी होती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यूपीएससी का अध्यक्ष सेवानिवृत्ति के बाद किसी राज्य लोक सेवा आयोग (SPSC) का अध्यक्ष बनने का पात्र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340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173/300</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यूपीएससी का अध्यक्ष सेवानिवृत्ति के बाद किसी राज्य लोक सेवा आयोग (SPSC) का अध्यक्ष बनने का पात्र होता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आयोग के अध्यक्ष और सदस्यों की नियुक्ति भारत के राष्ट्रपति द्वारा की जाती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 6 वर्ष की अवधि तक या 65 वर्ष की आयु प्राप्त करने तक (जो भी पहले हो) पद धारण करते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कदाचार के आधार पर आयोग के किसी सदस्य को हटाने के लिए राष्ट्रपति द्वारा उच्चतम न्यायालय को संदर्भ भेजा जाता है और उच्चतम न्यायालय द्वारा अनुच्छेद 145 के तहत की गई जांच की रिपोर्ट राष्ट्रपति पर बाध्यकारी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319(क) के अनुसार, संघ लोक सेवा आयोग (UPSC) का अध्यक्ष अपने पद पर न रहने पर भारत सरकार या किसी राज्य सरकार के अधीन किसी भी अन्य नियोजन (Employment) का पात्र नहीं होगा। चूंकि यूपीएससी का अध्यक्ष देश का सर्वोच्च लोक सेवा आयोग प्रमुख है, अतः वह किसी राज्य लोक सेवा आयोग (SPSC) का अध्यक्ष या सदस्य भी नहीं बन सकता (यह पदावनति होगी)। इसके विपरीत, SPSC का अध्यक्ष UPSC का सदस्य या अध्यक्ष बन सकता है। अनुच्छेद 317(1) के तहत कदाचार की जांच सुप्रीम कोर्ट करता है और सुप्रीम कोर्ट द्वारा दिया गया हटाने का परामर्श राष्ट्रपति के लिए बाध्यकारी होता है। अतः कथन D गलत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340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173/300</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मानवाधिकार आयोग (NHRC) की संरचना और सीमाओं (मानवाधिकार संरक्षण अधिनियम, 1993 / 2019 में संशोधित) पर विचार कीजिए: A. आयोग का अध्यक्ष भारत का कोई सेवानिवृत्त मुख्य न्यायाधीश (CJI) या उच्चतम न्यायालय का कोई सेवानिवृत्त न्यायाधीश हो सकता है। B. अध्यक्ष और सदस्यों की नियुक्ति राष्ट्रपति द्वारा 6-सदस्यीय उच्चस्तरीय चयन समिति (प्रधानमंत्री, गृह मंत्री, लोकसभा अध्यक्ष, राज्यसभा उपसभापति और दोनों सदनों में विपक्ष के नेता) की सिफारिश पर होती है। C. वर्ष 2019 के संशोधन के बाद अध्यक्ष और सदस्यों का कार्यकाल 3 वर्ष या 70 वर्ष की आयु (जो भी पहले हो) कर दिया गया है और वे पुनर्नियुक्ति के पात्र हैं। D. आयोग मानवाधिकार उल्लंघन की घटना घटित होने की तारीख से 1 वर्ष के बाद किसी मामले की जांच नहीं कर सकता और इसकी सिफारिशें सरकार के लिए केवल सलाहकारी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69741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174/300</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NHRC एक सांविधिक (Statutory) निकाय है जिसका गठन 12 अक्टूबर, 1993 को हुआ। 2019 के संशोधन से पूर्व केवल पूर्व CJI ही अध्यक्ष बन सकता था और कार्यकाल 5 वर्ष था; 2019 के संशोधन द्वारा सुप्रीम कोर्ट के पूर्व जज को भी अध्यक्ष बनने का पात्र बनाया गया तथा कार्यकाल घटाकर 3 वर्ष/70 वर्ष किया गया। चयन समिति में 6 लोग होते हैं (ध्यान रहे: राज्यसभा का सभापति/उपराष्ट्रपति इसमें नहीं होता, उपसभापति होता है)। धारा 36(2) के तहत आयोग 1 वर्ष से पुराने मामलों की जांच नहीं कर सकता। धारा 18 के तहत आयोग खुद मुआवजा या सजा नहीं दे सकता, यह केवल सरकार या अदालत को सिफारिश भेज सकता है, जिसे 1 माह में सरकार को स्पष्ट करना होता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69741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174/300</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175</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केंद्रीय सतर्कता आयोग (Central Vigilance Commission - CVC) के संदर्भ में निम्नलिखित में से कौन-सा कथन सही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इसकी स्थापना 1964 में के. संथानम की अध्यक्षता वाली 'भ्रष्टाचार निवारण समिति' की सिफारिश पर एक कार्यकारी प्रस्ताव द्वारा हुई थी।</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द्वारा 'केंद्रीय सतर्कता आयोग अधिनियम, 2003' पारित करके इसे वैधानिक (Statutory) दर्जा प्रदान किया गया।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केंद्रीय सतर्कता आयुक्त और अन्य सतर्कता आयुक्तों की नियुक्ति राष्ट्रपति द्वारा 3-सदस्यीय समिति (प्रधानमंत्री, गृह मंत्री और लोक सभा में विपक्ष के नेता) की सिफारिश पर की जाती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कथन सत्य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142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175/300</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कथन सत्य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इसकी स्थापना 1964 में के. संथानम की अध्यक्षता वाली 'भ्रष्टाचार निवारण समिति' की सिफारिश पर एक कार्यकारी प्रस्ताव द्वारा हुई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द्वारा 'केंद्रीय सतर्कता आयोग अधिनियम, 2003' पारित करके इसे वैधानिक (Statutory) दर्जा प्रदान किया गया।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केंद्रीय सतर्कता आयुक्त और अन्य सतर्कता आयुक्तों की नियुक्ति राष्ट्रपति द्वारा 3-सदस्यीय समिति (प्रधानमंत्री, गृह मंत्री और लोक सभा में विपक्ष के नेता) की सिफारिश पर की जाती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CVC केंद्र सरकार में भ्रष्टाचार रोकने वाली सर्वोच्च सतर्कता संस्था है। संथानम समिति (1962-64) की रिपोर्ट पर फरवरी 1964 में इसका गठन हुआ था। विनीत नारायण बनाम भारत संघ (1997) वाद में सुप्रीम कोर्ट के ऐतिहासिक फैसले के बाद संसद ने 'CVC Act, 2003' पारित कर इसे एक स्वतंत्र वैधानिक दर्जा दिया। इसमें एक केंद्रीय सतर्कता आयुक्त और अधिकतम दो सतर्कता आयुक्त होते हैं। इनका कार्यकाल 4 वर्ष या 65 वर्ष की आयु (जो भी पहले हो) होता है। यह भ्रष्टाचार निवारण अधिनियम, 1988 के तहत लोक सेवकों के खिलाफ सीबीआई के कामकाज का अधीक्षण करता है। इसकी नियुक्ति प्रधानमंत्री, गृह मंत्री और लोकसभा में विपक्ष के नेता वाली समिति द्वारा की जाती है।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142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175/300</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सूचना का अधिकार अधिनियम, 2005 (RTI Act, 2005) और केंद्रीय सूचना आयोग (CIC) के संदर्भ में निम्नलिखित कथनों पर विचार कीजिए: A. केंद्रीय सूचना आयोग में एक मुख्य सूचना आयुक्त (CIC) और अधिकतम 10 सूचना आयुक्त (ICs) हो सकते हैं। B. इनकी नियुक्ति राष्ट्रपति द्वारा 3-सदस्यीय समिति (प्रधानमंत्री, लोक सभा में विपक्ष के नेता, और प्रधानमंत्री द्वारा नामित एक केंद्रीय कैबिनेट मंत्री) की सिफारिश पर की जाती है। C. RTI अधिनियम, 2019 के संशोधन द्वारा केंद्र सरकार को सूचना आयुक्तों का कार्यकाल, वेतन और सेवा शर्तें निर्धारित करने का अधिकार दे दिया गया। D. अधिनियम की धारा 8(1) के तहत भारत की संप्रभुता, सुरक्षा, रणनीतिक हित, विदेशी सरकारों से प्राप्त विश्वास और न्यायालय की अवमानना से जुड़ी सूचनाओं को प्रकट करने से छूट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5429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176/300</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RTI Act 2005 नागरिकों को शासन में पारदर्शिता और जवाबदेही सुनिश्चित करने का कानूनी अधिकार देता है। केंद्रीय सूचना आयोग का गठन अध्याय III के तहत हुआ। धारा 12(3) के तहत नियुक्ति समिति में प्रधानमंत्री, विपक्ष का नेता और एक कैबिनेट मंत्री होते हैं। 2019 में आरटीआई कानून की धारा 13 व 16 में संशोधन कर केंद्र सरकार ने मुख्य सूचना आयुक्त व अन्य आयुक्तों का निश्चित कार्यकाल (जो पहले 5 वर्ष था) हटाकर इसे केंद्र सरकार द्वारा अधिसूचित नियमों (वर्तमान में 3 वर्ष) पर आधारित कर दिया। धारा 8(1) में 10 प्रकार की सूचनाओं (राष्ट्रीय सुरक्षा, व्यावसायिक गोपनीयता, कैबिनेट नोट, व्यक्तिगत निजता आदि) को प्रकटन से छूट दी गई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5429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176/300</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लोकपाल और लोकायुक्त अधिनियम, 2013 (Lokpal and Lokayuktas Act, 2013) के तहत भारत के 'लोकपाल' (Lokpal) की अधिकारिता और शक्तियों के संदर्भ में कौन-सा कथन सही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लोकपाल के अधिकार क्षेत्र में भारत के प्रधानमंत्री, केंद्रीय मंत्री, संसद सदस्य तथा केंद्र सरकार के सभी समूह क, ख, ग और घ (Group A, B, C, D) के अधिकारी व कर्मचारी शामिल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प्रधानमंत्री के विरुद्ध अंतरराष्ट्रीय संबंधों, बाह्य व आंतरिक सुरक्षा, सार्वजनिक व्यवस्था, परमाणु ऊर्जा और अंतरिक्ष से जुड़े भ्रष्टाचार के आरोपों की जांच लोकपाल नहीं कर सकता।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लोकपाल को किसी भी ऐसी गैर-सरकारी संस्था (NGO) के पदाधिकारियों के विरुद्ध जांच का अधिकार है जो विदेशों से प्रति वर्ष ₹10 लाख से अधिक का विदेशी अभिदाय (FCRA) प्राप्त करती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लोकपाल किसी भी राशि का विदेशी दान पाने वाली प्रत्येक निजी संस्था की बिना किसी सीमा के असीमित रूप से जांच कर सकता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0943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177/300</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लोकपाल किसी भी राशि का विदेशी दान पाने वाली प्रत्येक निजी संस्था की बिना किसी सीमा के असीमित रूप से जांच कर सकता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लोकपाल के अधिकार क्षेत्र में भारत के प्रधानमंत्री, केंद्रीय मंत्री, संसद सदस्य तथा केंद्र सरकार के सभी समूह क, ख, ग और घ (Group A, B, C, D) के अधिकारी व कर्मचारी शामिल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प्रधानमंत्री के विरुद्ध अंतरराष्ट्रीय संबंधों, बाह्य व आंतरिक सुरक्षा, सार्वजनिक व्यवस्था, परमाणु ऊर्जा और अंतरिक्ष से जुड़े भ्रष्टाचार के आरोपों की जांच लोकपाल नहीं कर सकता।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लोकपाल को किसी भी ऐसी गैर-सरकारी संस्था (NGO) के पदाधिकारियों के विरुद्ध जांच का अधिकार है जो विदेशों से प्रति वर्ष ₹10 लाख से अधिक का विदेशी अभिदाय (FCRA) प्राप्त करती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लोकपाल अधिनियम, 2013 की धारा 14(1)(छ) के अनुसार, लोकपाल केवल उन्हीं गैर-सरकारी संगठनों, न्यासों या संस्थाओं के निदेशकों या पदाधिकारियों के खिलाफ जांच कर सकता है जो 'विदेशी अभिदाय (विनियमन) अधिनियम' (FCRA) के तहत एक वर्ष में ₹10 लाख से अधिक का विदेशी चंदा प्राप्त करती हैं अथवा जो केंद्र सरकार से प्रत्यक्ष या आंशिक वित्तीय सहायता पाती हैं। अतः कथन D असत्य है कि लोकपाल किसी भी राशि का दान पाने वाली प्रत्येक संस्था की असीमित जांच कर सकता है। प्रधानमंत्री के विरुद्ध भ्रष्टाचार की जांच के लिए लोकपाल की पूर्ण पीठ (कम से कम 2/3 सदस्यों) का अनुमोदन आवश्यक होता है और उसकी सुनवाई बंद कमरे में (In-camera) की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0943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177/300</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लोकपाल के अध्यक्ष और सदस्यों के चयन के लिए अधिनियम की धारा 4 के तहत गठित 5-सदस्यीय उच्चस्तरीय चयन समिति (Selection Committee) में निम्नलिखित में से कौन शामिल नहीं होता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प्रधानमंत्री (अध्यक्ष)</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 सभा का अध्यक्ष (स्पीकर)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लोक सभा में विपक्ष का नेता (या सबसे बड़े विपक्षी दल का नेता)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केंद्रीय सतर्कता आयुक्त (CVC)</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344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178/300</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केंद्रीय सतर्कता आयुक्त (CVC)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प्रधानमंत्री (अध्यक्ष)</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 सभा का अध्यक्ष (स्पीकर)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लोक सभा में विपक्ष का नेता (या सबसे बड़े विपक्षी दल का नेता)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लोकपाल और लोकायुक्त अधिनियम, 2013 की धारा 4(1) के अनुसार, लोकपाल के अध्यक्ष और सदस्यों की नियुक्ति राष्ट्रपति द्वारा 5-सदस्यीय सर्वोच्च चयन समिति की सिफारिश पर की जाती है। इस चयन समिति में शामिल होते हैं: 1. भारत का प्रधानमंत्री (समिति का अध्यक्ष), 2. लोक सभा का अध्यक्ष, 3. लोक सभा में विपक्ष का नेता, 4. भारत का मुख्य न्यायाधीश (CJI) या उनके द्वारा नामित सर्वोच्च न्यायालय का कोई न्यायाधीश, और 5. राष्ट्रपति द्वारा पहले चार सदस्यों की सिफारिश पर नामित एक प्रतिष्ठित न्यायविद् (Eminent Jurist)। इसमें केंद्रीय सतर्कता आयुक्त (CVC) शामिल नहीं होता। इस चयन समिति की सहायता के लिए एक 8-सदस्यीय खोज समिति (Search Committee)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344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178/300</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179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नीति आयोग (NITI Aayog - National Institution for Transforming India) के प्रशासनिक ढांचे और उद्देश्यों के संदर्भ में निम्नलिखित कथनों पर विचार कीजिए: A. इसकी स्थापना 1 जनवरी, 2015 को केंद्रीय मंत्रिमंडल के एक कार्यकारी प्रस्ताव द्वारा 65 वर्ष पुराने योजना आयोग के स्थान पर की गई थी। B. यह एक गैर-संवैधानिक और गैर-सांविधिक (Non-constitutional, Non-statutory) थिंक-टैंक निकाय है। C. इसकी शासी परिषद (Governing Council) में प्रधानमंत्री (अध्यक्ष), सभी राज्यों के मुख्यमंत्री तथा विधानसभा वाले केंद्रशासित प्रदेशों के मुख्यमंत्री व अन्य UTs के उपराज्यपाल शामिल हैं। D. योजना आयोग की तरह नीति आयोग को राज्यों को वित्तीय योजनाओं के लिए केंद्रीय अनुदान या धन आवंटित करने की कोई वित्तीय शक्ति प्राप्त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1745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179/300</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नीति आयोग भारत सरकार का प्रमुख नीतिगत थिंक टैंक है जो सहकारी संघवाद (Cooperative Federalism) और प्रतिस्पर्धी संघवाद को बढ़ावा देता है। यह 'ऊपर से नीचे' (Top-down) के योजना दृष्टिकोण को बदलकर 'नीचे से ऊपर' (Bottom-up) दृष्टिकोण अपनाता है। योजना आयोग के पास राज्यों को योजना निधि और बजट आवंटित करने की शक्ति थी, जिससे वह राज्यों पर हावी रहता था; नीति आयोग को कोई वित्तीय आवंटन शक्ति नहीं दी गई है (वित्तीय संसाधन आवंटन अब केवल वित्त मंत्रालय और वित्त आयोग द्वारा किया जाता है)। नीति आयोग की गवर्निंग काउंसिल में सभी मुख्यमंत्री सदस्य हैं, जिससे राज्यों की राष्ट्रीय नीतियों में सीधी भागीदारी सुनिश्चित हुई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1745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179/300</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180</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नीति आयोग का कौन-सा संलग्न कार्यालय कठोर, डेटा-संचालित, नागरिक-केंद्रित और परिणाम-संचालित कार्यक्रम प्रबंधन और नीतिगत मूल्यांकन का समर्थन करता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प्रतिदर्श सर्वेक्षण संगठन (NSSO)</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विकास निगरानी और मूल्यांकन कार्यालय (DMEO - Development Monitoring and Evaluation Office)</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भारतीय विशिष्ट पहचान प्राधिकरण (UIDAI)</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केंद्रीय सांख्यिकी संगठन (CSO)</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146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180/300</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विकास निगरानी और मूल्यांकन कार्यालय (DMEO - Development Monitoring and Evaluation Office)</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राष्ट्रीय प्रतिदर्श सर्वेक्षण संगठन (NSSO)</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भारतीय विशिष्ट पहचान प्राधिकरण (UIDAI)</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केंद्रीय सांख्यिकी संगठन (CSO)</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विकास निगरानी और मूल्यांकन कार्यालय (DMEO - Development Monitoring and Evaluation Office) नीति आयोग का एक महत्वपूर्ण संबद्ध/संलग्न कार्यालय है। इसका गठन सितंबर 2015 में तत्कालीन 'कार्यक्रम मूल्यांकन संगठन' (PEO) और 'स्वतंत्र मूल्यांकन कार्यालय' (IEO) का विलय करके किया गया था। DMEO का मुख्य जनादेश भारत सरकार की सभी प्रमुख केंद्रीय योजनाओं, कार्यक्रमों और नीतिगत पहलों के क्रियान्वयन की उच्च-स्तरीय स्वतंत्र, निष्पक्ष, डेटा-संचालित निगरानी (Monitoring) करना, आउटपुट-आउटकम फ्रेमवर्क का मूल्यांकन करना तथा साक्ष्य-आधारित नीति निर्माण हेतु मंत्रालयों को तकनीकी सहायता और सुधार के सुझाव प्रदान करना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146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180/300</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368 के अंतर्गत संविधान संशोधन की तीन प्रक्रियाओं और राज्यों के अनुसमर्थन के संदर्भ में निम्नलिखित कथनों पर विचार कीजिए: A. संविधान के कुछ प्रावधान (जैसे नए राज्यों का निर्माण, नागरिकता, राजभाषा) संसद के साधारण बहुमत से संशोधित होते हैं और वे अनुच्छेद 368 के दायरे से बाहर हैं। B. अधिकांश प्रावधान (जैसे मौलिक अधिकार और नीति-निदेशक तत्व) संसद के दोनों सदनों द्वारा अलग-अलग 'विशेष बहुमत' (कुल सदस्यता का बहुमत + उपस्थित व मतदान करने वालों का 2/3 बहुमत) से संशोधित होते हैं। C. संघीय ढांचे से जुड़े विशिष्ट प्रावधानों के संशोधन के लिए संसद के विशेष बहुमत के अतिरिक्त 'कम से कम आधे राज्यों के विधानमंडलों के साधारण बहुमत से अनुसमर्थन' (Ratification) की आवश्यकता होती है। D. 24वें संविधान संशोधन अधिनियम (1971) द्वारा यह अनिवार्य बना दिया गया कि संविधान संशोधन विधेयक पर राष्ट्रपति अपनी अनुमति देने के लिए बाध्य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5469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181/300</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368 संविधान संशोधन की शक्ति और प्रक्रिया तय करता है। भारत का संविधान न तो ब्रिटेन की तरह पूर्णतः लचीला है और न ही अमेरिका की तरह अत्यंत कठोर, बल्कि दोनों का अनूठा मिश्रण है। साधारण बहुमत वाले संशोधन (अनुच्छेद 4) अनुच्छेद 368 के तहत नहीं गिने जाते। संघीय ढांचे को प्रभावित करने वाले प्रावधानों (जैसे राष्ट्रपति चुनाव की रीति, संघ व राज्यों की कार्यपालिका शक्ति का विस्तार, उच्चतम व उच्च न्यायालय, सातवीं अनुसूची की तीनों सूचियां, संसद में राज्यों का प्रतिनिधित्व और स्वयं अनुच्छेद 368) में संशोधन हेतु संसद के विशेष बहुमत के अलावा कम से कम 50% राज्यों की विधानसभाओं द्वारा साधारण संकल्प पारित कराना अनिवार्य होता है। 24वें संशोधन ने राष्ट्रपति के वीटो अधिकार को समाप्त कर संशोधन विधेयकों पर हस्ताक्षर करना बाध्यकारी बनाया।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5469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181/300</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प्रमुख ऐतिहासिक संविधान संशोधनों और उनके महत्वपूर्ण प्रावधानों का सही मिलान कीजिए: सूची-I: सूची-I: A. 52वां संविधान संशोधन अधिनियम, 1985 B. 61वां संविधान संशोधन अधिनियम, 1988 C. 104वां संविधान संशोधन अधिनियम, 2019 D. 106वां संविधान संशोधन अधिनियम, 2023 सूची-II: 1. लोक सभा और राज्य विधान सभाओं के चुनावों में मतदान की न्यूनतम आयु 21 वर्ष से घटाकर 18 वर्ष की गई 2. राजनीतिक दल-बदल पर रोक लगाने हेतु संविधान में दसवीं अनुसूची जोड़ी गई 3. लोक सभा, राज्य विधान सभाओं और दिल्ली विधानसभा में महिलाओं के लिए एक-तिहाई (33%) सीटें आरक्षित की गईं (नारी शक्ति वंदन अधिनियम) 4. आंग्ल-भारतीय समुदाय के मनोनयन को समाप्त किया गया तथा SC/ST के राजनीतिक आरक्षण को 2030 तक 10 वर्ष बढ़ाया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2947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182/300</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महत्वपूर्ण संशोधन: 52वां संशोधन (1985) राजीव गांधी सरकार द्वारा दल-बदल की बुराई को रोकने के लिए 10वीं अनुसूची के रूप में पारित हुआ। 61वां संशोधन (1988, प्रभावी 1989) ने अनुच्छेद 326 में संशोधन कर मताधिकार की आयु 21 से घटाकर 18 वर्ष की। 104वां संशोधन (2019) ने अनुच्छेद 334 में संशोधन कर आंग्ल-भारतीयों के 2 लोकसभा व 1 विधानसभा मनोनयन को समाप्त किया और एससी/एसटी आरक्षण को 80 वर्ष (25 जनवरी 2030) तक बढ़ाया। 106वां संशोधन अधिनियम, 2023 (नारी शक्ति वंदन अधिनियम) ने अनुच्छेद 239AA, 330A और 332A जोड़कर लोकसभा और राज्य विधानसभाओं में महिलाओं के लिए 33% आरक्षण का ऐतिहासिक प्रावधान किया (जो अगली जनगणना के परिसीमन के बाद लागू होगा)। सही सुमेल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2947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182/300</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105वें संविधान संशोधन अधिनियम, 2021 द्वारा संविधान के किस प्रावधान को संशोधित करके राज्यों को सामाजिक और शैक्षणिक रूप से पिछड़े वर्गों (SEBC / OBC) की पहचान करने की उनकी ऐतिहासिक शक्ति पुनः बहाल की गई?</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340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342क (Article 342A)</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338ख</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अनुच्छेद 15(4)</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348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183/300</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अनुच्छेद 342क (Article 342A)</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340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338ख</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15(4)</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102वें संविधान संशोधन (2018) द्वारा राष्ट्रीय पिछड़ा वर्ग आयोग (NCBC) को संवैधानिक दर्जा दिया गया था और अनुच्छेद 342क जोड़ा गया था। किंतु मराठा आरक्षण वाद (डॉ. जयश्री लक्ष्मणराव पाटिल बनाम महाराष्ट्र राज्य, 2021) में उच्चतम न्यायालय ने व्याख्या की कि 102वें संशोधन के बाद केवल राष्ट्रपति (केंद्र सरकार) ही किसी जाति को SEBC/OBC सूची में शामिल या बाहर कर सकते हैं और राज्यों की अपनी OBC सूची बनाने की शक्ति समाप्त हो गई है। राज्यों की स्वायत्तता की रक्षा के लिए संसद ने अगस्त 2021 में सर्वसम्मति से '105वां संविधान संशोधन अधिनियम, 2021' पारित किया। इसने अनुच्छेद 342क में खंड (3) जोड़कर यह स्पष्ट किया कि प्रत्येक राज्य और केंद्रशासित प्रदेश को अपनी राज्य सूची के प्रयोजनों के लिए सामाजिक और शैक्षणिक रूप से पिछड़े वर्गों की अपनी स्वतंत्र सूची तैयार करने और बनाए रखने का पूर्ण अधिकार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348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183/300</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अर्ध-संघात्मक स्वरूप और विशिष्ट प्रकृति पर प्रसिद्ध न्यायविदों एवं विद्वानों द्वारा दी गई टिप्पणियों के संदर्भ में कौन-सा युग्म सही सुमेलित नहीं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 सी. व्हेयर - "भारतीय संविधान एक अर्ध-संघीय (Quasi-Federal) राज्य की स्थापना करता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ग्रेनविले ऑस्टिन - "भारतीय संघवाद सहकारी संघवाद (Cooperative Federalism) का एक उत्कृष्ट उदाहरण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सर आइवर जेनिंग्स - "भारतीय संविधान वकीलों का स्वर्ग (Lawyer's Paradise)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 संथानम - "भारतीय संविधान पूर्णतः एकात्मक राज्य है जिसमें संघीय लक्षण बिल्कुल नदारद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37494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184/300</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के. संथानम - "भारतीय संविधान पूर्णतः एकात्मक राज्य है जिसमें संघीय लक्षण बिल्कुल नदारद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 सी. व्हेयर - "भारतीय संविधान एक अर्ध-संघीय (Quasi-Federal) राज्य की स्थापना करता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ग्रेनविले ऑस्टिन - "भारतीय संघवाद सहकारी संघवाद (Cooperative Federalism) का एक उत्कृष्ट उदाहरण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सर आइवर जेनिंग्स - "भारतीय संविधान वकीलों का स्वर्ग (Lawyer's Paradise)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 संथानम ने भारतीय संघवाद पर टिप्पणी करते हुए कहा था कि योजना आयोग (योजना प्रक्रिया) और वित्तीय निर्भरता के कारण केंद्र के पास अत्यधिक वित्तीय प्रभुत्व आ गया है जिसने राज्यों की स्वायत्तता को सीमित किया है; उन्होंने इसे एकात्मक राज्य नहीं कहा था। पॉल एप्पलबी ने इसे 'अत्यंत संघीय व्यवस्था' और मॉरिस जोन्स ने 'सौदाकारी संघवाद' (Bargaining Federalism) कहा था। के. सी. व्हेयर का यह प्रसिद्ध कथन है कि "भारत एक ऐसा एकात्मक राज्य है जिसमें सहायक संघीय विशेषताएं हैं, न कि ऐसा संघीय राज्य जिसमें सहायक एकात्मक विशेषताएं हों" (अर्थात अर्ध-संघीय)। ग्रेनविले ऑस्टिन ने इसे 'सहकारी संघवाद' और संविधान को 'सहज जुड़ा हुआ जाल' (Seamless Web) कहा था। अतः विकल्प D सुमेलित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37494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184/300</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पंचायत उपबंध (अनुसूचित क्षेत्रों पर विस्तार) अधिनियम, 1996 (PESA Act, 1996) के तहत जनजातीय क्षेत्रों की 'ग्राम सभा' को निम्नलिखित में से कौन-सी प्रमुख विशेष शक्तियां प्रदान की गई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लघु वनोपज (Minor Forest Produce) का पूर्ण स्वामित्व</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अनुसूचित क्षेत्रों में भूमि के अनधिकृत हस्तांतरण को रोकना और हस्तांतरित भूमि को पुनः वापस दिलाना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गौण खनिजों (Minor Minerals) के लिए पूर्वेक्षण लाइसेंस या खनन पट्टा देने से पूर्व अनिवार्य अनुशंसा का अधिकार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शक्तियां प्राप्त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1502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185/300</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शक्तियां प्राप्त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लघु वनोपज (Minor Forest Produce) का पूर्ण स्वामित्व</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अनुसूचित क्षेत्रों में भूमि के अनधिकृत हस्तांतरण को रोकना और हस्तांतरित भूमि को पुनः वापस दिलाना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गौण खनिजों (Minor Minerals) के लिए पूर्वेक्षण लाइसेंस या खनन पट्टा देने से पूर्व अनिवार्य अनुशंसा का अधिकार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दिलीप सिंह भूरिया समिति (1995) की सिफारिशों पर संसद द्वारा 24 दिसंबर, 1996 को 'पेसा अधिनियम, 1996' (PESA Act) पारित किया गया। यह कानून संविधान की 5वीं अनुसूची वाले 10 राज्यों के जनजातीय क्षेत्रों में पारंपरिक स्वशासन और सामुदायिक अधिकारों को मान्यता देता है। पेसा कानून ग्राम सभा को केंद्र बिंदु बनाता है और उसे असाधारण शक्तियां देता है: 1. जल, जंगल, जमीन पर पारंपरिक सामुदायिक अधिकार, 2. लघु वनोपज का स्वामित्व, 3. गौण खनिजों के पट्टे हेतु अनिवार्य परामर्श, 4. गैर-आदिवासियों द्वारा आदिवासियों की जमीन हड़पने (Land Alienation) पर रोक व जमीन वापसी, 5. मादक द्रव्यों की बिक्री पर नियंत्रण, और 6. ग्राम बाजारों व साहूकारी कर्ज पर नियंत्रण। अतः सभी शक्तियां प्राप्त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1502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185/300</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पंचायती राज व्यवस्था के विकास हेतु स्वतंत्रता के पश्चात गठित ऐतिहासिक समितियों और उनकी प्रमुख सिफारिशों पर विचार कीजिए: A. बलवंत राय मेहता समिति (1957) ने लोकतांत्रिक विकेंद्रीकरण हेतु त्रि-स्तरीय पंचायती राज (ग्राम पंचायत, पंचायत समिति, जिला परिषद) की स्थापना की सिफारिश की। B. अशोक मेहता समिति (1977) ने त्रि-स्तरीय के स्थान पर द्वि-स्तरीय प्रणाली (मंडल पंचायत और जिला परिषद) तथा राजनीतिक दलों की आधिकारिक भागीदारी की सिफारिश की। C. जी. वी. के. राव समिति (1985) ने विकास प्रशासन के नौकरशाहीकरण की आलोचना करते हुए पंचायतों को "बिना जड़ की घास" (Grass without roots) कहा। D. एल. एम. सिंघवी समिति (1986) ने सर्वप्रथम पंचायती राज संस्थाओं को 'संवैधानिक दर्जा' (Constitutional Recognition) देने की जोरदार सिफारिश की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5510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186/300</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पंचायती राज की विकास यात्रा इन चार मुख्य समितियों की वैचारिक देन है। बलवंत राय मेहता समिति की रिपोर्ट पर 2 अक्टूबर, 1959 को राजस्थान के नागौर में देश की पहली त्रि-स्तरीय पंचायत शुरू हुई। 1977 में मोरारजी देसाई सरकार द्वारा गठित अशोक मेहता समिति ने जिला स्तर को मुख्य केंद्र मानते हुए 2-स्तरीय ढांचा और दलगत चुनाव सुझाए। जी. वी. के. राव समिति ने योजना आयोग द्वारा गठित होकर विकेंद्रीकृत योजना और जिला विकास आयुक्त (DDC) का पद सुझाया। 1986 में राजीव गांधी सरकार द्वारा गठित लक्ष्मीमल्ल सिंघवी समिति (L. M. Singhvi Committee) ने पहली बार यह बुनियादी सिद्धांत दिया कि बिना संवैधानिक मान्यता और वित्तीय सुरक्षा के पंचायतें सफल नहीं हो सकतीं; इसी समिति ने न्याय पंचायतों के गठन का भी सुझाव दिया था।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5510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186/300</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73वें और 74वें संविधान संशोधन अधिनियम, 1992 के अंतर्गत पंचायती राज और नगरपालिकाओं में महिलाओं के लिए न्यूनतम कितने प्रतिशत स्थानों के आरक्षण का अनिवार्य संवैधानिक उपबंध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स्थानों का 50%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स्थानों का कम से कम एक-तिहाई (1/3 या 33.33%)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स्थानों का 25%</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कुल स्थानों का 10%</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4951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187/300</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कुल स्थानों का कम से कम एक-तिहाई (1/3 या 33.33%)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स्थानों का 50%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स्थानों का 25%</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कुल स्थानों का 10%</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243-घ(3) [73वां संशोधन] तथा अनुच्छेद 243-न(3) [74वां संशोधन] के तहत यह अनिवार्य संवैधानिक प्रावधान किया गया है कि पंचायती राज संस्थाओं और शहरी नगरपालिकाओं में प्रत्यक्ष निर्वाचन से भरे जाने वाले कुल स्थानों की संख्या के "कम से कम एक-तिहाई" (Not less than one-third, अर्थात 33%) स्थान महिलाओं के लिए आरक्षित रहेंगे। इसके अलावा अध्यक्ष/प्रमुख के पदों में भी कम से कम एक-तिहाई पद महिलाओं के लिए आरक्षित होते हैं। हालांकि संविधान राज्यों को इससे अधिक आरक्षण देने से नहीं रोकता, जिसके तहत राजस्थान, बिहार, मध्य प्रदेश, हिमाचल प्रदेश, उत्तराखंड सहित कई राज्यों ने अपने राज्य कानूनों में महिलाओं के लिए 50% आरक्षण का प्रावधान कर रखा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4951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187/300</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 IX-क (नगरपालिकाएं) के तहत 'जिला योजना समिति' (District Planning Committee - DPC, अनुच्छेद 243ZD) के संदर्भ में निम्नलिखित कथनों पर विचार कीजिए: A. प्रत्येक राज्य में जिला स्तर पर जिले की पंचायतों और नगरपालिकाओं द्वारा तैयार की गई योजनाओं को समेकित करने के लिए एक जिला योजना समिति गठित होगी। B. जिला योजना समिति का मुख्य कार्य संपूर्ण जिले के लिए एक समेकित विकास योजना का प्रारूप (Draft Development Plan) तैयार करना है। C. समिति के कुल सदस्यों के कम से कम चार-बटा-पांच (4/5 या 80%) सदस्य जिला पंचायत और नगरपालिकाओं के निर्वाचित सदस्यों द्वारा अपने में से निर्वाचित किए जाते हैं। D. इन निर्वाचित सदस्यों का अनुपात जिले के ग्रामीण और नगरीय जनसंख्या के अनुपात के अनुसार तय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3526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188/300</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74वें संविधान संशोधन द्वारा अंतःस्थापित अनुच्छेद 243ZD विकेंद्रीकृत जिला योजना का आधार स्तंभ है। जिला योजना समिति (DPC) जिले के ग्रामीण और शहरी क्षेत्रों के बीच विकास प्राथमिकताओं, जल संसाधनों, बुनियादी ढांचे और पर्यावरण संरक्षण के समन्वय का कार्य करती है। अनुच्छेद 243ZD(2)(ख) के अनुसार, समिति के कुल सदस्यों के कम से कम 4/5 (80%) सदस्य जिले की जिला पंचायत के निर्वाचित सदस्यों और नगरपालिकाओं के निर्वाचित पार्षदों द्वारा अपने में से निर्वाचित होते हैं। यह अनुपात जिले की ग्रामीण और शहरी जनसंख्या के अनुपात में बांटा जाता है। शेष 20% सदस्य राज्य सरकार द्वारा नामित या पदेन होते हैं (जैसे राजस्थान में जिला प्रमुख इसका अध्यक्ष होता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3526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188/300</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189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भारत में निर्वाचन प्रणाली के सुधारों के संबंध में गठित प्रमुख समितियों का सही कालानुक्रमिक क्रम (सबसे पहले से शुरू करते हुए) कौन-सा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तारकुंडे समिति (1975) ➔ दिनेश गोस्वामी समिति (1990) ➔ इंद्रजीत गुप्त समिति (1998) ➔ विधि आयोग की 255वीं रिपोर्ट (2015)</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दिनेश गोस्वामी समिति ➔ तारकुंडे समिति ➔ विधि आयोग रिपोर्ट ➔ इंद्रजीत गुप्त समिति</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इंद्रजीत गुप्त समिति ➔ तारकुंडे समिति ➔ दिनेश गोस्वामी समिति ➔ वोहरा समिति</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वोहरा समिति ➔ इंद्रजीत गुप्त समिति ➔ तारकुंडे समिति ➔ गोस्वामी समिति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57534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189/300</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तारकुंडे समिति (1975) ➔ दिनेश गोस्वामी समिति (1990) ➔ इंद्रजीत गुप्त समिति (1998) ➔ विधि आयोग की 255वीं रिपोर्ट (2015)</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दिनेश गोस्वामी समिति ➔ तारकुंडे समिति ➔ विधि आयोग रिपोर्ट ➔ इंद्रजीत गुप्त समिति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इंद्रजीत गुप्त समिति ➔ तारकुंडे समिति ➔ दिनेश गोस्वामी समिति ➔ वोहरा समिति</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वोहरा समिति ➔ इंद्रजीत गुप्त समिति ➔ तारकुंडे समिति ➔ गोस्वामी समिति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चुनावी सुधारों के लिए भारत सरकार और नागरिक समाज द्वारा कई ऐतिहासिक समितियां गठित की गईं: 1. तारकुंडे समिति (1974-75): जयप्रकाश नारायण द्वारा 'सिटिजन्स फॉर डेमोक्रेसी' के तहत गठित, जिसने मतदान आयु 18 वर्ष करने और चुनाव आयोग को 3-सदस्यीय बनाने की सिफारिश की; 2. दिनेश गोस्वामी समिति (1990): वी. पी. सिंह सरकार द्वारा गठित, जिसने ईवीएम के उपयोग, बोगस वोटिंग रोकने और चुनावी खर्च के नियमन की सिफारिश की; 3. इंद्रजीत गुप्त समिति (1998): चुनावी भ्रष्टाचार रोकने हेतु 'चुनावों के राज्य-वित्तपोषण' (State Funding of Elections) की जांच हेतु गठित; 4. विधि आयोग की 255वीं रिपोर्ट (2015): दल-बदल, पेड न्यूज और चुनावी चंदे में पारदर्शिता से संबंधित। अतः सही क्रम विकल्प A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57534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189/300</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जनप्रतिनिधित्व अधिनियम, 1951 (RPA, 1951) की धारा 29A के तहत राजनीतिक दलों के पंजीकरण (Registration) के अनिवार्य कानूनी नियमों पर विचार कीजिए: A. किसी राजनीतिक दल को अपने गठन की तारीख से 30 दिनों के भीतर भारत के निर्वाचन आयोग को पंजीकरण हेतु आवेदन प्रस्तुत करना होता है। B. दल के ज्ञापन या नियमों में यह विशिष्ट उपबंध होना चाहिए कि वह संविधान के प्रति सच्ची निष्ठा और समाजवाद, पंथनिरपेक्षता और लोकतंत्र के सिद्धांतों को स्वीकार करेगा। C. दल के ज्ञापन में भारत की संप्रभुता, एकता और अखंडता को बनाए रखने का स्पष्ट संकल्प होना अनिवार्य है। D. भारत का निर्वाचन आयोग पंजीकृत राजनीतिक दलों को चुनाव चिह्न आवंटित करता है तथा चुनाव संबंधी आचार संहिता की निगरानी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1542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190/300</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1989 में जनप्रतिनिधित्व अधिनियम, 1951 में 'धारा 29A' जोड़ी गई, जिसने भारत में राजनीतिक दलों के औपचारिक वैधानिक पंजीकरण की प्रक्रिया शुरू की। इसके अनुसार किसी भी एसोसिएशन या व्यक्तियों के समूह को नया राजनीतिक दल बनाने के 30 दिन के भीतर केंद्रीय चुनाव आयोग में आवेदन करना होता है। धारा 29A(5) के तहत पार्टी के संविधान में यह लिखित घोषणा अनिवार्य है कि वह भारत के संविधान, कानून के शासन तथा समाजवाद, धर्मनिरपेक्षता और लोकतंत्र के सिद्धांतों के प्रति निष्ठा रखेगी और भारत की संप्रभुता और अखंडता की रक्षा करेगी। इसके बिना कोई दल चुनाव चिन्ह और पंजीकृत राजनीतिक दल के कर लाभ नहीं पा सकता।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1542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190/300</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1773 के रेगुलेटिंग एक्ट (Regulating Act of 1773) द्वारा ब्रिटिश संसद ने ईस्ट इंडिया कंपनी के प्रशासन में कौन-सा युगांतरकारी संस्थागत परिवर्तन किया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बंगाल के गवर्नर को 'बंगाल का गवर्नर-जनरल' पदनाम दिया गया और कलकत्ता (फोर्ट विलियम) में एक सर्वोच्च न्यायालय की स्थापना का प्रावधान किया गया।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कंपनी के सभी व्यापारिक अधिकार तत्काल छीन लिए गए।</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में पहली बार द्वैध शासन प्रणाली शुरू की गई।</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भारत में मुसलमानों के लिए पृथक निर्वाचक मंडल बनाया गया।</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5550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191/300</a:t>
            </a:r>
          </a:p>
        </p:txBody>
      </p:sp>
    </p:spTree>
  </p:cSld>
  <p:clrMapOvr>
    <a:masterClrMapping/>
  </p:clrMapOvr>
</p:sld>
</file>

<file path=ppt/slides/slide3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बंगाल के गवर्नर को 'बंगाल का गवर्नर-जनरल' पदनाम दिया गया और कलकत्ता (फोर्ट विलियम) में एक सर्वोच्च न्यायालय की स्थापना का प्रावधान किया गया।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कंपनी के सभी व्यापारिक अधिकार तत्काल छीन लिए गए।</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में पहली बार द्वैध शासन प्रणाली शुरू की गई।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भारत में मुसलमानों के लिए पृथक निर्वाचक मंडल बनाया गया।</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1773 का रेगुलेटिंग एक्ट ब्रिटिश संसद द्वारा भारत में ईस्ट इंडिया कंपनी के कार्यों को नियमित और नियंत्रित करने की दिशा में उठाया गया पहला कदम था। इसके द्वारा: 1. बंगाल के गवर्नर (लॉर्ड वॉरेन हेस्टिंग्स) को 'बंगाल का गवर्नर-जनरल' बनाया गया और उसकी सहायता के लिए 4-सदस्यीय कार्यकारी परिषद बनाई गई; 2. मद्रास और बॉम्बे प्रेसीडेंसी के गवर्नरों को बंगाल के गवर्नर-जनरल के अधीन कर दिया गया; 3. 1774 में कलकत्ता के फोर्ट विलियम में एक अभिलेख सर्वोच्च न्यायालय (Supreme Court) स्थापित हुआ, जिसमें 1 मुख्य न्यायाधीश (सर एलिजा इम्पे) और 3 अन्य न्यायाधीश थे; 4. कंपनी के कर्मचारियों के निजी व्यापार और रिश्वत लेने पर पूर्ण प्रतिबंध लगा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5550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191/300</a:t>
            </a:r>
          </a:p>
        </p:txBody>
      </p:sp>
    </p:spTree>
  </p:cSld>
  <p:clrMapOvr>
    <a:masterClrMapping/>
  </p:clrMapOvr>
</p:sld>
</file>

<file path=ppt/slides/slide3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किस चार्टर अधिनियम द्वारा ईस्ट इंडिया कंपनी के चाय के व्यापार और चीन के साथ व्यापार के एकाधिकार को भी समाप्त करके कंपनी को विशुद्ध रूप से एक प्रशासनिक और राजनीतिक निकाय बना दिया गया?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चार्टर एक्ट, 1793</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चार्टर एक्ट, 1813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चार्टर एक्ट, 1833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चार्टर एक्ट, 1853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6955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192/300</a:t>
            </a:r>
          </a:p>
        </p:txBody>
      </p:sp>
    </p:spTree>
  </p:cSld>
  <p:clrMapOvr>
    <a:masterClrMapping/>
  </p:clrMapOvr>
</p:sld>
</file>

<file path=ppt/slides/slide3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चार्टर एक्ट, 1833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चार्टर एक्ट, 1793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चार्टर एक्ट, 1813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चार्टर एक्ट, 1853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1813 के चार्टर एक्ट ने कंपनी के भारतीय व्यापार एकाधिकार को समाप्त कर दिया था, लेकिन चाय के व्यापार और चीन के साथ व्यापार पर एकाधिकार बनाए रखा था। '1833 का चार्टर एक्ट' (लॉर्ड विलियम बेंटिक के समय) भारत के केंद्रीकरण का सबसे महत्वपूर्ण मील का पत्थर था। इसके द्वारा: 1. कंपनी के चाय और चीन सहित सभी व्यावसायिक एकाधिकार पूरी तरह समाप्त कर दिए गए और कंपनी विशुद्ध प्रशासनिक निकाय बन गई; 2. बंगाल के गवर्नर-जनरल को 'भारत का गवर्नर-जनरल' (Governor-General of India) बना दिया गया (लॉर्ड विलियम बेंटिक भारत के प्रथम गवर्नर-जनरल बने); 3. गवर्नर-जनरल की परिषद में कानूनी सलाह हेतु चौथे सदस्य के रूप में 'विधि सदस्य' (लॉर्ड मैकाले) को शामिल किया गया और मैकाले की अध्यक्षता में पहला विधि आयोग गठित हुआ।</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6955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192/300</a:t>
            </a:r>
          </a:p>
        </p:txBody>
      </p:sp>
    </p:spTree>
  </p:cSld>
  <p:clrMapOvr>
    <a:masterClrMapping/>
  </p:clrMapOvr>
</p:sld>
</file>

<file path=ppt/slides/slide3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शासन अधिनियम, 1919 (मोंटेग्यू-चेम्सफोर्ड सुधार) के प्रमुख संवैधानिक प्रावधानों पर विचार कीजिए: A. इसने प्रांतीय स्तर पर कार्यपालिका में 'द्वैध शासन' (Dyarchy) प्रणाली लागू की, जिसमें प्रांतीय विषयों को 'आरक्षित' (Reserved) और 'हस्तांतरित' (Transferred) दो भागों में बांटा गया। B. भू-राजस्व, न्याय प्रशासन, पुलिस, सिंचाई और वित्त 'आरक्षित विषय' थे, जिनका प्रशासन गवर्नर अपनी गैर-उत्तरदायी कार्यकारी परिषद की सहायता से करता था। C. शिक्षा, स्वास्थ्य, कृषि और स्थानीय स्वशासन 'हस्तांतरित विषय' थे, जिनका प्रशासन गवर्नर विधान परिषद के प्रति उत्तरदायी भारतीय मंत्रियों की सलाह पर करता था। D. इसने केंद्र में पहली बार 'द्विसदनीय विधायिका' (राज्य परिषद और केंद्रीय विधानसभा) तथा प्रत्यक्ष निर्वाचन प्रणाली की शुरुआत 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3567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193/300</a:t>
            </a:r>
          </a:p>
        </p:txBody>
      </p:sp>
    </p:spTree>
  </p:cSld>
  <p:clrMapOvr>
    <a:masterClrMapping/>
  </p:clrMapOvr>
</p:sld>
</file>

<file path=ppt/slides/slide3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1919 का भारत शासन अधिनियम मोंटेग्यू (भारत सचिव) और लॉर्ड चेम्सफोर्ड (वायसराय) की रिपोर्ट पर आधारित था, जो 1921 में लागू हुआ। इसने प्रांतों में द्वैध शासन (Dyarchy - यूनानी शब्द di-arche से व्युत्पन्न) की शुरुआत की। महत्वपूर्ण शक्तियां (वित्त, पुलिस, राजस्व, न्याय) गवर्नर और उसकी परिषद के पास आरक्षित रखी गईं, जबकि सामाजिक क्षेत्र (शिक्षा, स्वास्थ्य, स्थानीय निकाय) भारतीय मंत्रियों को सौंपे गए, जो वित्तीय संसाधनों के अभाव में पंगु रहे। इसके अलावा केंद्र में द्विसदनीय संसद (काउंसिल ऑफ स्टेट्स और लेजिस्लेटिव असेंबली) बनी, सिखों, भारतीय ईसाइयों, एंग्लो-इंडियंस व यूरोपीय लोगों तक पृथक निर्वाचक मंडल का विस्तार हुआ, और 1926 में लोक सेवा आयोग (ली कमीशन की सिफारिश पर) का गठन हुआ।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3567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193/300</a:t>
            </a:r>
          </a:p>
        </p:txBody>
      </p:sp>
    </p:spTree>
  </p:cSld>
  <p:clrMapOvr>
    <a:masterClrMapping/>
  </p:clrMapOvr>
</p:sld>
</file>

<file path=ppt/slides/slide3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शासन अधिनियम, 1935 के मुख्य संवैधानिक लक्षणों के संदर्भ में निम्नलिखित कथनों पर विचार कीजिए: A. इसने ब्रिटिश भारतीय प्रांतों और देशी रियासतों को मिलाकर एक 'अखिल भारतीय महासंघ' (All-India Federation) स्थापित करने का प्रस्ताव रखा, जो कभी अस्तित्व में नहीं आ सका। B. इसने प्रांतों में द्वैध शासन को समाप्त करके 'प्रांतीय स्वायत्तता' (Provincial Autonomy) की शुरुआत की और प्रांतीय सरकारों को विधानमंडलों के प्रति उत्तरदायी बनाया। C. इसने केंद्र में द्वैध शासन लागू करने का उपबंध किया, जिसमें रक्षा और विदेश मामले गवर्नर-जनरल के अनन्य आरक्षित नियंत्रण में रखे गए थे। D. इसने अवशिष्ट विधायी शक्तियां (Residuary Powers) संघीय विधायिका को न देकर सीधे 'गवर्नर-जनरल के विवेकाधिकार' में निहित की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77575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194/300</a:t>
            </a:r>
          </a:p>
        </p:txBody>
      </p:sp>
    </p:spTree>
  </p:cSld>
  <p:clrMapOvr>
    <a:masterClrMapping/>
  </p:clrMapOvr>
</p:sld>
</file>

<file path=ppt/slides/slide3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1935 का अधिनियम भारतीय संविधान का सबसे बड़ा प्रत्यक्ष ऐतिहासिक स्रोत है (संविधान के लगभग 200 से अधिक अनुच्छेद इसी से प्रेरित हैं)। यह लॉर्ड लिनलिथगो की अध्यक्षता वाली संयुक्त चयन समिति और साइमन कमीशन की रिपोर्ट पर आधारित था। इसमें 321 धाराएं और 10 अनुसूचियां थीं। रियासतों के शामिल न होने से प्रस्तावित अखिल भारतीय संघ लागू नहीं हो सका। प्रांतों को स्वायत्तता मिली और 1937 में प्रांतीय चुनाव हुए (11 में से 6 प्रांतों-बंगाल, बॉम्बे, मद्रास, बिहार, असम, संयुक्त प्रांत-में द्विसदनीय विधायिका बनी)। केंद्र व प्रांतों के बीच तीन सूचियां (संघीय, प्रांतीय, समवर्ती) बनीं और अवशिष्ट शक्तियां गवर्नर-जनरल को दी गईं। इसके तहत 1935 में भारतीय रिजर्व बैंक (RBI) तथा 1937 में एक संघीय न्यायालय (Federal Court) की स्थापना हुई।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77575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194/300</a:t>
            </a:r>
          </a:p>
        </p:txBody>
      </p:sp>
    </p:spTree>
  </p:cSld>
  <p:clrMapOvr>
    <a:masterClrMapping/>
  </p:clrMapOvr>
</p:sld>
</file>

<file path=ppt/slides/slide3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1935 के भारत शासन अधिनियम द्वारा ब्रिटिश भारत के कितने प्रांतों में 'द्विसदनात्मक विधानमंडल' (Bicameral Legislature - विधान परिषद और विधान सभा) की स्थापना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4 प्रांतों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5 प्रांतों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6 प्रांतों में (बंगाल, बॉम्बे, मद्रास, बिहार, असम और संयुक्त प्रांत)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सभी 11 प्रांतों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1583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195/300</a:t>
            </a:r>
          </a:p>
        </p:txBody>
      </p:sp>
    </p:spTree>
  </p:cSld>
  <p:clrMapOvr>
    <a:masterClrMapping/>
  </p:clrMapOvr>
</p:sld>
</file>

<file path=ppt/slides/slide3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6 प्रांतों में (बंगाल, बॉम्बे, मद्रास, बिहार, असम और संयुक्त प्रांत)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 प्रांतों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5 प्रांतों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 11 प्रांतों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शासन अधिनियम, 1935 के तहत ब्रिटिश भारत के कुल 11 प्रांतों में से 6 प्रमुख प्रांतों में द्विसदनीय विधानमंडल (Bicameralism) की व्यवस्था की गई थी। ये छह प्रांत थे: 1. बंगाल, 2. बॉम्बे, 3. मद्रास, 4. बिहार, 5. असम, और 6. संयुक्त प्रांत (United Provinces / वर्तमान उत्तर प्रदेश)। शेष 5 प्रांतों (पंजाब, मध्य प्रांत, उड़ीसा, सिंध और उत्तर-पश्चिम सीमांत प्रांत - NWFP) में केवल एक सदनीय विधानसभा ही रखी गई थी। द्विसदनीय प्रांतों में उच्च सदन को 'विधान परिषद' (Legislative Council) और निम्न सदन को 'विधान सभा' (Legislative Assembly) कहा जाता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1583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195/300</a:t>
            </a:r>
          </a:p>
        </p:txBody>
      </p:sp>
    </p:spTree>
  </p:cSld>
  <p:clrMapOvr>
    <a:masterClrMapping/>
  </p:clrMapOvr>
</p:sld>
</file>

<file path=ppt/slides/slide3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352 (राष्ट्रीय आपातकाल) के संदर्भ में 44वें संविधान संशोधन (1978) द्वारा किए गए सुरक्षात्मक सुधारों पर विचार कीजिए: A. आपातकाल का आधार 'आंतरिक अशांति' (Internal Disturbance) को हटाकर उसके स्थान पर 'सशस्त्र विद्रोह' (Armed Rebellion) शब्दावली प्रतिस्थापित की गई। B. राष्ट्रपति आपातकाल की उद्घोषणा केवल तभी कर सकता है जब केंद्रीय 'मंत्रिमंडल' (Cabinet) उसे लिखित में ऐसा निर्णय संसूचित करे (संविधान में 'मंत्रिमंडल' शब्द का एकमात्र प्रयोग अनुच्छेद 352(3) में ही मिलता है)। C. संसद के दोनों सदनों द्वारा आपातकाल की उद्घोषणा का अनुमोदन 2 महीने के बजाय '1 महीने के भीतर' और साधारण बहुमत के स्थान पर 'विशेष बहुमत' से होना अनिवार्य किया गया। D. आपातकाल लागू रहने पर भी अनुच्छेद 20 (दोषसिद्धि के संबंध में संरक्षण) और अनुच्छेद 21 (प्राण व दैहिक स्वतंत्रता) को कभी निलंबित नहीं किया जा सकता।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5591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196/300</a:t>
            </a:r>
          </a:p>
        </p:txBody>
      </p:sp>
    </p:spTree>
  </p:cSld>
  <p:clrMapOvr>
    <a:masterClrMapping/>
  </p:clrMapOvr>
</p:sld>
</file>

<file path=ppt/slides/slide3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25 जून 1975 को प्रधानमंत्री इंदिरा गांधी की मौखिक सलाह पर राष्ट्रपति फखरुद्दीन अली अहमद द्वारा लगाए गए आंतरिक आपातकाल के दुरुपयोग को रोकने के लिए जनता पार्टी सरकार ने 44वां संविधान संशोधन (1978) पारित किया। इसने क्रांतिकारी सुरक्षा कवच जोड़े: 1. अस्पष्ट 'आंतरिक अशांति' शब्द हटाया गया (अब केवल युद्ध, बाह्य आक्रमण या सशस्त्र विद्रोह पर ही आपातकाल लग सकता है); 2. प्रधानमंत्री अकेले नहीं, बल्कि पूरी कैबिनेट लिखित निर्णय देगी (संविधान के पूरे मूल पाठ में 'कैबिनेट' शब्द केवल अनुच्छेद 352 में ही आया है); 3. संसद के दोनों सदनों से 1 माह में विशेष बहुमत से पास कराना होगा और हर 6 माह में संसद से पुनः अनुमोदन लेना होगा; 4. लोकसभा साधारण बहुमत से प्रस्ताव पारित कर आपातकाल समाप्त कर सकती है; 5. अनुच्छेद 359 में संशोधन कर तय हुआ कि अनुच्छेद 20 और 21 आपातकाल में भी जीवित रहेंगे।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5591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196/300</a:t>
            </a:r>
          </a:p>
        </p:txBody>
      </p:sp>
    </p:spTree>
  </p:cSld>
  <p:clrMapOvr>
    <a:masterClrMapping/>
  </p:clrMapOvr>
</p:sld>
</file>

<file path=ppt/slides/slide3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एस. आर. बोम्मई बनाम भारत संघ (1994) के ऐतिहासिक निर्णय में उच्चतम न्यायालय की 9-न्यायाधीशों की संविधान पीठ ने संविधान के अनुच्छेद 356 (राष्ट्रपति शासन) के दुरुपयोग पर कौन-सा सख्त अंकुश लगाया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अनुच्छेद 356 के तहत की गई राष्ट्रपति शासन की उद्घोषणा न्यायिक समीक्षा (Judicial Review) के दायरे में आती है।</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संसद के दोनों सदनों द्वारा अनुमोदन मिलने से पहले राष्ट्रपति राज्य विधानसभा को भंग नहीं कर सकता (केवल निलंबित रख सकता है)।</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यदि अदालत राष्ट्रपति शासन को असंवैधानिक पाती है, तो अदालत को बर्खास्त सरकार को बहाल करने और भंग विधानसभा को पुनर्जीवित करने की शक्ति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दिशा-निर्देश दिए गए।</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8959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197/300</a:t>
            </a:r>
          </a:p>
        </p:txBody>
      </p:sp>
    </p:spTree>
  </p:cSld>
  <p:clrMapOvr>
    <a:masterClrMapping/>
  </p:clrMapOvr>
</p:sld>
</file>

<file path=ppt/slides/slide3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उपर्युक्त सभी दिशा-निर्देश दिए गए।</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अनुच्छेद 356 के तहत की गई राष्ट्रपति शासन की उद्घोषणा न्यायिक समीक्षा (Judicial Review) के दायरे में आती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संसद के दोनों सदनों द्वारा अनुमोदन मिलने से पहले राष्ट्रपति राज्य विधानसभा को भंग नहीं कर सकता (केवल निलंबित रख सकता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यदि अदालत राष्ट्रपति शासन को असंवैधानिक पाती है, तो अदालत को बर्खास्त सरकार को बहाल करने और भंग विधानसभा को पुनर्जीवित करने की शक्ति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केंद्र सरकार द्वारा विपक्षी दलों की राज्य सरकारों को मनमाने ढंग से बर्खास्त करने की प्रवृत्ति पर एस. आर. बोम्मई बनाम भारत संघ (1994) वाद ने ऐतिहासिक ताला लगाया। 9 जजों की संविधान पीठ ने फैसला दिया: 1. अनुच्छेद 356 के तहत राष्ट्रपति की संतुष्टि व्यक्तिपरक नहीं है, यह अदालत में न्यायिक समीक्षा के योग्य है; 2. राष्ट्रपति शासन की घोषणा होते ही विधानसभा तुरंत भंग नहीं होगी, जब तक संसद के दोनों सदन 2 माह में इसका अनुमोदन न कर दें (तब तक विधानसभा केवल निलंबित रहेगी); 3. किसी सरकार का बहुमत राजभवन के कमरों में तय नहीं होगा, इसका फैसला केवल 'विधानसभा के पटल पर शक्ति परीक्षण' (Floor Test) द्वारा होगा; 4. यदि राष्ट्रपति शासन दुर्भावनापूर्ण पाया जाता है, तो न्यायालय बर्खास्त मुख्यमंत्री को पुनः बहाल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8959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197/300</a:t>
            </a:r>
          </a:p>
        </p:txBody>
      </p:sp>
    </p:spTree>
  </p:cSld>
  <p:clrMapOvr>
    <a:masterClrMapping/>
  </p:clrMapOvr>
</p:sld>
</file>

<file path=ppt/slides/slide3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198</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भारतीय संविधान के भाग XXI के तहत विशेष उपबंध प्राप्त राज्यों और उनके संबंधित अनुच्छेदों का सही मिलान कीजिए: सूची-I: सूची-I: A. अनुच्छेद 371क B. अनुच्छेद 371ग C. अनुच्छेद 371घ D. अनुच्छेद 371छ सूची-II: 1. मणिपुर राज्य के पहाड़ी क्षेत्रों के संबंध में विशेष उपबंध 2. नागालैंड राज्य के धार्मिक व सामाजिक रिवाजों और भूमि स्वामित्व के संबंध में विशेष उपबंध 3. मिजोरम राज्य के संबंध में विशेष उपबंध 4. आंध्र प्रदेश और तेलंगाना राज्य के संबंध में लोक रोजगार और शिक्षा के समान अवसर</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3607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198/300</a:t>
            </a:r>
          </a:p>
        </p:txBody>
      </p:sp>
    </p:spTree>
  </p:cSld>
  <p:clrMapOvr>
    <a:masterClrMapping/>
  </p:clrMapOvr>
</p:sld>
</file>

<file path=ppt/slides/slide3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भाग XXI कुछ राज्यों की क्षेत्रीय आकांक्षाओं, सांस्कृतिक सुरक्षा और पिछड़ेपन को दूर करने के लिए 'असममित संघवाद' (Asymmetric Federalism) के तहत विशेष उपबंध करता है: अनुच्छेद 371 - महाराष्ट्र और गुजरात (विदर्भ, मराठवाड़ा, सौराष्ट्र विकास बोर्ड); अनुच्छेद 371क (371A) - नागालैंड (नागा प्रथागत कानून संसद द्वारा तब तक बाधित नहीं होंगे जब तक नागालैंड विधानसभा सहमत न हो); अनुच्छेद 371ख - असम; अनुच्छेद 371ग - मणिपुर (पहाड़ी क्षेत्रों की समिति); अनुच्छेद 371घ एवं 371ङ - आंध्र प्रदेश व तेलंगाना; अनुच्छेद 371च - सिक्किम; अनुच्छेद 371छ (371G) - मिजोरम; अनुच्छेद 371ज - अरुणाचल प्रदेश; अनुच्छेद 371झ - गोवा; और अनुच्छेद 371ञ - कर्नाटक (हैदराबाद-कर्नाटक क्षेत्र विकास)। सही सुमेल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3607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198/300</a:t>
            </a:r>
          </a:p>
        </p:txBody>
      </p:sp>
    </p:spTree>
  </p:cSld>
  <p:clrMapOvr>
    <a:masterClrMapping/>
  </p:clrMapOvr>
</p:sld>
</file>

<file path=ppt/slides/slide3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199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 XVII (राजभाषा, अनुच्छेद 343 से 351) के प्रमुख संवैधानिक प्रावधानों पर विचार कीजिए: A. अनुच्छेद 343(1) के अनुसार, संघ की राजभाषा 'हिंदी' और लिपि 'देवनागरी' होगी तथा भारतीय अंकों का रूप अंतरराष्ट्रीय रूप होगा। B. अनुच्छेद 348(1) के अनुसार, जब तक संसद विधि द्वारा अन्यथा उपबंध न करे, तब तक उच्चतम न्यायालय और प्रत्येक उच्च न्यायालय की सभी कार्यवाहियां केवल 'अंग्रेजी भाषा' में होंगी। C. अनुच्छेद 350क प्रत्येक राज्य को भाषाई अल्पसंख्यक-वर्गों के बालकों को शिक्षा के प्राथमिक स्तर पर मातृभाषा में शिक्षा की पर्याप्त सुविधाएं उपलब्ध कराने का निर्देश देता है। D. अनुच्छेद 351 संघ को हिंदी भाषा के प्रसार, विकास और समृद्धि का निर्देश देता है ताकि वह भारत की सामासिक संस्कृति (Composite Culture) के सभी तत्वों की अभिव्यक्ति का माध्यम बन सके।</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B</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797615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199/300</a:t>
            </a:r>
          </a:p>
        </p:txBody>
      </p:sp>
    </p:spTree>
  </p:cSld>
  <p:clrMapOvr>
    <a:masterClrMapping/>
  </p:clrMapOvr>
</p:sld>
</file>

<file path=ppt/slides/slide3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Q.199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B</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C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में किसी भी भाषा को 'राष्ट्रभाषा' (National Language) घोषित नहीं किया गया है; अनुच्छेद 343 हिंदी को 'संघ की राजभाषा' (Official Language) घोषित करता है। संविधान निर्माताओं ने मुंशी-आयंगर फॉर्मूले के तहत तय किया था कि प्रारंभिक 15 वर्षों (1965 तक) अंग्रेजी का सह-उपयोग जारी रहेगा, जिसे राजभाषा अधिनियम 1963 द्वारा अनिश्चितकाल के लिए बढ़ा दिया गया। अनुच्छेद 348 स्पष्ट करता है कि सुप्रीम कोर्ट और हाईकोर्ट की प्रामाणिक कार्यवाही और संसद/विधानसभा के सभी विधेयकों व अधिनियमों का आधिकारिक पाठ अंग्रेजी में ही होगा (राज्यपाल राष्ट्रपति की सहमति से हाईकोर्ट में हिंदी की अनुमति दे सकते हैं, पर निर्णय का अंग्रेजी अनुवाद अनिवार्य होगा)। 350क मातृभाषा में प्राथमिक शिक्षा और 351 हिंदी के विकास से संबंधित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797615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199/300</a:t>
            </a:r>
          </a:p>
        </p:txBody>
      </p:sp>
    </p:spTree>
  </p:cSld>
  <p:clrMapOvr>
    <a:masterClrMapping/>
  </p:clrMapOvr>
</p:sld>
</file>

<file path=ppt/slides/slide3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311 के तहत केंद्र या राज्य की सिविल सेवाओं के सदस्यों को मनमाने निलंबन या बर्खास्तगी से कौन-सा संवैधानिक संरक्षण (Constitutional Safeguards) प्रदान किया गया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 सिविल सेवक को उस प्राधिकारी के अधीनस्थ किसी प्राधिकारी द्वारा पदच्युत या हटाया नहीं जाएगा जिसने उसे नियुक्त किया था।</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किसी सिविल सेवक को उसके विरुद्ध लगे आरोपों की जांच और सुनवाई का उचित अवसर दिए बिना पदच्युत, हटाया या पदावनत नहीं किया जाएगा।</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राष्ट्रीय सुरक्षा या राष्ट्रपति/राज्यपाल की संतुष्टि जैसी असाधारण परिस्थितियों में जांच की अनिवार्यता से छूट मिल सकती है।</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उपर्युक्त सभी सुरक्षा उपाय अनुच्छेद 311 में सुनिश्चित किए गए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1624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200/300</a:t>
            </a:r>
          </a:p>
        </p:txBody>
      </p:sp>
    </p:spTree>
  </p:cSld>
  <p:clrMapOvr>
    <a:masterClrMapping/>
  </p:clrMapOvr>
</p:sld>
</file>

<file path=ppt/slides/slide4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D</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उपर्युक्त सभी सुरक्षा उपाय अनुच्छेद 311 में सुनिश्चित किए गए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 सिविल सेवक को उस प्राधिकारी के अधीनस्थ किसी प्राधिकारी द्वारा पदच्युत या हटाया नहीं जाएगा जिसने उसे नियुक्त किया था।</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किसी सिविल सेवक को उसके विरुद्ध लगे आरोपों की जांच और सुनवाई का उचित अवसर दिए बिना पदच्युत, हटाया या पदावनत नहीं किया जाएगा।</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राष्ट्रीय सुरक्षा या राष्ट्रपति/राज्यपाल की संतुष्टि जैसी असाधारण परिस्थितियों में जांच की अनिवार्यता से छूट मिल सकती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310 जहाँ 'प्रसाद का सिद्धांत' (Doctrine of Pleasure) प्रतिपादित करता है कि लोक सेवक राष्ट्रपति या राज्यपाल के प्रसादपर्यंत पद धारण करते हैं, वहीं अनुच्छेद 311 लोक सेवकों को कार्यपालिका की मनमानी और राजनीतिक प्रतिशोध से बचाने के लिए दो मजबूत सुरक्षा कवच प्रदान करता है: 1. अनुच्छेद 311(1) के अनुसार, किसी सिविल सेवक को उस अधिकारी से निचले स्तर के अधिकारी द्वारा बर्खास्त या हटाया नहीं जा सकता जिसने उसे नियुक्त किया था; 2. अनुच्छेद 311(2) के अनुसार, किसी भी लोक सेवक को आरोपों की निष्पक्ष जांच किए बिना और बचाव का युक्तियुक्त अवसर (Reasonable Opportunity of Hearing) दिए बिना नौकरी से हटाया या पदावनत नहीं किया जा सकता। इसके अपवाद भी हैं (जैसे आपराधिक दोषसिद्धि पर, या जब राष्ट्रीय सुरक्षा हित में राष्ट्रपति/राज्यपाल जांच कराना अवांछनीय समझे)। अतः सभी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1624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200/300</a:t>
            </a:r>
          </a:p>
        </p:txBody>
      </p:sp>
    </p:spTree>
  </p:cSld>
  <p:clrMapOvr>
    <a:masterClrMapping/>
  </p:clrMapOvr>
</p:sld>
</file>

<file path=ppt/slides/slide4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राज्य कार्यपालिका और राज्यपाल के संवैधानिक विशेषाधिकारों (अनुच्छेद 163, 164, 200 एवं 361) के संदर्भ में निम्नलिखित कथनों पर विचार कीजिए: A. अनुच्छेद 163 के अनुसार यदि कोई प्रश्न उठता है कि कोई विषय राज्यपाल के विवेकानुसार आता है या नहीं, तो राज्यपाल का निर्णय ही अंतिम होता है। B. अनुच्छेद 200 के तहत राज्य विधानमंडल द्वारा पारित किसी विधेयक पर राज्यपाल के पास चार विकल्प होते हैं: अनुमति देना, रोकना, पुनर्विचार के लिए लौटाना, या राष्ट्रपति के विचारार्थ आरक्षित रखना। C. अनुच्छेद 361 के तहत राज्यपाल अपनी पदावधि के दौरान किए गए किसी आधिकारिक कार्य के लिए न्यायालय के प्रति जवाबदेह नहीं होता और न ही कोई दांडिक कार्यवाही की जा सकती है। D. उच्चतम न्यायालय के अनुसार राज्यपाल अपनी व्यक्तिगत इच्छा से किसी भी सामान्य विधेयक को अनिश्चितकाल के लिए बिना किसी कारण के रोक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5632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201/300</a:t>
            </a:r>
          </a:p>
        </p:txBody>
      </p:sp>
    </p:spTree>
  </p:cSld>
  <p:clrMapOvr>
    <a:masterClrMapping/>
  </p:clrMapOvr>
</p:sld>
</file>

<file path=ppt/slides/slide4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अनुच्छेद 163(2) में स्पष्ट है कि राज्यपाल के विवेकाधिकार का निर्णय स्वयं राज्यपाल का होता है और उसकी वैधता पर सवाल नहीं उठाया जा सकता, अतः कथन A सही है। अनुच्छेद 200 के तहत राज्यपाल राज्य विधेयकों पर अनुमति दे सकता है, रोक सकता है, धन विधेयक के अलावा पुनर्विचार हेतु भेज सकता है या उच्च न्यायालय की शक्तियों को प्रभावित करने वाले विधेयकों को राष्ट्रपति हेतु आरक्षित कर सकता है, अतः कथन B सही है। अनुच्छेद 361 राष्ट्रपति और राज्यपाल को पूर्ण न्यायिक उन्मुक्ति और पदावधि के दौरान आपराधिक मुकदमों से सुरक्षा प्रदान करता है, अतः कथन C सही है। कथन D असत्य है क्योंकि शमशेर सिंह और तमिलनाडु राज्यपाल मामलों में उच्चतम न्यायालय ने स्पष्ट किया कि राज्यपाल मंत्रिपरिषद की सलाह पर कार्य करने वाला संवैधानिक प्रमुख है; वह असीमित या मनमाने ढंग से विधेयकों को अटका कर समानांतर सत्ता नहीं चला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5632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201/300</a:t>
            </a:r>
          </a:p>
        </p:txBody>
      </p:sp>
    </p:spTree>
  </p:cSld>
  <p:clrMapOvr>
    <a:masterClrMapping/>
  </p:clrMapOvr>
</p:sld>
</file>

<file path=ppt/slides/slide4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अंतर्राज्यीय नदी जल विवादों और उनसे संबंधित राज्यों के सही युग्मों का मिलान कीजिए: सूची-I: सूची-I: A. वंशधारा नदी जल विवाद B. महानदी जल विवाद C. मुल्लापेरियार बांध विवाद D. बभली बैराज जल विवाद सूची-II: 1. ओडिशा और छत्तीसगढ़ 2. ओडिशा और आंध्र प्रदेश 3. महाराष्ट्र और आंध्र प्रदेश/तेलंगाना 4. केरल और तमिलनाडु</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0964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202/300</a:t>
            </a:r>
          </a:p>
        </p:txBody>
      </p:sp>
    </p:spTree>
  </p:cSld>
  <p:clrMapOvr>
    <a:masterClrMapping/>
  </p:clrMapOvr>
</p:sld>
</file>

<file path=ppt/slides/slide4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अंतर्राज्यीय नदी जल विवाद (अनुच्छेद 262) के तहत गठित विभिन्न अधिकरणों और मामलों का सही राज्यों से संबंध इस प्रकार है: वंशधारा नदी जल विवाद न्यायाधिकरण ओडिशा और आंध्र प्रदेश के बीच जल बंटवारे से संबंधित है (A-2)। महानदी जल विवाद न्यायाधिकरण ओडिशा और छत्तीसगढ़ राज्यों के मध्य महानदी बेसिन के जल उपयोग को लेकर है (B-1)। मुल्लापेरियार बांध का ऐतिहासिक जल विवाद केरल (बांध की अवस्थिति व सुरक्षा) और तमिलनाडु (जल उपयोग व पट्टा अधिकार) के मध्य है (C-4)। गोदावरी नदी पर स्थित बभली बैराज का विवाद महाराष्ट्र और आंध्र प्रदेश (वर्तमान तेलंगाना सहित) के बीच है (D-3)। अतः सही सुमेलन विकल्प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0964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202/300</a:t>
            </a:r>
          </a:p>
        </p:txBody>
      </p:sp>
    </p:spTree>
  </p:cSld>
  <p:clrMapOvr>
    <a:masterClrMapping/>
  </p:clrMapOvr>
</p:sld>
</file>

<file path=ppt/slides/slide4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संविधान के किस अनुच्छेद के अंतर्गत यह अनिवार्य उपबंध किया गया है कि "उच्चतम न्यायालय के प्रशासनिक व्यय, जिनके अंतर्गत उस न्यायालय के अधिकारियों और सेवकों के सभी वेतन, भत्ते और पेंशन शामिल हैं, भारत की संचित निधि पर भारित होंगे"?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145(2)</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146(3)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148(6)</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125(2)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3648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203/300</a:t>
            </a:r>
          </a:p>
        </p:txBody>
      </p:sp>
    </p:spTree>
  </p:cSld>
  <p:clrMapOvr>
    <a:masterClrMapping/>
  </p:clrMapOvr>
</p:sld>
</file>

<file path=ppt/slides/slide4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146(3)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145(2)</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148(6)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125(2)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न्यायपालिका की पूर्ण प्रशासनिक और वित्तीय स्वतंत्रता सुनिश्चित करने के लिए संविधान में विशेष प्रावधान किए गए हैं। अनुच्छेद 146(3) में स्पष्ट रूप से उल्लेख है कि उच्चतम न्यायालय के अधिकारियों और कर्मचारियों के सभी वेतन, भत्ते, पेंशन और न्यायालय के अन्य सभी प्रशासनिक खर्चे भारत की संचित निधि (Consolidated Fund of India) पर भारित (Charged) होंगे। इसका अर्थ यह है कि इन व्ययों पर संसद में चर्चा तो हो सकती है, लेकिन इन पर संसद द्वारा कोई मतदान नहीं कराया जाता, जिससे न्यायपालिका कार्यपालिका या विधायी वित्तीय दबाव से पूर्णतः मुक्त रहकर निष्पक्ष कार्य कर सके। इसी प्रकार उच्च न्यायालयों के खर्चे अनुच्छेद 229(3) के तहत राज्य की संचित निधि पर भारित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3648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203/300</a:t>
            </a:r>
          </a:p>
        </p:txBody>
      </p:sp>
    </p:spTree>
  </p:cSld>
  <p:clrMapOvr>
    <a:masterClrMapping/>
  </p:clrMapOvr>
</p:sld>
</file>

<file path=ppt/slides/slide4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संविधान के किस अनुच्छेद के अंतर्गत यह विशिष्ट संवैधानिक अधिदेश दिया गया है कि "उच्चतम न्यायालय प्रत्येक निर्णय खुले न्यायालय (Open Court) में ही सुनाएगा, अन्यथा नहीं"?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145(4)</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145(1)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142(2)</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अनुच्छेद 141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17656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204/300</a:t>
            </a:r>
          </a:p>
        </p:txBody>
      </p:sp>
    </p:spTree>
  </p:cSld>
  <p:clrMapOvr>
    <a:masterClrMapping/>
  </p:clrMapOvr>
</p:sld>
</file>

<file path=ppt/slides/slide4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अनुच्छेद 145(4)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145(1)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142(2)</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अनुच्छेद 141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न्यायिक प्रणाली में पारदर्शिता और सार्वजनिक विश्वास बनाए रखने के लिए संविधान निर्माताओं ने यह प्रावधान किया। अनुच्छेद 145(4) स्पष्ट घोषणा करता है कि उच्चतम न्यायालय का प्रत्येक अंतिम निर्णय और अनुच्छेद 143 के तहत राष्ट्रपति को दी जाने वाली प्रत्येक सलाह केवल और केवल 'खुले न्यायालय' (Open Court) में ही सुनाई जाएगी, बंद कमरे में नहीं। अनुच्छेद 145(5) यह भी प्रावधान करता है कि निर्णय उपस्थित न्यायाधीशों के बहुमत की सहमति से सुनाया जाएगा, और कोई भी असहमत न्यायाधीश अपना पृथक विसम्मतिपूर्ण निर्णय (Dissenting Opinion) दे सकता है। अनुच्छेद 141 घोषित करता है कि सुप्रीम कोर्ट द्वारा घोषित कानून सभी अदालतों पर बाध्यकारी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17656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204/300</a:t>
            </a:r>
          </a:p>
        </p:txBody>
      </p:sp>
    </p:spTree>
  </p:cSld>
  <p:clrMapOvr>
    <a:masterClrMapping/>
  </p:clrMapOvr>
</p:sld>
</file>

<file path=ppt/slides/slide4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संविधान के अनुच्छेद 274 के अंतर्गत ऐसे कराधान पर प्रभाव डालने वाले विधेयकों के संदर्भ में निम्नलिखित कथनों पर विचार कीजिए: A. ऐसा कोई विधेयक जो ऐसा कोई कर या शुल्क अधिरोपित या परिवर्तित करता है जिसमें राज्य हितबद्ध हैं, संसद में राष्ट्रपति की पूर्व सिफारिश के बिना पेश नहीं किया जा सकता। B. ऐसा कोई विधेयक जो कृषि आय की परिभाषा में परिवर्तन करता है, राष्ट्रपति की पूर्व अनुमति के बिना संसद में प्रस्तुत नहीं हो सकता। C. ऐसा कोई विधेयक जो राज्यों को वितरित की जाने वाली शुद्ध आगम राशियों के वितरण को प्रभावित करता है, उस पर भी यह रोक लागू होती है। D. राष्ट्रपति ऐसी किसी सिफारिश को देने से पूर्व संबंधित सभी राज्यों की विधानसभाओं से अनिवार्य सहमति लेने के लिए बाध्य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1664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205/300</a:t>
            </a:r>
          </a:p>
        </p:txBody>
      </p:sp>
    </p:spTree>
  </p:cSld>
  <p:clrMapOvr>
    <a:masterClrMapping/>
  </p:clrMapOvr>
</p:sld>
</file>

<file path=ppt/slides/slide4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274 केंद्र-राज्य वित्तीय संबंधों में राज्यों के वित्तीय हितों का एक मजबूत रक्षा कवच है। इसके अनुसार ऐसा कोई भी विधेयक संसद में राष्ट्रपति की पूर्व सिफारिश (Prior Recommendation) के बिना नहीं लाया जा सकता जो: 1. ऐसे कर/शुल्क में परिवर्तन करे जिससे राज्यों को आय मिलती हो, 2. कृषि आय की परिभाषा बदले, या 3. राज्यों को बांटे जाने वाले करों के सूत्र को प्रभावित करे, अतः कथन A, B और C सही हैं। कथन D गलत है क्योंकि राष्ट्रपति ऐसी पूर्व सिफारिश केंद्रीय मंत्रिमंडल की सलाह पर करता है; इसके लिए राज्यों की विधानसभाओं की औपचारिक पूर्व सहमति या अनुमोदन की कोई संवैधानिक अनिवार्यता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1664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205/300</a:t>
            </a:r>
          </a:p>
        </p:txBody>
      </p:sp>
    </p:spTree>
  </p:cSld>
  <p:clrMapOvr>
    <a:masterClrMapping/>
  </p:clrMapOvr>
</p:sld>
</file>

<file path=ppt/slides/slide4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206</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प्रमुख राष्ट्रीय संवैधानिक व वैधानिक निकायों और उनके द्वारा प्रकाशित किए जाने वाले आधिकारिक न्यूजलेटर्स/पत्रिकाओं का सही मिलान कीजिए: सूची-I: सूची-I: A. राष्ट्रीय मानवाधिकार आयोग (NHRC) B. केंद्रीय सतर्कता आयोग (CVC) C. भारत निर्वाचन आयोग (ECI) D. नीति आयोग (NITI Aayog) सूची-II: 1. माई वोट मैटर्स (My Vote Matters) 2. ह्यूमन राइट्स (Human Rights Newsletter) 3. नीति संधान (NITI Sandhan) 4. विजआई वाणी (Vigeye Vani)</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5672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206/300</a:t>
            </a:r>
          </a:p>
        </p:txBody>
      </p:sp>
    </p:spTree>
  </p:cSld>
  <p:clrMapOvr>
    <a:masterClrMapping/>
  </p:clrMapOvr>
</p:sld>
</file>

<file path=ppt/slides/slide4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B-4, C-1,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विभिन्न आयोग अपनी गतिविधियों और जागरूकता के प्रसार हेतु विशिष्ट आधिकारिक पत्रिकाएं/न्यूजलेटर प्रकाशित करते हैं: राष्ट्रीय मानवाधिकार आयोग (NHRC) की मासिक पत्रिका 'ह्यूमन राइट्स' (Human Rights Newsletter) है (A-2)। केंद्रीय सतर्कता आयोग (CVC) सतर्कता जागरूकता और भ्रष्टाचार निरोधक पहलों के लिए 'विजआई वाणी' (Vigeye Vani) प्रकाशित करता है (B-4)। भारत निर्वाचन आयोग (ECI) मतदाता साक्षरता और सहभागिता हेतु 'माई वोट मैटर्स' (My Vote Matters) का प्रकाशन करता है (C-1)। नीति आयोग अपने अनुसंधान, विकास संकेतकों और नीतिगत अध्ययनों को 'नीति संधान' (NITI Sandhan) के माध्यम से प्रस्तुत करता है (D-3)। अतः सही मिलान विकल्प A-2, B-4, C-1,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5672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206/300</a:t>
            </a:r>
          </a:p>
        </p:txBody>
      </p:sp>
    </p:spTree>
  </p:cSld>
  <p:clrMapOvr>
    <a:masterClrMapping/>
  </p:clrMapOvr>
</p:sld>
</file>

<file path=ppt/slides/slide4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किस संवैधानिक संशोधन अधिनियम द्वारा भारत के संविधान के अनुच्छेद 171(1) में संशोधन करके यह प्रावधान किया गया कि राज्य विधान परिषद (Legislative Council) के सदस्यों की कुल संख्या उस राज्य की विधान सभा के कुल सदस्यों की संख्या के 'एक-चौथाई' के बजाय 'एक-तिहाई' से अधिक नहीं होगी?</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7वां संविधान संशोधन अधिनियम, 1956</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15वां संविधान संशोधन अधिनियम, 1963</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42वां संविधान संशोधन अधिनियम, 1976</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44वां संविधान संशोधन अधिनियम, 1978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2968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207/300</a:t>
            </a:r>
          </a:p>
        </p:txBody>
      </p:sp>
    </p:spTree>
  </p:cSld>
  <p:clrMapOvr>
    <a:masterClrMapping/>
  </p:clrMapOvr>
</p:sld>
</file>

<file path=ppt/slides/slide4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7वां संविधान संशोधन अधिनियम, 1956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15वां संविधान संशोधन अधिनियम, 1963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42वां संविधान संशोधन अधिनियम, 1976</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44वां संविधान संशोधन अधिनियम, 1978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मूल संविधान के अनुच्छेद 171(1) में यह व्यवस्था थी कि किसी राज्य की विधान परिषद के सदस्यों की कुल संख्या उस राज्य की विधानसभा की कुल सदस्य संख्या के एक-चौथाई (1/4) से अधिक नहीं होगी और न्यूनतम 40 होगी। 7वें संविधान संशोधन अधिनियम, 1956 द्वारा राज्यों के पुनर्गठन और भाषाई सीमाओं के नए स्वरूप के साथ इस सीमा को बढ़ाकर 'एक-तिहाई' (One-third) कर दिया गया, ताकि उच्च सदन में समाज के प्रबुद्ध वर्गों, शिक्षकों, स्नातकों और स्थानीय निकायों के प्रतिनिधियों को पर्याप्त स्थान मिल सके। वर्तमान में भारत के केवल 6 राज्यों (उत्तर प्रदेश, बिहार, महाराष्ट्र, कर्नाटक, आंध्र प्रदेश, तेलंगाना) में विधान परिषद कार्यरत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2968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207/300</a:t>
            </a:r>
          </a:p>
        </p:txBody>
      </p:sp>
    </p:spTree>
  </p:cSld>
  <p:clrMapOvr>
    <a:masterClrMapping/>
  </p:clrMapOvr>
</p:sld>
</file>

<file path=ppt/slides/slide4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104वें संविधान संशोधन अधिनियम, 2019 के संवैधानिक प्रावधानों और प्रभावों के संदर्भ में निम्नलिखित कथनों पर विचार कीजिए: A. इस संशोधन द्वारा संविधान के अनुच्छेद 334 में संशोधन करके अनुसूचित जातियों (SC) और अनुसूचित जनजातियों (ST) के राजनीतिक आरक्षण की अवधि को 70 वर्ष से बढ़ाकर 80 वर्ष (25 जनवरी 2030 तक) किया गया। B. इसके द्वारा लोकसभा (अनुच्छेद 331) और राज्य विधानसभाओं (अनुच्छेद 333) में आंग्ल-भारतीय (Anglo-Indian) समुदाय के लिए 2 सदस्यों के मनोनयन के प्रावधान का नवीनीकरण न करके उसे समाप्त कर दिया गया। C. यह संविधान संशोधन अधिनियम 25 जनवरी, 2020 से पूरे देश में विधिवत प्रभावी हुआ। D. इस संशोधन के तहत महिलाओं के लिए लोकसभा में 33% आरक्षण की नई व्यवस्था भी प्रारंभ की गई।</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3689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208/300</a:t>
            </a:r>
          </a:p>
        </p:txBody>
      </p:sp>
    </p:spTree>
  </p:cSld>
  <p:clrMapOvr>
    <a:masterClrMapping/>
  </p:clrMapOvr>
</p:sld>
</file>

<file path=ppt/slides/slide4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104वें संविधान संशोधन अधिनियम 2019 ने अनुच्छेद 334 के हाशिए के शीर्षक में 'सत्तर वर्ष' को 'अस्सी वर्ष' किया और SC/ST आरक्षण को 25 जनवरी 2030 तक 10 साल बढ़ाया, अतः कथन A सही है। स्वतंत्रता के बाद से आंग्ल-भारतीयों को दिए जा रहे मनोनयन कोटे को आगे नहीं बढ़ाया गया, जिससे यह 70 वर्ष बाद समाप्त हो गया, अतः कथन B सही है। यह अधिनियम 25 जनवरी, 2020 से लागू हुआ, अतः कथन C सही है। कथन D असत्य है क्योंकि महिलाओं के लिए 33% आरक्षण का ऐतिहासिक प्रावधान 106वें संविधान संशोधन अधिनियम, 2023 ('नारी शक्ति वंदन अधिनियम') द्वारा किया गया है, 104वें संशोधन द्वारा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3689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208/300</a:t>
            </a:r>
          </a:p>
        </p:txBody>
      </p:sp>
    </p:spTree>
  </p:cSld>
  <p:clrMapOvr>
    <a:masterClrMapping/>
  </p:clrMapOvr>
</p:sld>
</file>

<file path=ppt/slides/slide4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209</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लोकनायक जयप्रकाश नारायण (JP) के 'सावयव लोकतंत्र' (Organic Democracy / Partyless Democracy) के दर्शन का मूल निहितार्थ निम्नलिखित में से क्या नहीं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ग्राम-समुदाय और स्थानीय स्वशासन की सुदृढ़ इकाइयां</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राजनीति का सर्वोदय दृष्टिकोण और आम सहमति पर आधारित निर्णय</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व्यक्ति को एकाकी मानने वाला परमाणविक समाज (Atomized Society)</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दलविहीन जन-सहभागिता और नैतिक विकेंद्रीकरण</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37697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209/300</a:t>
            </a:r>
          </a:p>
        </p:txBody>
      </p:sp>
    </p:spTree>
  </p:cSld>
  <p:clrMapOvr>
    <a:masterClrMapping/>
  </p:clrMapOvr>
</p:sld>
</file>

<file path=ppt/slides/slide4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Q.209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व्यक्ति को एकाकी मानने वाला परमाणविक समाज (Atomized Society)</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ग्राम-समुदाय और स्थानीय स्वशासन की सुदृढ़ इकाइयां</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राजनीति का सर्वोदय दृष्टिकोण और आम सहमति पर आधारित निर्णय</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दलविहीन जन-सहभागिता और नैतिक विकेंद्रीकरण</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जयप्रकाश नारायण ने पाश्चात्य संसदीय लोकतंत्र की आलोचना करते हुए कहा था कि वह समाज को अलग-थलग, स्वार्थी और असंबंधित व्यक्तियों का समूह ('परमाणविक समाज' या Atomized Society) बना देता है, जहां दलगत राजनीति लोगों को बांटती है। इसके विकल्प के रूप में जेपी ने 'सावयव लोकतंत्र' (Organic Democracy) का सिद्धांत प्रस्तुत किया, जो गांधीजी के सर्वोदय दर्शन, ग्राम-स्वराज्य और संपूर्ण क्रांति पर आधारित था। सावयव लोकतंत्र समाज को एक जीवित शरीर की भांति परस्पर निर्भर मानता है, जहां ग्राम-सभा सबसे निचली बुनियादी कोशिका है और निर्णय दलगत प्रतिस्पर्धा के बजाय सर्वसम्मति, सामाजिक समरसता और नैतिक मूल्यों से लिए जाते हैं। अतः परमाणविक समाज इसका भाग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37697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209/300</a:t>
            </a:r>
          </a:p>
        </p:txBody>
      </p:sp>
    </p:spTree>
  </p:cSld>
  <p:clrMapOvr>
    <a:masterClrMapping/>
  </p:clrMapOvr>
</p:sld>
</file>

<file path=ppt/slides/slide4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जनप्रतिनिधित्व अधिनियम, 1951 (RPA, 1951) की किस धारा के अंतर्गत राजनीतिक दलों के लिए यह कानूनी रूप से अनिवार्य है कि वे एक वित्तीय वर्ष में व्यक्तियों और कंपनियों से प्राप्त ₹20,000 से अधिक के सभी चंदों (दान) की घोषणा का विवरण चुनाव आयोग को प्रस्तुत करें?</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धारा 29क (Section 29A)</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धारा 29ख (Section 29B)</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धारा 29ग (Section 29C)</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धारा 77 (Section 77)</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1705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210/300</a:t>
            </a:r>
          </a:p>
        </p:txBody>
      </p:sp>
    </p:spTree>
  </p:cSld>
  <p:clrMapOvr>
    <a:masterClrMapping/>
  </p:clrMapOvr>
</p:sld>
</file>

<file path=ppt/slides/slide4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धारा 29ग (Section 29C)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 29क (Section 29A)</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 29ख (Section 29B)</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 77 (Section 77)</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चुनावी राजनीति में वित्तीय पारदर्शिता और जवाबदेही सुनिश्चित करने के लिए चुनाव एवं अन्य कानून (संशोधन) अधिनियम, 2003 द्वारा RPA 1951 में धारा 29C जोड़ी गई थी। धारा 29C (Declaration of donation received by the political parties) के तहत प्रत्येक मान्यता प्राप्त या पंजीकृत राजनीतिक दल के कोषाध्यक्ष को प्रत्येक वित्तीय वर्ष में ₹20,000 से अधिक के प्रत्येक दानदाता का नाम, पता, पैन कार्ड और दान की गई राशि का आधिकारिक ब्योरा तैयार कर भारत निर्वाचन आयोग को सौंपना अनिवार्य होता है। निर्धारित समय में यह रिपोर्ट न देने पर दल को आयकर अधिनियम, 1961 की धारा 13A के तहत मिलने वाली कर छूट (Tax Exemption) समाप्त कर दी जाती है। धारा 29A राजनीतिक दलों के पंजीकरण से संबंधित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1705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210/300</a:t>
            </a:r>
          </a:p>
        </p:txBody>
      </p:sp>
    </p:spTree>
  </p:cSld>
  <p:clrMapOvr>
    <a:masterClrMapping/>
  </p:clrMapOvr>
</p:sld>
</file>

<file path=ppt/slides/slide4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महिला आयोग (National Commission for Women - NCW) के सांविधिक स्वरूप और संरचना के संदर्भ में निम्नलिखित कथनों पर विचार कीजिए: A. राष्ट्रीय महिला आयोग की स्थापना 31 जनवरी, 1992 को राष्ट्रीय महिला आयोग अधिनियम, 1990 के तहत एक सांविधिक निकाय (Statutory Body) के रूप में की गई थी। B. आयोग की संरचना में केंद्र सरकार द्वारा नामित एक अध्यक्ष, 5 सदस्य और एक सदस्य-सचिव (कुल 7) शामिल होते हैं। C. अधिनियम के अनुसार इन 5 सदस्यों में से कम से कम एक सदस्य अनुसूचित जाति (SC) और कम से कम एक सदस्य अनुसूचित जनजाति (ST) वर्ग से होना अनिवार्य है। D. आयोग के अध्यक्ष और सदस्यों का कार्यकाल केंद्र सरकार द्वारा 5 वर्ष या 65 वर्ष की आयु निर्धारित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5713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211/300</a:t>
            </a:r>
          </a:p>
        </p:txBody>
      </p:sp>
    </p:spTree>
  </p:cSld>
  <p:clrMapOvr>
    <a:masterClrMapping/>
  </p:clrMapOvr>
</p:sld>
</file>

<file path=ppt/slides/slide4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महिला आयोग भारत में महिलाओं के संवैधानिक व विधिक अधिकारों की रक्षा का सर्वोच्च सांविधिक निकाय है, अतः कथन A सही है। अधिनियम की धारा 3(2) के अनुसार आयोग में एक अध्यक्ष, 5 सदस्य तथा एक उपयुक्त सदस्य-सचिव होते हैं, अतः कथन B सही है। हाशिए की महिलाओं के प्रतिनिधित्व हेतु धारा 3(2) में अनिवार्य शर्त है कि कम से कम एक सदस्य SC और एक सदस्य ST वर्ग से होना चाहिए, अतः कथन C सही है। कथन D असत्य है क्योंकि अधिनियम की धारा 4 के अनुसार अध्यक्ष और प्रत्येक सदस्य का कार्यकाल पदभार ग्रहण करने की तिथि से '3 वर्ष' (न कि 5 वर्ष) का होता है तथा वे केंद्र सरकार को संबोधित त्यागपत्र देकर पदमुक्त हो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5713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211/300</a:t>
            </a:r>
          </a:p>
        </p:txBody>
      </p:sp>
    </p:spTree>
  </p:cSld>
  <p:clrMapOvr>
    <a:masterClrMapping/>
  </p:clrMapOvr>
</p:sld>
</file>

<file path=ppt/slides/slide4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महिला आयोग (NCW) की कार्यप्रणाली, जांच शक्तियों और सीमाओं के संदर्भ में निम्नलिखित कथनों पर विचार कीजिए: A. आयोग को महिलाओं के अधिकारों के उल्लंघन से जुड़ी शिकायतों की जांच करते समय दीवानी अदालत (Civil Court) की सभी शक्तियां प्राप्त हैं। B. आयोग को किसी भी गवाह को समन जारी करने, शपथ पर साक्ष्य लेने और किसी भी सार्वजनिक रिकॉर्ड की मांग करने का अधिकार प्राप्त है। C. राष्ट्रीय महिला आयोग सीधे किसी दोषी व्यक्ति को कारावास की सजा सुनाने या स्वयं मुआवजा देने की दंडात्मक शक्ति रखता है। D. सुश्री जयंती पटनायक राष्ट्रीय महिला आयोग की प्रथम अध्यक्ष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4972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212/300</a:t>
            </a:r>
          </a:p>
        </p:txBody>
      </p:sp>
    </p:spTree>
  </p:cSld>
  <p:clrMapOvr>
    <a:masterClrMapping/>
  </p:clrMapOvr>
</p:sld>
</file>

<file path=ppt/slides/slide4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NCW अधिनियम 1990 की धारा 10(4) के तहत आयोग को मामलों की जांच के दौरान सिविल प्रक्रिया संहिता 1908 के तहत सिविल कोर्ट की शक्तियां प्राप्त हैं, अतः कथन A और B सही हैं। कथन C गलत है क्योंकि मानवाधिकार आयोग की तरह राष्ट्रीय महिला आयोग भी केवल एक सलाहकारी और अनुशंसात्मक निकाय है; यह किसी आरोपी को सीधे जेल की सजा या जुर्माना नहीं सुना सकता, बल्कि यह जांच रिपोर्ट सरकार या संबंधित अदालत को भेजकर कार्रवाई की सिफारिश करता है। 1992 में आयोग के गठन के समय सुश्री जयंती पटनायक इसकी प्रथम अध्यक्ष बनी थीं, अतः कथन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4972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212/300</a:t>
            </a:r>
          </a:p>
        </p:txBody>
      </p:sp>
    </p:spTree>
  </p:cSld>
  <p:clrMapOvr>
    <a:masterClrMapping/>
  </p:clrMapOvr>
</p:sld>
</file>

<file path=ppt/slides/slide4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बाल अधिकार संरक्षण आयोग' (NCPCR) की वैधानिक स्थिति और संरचना के संदर्भ में निम्नलिखित कथनों पर विचार कीजिए: A. NCPCR की स्थापना मार्च 2007 में 'बाल अधिकार संरक्षण आयोग (CPCR) अधिनियम, 2005' के तहत एक सांविधिक निकाय के रूप में की गई थी। B. अधिनियम के अनुसार 'बालक' (Child) को 0 से 18 वर्ष के आयु वर्ग के किसी भी व्यक्ति के रूप में परिभाषित किया गया है। C. आयोग में एक अध्यक्ष और 6 अन्य सदस्य होते हैं, जिनमें से कम से कम '2 महिला सदस्य' होना अनिवार्य है। D. आयोग के अध्यक्ष का कार्यकाल 3 वर्ष या 70 वर्ष की आयु तथा सदस्यों का कार्यकाल 3 वर्ष या 65 वर्ष की आयु निर्धारित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3729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213/300</a:t>
            </a:r>
          </a:p>
        </p:txBody>
      </p:sp>
    </p:spTree>
  </p:cSld>
  <p:clrMapOvr>
    <a:masterClrMapping/>
  </p:clrMapOvr>
</p:sld>
</file>

<file path=ppt/slides/slide4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NCPCR महिला एवं बाल विकास मंत्रालय के प्रशासनिक नियंत्रण में बाल अधिकारों का सर्वोच्च वैधानिक प्रहरी है, अतः कथन A सही है। संयुक्त राष्ट्र बाल अधिकार सम्मेलन (UNCRC) के अनुरूप अधिनियम में 0 से 18 वर्ष के सभी व्यक्तियों को बालक माना गया है, अतः कथन B सही है। आयोग में 1 अध्यक्ष और 6 सदस्य होते हैं जिनमें कम से कम 2 महिलाएं अनिवार्य हैं, अतः कथन C सही है। कथन D असत्य है क्योंकि अधिनियम की धारा 5 के अनुसार अध्यक्ष का कार्यकाल 3 वर्ष या '65 वर्ष की आयु' (जो भी पहले हो) तथा सदस्यों का कार्यकाल 3 वर्ष या '60 वर्ष की आयु' (जो भी पहले हो) तक होता है, तथा कोई भी व्यक्ति अधिकतम दो कार्यकाल से अधिक पद धारण नहीं कर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3729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213/300</a:t>
            </a:r>
          </a:p>
        </p:txBody>
      </p:sp>
    </p:spTree>
  </p:cSld>
  <p:clrMapOvr>
    <a:masterClrMapping/>
  </p:clrMapOvr>
</p:sld>
</file>

<file path=ppt/slides/slide4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राष्ट्रीय बाल अधिकार संरक्षण आयोग (NCPCR) को संसद द्वारा सौंपे गए विशिष्ट वैधानिक अधिदेशों (Mandates) के संदर्भ में निम्नलिखित कथनों पर विचार कीजिए: A. निःशुल्क और अनिवार्य बाल शिक्षा का अधिकार (RTE) अधिनियम, 2009 के प्रभावी क्रियान्वयन और बच्चों के अधिकारों की निगरानी का कार्य NCPCR को सौंपा गया है। B. लैंगिक अपराधों से बालकों का संरक्षण (POCSO) अधिनियम, 2012 के उपबंधों के कार्यान्वयन की निगरानी की वैधानिक जिम्मेदारी NCPCR और राज्य बाल आयोगों में निहित है। C. किशोर न्याय (बालकों की देखरेख और संरक्षण) अधिनियम, 2015 के तहत बाल गृहों और बाल सुधार गृहों के निरीक्षण की शक्ति आयोग को प्राप्त है। D. आयोग को बाल विवाह के मामलों में सीधे किसी वयस्क को 10 वर्ष के कठोर कारावास की सजा देने का न्यायिक अधिकार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57737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214/300</a:t>
            </a:r>
          </a:p>
        </p:txBody>
      </p:sp>
    </p:spTree>
  </p:cSld>
  <p:clrMapOvr>
    <a:masterClrMapping/>
  </p:clrMapOvr>
</p:sld>
</file>

<file path=ppt/slides/slide4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RTE Act 2009 की धारा 31 के तहत बच्चों के शिक्षा के अधिकार के उल्लंघन की जांच और निगरानी NCPCR करता है, अतः कथन A सही है। POCSO Act 2012 की धारा 44 के तहत भी केंद्र और राज्य स्तर पर बाल संरक्षण आयोगों को कानून की निगरानी का जिम्मा सौंपा गया है, अतः कथन B सही है। किशोर न्याय अधिनियम 2015 के तहत बच्चों के आश्रय गृहों और सुधार गृहों की भौतिक जांच का अधिकार आयोग के पास है, अतः कथन C सही है। कथन D असत्य है क्योंकि NCPCR एक अर्ध-न्यायिक जांच व निगरानी निकाय है, नियमित आपराधिक अदालत नहीं; सजा सुनाने का कार्य विशेष पोक्सो अदालतों या न्यायिक अदालतों का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57737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214/300</a:t>
            </a:r>
          </a:p>
        </p:txBody>
      </p:sp>
    </p:spTree>
  </p:cSld>
  <p:clrMapOvr>
    <a:masterClrMapping/>
  </p:clrMapOvr>
</p:sld>
</file>

<file path=ppt/slides/slide4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215</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के विभिन्न संवैधानिक एवं सांविधिक निकायों के अध्यक्ष/सदस्यों के कार्यकाल और सेवानिवृत्ति आयु का सही मिलान कीजिए: सूची-I: सूची-I: A. संघ लोक सेवा आयोग (UPSC) B. राज्य लोक सेवा आयोग (SPSC) C. राष्ट्रीय मानवाधिकार आयोग (NHRC) D. केंद्रीय सतर्कता आयोग (CVC) सूची-II: 1. 6 वर्ष या 62 वर्ष की आयु 2. 6 वर्ष या 65 वर्ष की आयु 3. 4 वर्ष या 65 वर्ष की आयु 4. 3 वर्ष या 70 वर्ष की आयु</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C-4, D-2</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1745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215/300</a:t>
            </a:r>
          </a:p>
        </p:txBody>
      </p:sp>
    </p:spTree>
  </p:cSld>
  <p:clrMapOvr>
    <a:masterClrMapping/>
  </p:clrMapOvr>
</p:sld>
</file>

<file path=ppt/slides/slide4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C-4, D-2</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विभिन्न संवैधानिक व सांविधिक पदों के कार्यकाल की शर्तें: UPSC के अध्यक्ष और सदस्यों का कार्यकाल संविधान के अनुच्छेद 316(2) के अनुसार 6 वर्ष या 65 वर्ष की आयु (जो भी पहले हो) होता है (A-2)। राज्य लोक सेवा आयोग (SPSC) के सदस्यों का कार्यकाल 6 वर्ष या 62 वर्ष की आयु होता है (B-1)। NHRC के अध्यक्ष और सदस्यों का कार्यकाल 2019 के संशोधन के बाद 3 वर्ष या 70 वर्ष की आयु कर दिया गया है (C-4)। CVC अधिनियम 2003 के अनुसार केंद्रीय सतर्कता आयुक्त और अन्य आयुक्तों का कार्यकाल 4 वर्ष या 65 वर्ष की आयु होता है (D-3)। अतः सही कूट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1745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215/300</a:t>
            </a:r>
          </a:p>
        </p:txBody>
      </p:sp>
    </p:spTree>
  </p:cSld>
  <p:clrMapOvr>
    <a:masterClrMapping/>
  </p:clrMapOvr>
</p:sld>
</file>

<file path=ppt/slides/slide4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18वीं लोकसभा चुनाव (2024) के समय चुनाव आयोग द्वारा 'मान्यता प्राप्त राष्ट्रीय राजनीतिक दलों' (Recognized National Parties) की स्थिति के संदर्भ में निम्नलिखित कथनों पर विचार कीजिए: A. 18वीं लोकसभा चुनाव के समय भारत में कुल 6 राष्ट्रीय राजनीतिक दल मान्यता प्राप्त थे: BJP, INC, BSP, CPI(M), AAP और NPP। B. नेशनल पीपुल्स पार्टी (NPP) पूर्वोत्तर भारत का पहला राजनीतिक दल है जिसे राष्ट्रीय राजनीतिक दल का दर्जा प्राप्त हुआ है। C. आम आदमी पार्टी (AAP) को गुजरात और गोवा विधानसभा चुनावों में प्रदर्शन के आधार पर राष्ट्रीय दल की मान्यता मिली। D. अखिल भारतीय तृणमूल कांग्रेस (TMC), भारतीय कम्युनिस्ट पार्टी (CPI) और राष्ट्रवादी कांग्रेस पार्टी (NCP) तीनों को वर्तमान में भी राष्ट्रीय दल का दर्जा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5753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216/300</a:t>
            </a:r>
          </a:p>
        </p:txBody>
      </p:sp>
    </p:spTree>
  </p:cSld>
  <p:clrMapOvr>
    <a:masterClrMapping/>
  </p:clrMapOvr>
</p:sld>
</file>

<file path=ppt/slides/slide4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अप्रैल 2023 में चुनाव आयोग के आदेश के अनुसार भारत में कुल 6 राष्ट्रीय दल हैं: 1. भारतीय जनता पार्टी (BJP), 2. भारतीय राष्ट्रीय कांग्रेस (INC), 3. बहुजन समाज पार्टी (BSP), 4. मार्क्सवादी कम्युनिस्ट पार्टी (CPI-M), 5. आम आदमी पार्टी (AAP), और 6. नेशनल पीपुल्स पार्टी (NPP), अतः कथन A सही है। पी. ए. संगमा द्वारा स्थापित NPP पूर्वोत्तर का एकमात्र राष्ट्रीय दल है, अतः कथन B सही है। AAP को दिल्ली, पंजाब, गोवा और गुजरात में 6% से अधिक वोट व सीटें मिलने पर राज्य दल का दर्जा मिला और 4 राज्यों में राज्य दल होने से यह राष्ट्रीय दल बनी, अतः कथन C सही है। कथन D असत्य है क्योंकि अप्रैल 2023 में चुनाव आयोग ने समीक्षा के बाद तृणमूल कांग्रेस (TMC), CPI और NCP से राष्ट्रीय दल का दर्जा वापस ले लिया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5753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216/300</a:t>
            </a:r>
          </a:p>
        </p:txBody>
      </p:sp>
    </p:spTree>
  </p:cSld>
  <p:clrMapOvr>
    <a:masterClrMapping/>
  </p:clrMapOvr>
</p:sld>
</file>

<file path=ppt/slides/slide4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में आधुनिक स्थानीय स्वशासन के संस्थागत इतिहास के संदर्भ में 'भारत का पहला नगर निगम' (First Municipal Corporation) किस वर्ष और किस शहर में स्थापित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1687-88 में मद्रास (चेन्नई)</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1726 में कलकत्ता (कोलकाता)</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1726 में बॉम्बे (मुंबई)</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1882 में रिपन प्रस्ताव द्वारा दिल्ली</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6976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217/300</a:t>
            </a:r>
          </a:p>
        </p:txBody>
      </p:sp>
    </p:spTree>
  </p:cSld>
  <p:clrMapOvr>
    <a:masterClrMapping/>
  </p:clrMapOvr>
</p:sld>
</file>

<file path=ppt/slides/slide4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1687-88 में मद्रास (चेन्नई)</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1726 में कलकत्ता (कोलकाता)</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1726 में बॉम्बे (मुंबई)</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1882 में रिपन प्रस्ताव द्वारा दिल्ली</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स्थानीय शहरी शासन की शुरुआत ब्रिटिश काल में हुई थी। 29 सितंबर 1688 को ईस्ट इंडिया कंपनी द्वारा जारी पूर्व चार्टर (Charter of 1687) के तहत भारत और तत्कालीन ब्रिटिश राष्ट्रमंडल का सबसे पहला नगर निगम 'मद्रास नगर निगम' (Madras Municipal Corporation) स्थापित किया गया था। इसके बाद 1726 के शाही चार्टर के तहत बॉम्बे और कलकत्ता में नगर निगमों की स्थापना की गई थी। आगे चलकर 1882 में लॉर्ड रिपन द्वारा प्रस्तुत स्थानीय स्वशासन प्रस्ताव को भारत में स्थानीय स्वशासन का 'मैग्नाकार्टा' कहा जाता है और लॉर्ड रिपन को भारत में स्थानीय स्वशासन का जनक माना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6976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217/300</a:t>
            </a:r>
          </a:p>
        </p:txBody>
      </p:sp>
    </p:spTree>
  </p:cSld>
  <p:clrMapOvr>
    <a:masterClrMapping/>
  </p:clrMapOvr>
</p:sld>
</file>

<file path=ppt/slides/slide4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शहरी स्थानीय स्वशासन के विशिष्ट प्रशासनिक रूपों-छावनी बोर्ड (Cantonment Board) और अधिसूचित क्षेत्र समिति (Notified Area Committee) के संदर्भ में निम्नलिखित कथनों पर विचार कीजिए: A. छावनी बोर्ड सैन्य छावनी क्षेत्रों में नागरिक आबादी के नागरिक प्रशासन हेतु छावनी अधिनियम, 2006 के तहत स्थापित एक सांविधिक निकाय है। B. छावनी बोर्ड सीधे भारत सरकार के 'रक्षा मंत्रालय' (Ministry of Defence) के प्रशासनिक नियंत्रण में कार्य करता है और 74वां संविधान संशोधन इस पर लागू नहीं होता। C. अधिसूचित क्षेत्र समिति (NAC) राज्य सरकार द्वारा राजपत्र में प्रशासनिक अधिसूचना द्वारा तेजी से विकसित हो रहे नए औद्योगिक कस्बों के लिए बनाई जाती है। D. अधिसूचित क्षेत्र समिति (NAC) एक पूर्णतः निर्वाचित लोकतांत्रिक संस्था होती है जिसके सभी सदस्यों का चुनाव वयस्क मताधिकार से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3770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218/300</a:t>
            </a:r>
          </a:p>
        </p:txBody>
      </p:sp>
    </p:spTree>
  </p:cSld>
  <p:clrMapOvr>
    <a:masterClrMapping/>
  </p:clrMapOvr>
</p:sld>
</file>

<file path=ppt/slides/slide4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छावनी बोर्ड रक्षा मंत्रालय के अधीन रक्षा संपदा महानिदेशालय (DGDE) द्वारा संचालित होते हैं और इसमें सैन्य व निर्वाचित नागरिक दोनों सदस्य होते हैं, अतः कथन A और B सही हैं। औद्योगिक रूप से विकसित हो रहे कस्बों या जहां नगरपालिका के गठन की कानूनी शर्तें पूरी नहीं होतीं, वहां राज्य सरकार अधिसूचना द्वारा NAC गठित करती है, अतः कथन C सही है। कथन D असत्य है क्योंकि अधिसूचित क्षेत्र समिति (Notified Area Committee) का गठन राज्य नगरपालिका कानून की किसी धारा के तहत न होकर कार्यकारी अधिसूचना से होता है और इसके अध्यक्ष सहित सभी सदस्य राज्य सरकार द्वारा पूर्णतः 'मनोनीत' (Nominated) होते हैं, इसमें कोई चुनाव नहीं होता।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3770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218/300</a:t>
            </a:r>
          </a:p>
        </p:txBody>
      </p:sp>
    </p:spTree>
  </p:cSld>
  <p:clrMapOvr>
    <a:masterClrMapping/>
  </p:clrMapOvr>
</p:sld>
</file>

<file path=ppt/slides/slide4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219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243S के तहत नगरपालिकाओं में 'वार्ड समितियों' (Wards Committees) के गठन के संदर्भ में निम्नलिखित कथनों पर विचार कीजिए: A. अनुच्छेद 243S के अनुसार, '3 लाख या उससे अधिक' जनसंख्या वाली नगरपालिका के प्रादेशिक क्षेत्र के भीतर एक या अधिक वार्डों को मिलाकर वार्ड समितियों का गठन अनिवार्य है। B. राज्य का विधानमंडल कानून बनाकर वार्ड समिति की संरचना, प्रादेशिक क्षेत्र और उसके कार्य तय कर सकता है। C. वार्ड समिति के उस प्रादेशिक क्षेत्र का प्रतिनिधित्व करने वाला नगरपालिका का निर्वाचित पार्षद अनिवार्य रूप से उस वार्ड समिति का सदस्य होता है। D. वार्ड समितियों का गठन केवल 10 लाख से अधिक आबादी वाले महानगरों के नगर निगमों में ही किया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77778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219/300</a:t>
            </a:r>
          </a:p>
        </p:txBody>
      </p:sp>
    </p:spTree>
  </p:cSld>
  <p:clrMapOvr>
    <a:masterClrMapping/>
  </p:clrMapOvr>
</p:sld>
</file>

<file path=ppt/slides/slide4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Q.219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शहरी शासन में नागरिकों की सीधी भागीदारी सुनिश्चित करने के लिए 74वें संशोधन ने अनुच्छेद 243S अंतःस्थापित किया। 243S(1) स्पष्ट करता है कि 3 लाख या उससे अधिक जनसंख्या वाली किसी भी नगरपालिका में वार्ड समितियों का गठन अनिवार्य होगा, अतः कथन A सही है। राज्य विधानमंडल को इसकी संरचना और वित्तीय शक्तियां तय करने का अधिकार है, अतः कथन B सही है। जिस वार्ड के लिए समिति बनती है, उस वार्ड से चुना गया पार्षद समिति का सदस्य होता है और यदि समिति में एक ही वार्ड है तो वही पार्षद उसका अध्यक्ष होता है, अतः कथन C सही है। कथन D गलत है क्योंकि जनसंख्या की संवैधानिक न्यूनतम सीमा '3 लाख' है, न कि 10 लाख।</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77778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219/300</a:t>
            </a:r>
          </a:p>
        </p:txBody>
      </p:sp>
    </p:spTree>
  </p:cSld>
  <p:clrMapOvr>
    <a:masterClrMapping/>
  </p:clrMapOvr>
</p:sld>
</file>

<file path=ppt/slides/slide4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243ZE के तहत 'महानगर योजना समिति' (Metropolitan Planning Committee - MPC) के संदर्भ में निम्नलिखित कथनों पर विचार कीजिए: A. अनुच्छेद 243ZE के अनुसार, '10 लाख या उससे अधिक' जनसंख्या वाले प्रत्येक महानगरीय क्षेत्र (Metropolitan Area) के लिए एक समग्र विकास योजना प्रारूप तैयार करने हेतु MPC का गठन अनिवार्य है। B. समिति के कुल सदस्यों के कम से कम 'दो-तिहाई' (2/3) सदस्य उस महानगरीय क्षेत्र की नगरपालिकाओं के निर्वाचित पार्षदों और पंचायतों के अध्यक्षों द्वारा अपने में से निर्वाचित होते हैं। C. निर्वाचित सदस्यों का अनुपात उस महानगरीय क्षेत्र की नगरीय और ग्रामीण जनसंख्या के अनुपात के अनुसार तय किया जाता है। D. महानगर योजना समिति द्वारा तैयार किए गए विकास योजना के प्रारूप को सीधे भारत के राष्ट्रपति द्वारा अनुमोदित कराया जाना आवश्यक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1786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220/300</a:t>
            </a:r>
          </a:p>
        </p:txBody>
      </p:sp>
    </p:spTree>
  </p:cSld>
  <p:clrMapOvr>
    <a:masterClrMapping/>
  </p:clrMapOvr>
</p:sld>
</file>

<file path=ppt/slides/slide4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74वें संशोधन का अनुच्छेद 243ZE बड़े शहरी संकुलों (मेट्रोपॉलिटन क्षेत्रों जिनकी आबादी 10 लाख से अधिक हो) के समन्वित विकास का प्रावधान करता है, अतः कथन A सही है। 243ZE(2)(ख) के अनुसार कम से कम 2/3 सदस्य स्थानीय निर्वाचित जन-प्रतिनिधियों (नगरपालिकाओं के पार्षद और जिला/ग्राम पंचायतों के अध्यक्ष) द्वारा चुने जाते हैं, अतः कथन B सही है। ग्रामीण और नगरीय क्षेत्रों के सदस्यों की संख्या उनकी जनसंख्या के अनुपात में तय होती है, अतः कथन C सही है। कथन D असत्य है क्योंकि समिति योजना का प्रारूप तैयार करके संबंधित 'राज्य सरकार' को अग्रेषित करती है, न कि सीधे राष्ट्रपति 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1786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220/300</a:t>
            </a:r>
          </a:p>
        </p:txBody>
      </p:sp>
    </p:spTree>
  </p:cSld>
  <p:clrMapOvr>
    <a:masterClrMapping/>
  </p:clrMapOvr>
</p:sld>
</file>

<file path=ppt/slides/slide4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नीति' (Public Policy) की अवधारणा, प्रकृति और प्रमुख सिद्धांतों के संदर्भ में निम्नलिखित कथनों पर विचार कीजिए: A. प्रसिद्ध अमेरिकी नीति विश्लेषक थॉमस आर. डाई (Thomas R. Dye) के अनुसार, "सरकारें जो कुछ भी करने या न करने का चुनाव करती हैं, वही लोक नीति है" (Public policy is whatever governments choose to do or not to do)। B. लोक नीति केवल सरकार के विधायी कानूनों तक सीमित नहीं है, बल्कि इसमें सरकार के रणनीतिक निर्णय, कार्यकारी आदेश और जानबूझकर निष्क्रिय रहना (Inaction) भी शामिल है। C. लोक नीति लक्ष्य-निर्देशित (Goal-oriented) होती है और इसका अंतिम उद्देश्य सार्वजनिक कल्याण, सामाजिक न्याय और व्यवस्था बनाए रखना होता है। D. लोक नीति का निर्माण केवल निर्वाचित मंत्रियों द्वारा गुप्त रूप से किया जाता है और इसमें न्यायपालिका, नागरिक समाज या नौकरशाही की कोई भूमिका नहीं होती।</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5794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221/300</a:t>
            </a:r>
          </a:p>
        </p:txBody>
      </p:sp>
    </p:spTree>
  </p:cSld>
  <p:clrMapOvr>
    <a:masterClrMapping/>
  </p:clrMapOvr>
</p:sld>
</file>

<file path=ppt/slides/slide4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थॉमस डाई की सुप्रसिद्ध परिभाषा दर्शाती है कि लोक नीति सरकार की सक्रिय पहल के साथ-साथ उसकी सोच-समझकर बनाई गई निष्क्रियता (जैसे किसी मामले में हस्तक्षेप न करने का नीतिगत फैसला) को भी समाहित करती है, अतः कथन A और B सही हैं। जेम्स एंडरसन के अनुसार लोक नीति सार्वजनिक समस्याओं के समाधान हेतु एक उद्देश्यपूर्ण दिशा-निर्देश है, अतः कथन C सही है। कथन D असत्य है क्योंकि लोक नीति निर्माण एक बहु-हितधारक और गतिशील प्रक्रिया है जिसमें विधायिका, स्थायी कार्यपालिका (नौकरशाही), न्यायपालिका (न्यायिक समीक्षा व निर्देशों द्वारा), थिंक टैंक (जैसे नीति आयोग), नागरिक समाज संगठन (NGOs), दबाव समूह और आम नागरिक सभी प्रत्यक्ष व अप्रत्यक्ष रूप से भाग लेते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5794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221/300</a:t>
            </a:r>
          </a:p>
        </p:txBody>
      </p:sp>
    </p:spTree>
  </p:cSld>
  <p:clrMapOvr>
    <a:masterClrMapping/>
  </p:clrMapOvr>
</p:sld>
</file>

<file path=ppt/slides/slide4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नीति निर्माण प्रक्रिया (Policy Formulation Process) और 'नीति चक्र' (Policy Cycle) के चरणों के संदर्भ में निम्नलिखित कथनों पर विचार कीजिए: A. लोक नीति चक्र एक सतत और व्यवस्थित प्रक्रिया है जिसका प्रथम चरण 'समस्या की पहचान और एजेंडा निर्धारण' (Problem Identification and Agenda Setting) होता है। B. नीति निर्माण (Policy Formulation) के चरण में समस्या के समाधान हेतु विभिन्न वैकल्पिक प्रस्तावों को तैयार और विश्लेषित किया जाता है। C. नीति का वैधीकरण और अंगीकरण (Policy Legitimation) संसद, राज्य विधानमंडल या सक्षम कार्यकारी प्राधिकारी द्वारा आधिकारिक स्वीकृति के माध्यम से होता है। D. नीति क्रियान्वयन (Implementation) के पश्चात अंतिम चरण 'नीति मूल्यांकन' (Policy Evaluation) होता है, जिसके आधार पर नीति को जारी रखने, संशोधित करने या समाप्त करने का निर्णय लिया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8980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222/300</a:t>
            </a:r>
          </a:p>
        </p:txBody>
      </p:sp>
    </p:spTree>
  </p:cSld>
  <p:clrMapOvr>
    <a:masterClrMapping/>
  </p:clrMapOvr>
</p:sld>
</file>

<file path=ppt/slides/slide4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 प्रशासन में नीति चक्र एक वृत्ताकार व गतिशील मॉडल है जिसमें छह प्रमुख चरण होते हैं: 1. समस्या की पहचान और एजेंडा निर्धारण (सार्वजनिक समस्या को सरकार के विचारणीय पटल पर लाना), 2. नीति विकल्प निर्माण, 3. नीति वैधीकरण (कानूनी व प्रशासनिक मंजूरी), 4. नीति क्रियान्वयन (बजट आवंटन व प्रशासनिक तंत्र द्वारा धरातल पर उतारना), 5. नीति निगरानी व मूल्यांकन (वास्तविक प्रभावों का अध्ययन), और 6. नीति प्रतिपुष्टि (Feedback) एवं संशोधन। चारों कथन पूर्णतः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8980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222/300</a:t>
            </a:r>
          </a:p>
        </p:txBody>
      </p:sp>
    </p:spTree>
  </p:cSld>
  <p:clrMapOvr>
    <a:masterClrMapping/>
  </p:clrMapOvr>
</p:sld>
</file>

<file path=ppt/slides/slide4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चार्ल्स ई. लिंडब्लोम (Charles E. Lindblom) द्वारा प्रस्तुत लोक नीति के 'वृद्धिशील मॉडल' (Incremental Model) के संदर्भ में निम्नलिखित कथनों पर विचार कीजिए: A. लिंडब्लोम ने अपने 1959 के प्रसिद्ध शोध-पत्र "द साइंस ऑफ मडलिंग थ्रू" (The Science of 'Muddling Through') में वृद्धिशील नीति मॉडल का प्रतिपादन किया था। B. यह मॉडल मानता है कि नीति-निर्माता किसी समस्या पर शून्य से संपूर्ण नई नीतियां नहीं बनाते, बल्कि वे पहले से चल रही नीतियों में ही छोटे-छोटे क्रमिक सुधार (Marginal Incremental Adjustments) करते हैं। C. यह मॉडल नीति निर्माण के हर्बर्ट साइमन और येहेजकेल ड्रोर के 'पूर्ण विवेकशील मॉडल' (Rational Comprehensive Model) की सीमाओं और व्यावहारिक कठिनाइयों की प्रतिक्रिया स्वरूप उभरा। D. लिंडब्लोम के अनुसार यह मॉडल अत्यंत क्रांतिकारी और बड़े सामाजिक परिवर्तनों को रातों-रात लागू करने के लिए सबसे उपयुक्त माना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3810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223/300</a:t>
            </a:r>
          </a:p>
        </p:txBody>
      </p:sp>
    </p:spTree>
  </p:cSld>
  <p:clrMapOvr>
    <a:masterClrMapping/>
  </p:clrMapOvr>
</p:sld>
</file>

<file path=ppt/slides/slide4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चार्ल्स लिंडब्लोम ने तर्क दिया कि वास्तविक प्रशासनिक दुनिया में नीति-निर्माताओं के पास समय, सूचना और संसाधनों की भारी कमी होती है, इसलिए वे सभी संभावित विकल्पों का पूर्ण परीक्षण नहीं कर सकते; वे पुरानी सफल नीतियों में केवल वृद्धिशील (Incremental) बदलाव करते हैं, अतः कथन A, B और C सही हैं। कथन D असत्य है क्योंकि वृद्धिशील मॉडल की सबसे बड़ी आलोचना ही यही है कि यह यथास्थितिवादी (Status-quoist) और रूढ़िवादी है; यह धीरे-धीरे सुरक्षित कदम उठाने पर बल देता है और यह रातों-रात बड़े सामाजिक बदलावों या क्रांतिकारी नीतिगत आमूलचूल परिवर्तनों (जैसे 1991 के आर्थिक सुधार) को समझाने में असमर्थ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3810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223/300</a:t>
            </a:r>
          </a:p>
        </p:txBody>
      </p:sp>
    </p:spTree>
  </p:cSld>
  <p:clrMapOvr>
    <a:masterClrMapping/>
  </p:clrMapOvr>
</p:sld>
</file>

<file path=ppt/slides/slide4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प्रसिद्ध समाजशास्त्री और राजनीति विज्ञानी रॉबर्ट लोवी (Robert Lowi) द्वारा वर्गीकृत लोक नीतियों के प्रकारों और उनके उदाहरणों का सही मिलान कीजिए: सूची-I: सूची-I: A. नियामक नीतियां (Regulatory Policies) B. वितरणात्मक नीतियां (Distributive Policies) C. पुनर्वितरणात्मक नीतियां (Redistributive Policies) D. घटक/संस्थागत नीतियां (Constituent Policies) सूची-II: 1. समाज के कमजोर वर्गों को रियायती राशन (PDS), उर्वरक सब्सिडी और छात्रवृत्तियां प्रदान करना 2. टेलीकॉम कंपनियों पर TRAI के नियमन, पर्यावरण प्रदूषण नियंत्रण कानून और सेबी (SEBI) के नियम 3. प्रगतिशील आयकर प्रणाली, भूमि सुधार और अत्यधिक धनी वर्गों पर संपत्ति कर लगाकर गरीबों में कल्याणकारी योजनाओं का वित्तपोषण 4. नए प्रशासनिक आयोगों का गठन, नए राज्यों का पुनर्गठन और चुनाव सुधार कानून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C-4, D-1</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897818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224/300</a:t>
            </a:r>
          </a:p>
        </p:txBody>
      </p:sp>
    </p:spTree>
  </p:cSld>
  <p:clrMapOvr>
    <a:masterClrMapping/>
  </p:clrMapOvr>
</p:sld>
</file>

<file path=ppt/slides/slide4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C-4, D-1</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रॉबर्ट लोवी ने लोक नीतियों को समाज पर पड़ने वाले प्रभावों के आधार पर 4 श्रेणियों में बांटा है: 1. नियामक नीतियां (व्यक्ति या कंपनियों के व्यवहार को नियंत्रित करती हैं, जैसे ट्रैफिक कानून, सेबी व ट्राई नियम) (A-2); 2. वितरणात्मक नीतियां (सार्वजनिक कोष से विशिष्ट लक्षित वर्गों को प्रत्यक्ष अनुदान, सब्सिडी या कल्याण सेवाएं देती हैं, जैसे राशन, छात्रवृत्ति) (B-1); 3. पुनर्वितरणात्मक नीतियां (सामाजिक गैर-बराबरी पाटने के लिए संसाधनों और धन का बुनियादी पुनर्वितरण करती हैं, जैसे प्रगतिशील कराधान व भूमि सुधार) (C-3); 4. घटक नीतियां (प्रशासनिक संरचना और राज्य की शक्तियों के संगठन से संबंधित, जैसे आयोग गठन या राज्य पुनर्गठन) (D-4)। सही कूट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897818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224/300</a:t>
            </a:r>
          </a:p>
        </p:txBody>
      </p:sp>
    </p:spTree>
  </p:cSld>
  <p:clrMapOvr>
    <a:masterClrMapping/>
  </p:clrMapOvr>
</p:sld>
</file>

<file path=ppt/slides/slide4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 नीति के क्रियान्वयन में 'टॉप-डाउन' (Top-Down) बनाम 'बॉटम-अप' (Bottom-Up) दृष्टिकोण के संदर्भ में निम्नलिखित कथनों पर विचार कीजिए: A. टॉप-डाउन दृष्टिकोण में नीति का निर्माण शीर्ष स्तर पर मंत्रियों और उच्च नौकरशाही द्वारा किया जाता है तथा निचले प्रशासनिक स्तर केवल इसे आदेशानुसार लागू करते हैं। B. बॉटम-अप दृष्टिकोण में स्थानीय प्रशासनिक अधिकारियों, अग्रिम पंक्ति के कार्यकर्ताओं (Street-level Bureaucrats) और स्थानीय हितधारकों की प्रतिक्रिया व आवश्यकताओं को नीति का आधार बनाया जाता है। C. 1950 का योजना आयोग मुख्य रूप से 'टॉप-डाउन' केंद्रीकृत दृष्टिकोण का प्रतीक था, जबकि नीति आयोग (2015) 'बॉटम-अप' सहकारी संघवाद के दृष्टिकोण पर बल देता है। D. बॉटम-अप दृष्टिकोण केवल उन परिस्थितियों में सफल होता है जहां स्थानीय जनता और पंचायती राज संस्थाओं को नीति प्रक्रिया से पूरी तरह बाहर रखा जाए।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1827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225/300</a:t>
            </a:r>
          </a:p>
        </p:txBody>
      </p:sp>
    </p:spTree>
  </p:cSld>
  <p:clrMapOvr>
    <a:masterClrMapping/>
  </p:clrMapOvr>
</p:sld>
</file>

<file path=ppt/slides/slide4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शीर्ष-से-नीचे (Top-down) मॉडल केंद्रीकृत नियंत्रण और पदानुक्रमित आज्ञापालन पर आधारित होता है, अतः कथन A सही है। नीचे-से-ऊपर (Bottom-up) मॉडल (माइकल लिप्सकी आदि द्वारा समर्थित) मानता है कि वास्तविक नीति का परिणाम उन अग्रिम पंक्ति के कार्मिकों (शिक्षकों, पुलिसकर्मियों, आशा कार्यकर्ताओं) के विवेक और स्थानीय जन-सहभागिता से तय होता है, अतः कथन B सही है। योजना आयोग ऊपर से योजनाएं थोपता था जबकि नीति आयोग राज्यों और स्थानीय निकायों की सलाह पर नीचे से योजनाएं तैयार करने का दावा करता है, अतः कथन C सही है। कथन D असत्य है क्योंकि बॉटम-अप दृष्टिकोण का पूरा सार ही स्थानीय जनता और ग्राम-स्तर की संस्थाओं की सक्रिय सहभागिता पर टिका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1827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225/300</a:t>
            </a:r>
          </a:p>
        </p:txBody>
      </p:sp>
    </p:spTree>
  </p:cSld>
  <p:clrMapOvr>
    <a:masterClrMapping/>
  </p:clrMapOvr>
</p:sld>
</file>

<file path=ppt/slides/slide4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226</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लोक नीति के 'प्रभाव मूल्यांकन' (Impact Evaluation) में 'आउटपुट' (Output) और 'आउटकम' (Outcome) के मध्य बुनियादी अंतर क्या होता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आउटपुट का अर्थ नीति का वित्तीय बजट होता है, जबकि आउटकम का अर्थ नीति बनाने वाले अधिकारियों की संख्या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आउटपुट सरकारी नीति द्वारा उत्पादित प्रत्यक्ष भौतिक वस्तुएं/सेवाएं (जैसे बने हुए स्कूलों की संख्या) हैं, जबकि आउटकम उन सेवाओं से लक्षित लाभार्थियों के जीवन में आया वास्तविक गुणात्मक परिवर्तन (जैसे साक्षरता दर और सीखने के स्तर में वृद्धि)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आउटपुट और आउटकम दोनों पूरी तरह पर्यायवाची हैं और इनमें कोई प्रशासनिक अंतर नहीं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600" dirty="0">
                <a:solidFill>
                  <a:srgbClr val="1A1A1A"/>
                </a:solidFill>
                <a:latin typeface="Nirmala UI"/>
                <a:cs typeface="Nirmala UI"/>
              </a:rPr>
              <a:t>आउटपुट केवल निजी कंपनियों पर लागू होता है, जबकि आउटकम केवल अदालतों पर लागू होता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5835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226/300</a:t>
            </a:r>
          </a:p>
        </p:txBody>
      </p:sp>
    </p:spTree>
  </p:cSld>
  <p:clrMapOvr>
    <a:masterClrMapping/>
  </p:clrMapOvr>
</p:sld>
</file>

<file path=ppt/slides/slide4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600" b="1" dirty="0">
                <a:solidFill>
                  <a:srgbClr val="005A24"/>
                </a:solidFill>
                <a:latin typeface="Nirmala UI"/>
                <a:cs typeface="Nirmala UI"/>
              </a:rPr>
              <a:t>आउटपुट सरकारी नीति द्वारा उत्पादित प्रत्यक्ष भौतिक वस्तुएं/सेवाएं (जैसे बने हुए स्कूलों की संख्या) हैं, जबकि आउटकम उन सेवाओं से लक्षित लाभार्थियों के जीवन में आया वास्तविक गुणात्मक परिवर्तन (जैसे साक्षरता दर और सीखने के स्तर में वृद्धि)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आउटपुट का अर्थ नीति का वित्तीय बजट होता है, जबकि आउटकम का अर्थ नीति बनाने वाले अधिकारियों की संख्या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आउटपुट और आउटकम दोनों पूरी तरह पर्यायवाची हैं और इनमें कोई प्रशासनिक अंतर नहीं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600" dirty="0">
                <a:solidFill>
                  <a:srgbClr val="8890A8"/>
                </a:solidFill>
                <a:latin typeface="Nirmala UI"/>
                <a:cs typeface="Nirmala UI"/>
              </a:rPr>
              <a:t>आउटपुट केवल निजी कंपनियों पर लागू होता है, जबकि आउटकम केवल अदालतों पर लागू होता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सुशासन और परिणाम-आधारित बजट (Outcome Budgeting) में आउटपुट और आउटकम का अंतर अत्यंत महत्वपूर्ण है। 'आउटपुट' (Output) किसी योजना के तहत प्रशासनिक प्रक्रिया का प्रत्यक्ष उत्पाद या गणना योग्य भौतिक परिणाम होता है; जैसे-खोदे गए कुओं की संख्या, निर्मित शौचालयों की संख्या, या वितरित छात्रवृत्तियों की संख्या। इसके विपरीत 'आउटकम' (Outcome) उस आउटपुट के परिणामस्वरूप समाज में आया दीर्घकालिक सामाजिक-आर्थिक प्रभाव और नागरिकों के जीवन स्तर में आया वास्तविक गुणात्मक सुधार होता है; जैसे-भूजल स्तर में सुधार, खुले में शौच से मुक्ति और बीमारियों में कमी, या ड्रॉपआउट दर में कमी। विकास निगरानी और मूल्यांकन कार्यालय (DMEO) इसी आउटकम का मापन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5835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226/300</a:t>
            </a:r>
          </a:p>
        </p:txBody>
      </p:sp>
    </p:spTree>
  </p:cSld>
  <p:clrMapOvr>
    <a:masterClrMapping/>
  </p:clrMapOvr>
</p:sld>
</file>

<file path=ppt/slides/slide4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'नागरिक अधिकार पत्र' (Citizen's Charter) की ऐतिहासिक पृष्ठभूमि, मूल सिद्धांतों और वैश्विक विकास के संदर्भ में निम्नलिखित कथनों पर विचार कीजिए: A. नागरिक अधिकार पत्र की अवधारणा का औपचारिक सूत्रपात सर्वप्रथम 1991 में यूनाइटेड किंगडम (ब्रिटेन) में तत्कालीन प्रधानमंत्री जॉन मेजर के नेतृत्व वाली कंजर्वेटिव सरकार द्वारा किया गया था। B. यूके नागरिक अधिकार पत्र के 6 मूल सिद्धांत तय किए गए थे: 1. गुणवत्ता (Quality), 2. विकल्प (Choice), 3. मानक (Standards), 4. मूल्य (Value for money), 5. जवाबदेही (Accountability), और 6. पारदर्शिता (Transparency)। C. वर्ष 1998 में ब्रिटेन में टोनी ब्लेयर सरकार ने इस कार्यक्रम को 'सर्विस फर्स्ट' (Service First) के नए नाम से पुनर्गठित किया। D. नागरिक अधिकार पत्र प्रशासन को नौकरशाही-केंद्रित से बदलकर 'नागरिक-केंद्रित' (Citizen-centric) और सेवा-उन्मुख बनाने का एक अंतरराष्ट्रीय दस्तावेज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0984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227/300</a:t>
            </a:r>
          </a:p>
        </p:txBody>
      </p:sp>
    </p:spTree>
  </p:cSld>
  <p:clrMapOvr>
    <a:masterClrMapping/>
  </p:clrMapOvr>
</p:sld>
</file>

<file path=ppt/slides/slide4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नागरिक अधिकार पत्र आधुनिक लोक प्रशासन का अत्यंत महत्वपूर्ण सुधार है जो नागरिक को सरकारी सेवाओं के केंद्र में स्थापित करता है। जॉन मेजर ने 1991 में इसे ब्रिटेन में सार्वजनिक क्षेत्र की सेवाओं की जवाबदेही और गुणवत्ता बढ़ाने के लिए लागू किया था, अतः कथन A सही है। इसके 6 बुनियादी सिद्धांतों में सेवा के मानकों का स्पष्ट प्रदर्शन, नागरिकों को विकल्प देना, टैक्सपेयर्स के पैसे का अधिकतम मूल्य और पारदर्शिता शामिल है, अतः कथन B सही है। 1998 में लेबर पार्टी की टोनी ब्लेयर सरकार ने इसे 'सर्विस फर्स्ट' नाम दिया, अतः कथन C सही है। यह नागरिक को केवल याचक नहीं बल्कि एक जागरूक उपभोक्ता/नागरिक मानकर प्रशासनिक जवाबदेही तय करता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0984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227/300</a:t>
            </a:r>
          </a:p>
        </p:txBody>
      </p:sp>
    </p:spTree>
  </p:cSld>
  <p:clrMapOvr>
    <a:masterClrMapping/>
  </p:clrMapOvr>
</p:sld>
</file>

<file path=ppt/slides/slide4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'नागरिक अधिकार पत्र' (Citizen's Charter) की पहल और इसकी कानूनी स्थिति के संदर्भ में निम्नलिखित कथनों पर विचार कीजिए: A. भारत में नागरिक अधिकार पत्र अपनाने की शुरुआत मई 1997 में नई दिल्ली में आयोजित विभिन्न राज्यों के मुख्यमंत्रियों के सम्मेलन में 'प्रभावी और उत्तरदायी सरकार हेतु कार्ययोजना' स्वीकार करने के बाद हुई। B. भारत सरकार का 'प्रशासनिक सुधार और लोक शिकायत विभाग' (DARPG) देश में नागरिक अधिकार पत्रों के निर्माण और कार्यान्वयन की नोडल एजेंसी है। C. भारत में नागरिक अधिकार पत्र एक कानूनी रूप से बाध्यकारी (Legally Enforceable) दस्तावेज है, जिसके मानकों का उल्लंघन होने पर नागरिक सीधे उच्च न्यायालय से परमादेश रिट जारी करवा सकते हैं। D. नागरिक अधिकार पत्र की विषय-वस्तु में संगठन का विजन-मिशन, दी जाने वाली सेवाओं का विवरण, सेवा वितरण की समय-सीमा और शिकायत निवारण अधिकारी का संपर्क विवरण शामिल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3851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228/300</a:t>
            </a:r>
          </a:p>
        </p:txBody>
      </p:sp>
    </p:spTree>
  </p:cSld>
  <p:clrMapOvr>
    <a:masterClrMapping/>
  </p:clrMapOvr>
</p:sld>
</file>

<file path=ppt/slides/slide4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में 1997 के मुख्यमंत्रियों के सम्मेलन के बाद केंद्र और राज्यों के मंत्रालयों में चार्टर बनाने का अभियान चला, अतः कथन A सही है। DARPG इसकी नोडल एजेंसी है जो इसके मानक तय करती है, अतः कथन B सही है। कथन C असत्य है क्योंकि भारत में नागरिक अधिकार पत्र प्रकृति में केवल एक स्वैच्छिक, प्रशासनिक और नैतिक घोषणापत्र (Document of intent) है; यह कानूनी रूप से बाध्यकारी या न्यायोचित नहीं है, अतः इसके उल्लंघन पर सीधे रिट याचिका दायर नहीं हो सकती (यद्यपि विभिन्न राज्यों ने इसे कानूनी बल देने हेतु लोक सेवा गारंटी कानून बनाए हैं)। प्रत्येक चार्टर में स्पष्ट समय-सीमा और शिकायत अधिकारी का नाम-पता होना आवश्यक है, अतः कथन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3851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228/300</a:t>
            </a:r>
          </a:p>
        </p:txBody>
      </p:sp>
    </p:spTree>
  </p:cSld>
  <p:clrMapOvr>
    <a:masterClrMapping/>
  </p:clrMapOvr>
</p:sld>
</file>

<file path=ppt/slides/slide4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229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के 'सेवोत्तम मॉडल' (Sevottam Model) की संकल्पना और इसके प्रशासनिक ढांचे के संदर्भ में निम्नलिखित कथनों पर विचार कीजिए: A. 'सेवोत्तम' (सेवा + उत्तम अर्थात् सेवा उत्कृष्टता) मॉडल भारत सरकार के DARPG द्वारा सार्वजनिक सेवा वितरण की गुणवत्ता सुधारने हेतु 2006 में विकसित एक मानकीकृत मूल्यांकन ढांचा है। B. सेवोत्तम मॉडल भारतीय मानक ब्यूरो के गुणवत्ता प्रबंधन मानक 'IS 15700:2005' पर आधारित है। C. सेवोत्तम मॉडल को केवल रक्षा और परमाणु ऊर्जा मंत्रालयों के आंतरिक गोपनीय प्रशासन हेतु विकसित किया गया था। D. यह मॉडल नागरिक सेवा प्रदायगी में तीन स्तरों-इनपुट, प्रोसेस और आउटपुट पर सार्वजनिक सेवाओं की गुणवत्ता की निरंतर निगरानी और प्रमाणन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C</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17859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229/300</a:t>
            </a:r>
          </a:p>
        </p:txBody>
      </p:sp>
    </p:spTree>
  </p:cSld>
  <p:clrMapOvr>
    <a:masterClrMapping/>
  </p:clrMapOvr>
</p:sld>
</file>

<file path=ppt/slides/slide4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Q.229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D</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C</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2006 में प्रशासनिक सुधार विभाग ने सार्वजनिक सेवा वितरण में उत्कृष्टता लाने हेतु सेवोत्तम मॉडल बनाया, अतः कथन A सही है। यह बीआईएस के सेवा गुणवत्ता मानक IS 15700:2005 पर आधारित है, अतः कथन B सही है। कथन C असत्य है क्योंकि सेवोत्तम मॉडल सार्वजनिक जनता से सीधे जुड़े सभी नागरिक-उन्मुख केंद्रीय मंत्रालयों, विभागों और राज्य सरकारों के सेवा प्रदाता कार्यालयों के लिए बनाया गया है, न कि रक्षा या परमाणु ऊर्जा के गोपनीय प्रशासन के लिए। यह मॉडल सेवा वितरण की क्षमता, प्रक्रिया और संतुष्टि का संपूर्ण वैज्ञानिक मूल्यांकन करता है, अतः कथन D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17859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229/300</a:t>
            </a:r>
          </a:p>
        </p:txBody>
      </p:sp>
    </p:spTree>
  </p:cSld>
  <p:clrMapOvr>
    <a:masterClrMapping/>
  </p:clrMapOvr>
</p:sld>
</file>

<file path=ppt/slides/slide4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230</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भारत में लोक सेवा वितरण उत्कृष्टता के 'सेवोत्तम मॉडल' (Sevottam Model) के प्रमुख घटकों व विशेषताओं का सही मिलान कीजिए: सूची-I: सूची-I: A. मॉड्यूल-1 (प्रथम स्तंभ) B. मॉड्यूल-2 (द्वितीय स्तंभ) C. मॉड्यूल-3 (तृतीय स्तंभ) D. सेवोत्तम मूल्यांकन मानक सूची-II: 1. लोक शिकायत निवारण प्रणाली (Public Grievance Redressal) 2. नागरिक अधिकार पत्र का क्रियान्वयन (Citizen's Charter) 3. सेवा वितरण क्षमता का सुदृढ़ीकरण (Service Delivery Capability) 4. भारतीय मानक ब्यूरो (BIS) का सेवा गुणवत्ता प्रमाणन IS 15700:2005</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C-4, D-3</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A-3, B-1, C-2, D-4</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1867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230/300</a:t>
            </a:r>
          </a:p>
        </p:txBody>
      </p:sp>
    </p:spTree>
  </p:cSld>
  <p:clrMapOvr>
    <a:masterClrMapping/>
  </p:clrMapOvr>
</p:sld>
</file>

<file path=ppt/slides/slide4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C-4, D-3</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A-3, B-1, C-2,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सरकार के प्रशासनिक सुधार और लोक शिकायत विभाग (DARPG) द्वारा विकसित 'सेवोत्तम मॉडल' लोक सेवा वितरण में उत्कृष्टता का एक मानकीकृत ढांचा है। यह मॉडल तीन मुख्य स्तंभों (Modules) और 9 मानदंडों पर आधारित है: 1. मॉड्यूल-1: नागरिक अधिकार पत्र (Citizen's Charter) का निर्माण और क्रियान्वयन जिसमें सेवा मानकों का स्पष्ट निर्धारण शामिल है (A-2); 2. मॉड्यूल-2: लोक शिकायत निवारण (Public Grievance Redressal) जिसमें शिकायतों का समयबद्ध व निष्पक्ष समाधान शामिल है (B-1); 3. मॉड्यूल-3: सेवा वितरण क्षमता (Service Delivery Capability) जिसमें कार्मिक प्रशिक्षण, संसाधन और अवसंरचना विकास शामिल है (C-3); 4. सेवोत्तम मूल्यांकन मानक: भारतीय मानक ब्यूरो द्वारा सेवा वितरण गुणवत्ता के लिए विकसित 'IS 15700:2005' प्रमाणन पर आधारित है (D-4)। अतः सही सुमेल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1867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230/300</a:t>
            </a:r>
          </a:p>
        </p:txBody>
      </p:sp>
    </p:spTree>
  </p:cSld>
  <p:clrMapOvr>
    <a:masterClrMapping/>
  </p:clrMapOvr>
</p:sld>
</file>

<file path=ppt/slides/slide4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द्वितीय प्रशासनिक सुधार आयोग (2nd ARC) की 12वीं रिपोर्ट और सुशासन के संदर्भ में निम्नलिखित कथनों पर विचार कीजिए: A. द्वितीय प्रशासनिक सुधार आयोग (वीरप्पा मोइली की अध्यक्षता में 2005 में गठित) की 12वीं रिपोर्ट का शीर्षक 'नागरिक केंद्रित प्रशासन: सुशासन का हृदय' (Citizen Centric Administration: The Heart of Governance) है। B. 2nd ARC ने सिफारिश की कि प्रत्येक नागरिक अधिकार पत्र में सेवा मानकों के उल्लंघन या सेवा में अनुचित देरी होने पर नागरिकों को स्पष्ट क्षतिपूर्ति/मुआवजा देने का प्रावधान होना चाहिए। C. आयोग ने माना कि नागरिक अधिकार पत्र को केवल औपचारिकता बनने से रोकने के लिए इसमें स्वतंत्र बाह्य मूल्यांकनकर्ताओं द्वारा सामाजिक अंकेक्षण कराया जाना चाहिए। D. 2nd ARC ने सिफारिश की कि सभी विभागों में शिकायत निवारण हेतु केवल ऑनलाइन शिकायतें ही स्वीकार की जानी चाहिए और ग्रामीण नागरिकों के लिए व्यक्तिगत शिकायतों पर पूर्ण रोक लगानी चाहिए।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5875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231/300</a:t>
            </a:r>
          </a:p>
        </p:txBody>
      </p:sp>
    </p:spTree>
  </p:cSld>
  <p:clrMapOvr>
    <a:masterClrMapping/>
  </p:clrMapOvr>
</p:sld>
</file>

<file path=ppt/slides/slide4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2nd ARC की 12वीं रिपोर्ट नागरिक केंद्रित प्रशासन का सबसे प्रामाणिक दस्तावेज है, अतः कथन A सही है। आयोग ने कहा कि अधिकार पत्र तभी प्रभावी होगा जब सेवा में देरी होने पर विभाग पर जुर्माना लगे और नागरिक को मुआवजा मिले, अतः कथन B सही है। बाह्य एजेंसियों व नागरिक समाज द्वारा सोशल ऑडिट की सिफारिश की गई, अतः कथन C सही है। कथन D असत्य है क्योंकि 2nd ARC ने कभी भी व्यक्तिगत शिकायतों पर रोक की बात नहीं कही; भारत की डिजिटल विभाजन (Digital Divide) की स्थिति में आयोग ने स्पष्ट निर्देश दिया था कि ऑनलाइन के साथ-साथ ऑफलाइन, डाक, जनसुनवाई और व्यक्तिगत आवेदन के माध्यम से भी शिकायतें स्वीकार की जानी चाहिए।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5875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231/300</a:t>
            </a:r>
          </a:p>
        </p:txBody>
      </p:sp>
    </p:spTree>
  </p:cSld>
  <p:clrMapOvr>
    <a:masterClrMapping/>
  </p:clrMapOvr>
</p:sld>
</file>

<file path=ppt/slides/slide4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द्वितीय प्रशासनिक सुधार आयोग (2nd ARC) द्वारा नागरिक अधिकार पत्रों (Citizen's Charters) की प्रभावशीलता हेतु की गई प्रमुख सिफारिशों पर विचार कीजिए: A. आयोग ने केंद्र या मुख्यालय द्वारा सभी अधीनस्थ कार्यालयों पर 'वन साइज फिट्स ऑल' (One size fits all) के तहत एक समान प्रारूप थोपने की कड़ी आलोचना की। B. आयोग ने निर्देश दिया कि प्रत्येक स्थानीय कार्यालय को जनता और अग्रिम पंक्ति के कर्मचारियों के परामर्श से अपनी विशिष्ट परिस्थितियों के अनुसार स्थानीय चार्टर बनाना चाहिए। C. आयोग ने सिफारिश की कि नागरिक अधिकार पत्रों में किए गए वादों की समीक्षा प्रतिवर्ष नियमित रूप से हितधारकों के साथ की जानी चाहिए। D. आयोग ने सुझाव दिया कि नागरिक अधिकार पत्र केवल केंद्र सरकार के मंत्रालयों पर लागू होने चाहिए, राज्यों और पंचायतों को इससे मुक्त रखा जाना चाहिए।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2988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232/300</a:t>
            </a:r>
          </a:p>
        </p:txBody>
      </p:sp>
    </p:spTree>
  </p:cSld>
  <p:clrMapOvr>
    <a:masterClrMapping/>
  </p:clrMapOvr>
</p:sld>
</file>

<file path=ppt/slides/slide4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2nd ARC ने माना कि मुख्यालय द्वारा तैयार केंद्रीकृत चार्टर जमीनी हकीकत से कटे होते हैं, इसलिए स्थानीय स्तर पर विकेंद्रीकृत परामर्श जरूरी है, अतः कथन A और B सही हैं। नियमित समीक्षा और अपडेशन अनिवार्य बताया गया, अतः कथन C सही है। कथन D असत्य है क्योंकि नागरिक का सबसे अधिक सीधा संपर्क राज्य सरकारों, जिला प्रशासन, नगरपालिकाओं और पंचायतों से होता है; अतः 2nd ARC ने स्थानीय प्रशासन व पंचायत स्तर तक नागरिक अधिकार पत्रों को अनिवार्य रूप से लागू करने की पुरजोर वकालत की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2988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232/300</a:t>
            </a:r>
          </a:p>
        </p:txBody>
      </p:sp>
    </p:spTree>
  </p:cSld>
  <p:clrMapOvr>
    <a:masterClrMapping/>
  </p:clrMapOvr>
</p:sld>
</file>

<file path=ppt/slides/slide4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'सामाजिक अंकेक्षण' (Social Audit) की अवधारणा, सिद्धांतों और इसके महत्व के संदर्भ में निम्नलिखित कथनों पर विचार कीजिए: A. सामाजिक अंकेक्षण एक सहभागी प्रक्रिया है जिसमें योजनाओं के वास्तविक लाभार्थियों और स्थानीय समुदाय द्वारा सरकारी व्यय, भौतिक कार्यों और उनके वास्तविक सामाजिक प्रभावों का सत्यापन किया जाता है। B. सामाजिक अंकेक्षण केवल वित्तीय बिलों और वाउचरों की तकनीकी जांच (पारंपरिक वित्तीय ऑडिट) से भिन्न है; यह धन के न्यायसंगत वितरण और विकास की गुणवत्ता पर केंद्रित होता है। C. सामाजिक अंकेक्षण के तीन प्रमुख सिद्धांत हैं: पारदर्शिता, सहभागिता और सार्वजनिक जवाबदेही। D. सामाजिक अंकेक्षण केवल विभागीय सरकारी अधिकारियों की एक बंद कमरे में होने वाली गोपनीय जांच प्रक्रिया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3892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233/300</a:t>
            </a:r>
          </a:p>
        </p:txBody>
      </p:sp>
    </p:spTree>
  </p:cSld>
  <p:clrMapOvr>
    <a:masterClrMapping/>
  </p:clrMapOvr>
</p:sld>
</file>

<file path=ppt/slides/slide4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सामाजिक अंकेक्षण जनता की भागीदारी द्वारा सरकार के कार्यों की खुली जांच है, अतः कथन A सही है। सीएजी या एकाउंटेंट द्वारा किया जाने वाला वित्तीय ऑडिट केवल नियमों और वाउचरों को देखता है, जबकि सोशल ऑडिट यह देखता है कि क्या सड़क सचमुच बनी, उसकी गुणवत्ता कैसी है और क्या मजदूरों को पूरी मजदूरी मिली, अतः कथन B और C सही हैं। कथन D असत्य है क्योंकि सामाजिक अंकेक्षण की मूल आत्मा ही खुली सभा, 'जन सुनवाई' (Public Hearing) और ग्रामीणों के समक्ष सभी रिकॉर्ड्स को सार्वजनिक पटल पर रखना है; बंद कमरे में की गई जांच को कभी सामाजिक अंकेक्षण नहीं माना जा सकता।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3892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233/300</a:t>
            </a:r>
          </a:p>
        </p:txBody>
      </p:sp>
    </p:spTree>
  </p:cSld>
  <p:clrMapOvr>
    <a:masterClrMapping/>
  </p:clrMapOvr>
</p:sld>
</file>

<file path=ppt/slides/slide4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महात्मा गांधी राष्ट्रीय ग्रामीण रोजगार गारंटी अधिनियम, 2005 (MGNREGA, 2005) के तहत सामाजिक अंकेक्षण के वैधानिक प्रावधानों पर विचार कीजिए: A. मनरेगा अधिनियम, 2005 की 'धारा 17' भारत का पहला ऐसा केंद्रीय वैधानिक प्रावधान है जिसने ग्राम सभा द्वारा सभी विकास कार्यों का नियमित सामाजिक अंकेक्षण अनिवार्य बनाया। B. धारा 17(2) के अनुसार ग्राम सभा ग्राम पंचायत के भीतर निष्पादित सभी कार्यों के निष्पादन की निगरानी करेगी और सामाजिक अंकेक्षण करेगी। C. ग्राम पंचायत को सामाजिक अंकेक्षण करने वाली टीम और ग्रामीणों को सभी संबंधित मस्टर रोल, बिल, वाउचर और माप पुस्तिकाएं (Measurement Books) उपलब्ध कराना कानूनी रूप से अनिवार्य है। D. सामाजिक अंकेक्षण में पाई गई वित्तीय गड़बड़ियों पर किसी भी अधिकारी के खिलाफ कार्रवाई नहीं की जा सकती क्योंकि इसकी रिपोर्ट केवल सलाहकारी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37900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234/300</a:t>
            </a:r>
          </a:p>
        </p:txBody>
      </p:sp>
    </p:spTree>
  </p:cSld>
  <p:clrMapOvr>
    <a:masterClrMapping/>
  </p:clrMapOvr>
</p:sld>
</file>

<file path=ppt/slides/slide4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मनरेगा की धारा 17 ने भारत में सामाजिक अंकेक्षण को कानूनी वैधता और अधिकार प्रदान किया, अतः कथन A सही है। ग्राम सभा को सोशल ऑडिट की सर्वोच्च संस्था बनाया गया, अतः कथन B सही है। धारा 17(3) स्पष्ट करती है कि ग्राम पंचायत सभी रिकॉर्ड उपलब्ध कराने के लिए बाध्य है, अतः कथन C सही है। कथन D असत्य है क्योंकि मनरेगा सामाजिक अंकेक्षण नियमों (Audit of Scheme Rules, 2011) के अनुसार यदि सामाजिक अंकेक्षण में गबन, फर्जी जॉब कार्ड या भ्रष्टाचार पाया जाता है, तो दोषी अधिकारियों से वसूली और उनके विरुद्ध विभागीय व आपराधिक मुकदमे (FIR) दर्ज कराना अनिवार्य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37900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234/300</a:t>
            </a:r>
          </a:p>
        </p:txBody>
      </p:sp>
    </p:spTree>
  </p:cSld>
  <p:clrMapOvr>
    <a:masterClrMapping/>
  </p:clrMapOvr>
</p:sld>
</file>

<file path=ppt/slides/slide4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में सामाजिक अंकेक्षण (Social Audit) और सूचना के अधिकार आंदोलन के ऐतिहासिक उद्भव के संदर्भ में निम्नलिखित कथनों पर विचार कीजिए: A. राजस्थान के राजसमंद जिले के देवडूंगरी/भीम क्षेत्र में 1990 के दशक में 'मजदूर किसान शक्ति संगठन' (MKSS - अरुणा रॉय, निखिल डे, शंकर सिंह आदि) ने सामाजिक अंकेक्षण की ऐतिहासिक नींव रखी थी। B. MKSS ने "हमारा पैसा, हमारा हिसाब" का ऐतिहासिक नारा देकर स्थानीय स्तर पर 'जन सुनवाई' (Public Hearing) की अनूठी परंपरा शुरू की। C. इस जन-आंदोलन ने सरकारी अभिलेखों (जैसे मस्टर रोल) की प्रतियां प्राप्त करने की मांग उठाकर देश में 'सूचना का अधिकार अधिनियम, 2005' की पृष्ठभूमि तैयार की। D. राजस्थान सरकार ने 2000 में सूचना का अधिकार कानून बनाने से स्पष्ट इनकार कर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1908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235/300</a:t>
            </a:r>
          </a:p>
        </p:txBody>
      </p:sp>
    </p:spTree>
  </p:cSld>
  <p:clrMapOvr>
    <a:masterClrMapping/>
  </p:clrMapOvr>
</p:sld>
</file>

<file path=ppt/slides/slide4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में MKSS का संघर्ष भारत के लोकतांत्रिक इतिहास का स्वर्णिम अध्याय है जिसने ग्रामीणों को अपने हक का हिसाब मांगना सिखाया, अतः कथन A सही है। कोट किराना और भीम में आयोजित जन सुनवाइयों में मस्टर रोल पढ़कर सुनाए गए जिससे फर्जी मजदूरों के नाम उजागर हुए, अतः कथन B सही है। इस आंदोलन ने साबित किया कि सूचना का अधिकार केवल बौद्धिक विलास नहीं बल्कि गरीबों की आजीविका और मजदूरी की पहली शर्त है, अतः कथन C सही है। कथन D गलत है क्योंकि राजस्थान सरकार ने 2000 में ही राज्य का सूचना का अधिकार अधिनियम पारित कर दिया था (जो राष्ट्रीय RTI 2005 से 5 वर्ष पूर्व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1908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235/300</a:t>
            </a:r>
          </a:p>
        </p:txBody>
      </p:sp>
    </p:spTree>
  </p:cSld>
  <p:clrMapOvr>
    <a:masterClrMapping/>
  </p:clrMapOvr>
</p:sld>
</file>

<file path=ppt/slides/slide4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2017 में सभी प्रमुख सरकारी योजनाओं और कार्यक्रमों के लिए 'सामाजिक अंकेक्षण' (Social Audit) को कानूनी रूप से अनिवार्य बनाने वाला स्वतंत्र कानून पारित करने वाला भारत का पहला राज्य कौन-सा बना?</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राजस्थान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मेघालय</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केरल</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आंध्र प्रदेश</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5916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236/300</a:t>
            </a:r>
          </a:p>
        </p:txBody>
      </p:sp>
    </p:spTree>
  </p:cSld>
  <p:clrMapOvr>
    <a:masterClrMapping/>
  </p:clrMapOvr>
</p:sld>
</file>

<file path=ppt/slides/slide4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मेघालय</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केरल</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आंध्र प्रदेश</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अप्रैल 2017 में मेघालय राज्य विधानसभा ने ऐतिहासिक 'मेघालय सामुदायिक सहभागिता और लोक सेवा सामाजिक अंकेक्षण अधिनियम, 2017' (The Meghalaya Community Participation and Public Services Social Audit Act, 2017) पारित किया। इसके साथ ही मेघालय भारत का ऐसा पहला राज्य बन गया जिसने सामाजिक अंकेक्षण को 21 प्रमुख सरकारी विभागों और योजनाओं के लिए कानूनी रूप से अनिवार्य (Legally Mandated) बना दिया। इस कानून के तहत एक स्वतंत्र सामाजिक अंकेक्षण निदेशालय स्थापित किया गया है और ग्राम स्तर पर सोशल ऑडिट फेसिलिटेटर्स नियुक्त किए जाते हैं जो सरकारी धन के खर्च की खुली सार्वजनिक समीक्षा करते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5916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236/300</a:t>
            </a:r>
          </a:p>
        </p:txBody>
      </p:sp>
    </p:spTree>
  </p:cSld>
  <p:clrMapOvr>
    <a:masterClrMapping/>
  </p:clrMapOvr>
</p:sld>
</file>

<file path=ppt/slides/slide4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के एकीकृत लोक शिकायत निवारण मंच-CPGRAMS के संदर्भ में निम्नलिखित कथनों पर विचार कीजिए: A. CPGRAMS (Centralized Public Grievance Redress and Monitoring System) भारत सरकार के DARPG द्वारा विकसित नागरिकों की ऑनलाइन शिकायतें दर्ज करने और उनकी निगरानी का 24x7 वेब मंच है। B. नागरिक CPGRAMS के माध्यम से केंद्र सरकार के किसी भी मंत्रालय, विभाग या स्वायत्त निकाय के विरुद्ध ऑनलाइन शिकायत दर्ज कर सकते हैं और ट्रैकिंग आईडी से स्थिति जांच सकते हैं। C. यदि नागरिक निवारण से असंतुष्ट है, तो CPGRAMS मंच पर ही उच्चतर प्राधिकारी के समक्ष 'अपील' (Appeal) दायर करने का विकल्प उपलब्ध है। D. CPGRAMS पर केवल संसद सदस्यों द्वारा भेजी गई शिकायतें ही स्वीकार की जाती हैं, आम नागरिकों को सीधे शिकायत दर्ज करने की अनुमति नहीं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4992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237/300</a:t>
            </a:r>
          </a:p>
        </p:txBody>
      </p:sp>
    </p:spTree>
  </p:cSld>
  <p:clrMapOvr>
    <a:masterClrMapping/>
  </p:clrMapOvr>
</p:sld>
</file>

<file path=ppt/slides/slide4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CPGRAMS डिजिटल इंडिया और नागरिक केंद्रित सुशासन का प्रमुख हथियार है जो भारत के किसी भी कोने से चौबीसों घंटे ऑनलाइन शिकायत दर्ज करने की सुविधा देता है, अतः कथन A सही है। यह केंद्र के सभी मंत्रालयों और राज्यों के शिकायत पोर्टलों से जुड़ा हुआ है, अतः कथन B सही है। यदि शिकायतकर्ता निवारण से संतुष्ट नहीं है तो वह 30 दिन के भीतर नोडल अपीलीय अधिकारी के पास प्रथम अपील कर सकता है, अतः कथन C सही है। कथन D असत्य है क्योंकि CPGRAMS की स्थापना का मुख्य उद्देश्य ही देश के प्रत्येक सामान्य नागरिक को बिना बिचौलियों के सीधे सरकार तक अपनी शिकायत पहुंचाने का मंच प्रदान करना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4992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237/300</a:t>
            </a:r>
          </a:p>
        </p:txBody>
      </p:sp>
    </p:spTree>
  </p:cSld>
  <p:clrMapOvr>
    <a:masterClrMapping/>
  </p:clrMapOvr>
</p:sld>
</file>

<file path=ppt/slides/slide4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राजस्थान सरकार के लोक शिकायत निवारण तंत्र-'राजस्थान संपर्क' (Rajasthan Sampark) पोर्टल के संदर्भ में निम्नलिखित कथनों पर विचार कीजिए: A. 'राजस्थान संपर्क' पोर्टल एवं टोल-फ्री हेल्पलाइन (181) राज्य सरकार के विभिन्न विभागों की जन-समस्याओं के पारदर्शी और समयबद्ध समाधान हेतु एक एकीकृत ई-गवर्नेंस पहल है। B. इसके तहत नागरिक पंचायत स्तर पर स्थापित ई-मित्र कियोस्क, मोबाइल ऐप, वेब पोर्टल या 181 हेल्पलाइन के माध्यम से निःशुल्क शिकायत दर्ज करा सकते हैं। C. इस प्रणाली में शिकायतों के निस्तारण हेतु त्रि-स्तरीय व्यवस्था (ब्लॉक, जिला और राज्य स्तर) और वरिष्ठ अधिकारियों द्वारा नियमित जन-सुनवाई का प्रावधान है। D. राजस्थान संपर्क पोर्टल पर दर्ज शिकायतों का निस्तारण केवल तभी किया जाता है जब शिकायतकर्ता संबंधित विभाग को अनिवार्य रूप से ₹500 का शुल्क अदा करे।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3932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238/300</a:t>
            </a:r>
          </a:p>
        </p:txBody>
      </p:sp>
    </p:spTree>
  </p:cSld>
  <p:clrMapOvr>
    <a:masterClrMapping/>
  </p:clrMapOvr>
</p:sld>
</file>

<file path=ppt/slides/slide4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राजस्थान संपर्क पोर्टल राज्य के नागरिकों को शिकायतों के निवारण का आधुनिक एकीकृत मंच देता है, अतः कथन A सही है। नागरिक घर बैठे 181 कॉल करके, स्मार्टफोन ऐप से या निकटतम ई-मित्र पर जाकर बिना किसी परेशानी के शिकायत दर्ज करा सकते हैं, अतः कथन B सही है। इस व्यवस्था में ब्लॉक स्तर से लेकर जिला कलेक्टर और राज्य स्तर तक ट्रैकिंग व जनसुनवाई की व्यवस्था है, अतः कथन C सही है। कथन D असत्य है क्योंकि राजस्थान संपर्क सेवा पूर्णतः 'निःशुल्क' (Completely Free of Cost) है; इसके लिए नागरिक से कोई भी सरकारी शुल्क नहीं लिया जाता।</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3932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238/300</a:t>
            </a:r>
          </a:p>
        </p:txBody>
      </p:sp>
    </p:spTree>
  </p:cSld>
  <p:clrMapOvr>
    <a:masterClrMapping/>
  </p:clrMapOvr>
</p:sld>
</file>

<file path=ppt/slides/slide4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239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नागरिकों को समयबद्ध रूप से सार्वजनिक सेवाएं प्राप्त करने का कानूनी अधिकार देने के लिए देश में सर्वप्रथम 'लोक सेवा गारंटी अधिनियम' (Right to Public Services Act) किस राज्य द्वारा पारित किया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मध्य प्रदेश (वर्ष 2010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राजस्थान (वर्ष 2011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बिहार (वर्ष 2011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कर्नाटक (वर्ष 2012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57940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239/300</a:t>
            </a:r>
          </a:p>
        </p:txBody>
      </p:sp>
    </p:spTree>
  </p:cSld>
  <p:clrMapOvr>
    <a:masterClrMapping/>
  </p:clrMapOvr>
</p:sld>
</file>

<file path=ppt/slides/slide4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Q.239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मध्य प्रदेश (वर्ष 2010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(वर्ष 2011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बिहार (वर्ष 2011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कर्नाटक (वर्ष 2012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मध्य प्रदेश देश का पहला राज्य था जिसने अगस्त 2010 में ऐतिहासिक 'मध्य प्रदेश लोक सेवाओं के प्रदाय की गारंटी अधिनियम, 2010' पारित किया। इस क्रांतिकारी कानून ने जाति प्रमाण पत्र, आय प्रमाण पत्र, राशन कार्ड, पानी-बिजली कनेक्शन जैसी बुनियादी सेवाओं को निश्चित समय-सीमा (जैसे 7 या 15 दिन) में उपलब्ध कराना अनिवार्य बनाया। यदि सक्षम अधिकारी निर्धारित समय में सेवा नहीं देता, तो उस पर प्रतिदिन के हिसाब से जुर्माना लगाया जाता है जो पीड़ित नागरिक को मुआवजे के रूप में दिया जाता है। मध्य प्रदेश की इस पहल के बाद राजस्थान ने 2011 में 'राजस्थान लोक सेवा के प्रदान की गारंटी अधिनियम, 2011' तथा 'राजस्थान सुनवाई का अधिकार अधिनियम, 2012' लागू किए।</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57940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239/300</a:t>
            </a:r>
          </a:p>
        </p:txBody>
      </p:sp>
    </p:spTree>
  </p:cSld>
  <p:clrMapOvr>
    <a:masterClrMapping/>
  </p:clrMapOvr>
</p:sld>
</file>

<file path=ppt/slides/slide4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'व्हिसलब्लोअर्स प्रोटेक्शन एक्ट, 2014' (Whistleblowers Protection Act, 2014) के विधिक प्रावधानों के संदर्भ में निम्नलिखित कथनों पर विचार कीजिए: A. यह अधिनियम सार्वजनिक पदाधिकारियों द्वारा किए जाने वाले भ्रष्टाचार, पद के दुरुपयोग या आपराधिक कृत्यों को उजागर करने वाले व्यक्तियों (व्हिसलब्लोअर्स) को वैधानिक संरक्षण प्रदान करता है। B. अधिनियम के तहत केंद्रीय स्तर पर शिकायतों की प्राप्ति और व्हिसलब्लोअर्स की पहचान को गोपनीय रखने के लिए 'केंद्रीय सतर्कता आयोग' (CVC) को सक्षम प्राधिकारी बनाया गया है। C. यदि व्हिसलब्लोअर को धमकाया जाता है या उसका उत्पीड़न किया जाता है, तो सक्षम प्राधिकारी संबंधित पुलिस व प्रशासनिक अधिकारियों को सुरक्षा के आदेश दे सकता है। D. अधिनियम में जानबूझकर दुर्भावनापूर्ण या झूठी शिकायत दर्ज करने वाले व्यक्ति के खिलाफ 2 वर्ष तक के कारावास और ₹30,000 तक के जुर्माने का कड़ा प्रावधान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1948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240/300</a:t>
            </a:r>
          </a:p>
        </p:txBody>
      </p:sp>
    </p:spTree>
  </p:cSld>
  <p:clrMapOvr>
    <a:masterClrMapping/>
  </p:clrMapOvr>
</p:sld>
</file>

<file path=ppt/slides/slide4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सत्येंद्र दुबे और षणमुगम मंजूनाथ जैसे ईमानदार अधिकारियों की हत्या के बाद व्हिसलब्लोअर्स को संरक्षण देने की राष्ट्रीय मांग उठी, जिसके तहत यह कानून 2014 में बना, अतः कथन A सही है। CVC को सक्षम प्राधिकारी बनाया गया है जो शिकायतकर्ता का नाम उजागर किए बिना जांच कराता है, अतः कथन B सही है। व्हिसलब्लोअर या उसके परिवार को धमकी मिलने पर पुलिस सुरक्षा का वैधानिक आदेश जारी किया जा सकता है, अतः कथन C सही है। दुरुपयोग रोकने के लिए धारा 17 में झूठी व दुर्भावनापूर्ण शिकायत पर 2 वर्ष तक की जेल और जुर्माने का सख्त दंड निर्धारित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1948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240/300</a:t>
            </a:r>
          </a:p>
        </p:txBody>
      </p:sp>
    </p:spTree>
  </p:cSld>
  <p:clrMapOvr>
    <a:masterClrMapping/>
  </p:clrMapOvr>
</p:sld>
</file>

<file path=ppt/slides/slide4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'लोकपाल' और 'लोकायुक्त' संस्थाओं के ऐतिहासिक उद्भव के संदर्भ में निम्नलिखित कथनों पर विचार कीजिए: A. विश्व में सर्वप्रथम 1809 में स्कैंडिनेवियाई देश स्वीडन में नागरिकों की प्रशासनिक शिकायतों और भ्रष्टाचार के निवारण हेतु 'ओम्बड्समैन' (Ombudsman) संस्था का गठन हुआ था। B. भारत में 1963 में प्रसिद्ध न्यायविद डॉ. एल. एम. सिंघवी ने भारतीय संदर्भ में 'लोकपाल' (केंद्र हेतु) और 'लोकायुक्त' (राज्यों हेतु) शब्दों को पहली बार गढ़ा था। C. मोरारजी देसाई की अध्यक्षता वाले प्रथम प्रशासनिक सुधार आयोग (1st ARC, 1966) ने अपनी अंतरिम रिपोर्ट में दो-स्तरीय लोकपाल और लोकायुक्त संस्थाओं के गठन की आधिकारिक सिफारिश की थी। D. 1968 में चौथी लोकसभा में शांति भूषण द्वारा लोकपाल विधेयक पहली बार संसद में प्रस्तुत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5956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241/300</a:t>
            </a:r>
          </a:p>
        </p:txBody>
      </p:sp>
    </p:spTree>
  </p:cSld>
  <p:clrMapOvr>
    <a:masterClrMapping/>
  </p:clrMapOvr>
</p:sld>
</file>

<file path=ppt/slides/slide4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ओम्बड्समैन संस्था स्वीडिश व्यवस्था से प्रेरित है जहां 1809 में पहली बार नागरिक अधिकारों के रक्षक के रूप में इसका जन्म हुआ, अतः कथन A सही है। भारत में 1963 में संसद में चर्चा के दौरान जाने-माने सांसद और न्यायविद् डॉ. लक्ष्मीमल्ल सिंघवी ने इन संस्थाओं के लिए लोकपाल और लोकायुक्त शब्दावली बनाई, अतः कथन B सही है। 1966 के प्रथम प्रशासनिक सुधार आयोग (1st ARC) ने अपनी रिपोर्ट 'नागरिकों की शिकायतों के निवारण की समस्याएं' में लोकपाल और लोकायुक्त के गठन की पुरजोर सिफारिश की, अतः कथन C सही है। मई 1968 में तत्कालीन गृह मंत्री द्वारा पहली बार संसद में लोकपाल विधेयक पेश किया गया था (जो लोकसभा भंग होने से व्यपगत हो गया),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5956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241/300</a:t>
            </a:r>
          </a:p>
        </p:txBody>
      </p:sp>
    </p:spTree>
  </p:cSld>
  <p:clrMapOvr>
    <a:masterClrMapping/>
  </p:clrMapOvr>
</p:sld>
</file>

<file path=ppt/slides/slide4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242</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राज्य स्तर पर भ्रष्टाचार और प्रशासनिक कदाचार की जांच हेतु 'लोकायुक्त' (Lokayukta) संस्था की औपचारिक स्थापना करने वाला भारत का पहला राज्य कौन-सा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ओडिशा (वर्ष 1970 में)</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महाराष्ट्र (वर्ष 1971 में)</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राजस्थान (वर्ष 1973 में)</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कर्नाटक (वर्ष 1985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6996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242/300</a:t>
            </a:r>
          </a:p>
        </p:txBody>
      </p:sp>
    </p:spTree>
  </p:cSld>
  <p:clrMapOvr>
    <a:masterClrMapping/>
  </p:clrMapOvr>
</p:sld>
</file>

<file path=ppt/slides/slide4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महाराष्ट्र (वर्ष 1971 में)</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ओडिशा (वर्ष 1970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राजस्थान (वर्ष 1973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कर्नाटक (वर्ष 1985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यद्यपि ओडिशा भारत का ऐसा पहला राज्य था जिसने 1970 में लोकायुक्त से संबंधित कानून पारित किया था, किंतु उस कानून के तहत लोकायुक्त की वास्तविक नियुक्ति 1983 में ही हो सकी। इसके विपरीत, 'महाराष्ट्र' देश का पहला राज्य बना जिसने 'महाराष्ट्र लोकायुक्त और उप-लोकायुक्त अधिनियम, 1971' पारित कर उसी वर्ष 1971 में लोकायुक्त संस्था को विधिवत स्थापित और क्रियान्वित किया। राजस्थान ने 1973 में लोकायुक्त की स्थापना की जहां आईडी दुआ राजस्थान के पहले लोकायुक्त बने। कर्नाटक ने 1985 में देश का सबसे शक्तिशाली लोकायुक्त कानून लागू किया।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6996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242/300</a:t>
            </a:r>
          </a:p>
        </p:txBody>
      </p:sp>
    </p:spTree>
  </p:cSld>
  <p:clrMapOvr>
    <a:masterClrMapping/>
  </p:clrMapOvr>
</p:sld>
</file>

<file path=ppt/slides/slide4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'लोकपाल और लोकायुक्त अधिनियम, 2013' (Lokpal and Lokayuktas Act, 2013) के तहत भारत के 'लोकपाल' की संरचना के संदर्भ में निम्नलिखित कथनों पर विचार कीजिए: A. लोकपाल एक बहु-सदस्यीय सर्वोच्च भ्रष्टाचार-रोधी निकाय है जिसमें एक अध्यक्ष और अधिकतम 8 सदस्य (कुल 9) हो सकते हैं। B. अधिनियम के अनुसार लोकपाल के 50% सदस्य अनिवार्य रूप से 'न्यायिक सदस्य' (Judicial Members) होने चाहिए। C. लोकपाल के कम से कम 50% सदस्य अनिवार्य रूप से अनुसूचित जाति (SC), अनुसूचित जनजाति (ST), अन्य पिछड़ा वर्ग (OBC), अल्पसंख्यक और महिला वर्ग से होने चाहिए। D. लोकपाल के अध्यक्ष और सदस्यों का कार्यकाल पदभार ग्रहण करने की तिथि से 5 वर्ष या 70 वर्ष की आयु (जो भी पहले हो) निर्धारित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3973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243/300</a:t>
            </a:r>
          </a:p>
        </p:txBody>
      </p:sp>
    </p:spTree>
  </p:cSld>
  <p:clrMapOvr>
    <a:masterClrMapping/>
  </p:clrMapOvr>
</p:sld>
</file>

<file path=ppt/slides/slide4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लोकपाल अधिनियम 2013 की धारा 3 के अनुसार लोकपाल में एक सभापति (अध्यक्ष) और अधिकतम 8 सदस्य होते हैं, अतः कथन A सही है। न्यायिक सदस्यों का 50% होना अनिवार्य है (जो सर्वोच्च न्यायालय के वर्तमान/पूर्व न्यायाधीश या उच्च न्यायालय के वर्तमान/पूर्व मुख्य न्यायाधीश हों), अतः कथन B सही है। सामाजिक समावेशन हेतु धारा 3(2) में स्पष्ट है कि कम से कम आधे सदस्य SC, ST, OBC, अल्पसंख्यक और महिलाओं में से होंगे, अतः कथन C सही है। धारा 6 के अनुसार अध्यक्ष और सदस्यों का कार्यकाल 5 वर्ष या 70 वर्ष की आयु तक होता है तथा वे पुनर्नियुक्ति के पात्र नहीं होते,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3973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243/300</a:t>
            </a:r>
          </a:p>
        </p:txBody>
      </p:sp>
    </p:spTree>
  </p:cSld>
  <p:clrMapOvr>
    <a:masterClrMapping/>
  </p:clrMapOvr>
</p:sld>
</file>

<file path=ppt/slides/slide4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लोकपाल और लोकायुक्त अधिनियम, 2013 की धारा 4 के तहत लोकपाल के अध्यक्ष और सदस्यों के चयन हेतु गठित 5-सदस्यीय उच्चस्तरीय चयन समिति (Selection Committee) के संदर्भ में निम्नलिखित कथनों पर विचार कीजिए: A. इस चयन समिति की अध्यक्षता भारत के प्रधानमंत्री द्वारा की जाती है। B. लोकसभा का अध्यक्ष (स्पीकर) और लोकसभा में विपक्ष का नेता (या सबसे बड़े विपक्षी दल का नेता) इसके सदस्य होते हैं। C. भारत के मुख्य न्यायाधीश (CJI) या उनके द्वारा नामित सर्वोच्च न्यायालय का कोई न्यायाधीश इस समिति का सदस्य होता है। D. समिति की सिफारिश पर राष्ट्रपति द्वारा नामित केंद्रीय सतर्कता आयुक्त (CVC) इसका पांचवां अनिवार्य सदस्य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77981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244/300</a:t>
            </a:r>
          </a:p>
        </p:txBody>
      </p:sp>
    </p:spTree>
  </p:cSld>
  <p:clrMapOvr>
    <a:masterClrMapping/>
  </p:clrMapOvr>
</p:sld>
</file>

<file path=ppt/slides/slide4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अधिनियम की धारा 4(1) के तहत राष्ट्रपति लोकपाल की नियुक्ति 5 सदस्यों वाली सर्वोच्च चयन समिति की सिफारिश पर करते हैं: 1. प्रधानमंत्री (अध्यक्ष), 2. लोकसभा अध्यक्ष, 3. लोकसभा में विपक्ष का नेता (या सबसे बड़े विपक्षी दल का नेता), 4. भारत का मुख्य न्यायाधीश (CJI) या उनका नामित सुप्रीम कोर्ट जज, और 5. पहले चार सदस्यों की सिफारिश पर राष्ट्रपति द्वारा नामित एक 'प्रतिष्ठित विधिवेत्ता' (Eminent Jurist), अतः कथन A, B और C सही हैं। कथन D असत्य है क्योंकि इसमें केंद्रीय सतर्कता आयुक्त (CVC) शामिल नहीं होता; पांचवां सदस्य एक प्रतिष्ठित न्यायविद्/कानूनविद् होता है। चयन समिति की सहायता के लिए कम से कम 8 सदस्यों वाली एक स्वतंत्र खोज समिति (Search Committee) गठित की जाती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77981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244/300</a:t>
            </a:r>
          </a:p>
        </p:txBody>
      </p:sp>
    </p:spTree>
  </p:cSld>
  <p:clrMapOvr>
    <a:masterClrMapping/>
  </p:clrMapOvr>
</p:sld>
</file>

<file path=ppt/slides/slide4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लोकपाल और लोकायुक्त अधिनियम, 2013 के तहत भारत के 'लोकपाल' के अधिकार क्षेत्र (Jurisdiction) के संदर्भ में निम्नलिखित कथनों पर विचार कीजिए: A. लोकपाल के अधिकार क्षेत्र में भारत के प्रधानमंत्री, केंद्रीय मंत्री और संसद के दोनों सदनों के सभी सांसद शामिल हैं। B. केंद्र सरकार के सभी समूह 'क', 'ख', 'ग' और 'घ' (Group A, B, C, D) के अधिकारी और कर्मचारी लोकपाल के जांच दायरे में आते हैं। C. संसद के अधिनियम द्वारा स्थापित सभी केंद्रीय सार्वजनिक क्षेत्र के उपक्रमों (PSUs), सांविधिक निगमों और केंद्र से वित्तपोषित सोसायटियों के पदाधिकारी इसके अधीन हैं। D. लोकपाल को किसी भी ऐसी गैर-सरकारी संस्था (NGO) के पदाधिकारियों के विरुद्ध जांच का अधिकार है जो विदेशों से प्रति वर्ष ₹10 लाख से अधिक का विदेशी अंशदान (FCRA) प्राप्त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1989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245/300</a:t>
            </a:r>
          </a:p>
        </p:txBody>
      </p:sp>
    </p:spTree>
  </p:cSld>
  <p:clrMapOvr>
    <a:masterClrMapping/>
  </p:clrMapOvr>
</p:sld>
</file>

<file path=ppt/slides/slide4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लोकपाल अधिनियम 2013 की धारा 14 लोकपाल के अधिकार क्षेत्र का निर्धारण करती है। इसमें देश का शीर्ष राजनीतिक नेतृत्व (प्रधानमंत्री, मंत्री, सांसद) शामिल है, अतः कथन A सही है। केंद्र सरकार के सभी स्तरों (ग्रुप A से D तक) के लोक सेवक इसके दायरे में हैं (यद्यपि ग्रुप C व D के मामले लोकपाल सीवीसी को सौंपता है), अतः कथन B सही है। सभी केंद्रीय सार्वजनिक उपक्रम, बैंक और स्वायत्त परिषदें इसमें शामिल हैं, अतः कथन C सही है। धारा 14(1)(छ) के तहत वे सभी निजी ट्रस्ट, सोसाइटी या एनजीओ जो ₹1 करोड़ से अधिक सरकारी अनुदान पाते हैं या ₹10 लाख वार्षिक से अधिक विदेशी चंदा (FCRA) प्राप्त करते हैं, लोकपाल की जांच के दायरे में आते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1989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245/300</a:t>
            </a:r>
          </a:p>
        </p:txBody>
      </p:sp>
    </p:spTree>
  </p:cSld>
  <p:clrMapOvr>
    <a:masterClrMapping/>
  </p:clrMapOvr>
</p:sld>
</file>

<file path=ppt/slides/slide4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लोकपाल और लोकायुक्त अधिनियम, 2013 के तहत भारत के 'प्रधानमंत्री' के विरुद्ध भ्रष्टाचार के आरोपों की जांच के संबंध में लागू विशेष सुरक्षात्मक सीमाओं पर विचार कीजिए: A. लोकपाल अंतरराष्ट्रीय संबंधों, बाह्य व आंतरिक सुरक्षा, लोक व्यवस्था, परमाणु ऊर्जा और अंतरिक्ष से जुड़े मामलों में प्रधानमंत्री के विरुद्ध भ्रष्टाचार के आरोपों की जांच नहीं कर सकता। B. प्रधानमंत्री के विरुद्ध किसी अन्य मामले में भी जांच प्रारंभ करने के लिए लोकपाल की पूर्ण पीठ (कम से कम दो-तिहाई सदस्यों) का पूर्व अनुमोदन अनिवार्य होता है। C. प्रधानमंत्री के विरुद्ध जांच से संबंधित सभी कार्यवाहियां बंद कमरे में (In-camera) आयोजित की जाएंगी। D. यदि प्रधानमंत्री के विरुद्ध शिकायत खारिज हो जाती है, तो जांच के रिकॉर्ड को प्रकाशित नहीं किया जाएगा और न ही किसी को उपलब्ध कराया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85997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246/300</a:t>
            </a:r>
          </a:p>
        </p:txBody>
      </p:sp>
    </p:spTree>
  </p:cSld>
  <p:clrMapOvr>
    <a:masterClrMapping/>
  </p:clrMapOvr>
</p:sld>
</file>

<file path=ppt/slides/slide4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राष्ट्रीय सुरक्षा और शासन के शीर्ष पद की स्थिरता सुनिश्चित करने हेतु धारा 14(1)(क) में प्रधानमंत्री के विरुद्ध जांच पर अत्यंत कड़े सुरक्षात्मक नियम हैं: सुरक्षा, विदेश नीति, परमाणु ऊर्जा, अंतरिक्ष आदि विषयों पर जांच पूरी तरह वर्जित है, अतः कथन A सही है। अन्य मामलों में भी तभी जांच होगी जब लोकपाल के 2/3 सदस्य सहमत हों, अतः कथन B सही है। ऐसी सुनवाई गुप्त/बंद कमरे में होगी, अतः कथन C सही है। यदि शिकायत में दम न हो और उसे खारिज कर दिया जाए, तो प्रधानमंत्री पद की गरिमा बनाए रखने के लिए जांच की कोई भी सामग्री सार्वजनिक नहीं की जाएगी और गोपनीय रखी जाएगी,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85997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246/300</a:t>
            </a:r>
          </a:p>
        </p:txBody>
      </p:sp>
    </p:spTree>
  </p:cSld>
  <p:clrMapOvr>
    <a:masterClrMapping/>
  </p:clrMapOvr>
</p:sld>
</file>

<file path=ppt/slides/slide4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सतर्कता आयोग' (Central Vigilance Commission - CVC) के ऐतिहासिक विकास और कानूनी स्वरूप के संदर्भ में निम्नलिखित कथनों पर विचार कीजिए: A. CVC की स्थापना फरवरी 1964 में के. संथानम की अध्यक्षता वाली 'भ्रष्टाचार निवारण समिति' (1962-64) की सिफारिशों पर केंद्र सरकार के एक कार्यकारी प्रस्ताव द्वारा की गई थी। B. विनीत नारायण बनाम भारत संघ (1997) के ऐतिहासिक फैसले के बाद संसद द्वारा 'केंद्रीय सतर्कता आयोग अधिनियम, 2003' पारित करके इसे पूर्ण स्वतंत्र वैधानिक (Statutory) दर्जा दिया गया। C. CVC किसी भी मंत्रालय या विभाग के प्रशासनिक नियंत्रण के अधीन नहीं है और यह केवल और केवल 'संसद' के प्रति जवाबदेह एक स्वतंत्र निकाय है। D. CVC का गठन संविधान के अनुच्छेद 323ख के तहत एक संवैधानिक आयोग के रूप में किया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000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247/300</a:t>
            </a:r>
          </a:p>
        </p:txBody>
      </p:sp>
    </p:spTree>
  </p:cSld>
  <p:clrMapOvr>
    <a:masterClrMapping/>
  </p:clrMapOvr>
</p:sld>
</file>

<file path=ppt/slides/slide4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CVC केंद्र सरकार में भ्रष्टाचार रोकने वाली शीर्ष सतर्कता संस्था है, जिसे 1964 में संथानम समिति की सिफारिश पर कार्यपालक संकल्प से बनाया गया था, अतः कथन A सही है। हवाला मामले से जुड़े विनीत नारायण वाद (1997) में सुप्रीम कोर्ट के निर्देशों पर संसद ने 2003 में CVC Act पारित कर इसे सांविधिक दर्जा दिया, अतः कथन B सही है। सीवीसी किसी मंत्रालय के अधीन नहीं है, यह एक स्वायत्त संस्था है जो अपनी वार्षिक रिपोर्ट राष्ट्रपति को देती है जो संसद में रखी जाती है, अतः कथन C सही है। कथन D असत्य है क्योंकि CVC एक 'सांविधिक निकाय' (Statutory Body) है, यह संविधान में वर्णित संवैधानिक निकाय (Constitutional Body) नहीं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000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247/300</a:t>
            </a:r>
          </a:p>
        </p:txBody>
      </p:sp>
    </p:spTree>
  </p:cSld>
  <p:clrMapOvr>
    <a:masterClrMapping/>
  </p:clrMapOvr>
</p:sld>
</file>

<file path=ppt/slides/slide4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सतर्कता आयोग (CVC) की संरचना, नियुक्ति और सेवा शर्तों के संदर्भ में निम्नलिखित कथनों पर विचार कीजिए: A. आयोग में एक केंद्रीय सतर्कता आयुक्त (अध्यक्ष) और अधिकतम दो सतर्कता आयुक्त (सदस्य) शामिल होते हैं। B. केंद्रीय सतर्कता आयुक्त और अन्य आयुक्तों की नियुक्ति राष्ट्रपति द्वारा 3-सदस्यीय समिति (प्रधानमंत्री, गृह मंत्री और लोकसभा में विपक्ष के नेता) की सिफारिश पर की जाती है। C. केंद्रीय सतर्कता आयुक्त और सतर्कता आयुक्तों का कार्यकाल पदभार ग्रहण करने से '4 वर्ष या 65 वर्ष की आयु' (जो भी पहले हो) होता है। D. सेवानिवृत्ति के पश्चात केंद्रीय सतर्कता आयुक्त भारत सरकार या किसी राज्य सरकार के अधीन किसी अन्य पद या नियोजन के पात्र होते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4013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248/300</a:t>
            </a:r>
          </a:p>
        </p:txBody>
      </p:sp>
    </p:spTree>
  </p:cSld>
  <p:clrMapOvr>
    <a:masterClrMapping/>
  </p:clrMapOvr>
</p:sld>
</file>

<file path=ppt/slides/slide4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CVC Act 2003 की धारा 3 के अनुसार आयोग में 1 CVC और अधिकतम 2 VC होते हैं, अतः कथन A सही है। धारा 4 के अनुसार नियुक्ति 3 सदस्यों वाली चयन समिति (PM, गृह मंत्री, LOP लोकसभा) की सिफारिश पर होती है, अतः कथन B सही है। धारा 5(1) के अनुसार इनका कार्यकाल '4 वर्ष या 65 वर्ष की आयु' होता है (भारतीय प्रशासनिक व्यवस्था में 4 वर्ष का कार्यकाल बहुत दुर्लभ व अनूठा है), अतः कथन C सही है। कथन D असत्य है क्योंकि धारा 5(6) के अनुसार सेवानिवृत्ति के बाद CVC या VC केंद्र सरकार या राज्य सरकार के अधीन किसी भी आगे के रोजगार/नौकरी के लिए पूरी तरह 'अपात्र' (Ineligible) होते हैं ताकि वे पद पर रहते हुए किसी लालच के बिना निष्पक्ष कार्य कर सकें।</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4013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248/300</a:t>
            </a:r>
          </a:p>
        </p:txBody>
      </p:sp>
    </p:spTree>
  </p:cSld>
  <p:clrMapOvr>
    <a:masterClrMapping/>
  </p:clrMapOvr>
</p:sld>
</file>

<file path=ppt/slides/slide4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249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सतर्कता आयोग (CVC) के प्रमुख प्रशासनिक कायों, अधीक्षण शक्तियों और सीमाओं के संदर्भ में निम्नलिखित कथनों पर विचार कीजिए: A. भ्रष्टाचार निवारण अधिनियम, 1988 के तहत लोक सेवकों के विरुद्ध होने वाले अपराधों के अन्वेषण के संबंध में CVC को 'दिल्ली विशेष पुलिस स्थापना' (CBI) के कामकाज का अधीक्षण (Superintendence) करने की शक्ति प्राप्त है। B. CVC को अपनी जांच या पूछताछ करते समय सिविल प्रक्रिया संहिता, 1908 के तहत एक 'दीवानी न्यायालय' (Civil Court) की सभी शक्तियां प्राप्त होती हैं। C. CVC केंद्रीय मंत्रालयों और स्वायत्त निकायों के मुख्य सतर्कता अधिकारियों (CVOs) के कामकाज की निगरानी और समन्वय करता है। D. CVC प्रतिवर्ष अपने द्वारा किए गए कार्यों का वार्षिक प्रतिवेदन सीधे भारत के प्रधानमंत्री को व्यक्तिगत रूप से प्रस्तुत करता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998021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249/300</a:t>
            </a:r>
          </a:p>
        </p:txBody>
      </p:sp>
    </p:spTree>
  </p:cSld>
  <p:clrMapOvr>
    <a:masterClrMapping/>
  </p:clrMapOvr>
</p:sld>
</file>

<file path=ppt/slides/slide4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Q.249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भ्रष्टाचार निवारण अधिनियम के मामलों में सीबीआई का प्रशासनिक अधीक्षण सीधे सीवीसी के पास होता है (यद्यपि प्रशासनिक मामलों में सीबीआई कार्मिक मंत्रालय के अधीन है), अतः कथन A सही है। जांच के दौरान साक्ष्य जुटाने व समन जारी करने हेतु सीवीसी को सिविल कोर्ट की शक्तियां प्राप्त हैं, अतः कथन B सही है। केंद्र सरकार के सभी मंत्रालयों में सतर्कता विंग के प्रमुख CVOs का नियमन सीवीसी करता है, अतः कथन C सही है। कथन D असत्य है क्योंकि CVC Act 2003 की धारा 14 के अनुसार आयोग अपनी वार्षिक रिपोर्ट 'भारत के राष्ट्रपति' को सौंपता है, और राष्ट्रपति इस रिपोर्ट को संसद के दोनों सदनों के पटल पर रखवाते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998021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249/300</a:t>
            </a:r>
          </a:p>
        </p:txBody>
      </p:sp>
    </p:spTree>
  </p:cSld>
  <p:clrMapOvr>
    <a:masterClrMapping/>
  </p:clrMapOvr>
</p:sld>
</file>

<file path=ppt/slides/slide4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'केंद्रीय सूचना आयोग' (Central Information Commission - CIC) के गठन और संरचना (RTI Act, 2005) के संदर्भ में निम्नलिखित कथनों पर विचार कीजिए: A. केंद्रीय सूचना आयोग का गठन 12 अक्टूबर, 2005 को सूचना का अधिकार अधिनियम, 2005 के अध्याय III के तहत एक स्वतंत्र सांविधिक निकाय के रूप में किया गया था। B. आयोग में एक मुख्य सूचना आयुक्त (CIC) और केंद्र सरकार द्वारा आवश्यक समझे जाने वाले अधिकतम 10 सूचना आयुक्त (ICs) हो सकते हैं। C. मुख्य सूचना आयुक्त और सूचना आयुक्तों की नियुक्ति राष्ट्रपति द्वारा 3-सदस्यीय समिति (प्रधानमंत्री, लोकसभा में विपक्ष का नेता, और प्रधानमंत्री द्वारा नामित एक केंद्रीय कैबिनेट मंत्री) की सिफारिश पर की जाती है। D. मुख्य सूचना आयुक्त या सूचना आयुक्त संसद का सदस्य या किसी राज्य विधानमंडल का सदस्य हो सकता है और कोई अन्य लाभ का पद धारण कर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2030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250/300</a:t>
            </a:r>
          </a:p>
        </p:txBody>
      </p:sp>
    </p:spTree>
  </p:cSld>
  <p:clrMapOvr>
    <a:masterClrMapping/>
  </p:clrMapOvr>
</p:sld>
</file>

<file path=ppt/slides/slide5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CIC देश में सूचना की स्वतंत्रता और पारदर्शिता का शीर्ष अपीलीय मंच है जिसकी स्थापना 2005 में हुई, अतः कथन A सही है। धारा 12(2) के अनुसार 1 मुख्य और अधिकतम 10 सूचना आयुक्त हो सकते हैं, अतः कथन B सही है। धारा 12(3) के तहत चयन समिति में प्रधानमंत्री, विपक्ष का नेता और पीएम द्वारा नामित कैबिनेट मंत्री होते हैं, अतः कथन C सही है। कथन D असत्य है क्योंकि धारा 12(6) स्पष्ट निषेध करती है कि सूचना आयुक्त किसी भी सदन या विधानमंडल का सदस्य नहीं होना चाहिए, वह किसी राजनीतिक दल से जुड़ा नहीं होना चाहिए और न ही कोई लाभ का पद या व्यवसाय कर सकता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2030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250/300</a:t>
            </a:r>
          </a:p>
        </p:txBody>
      </p:sp>
    </p:spTree>
  </p:cSld>
  <p:clrMapOvr>
    <a:masterClrMapping/>
  </p:clrMapOvr>
</p:sld>
</file>

<file path=ppt/slides/slide50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सूचना का अधिकार (संशोधन) अधिनियम, 2019 (RTI Amendment Act, 2019) द्वारा मुख्य सूचना आयुक्त और सूचना आयुक्तों की सेवा शर्तों में किए गए प्रमुख परिवर्तनों पर विचार कीजिए: A. 2019 के संशोधन से पूर्व मुख्य सूचना आयुक्त और सूचना आयुक्तों का कार्यकाल 5 वर्ष या 65 वर्ष की आयु (जो भी पहले हो) निर्धारित था। B. 2019 के संशोधन द्वारा संसद ने मूल कानून की धारा 13 और 16 में संशोधन करके सूचना आयुक्तों का निश्चित 5 वर्ष का कार्यकाल समाप्त कर दिया और इसे 'केंद्र सरकार द्वारा अधिसूचित नियमों' पर आधारित कर दिया। C. केंद्र सरकार द्वारा RTI नियम, 2019 के तहत वर्तमान में मुख्य सूचना आयुक्त और सूचना आयुक्तों का कार्यकाल घटाकर '3 वर्ष' निर्धारित किया गया है। D. 2019 के संशोधन द्वारा मुख्य सूचना आयुक्त का वेतन चुनाव आयुक्त के समकक्ष रखने की पूर्व वैधानिक व्यवस्था समाप्त कर दी गई और वेतन-भत्तों का निर्धारण भी केंद्र सरकार के हाथ में सौंप दिया गया।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06038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251/300</a:t>
            </a:r>
          </a:p>
        </p:txBody>
      </p:sp>
    </p:spTree>
  </p:cSld>
  <p:clrMapOvr>
    <a:masterClrMapping/>
  </p:clrMapOvr>
</p:sld>
</file>

<file path=ppt/slides/slide50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2019 के RTI संशोधन ने सूचना आयोग की स्वायत्तता के संदर्भ में व्यापक बहस छेड़ी। मूल कानून में सीआईसी को चुनाव आयोग के बराबर स्वतंत्रता, वेतन और 5 वर्ष की निश्चित पदावधि दी गई थी, अतः कथन A सही है। 2019 के संशोधन द्वारा कार्यकाल, वेतन और सेवा शर्तों को केंद्र सरकार के नियमों के अधीन कर दिया गया, अतः कथन B सही है। केंद्र सरकार ने नियम बनाकर कार्यकाल 3 वर्ष तय किया, अतः कथन C सही है। वेतन-भत्ते भी अब केंद्र सरकार तय करती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06038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251/300</a:t>
            </a:r>
          </a:p>
        </p:txBody>
      </p:sp>
    </p:spTree>
  </p:cSld>
  <p:clrMapOvr>
    <a:masterClrMapping/>
  </p:clrMapOvr>
</p:sld>
</file>

<file path=ppt/slides/slide50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252</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सूचना का अधिकार अधिनियम, 2005 (RTI Act, 2005) की किस धारा के अंतर्गत ऐसी 10 विशिष्ट श्रेणियों की सूचनाओं को सूचीबद्ध किया गया है जिन्हें नागरिकों को प्रकट करने से पूर्णतः छूट (Exemptions from Disclosure) प्राप्त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धारा 4(1)</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धारा 8(1)</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धारा 12(3)</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धारा 19(1)</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004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252/300</a:t>
            </a:r>
          </a:p>
        </p:txBody>
      </p:sp>
    </p:spTree>
  </p:cSld>
  <p:clrMapOvr>
    <a:masterClrMapping/>
  </p:clrMapOvr>
</p:sld>
</file>

<file path=ppt/slides/slide50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धारा 8(1)</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 4(1)</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 12(3)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धारा 19(1)</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RTI अधिनियम, 2005 की धारा 8(1) अत्यंत महत्वपूर्ण अपवाद प्रावधान है। इसके उपखंड (a) से (j) तक कुल 10 आधार दिए गए हैं जिन पर मांगी गई सूचना देने से इनकार किया जा सकता है: 1. भारत की संप्रभुता, अखंडता, सुरक्षा व रणनीतिक हित; 2. अदालत द्वारा निषिद्ध या अवमानना वाली सूचना; 3. संसदीय विशेषाधिकार हनन; 4. वाणिज्यिक गोपनीयता व बौद्धिक संपदा; 5. वैश्वासिक संबंध (Fiduciary relationship) में प्राप्त सूचना; 6. विदेशी सरकारों से विश्वास में प्राप्त सूचना; 7. किसी व्यक्ति के जीवन या शारीरिक सुरक्षा को खतरे में डालने वाली सूचना; 8. अपराधों के अन्वेषण में बाधा डालने वाली सूचना; 9. कैबिनेट के विचार-विमर्श के दस्तावेज (निर्णय से पूर्व); और 10. किसी व्यक्ति की व्यक्तिगत निजता का अकारण हनन करने वाली सूचना।</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004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252/300</a:t>
            </a:r>
          </a:p>
        </p:txBody>
      </p:sp>
    </p:spTree>
  </p:cSld>
  <p:clrMapOvr>
    <a:masterClrMapping/>
  </p:clrMapOvr>
</p:sld>
</file>

<file path=ppt/slides/slide50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253</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सूचना का अधिकार अधिनियम, 2005 के तहत वर्ष 2005 में नियुक्त किए गए भारत के 'प्रथम मुख्य सूचना आयुक्त' (First Chief Information Commissioner) कौन थे?</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वजाहत हबीबुल्लाह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ए. एन. तिवारी</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सत्यानंद मिश्रा</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राजीव माथुर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4054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253/300</a:t>
            </a:r>
          </a:p>
        </p:txBody>
      </p:sp>
    </p:spTree>
  </p:cSld>
  <p:clrMapOvr>
    <a:masterClrMapping/>
  </p:clrMapOvr>
</p:sld>
</file>

<file path=ppt/slides/slide50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वजाहत हबीबुल्लाह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ए. एन. तिवारी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सत्यानंद मिश्रा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राजीव माथुर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अक्टूबर 2005 में जब केंद्रीय सूचना आयोग का औपचारिक गठन हुआ, तब पूर्व वरिष्ठ आईएएस अधिकारी वजाहत हबीबुल्लाह (Wajahat Habibullah) को भारत का पहला मुख्य सूचना आयुक्त (CIC) नियुक्त किया गया था। उन्होंने 2005 से 2010 तक इस पद का निर्वहन किया और देश में आरटीआई की शुरुआती संस्थागत नींव रखी। इसके अतिरिक्त, सितंबर 2013 में श्रीमती दीपक संधू (Deepak Sandhu) भारत की पहली महिला मुख्य सूचना आयुक्त बनी थीं। वर्तमान में हीरालाल सामरिया भारत के मुख्य सूचना आयुक्त हैं।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4054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253/300</a:t>
            </a:r>
          </a:p>
        </p:txBody>
      </p:sp>
    </p:spTree>
  </p:cSld>
  <p:clrMapOvr>
    <a:masterClrMapping/>
  </p:clrMapOvr>
</p:sld>
</file>

<file path=ppt/slides/slide50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सूचना का अधिकार अधिनियम, 2005 की धारा 20 के तहत केंद्रीय या राज्य सूचना आयोग द्वारा लोक सूचना अधिकारियों (PIOs) पर लगाए जाने वाले आर्थिक दंड (Penalties) के संदर्भ में निम्नलिखित कथनों पर विचार कीजिए: A. यदि कोई लोक सूचना अधिकारी बिना किसी युक्तियुक्त कारण के आवेदन लेने से इनकार करता है या समय-सीमा (30 दिन) में सूचना नहीं देता है, तो आयोग उस पर जुर्माना लगा सकता है। B. अधिनियम के अनुसार यह जुर्माना ₹250 प्रतिदिन की दर से लगाया जाता है। C. किसी भी दोषी लोक सूचना अधिकारी पर जुर्माने की कुल अधिकतम राशि ₹25,000 से अधिक नहीं हो सकती। D. आयोग को दोषी लोक सूचना अधिकारी के खिलाफ अनुशासनात्मक कार्रवाई (Disciplinary Action) की सिफारिश करने की भी शक्ति प्राप्त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18062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254/300</a:t>
            </a:r>
          </a:p>
        </p:txBody>
      </p:sp>
    </p:spTree>
  </p:cSld>
  <p:clrMapOvr>
    <a:masterClrMapping/>
  </p:clrMapOvr>
</p:sld>
</file>

<file path=ppt/slides/slide50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धारा 20 आरटीआई कानून का दंडात्मक सुरक्षा कवच है जो नौकरशाही की लापरवाही और अकर्मण्यता पर अंकुश लगाता है। यदि पीआईओ दुर्भावनापूर्वक सूचना रोकता है, झूठी सूचना देता है या रिकॉर्ड नष्ट करता है तो आयोग ₹250 प्रतिदिन की दर से जुर्माना लगाता है, अतः कथन A और B सही हैं। धारा 20(1) के परंतुक के अनुसार कुल शास्ति की अधिकतम सीमा ₹25,000 निर्धारित है, अतः कथन C सही है। धारा 20(2) के तहत गंभीर कदाचार पर सेवा नियमों के तहत विभागीय जांच और दंड की सिफारिश संबंधित अनुशासनात्मक प्राधिकारी को भेजी जाती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18062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254/300</a:t>
            </a:r>
          </a:p>
        </p:txBody>
      </p:sp>
    </p:spTree>
  </p:cSld>
  <p:clrMapOvr>
    <a:masterClrMapping/>
  </p:clrMapOvr>
</p:sld>
</file>

<file path=ppt/slides/slide50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में औपनिवेशिक युग के कानूनों को बदलकर लागू किए गए 'तीन नए आपराधिक कानूनों' (New Criminal Laws 2023-2024) के संदर्भ में निम्नलिखित कथनों पर विचार कीजिए: A. 1860 की भारतीय दंड संहिता (IPC) को 'भारतीय न्याय संहिता, 2023' (Bharatiya Nyaya Sanhita - BNS) द्वारा प्रतिस्थापित किया गया है। B. 1973 की दंड प्रक्रिया संहिता (CrPC) को 'भारतीय नागरिक सुरक्षा संहिता, 2023' (Bharatiya Nagarik Suraksha Sanhita - BNSS) द्वारा प्रतिस्थापित किया गया है। C. 1872 के भारतीय साक्ष्य अधिनियम (IEA) को 'भारतीय साक्ष्य अधिनियम, 2023' (Bharatiya Sakshya Adhiniyam - BSA) द्वारा प्रतिस्थापित किया गया है। D. ये तीनों नए आपराधिक कानून पूरे भारत में 1 जुलाई, 2024 से विधिवत प्रभावी हो गए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2070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255/300</a:t>
            </a:r>
          </a:p>
        </p:txBody>
      </p:sp>
    </p:spTree>
  </p:cSld>
  <p:clrMapOvr>
    <a:masterClrMapping/>
  </p:clrMapOvr>
</p:sld>
</file>

<file path=ppt/slides/slide51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 की आपराधिक न्याय प्रणाली को भारतीय मूल्यों, त्वरित न्याय और आधुनिक तकनीक के अनुकूल बनाने हेतु संसद ने दिसंबर 2023 में तीन ऐतिहासिक कानून पारित किए, जिन्हें 25 दिसंबर 2023 को राष्ट्रपति की सहमति मिली। आईपीसी 1860 का स्थान BNS 2023 ने लिया, सीआरपीसी 1973 का स्थान BNSS 2023 ने लिया, और एविडेंस एक्ट 1872 का स्थान BSA 2023 ने लिया। केंद्र सरकार द्वारा जारी आधिकारिक अधिसूचना के अनुसार ये तीनों कानून 1 जुलाई, 2024 से देश भर में पूर्णतः लागू हो चुके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2070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255/300</a:t>
            </a:r>
          </a:p>
        </p:txBody>
      </p:sp>
    </p:spTree>
  </p:cSld>
  <p:clrMapOvr>
    <a:masterClrMapping/>
  </p:clrMapOvr>
</p:sld>
</file>

<file path=ppt/slides/slide51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न्याय संहिता, 2023' (BNS, 2023) के प्रमुख युगांतकारी विधिक सुधारों के संदर्भ में निम्नलिखित कथनों पर विचार कीजिए: A. औपनिवेशिक काल की विवादित 'राजद्रोह' (Sedition - धारा 124A IPC) को पूरी तरह समाप्त कर दिया गया है और इसके स्थान पर धारा 152 के तहत 'भारत की संप्रभुता, एकता और अखंडता को खतरे में डालने वाले कृत्यों' को दंडनीय बनाया गया है। B. जाति, समुदाय या लिंग के आधार पर 5 या अधिक व्यक्तियों द्वारा की जाने वाली 'मॉब लिंचिंग' (Mob Lynching) को धारा 103(2) के तहत एक पृथक गंभीर अपराध मानकर आजीवन कारावास या मृत्युदंड का प्रावधान किया गया है। C. संगठित अपराध (Organized Crime) और आतंकवादी कृत्य (Terrorist Act) को पहली बार सामान्य आपराधिक कानून में स्पष्ट रूप से परिभाषित और दंडनीय बनाया गया है। D. छोटे-मोटे अपराधों (जैसे ₹5,000 से कम की पहली चोरी, नशे में उपद्रव) के लिए भारतीय न्यायशास्त्र में पहली बार 'सामुदायिक सेवा' (Community Service) को एक वैध दंड के रूप में मान्यता दी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26078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256/300</a:t>
            </a:r>
          </a:p>
        </p:txBody>
      </p:sp>
    </p:spTree>
  </p:cSld>
  <p:clrMapOvr>
    <a:masterClrMapping/>
  </p:clrMapOvr>
</p:sld>
</file>

<file path=ppt/slides/slide51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BNS 2023 ने दंडात्मक न्याय से सुधारात्मक व पीड़ित-केंद्रित न्याय की ओर प्रस्थान किया है। सरकार की आलोचना पर लगने वाला राजद्रोह हटाया गया, अतः कथन A सही है। मॉब लिंचिंग पर अलग कड़ी सजा धारा 103(2) में तय की गई, अतः कथन B सही है। आतंकवाद और फिरौती/माफिया सिंडिकेट जैसे संगठित अपराधों को यूएपीए के अलावा सामान्य कानून में भी धारा 111 व 113 में जोड़ा गया, अतः कथन C सही है। जेलों की भीड़ कम करने और अपराधियों के सुधार हेतु धारा 4 में दंड के 6 प्रकारों में सामुदायिक सेवा को छठा प्रकार बनाया गया,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26078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256/300</a:t>
            </a:r>
          </a:p>
        </p:txBody>
      </p:sp>
    </p:spTree>
  </p:cSld>
  <p:clrMapOvr>
    <a:masterClrMapping/>
  </p:clrMapOvr>
</p:sld>
</file>

<file path=ppt/slides/slide51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नागरिक सुरक्षा संहिता, 2023' (BNSS, 2023) के प्रक्रियात्मक सुधारों और नागरिक-अनुकूल प्रावधानों के संदर्भ में निम्नलिखित कथनों पर विचार कीजिए: A. अपराध कहीं भी हुआ हो, नागरिक किसी भी पुलिस स्टेशन में 'जीरो एफआईआर' (Zero FIR) दर्ज करा सकता है, जिसे 15 दिन में संबंधित थाने को भेजना अनिवार्य है। B. नागरिक इलेक्ट्रॉनिक माध्यम से ई-एफआईआर (e-FIR) दर्ज करा सकते हैं, जिस पर शिकायतकर्ता द्वारा 3 दिन के भीतर हस्ताक्षर किए जाने पर वह औपचारिक रूप से दर्ज मानी जाएगी। C. 7 वर्ष या उससे अधिक कारावास की सजा वाले सभी गंभीर अपराधों के घटना-स्थल पर फॉरेंसिक विशेषज्ञों का दौरा और साक्ष्य संकलन अनिवार्य बना दिया गया है। D. अदालतों में मुकदमों के अंतहीन खिंचने को रोकने के लिए बहस समाप्त होने के 30 से 45 दिन के भीतर निर्णय सुनाने और 60 दिन के भीतर आरोप तय करने की समय-सीमा तय की गई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008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257/300</a:t>
            </a:r>
          </a:p>
        </p:txBody>
      </p:sp>
    </p:spTree>
  </p:cSld>
  <p:clrMapOvr>
    <a:masterClrMapping/>
  </p:clrMapOvr>
</p:sld>
</file>

<file path=ppt/slides/slide51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BNSS 2023 ने पुलिस और न्यायिक प्रक्रियाओं को डिजिटल और समयबद्ध बनाया है। जीरो एफआईआर को वैधानिक मान्यता धारा 173 में दी गई, अतः कथन A सही है। ई-एफआईआर की व्यवस्था धारा 173(1) में जोड़ी गई, अतः कथन B सही है। वैज्ञानिक साक्ष्य जुटाने हेतु धारा 176(3) में 7 साल से अधिक की सजा वाले अपराधों में फॉरेंसिक जांच अनिवार्य की गई, अतः कथन C सही है। आपराधिक मुकदमों में अनिश्चित देरी रोकने हेतु जांच पूरी करने, आरोप तय करने और फैसला सुनाने की स्पष्ट कानूनी समय-सीमाएं निर्धारित की गई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008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257/300</a:t>
            </a:r>
          </a:p>
        </p:txBody>
      </p:sp>
    </p:spTree>
  </p:cSld>
  <p:clrMapOvr>
    <a:masterClrMapping/>
  </p:clrMapOvr>
</p:sld>
</file>

<file path=ppt/slides/slide51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साक्ष्य अधिनियम, 2023' (BSA, 2023) के प्रमुख आधुनिक प्रावधानों के संदर्भ में निम्नलिखित कथनों पर विचार कीजिए: A. इलेक्ट्रॉनिक और डिजिटल रिकॉर्ड्स (जैसे ईमेल, सर्वर लॉग, स्मार्टफोन संदेश, वेबसाइट सामग्री, क्लाउड डेटा) को दस्तावेजों के समान पूर्ण प्राथमिक साक्ष्य (Primary Evidence) का विधिक दर्जा दिया गया है। B. अदालत में गवाहों, विशेषज्ञों और आरोपियों की गवाही इलेक्ट्रॉनिक माध्यमों (वीडियो कॉन्फ्रेंसिंग) से दर्ज कराने की औपचारिक वैधानिक अनुमति दी गई है। C. संयुक्त विचारण (Joint Trial) के मामलों में यदि कोई आरोपी फरार है या उसने समन का जवाब नहीं दिया है, तो भी उसके विरुद्ध विचारण की प्रक्रिया जारी रह सकती है। D. नए साक्ष्य कानून के तहत पुलिस हिरासत में पुलिस अधिकारी के समक्ष दिए गए किसी भी इकबालिया बयान (Confession) को अदालत में पूर्ण और अकाट्य साक्ष्य मान लिया गया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4095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258/300</a:t>
            </a:r>
          </a:p>
        </p:txBody>
      </p:sp>
    </p:spTree>
  </p:cSld>
  <p:clrMapOvr>
    <a:masterClrMapping/>
  </p:clrMapOvr>
</p:sld>
</file>

<file path=ppt/slides/slide51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BSA 2023 डिजिटल युग की वास्तविकताओं को स्वीकार करता है। इलेक्ट्रॉनिक रिकॉर्ड्स को प्राथमिक साक्ष्य की धारा 57 और 61 में मान्यता मिली, अतः कथन A सही है। गवाहों और विशेषज्ञों की पेशी वीडियो कॉन्फ्रेंसिंग से मान्य है, अतः कथन B सही है। अनुपस्थिति में विचारण (Trial in absentia) को सुगम बनाया गया, अतः कथन C सही है। कथन D असत्य है क्योंकि पुलिस हिरासत में दबाव में दिए गए बयानों के दुरुपयोग को रोकने का पारंपरिक सुरक्षा नियम आज भी बरकरार है; पुलिस के सामने दिया गया कन्फेशन अदालत में ग्राह्य नहीं होता, जब तक कि वह मजिस्ट्रेट के सामने दर्ज न कराया गया हो या उससे कोई नई भौतिक बरामदगी न हुई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4095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258/300</a:t>
            </a:r>
          </a:p>
        </p:txBody>
      </p:sp>
    </p:spTree>
  </p:cSld>
  <p:clrMapOvr>
    <a:masterClrMapping/>
  </p:clrMapOvr>
</p:sld>
</file>

<file path=ppt/slides/slide51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259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'चुनावी बॉन्ड योजना' (Electoral Bonds Scheme, 2018) पर सर्वोच्च न्यायालय की संविधान पीठ के ऐतिहासिक निर्णय (15 फरवरी, 2024) के संदर्भ में निम्नलिखित कथनों पर विचार कीजिए: A. भारत के मुख्य न्यायाधीश डी. वाई. चंद्रचूड़ की अध्यक्षता वाली 5-न्यायाधीशों की संविधान पीठ ने सर्वसम्मति (5:0) से चुनावी बॉन्ड योजना को असंवैधानिक घोषित कर निरस्त कर दिया। B. न्यायालय ने निर्णय दिया कि अनाम (Anonymous) चुनावी बॉन्ड संविधान के अनुच्छेद 19(1)(क) के तहत मतदाताओं के 'जानने के अधिकार / सूचना के अधिकार' (Right to Information) का सीधा उल्लंघन करते हैं। C. न्यायालय ने कंपनी अधिनियम, 2013 की धारा 182 में किए गए उस संशोधन को रद्द कर दिया जिसने घाटे में चल रही कंपनियों और शेल कंपनियों द्वारा राजनीतिक दलों को असीमित चंदा देने की छूट दी थी। D. न्यायालय ने स्टेट बैंक ऑफ इंडिया (SBI) को चुनावी बॉन्ड जारी करने पर तत्काल रोक लगाने तथा 12 अप्रैल 2019 से बेचे गए सभी बांडों के क्रेताओं और भुनाने वाले राजनीतिक दलों का संपूर्ण विवरण चुनाव आयोग को सौंपने का निर्देश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38103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259/300</a:t>
            </a:r>
          </a:p>
        </p:txBody>
      </p:sp>
    </p:spTree>
  </p:cSld>
  <p:clrMapOvr>
    <a:masterClrMapping/>
  </p:clrMapOvr>
</p:sld>
</file>

<file path=ppt/slides/slide51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Q.259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एसोसिएशन फॉर डेमोक्रेटिक रिफॉर्म्स (ADR) बनाम भारत संघ (फरवरी 2024) में सुप्रीम कोर्ट का यह ऐतिहासिक फैसला लोकतंत्र और चुनावी शुचिता का मील का पत्थर है। 5 जजों की पीठ ने सर्वसम्मति से चुनावी बॉन्ड को असंवैधानिक ठहराया, अतः कथन A सही है। न्यायालय ने माना कि मतदाता को यह जानने का मौलिक अधिकार है कि राजनीतिक दलों को पैसा कौन दे रहा है ताकि वह स्वतंत्र निर्णय ले सके, अतः कथन B सही है। कॉर्पोरेट चंदे पर लगी 7.5% लाभ की सीमा हटाना और घाटे वाली कंपनियों को असीमित चंदा देने की छूट असंवैधानिक पाई गई, अतः कथन C सही है। एसबीआई को सभी गुप्त अल्फा-न्यूमेरिक कोड और डेटा चुनाव आयोग को सौंपने का आदेश हुआ जिसे ईसीआई ने वेबसाइट पर सार्वजनिक किया,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38103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259/300</a:t>
            </a:r>
          </a:p>
        </p:txBody>
      </p:sp>
    </p:spTree>
  </p:cSld>
  <p:clrMapOvr>
    <a:masterClrMapping/>
  </p:clrMapOvr>
</p:sld>
</file>

<file path=ppt/slides/slide51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चुनावी बॉन्ड फैसले (फरवरी 2024) में सर्वोच्च न्यायालय द्वारा प्रतिपादित संवैधानिक तर्कों के संदर्भ में निम्नलिखित कथनों पर विचार कीजिए: A. न्यायालय ने माना कि राजनीतिक दलों को मिलने वाले गुप्त और असीमित कॉर्पोरेट चंदे से नीति निर्माण प्रभावित होने तथा 'क्विड प्रो क्वो' (Quid Pro Quo - लेन-देन की राजनीति) को बढ़ावा मिलने की गंभीर संभावना होती है। B. न्यायालय ने सरकार के इस तर्क को खारिज कर दिया कि चुनावी बॉन्ड का एकमात्र उद्देश्य काले धन पर रोक लगाना था; न्यायालय ने कहा कि काले धन को रोकने के लिए नागरिकों के जानने के मौलिक अधिकार की बलि नहीं दी जा सकती। C. न्यायालय ने आनुपातिकता के सिद्धांत (Proportionality Test) का प्रयोग करते हुए पाया कि चुनावी बॉन्ड योजना सूचना के अधिकार पर एक असंगत और अत्यधिक प्रतिबंध थी। D. सर्वोच्च न्यायालय ने आदेश दिया कि राजनीतिक दलों द्वारा भुनाए गए सभी चुनावी बॉन्ड का पैसा तत्काल केंद्र सरकार के खजाने में जब्त कर लिया जाए।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2111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260/300</a:t>
            </a:r>
          </a:p>
        </p:txBody>
      </p:sp>
    </p:spTree>
  </p:cSld>
  <p:clrMapOvr>
    <a:masterClrMapping/>
  </p:clrMapOvr>
</p:sld>
</file>

<file path=ppt/slides/slide52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चुनावी बॉन्ड निर्णय में न्यायालय ने राजनीतिक वित्तपोषण और नीतिगत भ्रष्टाचार के बीच गहरे संबंधों की पड़ताल की। न्यायालय ने कहा कि बड़ी कंपनियों का गुप्त चंदा नीतियों को कॉर्पोरेट हित में प्रभावित करता है, अतः कथन A सही है। काले धन को रोकने के वैध उद्देश्य के लिए कम प्रतिबंधात्मक विकल्प (जैसे इलेक्टोरल ट्रस्ट) मौजूद थे, अतः नागरिकों का मौलिक अधिकार नहीं छीना जा सकता, अतः कथन B और C सही हैं। कथन D असत्य है क्योंकि न्यायालय ने पूर्व में भुनाए जा चुके पैसों को जब्त करने का कोई आदेश नहीं दिया; न्यायालय ने केवल योजना को भविष्य के लिए रद्द किया और जो बॉन्ड खरीदे जा चुके थे लेकिन 15 दिन की अवधि में भुनाए नहीं गए थे, उन्हें क्रेता को वापस लौटाने का निर्देश दिया।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2111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260/300</a:t>
            </a:r>
          </a:p>
        </p:txBody>
      </p:sp>
    </p:spTree>
  </p:cSld>
  <p:clrMapOvr>
    <a:masterClrMapping/>
  </p:clrMapOvr>
</p:sld>
</file>

<file path=ppt/slides/slide52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सर्वोच्च न्यायालय द्वारा अनुसूचित जातियों (SC) और अनुसूचित जनजातियों (ST) के 'उप-वर्गीकरण' (Sub-classification) पर दिए गए ऐतिहासिक निर्णय (1 अगस्त, 2024) के संदर्भ में निम्नलिखित कथनों पर विचार कीजिए: A. भारत के मुख्य न्यायाधीश की अध्यक्षता वाली 7-न्यायाधीशों की संविधान पीठ ने 6:1 के ऐतिहासिक बहुमत से राज्यों को SC और ST सूचियों के भीतर उप-वर्गीकरण करने का संवैधानिक अधिकार दिया। B. इस निर्णय ने 2004 के 'ई. वी. चिन्नैया बनाम आंध्र प्रदेश राज्य' के 5 जजों के उस पूर्व फैसले को पलट दिया जिसमें कहा गया था कि SC/ST एक समरूप (Homogeneous) समूह हैं और उनका उप-वर्गीकरण नहीं हो सकता। C. न्यायालय ने माना कि SC/ST श्रेणियों के भीतर भी कुछ समुदाय ऐतिहासिक रूप से अधिक वंचित रहे हैं, अतः उनके उत्थान के लिए राज्य सरकारें आरक्षित कोटे के भीतर अलग उप-कोटा (कोटे के भीतर कोटा) तय कर सकती हैं। D. पीठ की एकमात्र महिला न्यायाधीश न्यायमूर्ति बेला एम. त्रिवेदी ने बहुमत के निर्णय से असहमति जताते हुए अपना विसम्मतिपूर्ण निर्णय (Dissenting Opinion) दिया।</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46119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261/300</a:t>
            </a:r>
          </a:p>
        </p:txBody>
      </p:sp>
    </p:spTree>
  </p:cSld>
  <p:clrMapOvr>
    <a:masterClrMapping/>
  </p:clrMapOvr>
</p:sld>
</file>

<file path=ppt/slides/slide52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पंजाब राज्य बनाम दविंदर सिंह वाद (1 अगस्त 2024) में 7 जजों की संविधान पीठ ने 6:1 से फैसला सुनाया, अतः कथन A सही है। 2004 के चिन्नैया फैसले की इस धारणा को रद्द कर दिया गया कि राष्ट्रपति की सूची में शामिल सभी जातियां एक समरूप वर्ग हैं, अतः कथन B सही है। अनुच्छेद 15 और 16 के तहत वास्तविक व ठोस समानता (Substantive Equality) सुनिश्चित करने के लिए सर्वाधिक पिछड़े वंचित समूहों (जैसे वाल्मीकि, मजहबी सिख, मडिगा) हेतु उप-आरक्षण को वैध माना गया, अतः कथन C सही है। न्यायमूर्ति बेला त्रिवेदी ने असहमति जताते हुए कहा कि अनुच्छेद 341 के तहत राष्ट्रपति की केंद्रीय सूची में बदलाव केवल संसद कानून बनाकर कर सकती है, राज्यों को इसमें फेरबदल का अधिकार नहीं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46119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261/300</a:t>
            </a:r>
          </a:p>
        </p:txBody>
      </p:sp>
    </p:spTree>
  </p:cSld>
  <p:clrMapOvr>
    <a:masterClrMapping/>
  </p:clrMapOvr>
</p:sld>
</file>

<file path=ppt/slides/slide52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सर्वोच्च न्यायालय के SC/ST उप-वर्गीकरण निर्णय (अगस्त 2024) में निर्धारित की गई अनिवार्य कानूनी शर्तों और टिप्पणियों के संदर्भ में निम्नलिखित कथनों पर विचार कीजिए: A. न्यायालय ने स्पष्ट किया कि राज्यों द्वारा किया जाने वाला उप-वर्गीकरण मनमाना या राजनीतिक तुष्टीकरण पर आधारित नहीं हो सकता; इसके लिए राज्य के पास ठोस, आनुभविक और वैज्ञानिक डेटा (Empirical and Objective Data) होना अनिवार्य है। B. राज्य किसी एक उप-जाति को 100% कोटा आवंटित नहीं कर सकते और न ही मूल सूची में से किसी जाति को पूरी तरह बाहर कर सकते हैं। C. राज्यों द्वारा किया गया उप-वर्गीकरण पूरी तरह से उच्च न्यायालय और सर्वोच्च न्यायालय की 'न्यायिक समीक्षा' (Judicial Review) के अधीन होगा। D. संविधान पीठ के चार न्यायाधीशों ने अपनी व्यक्तिगत टिप्पणियों में यह विचार भी व्यक्त किया कि SC/ST आरक्षण में भी 'क्रीमी लेयर' (Creamy Layer) के सिद्धांत को लागू करने की आवश्यकता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012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262/300</a:t>
            </a:r>
          </a:p>
        </p:txBody>
      </p:sp>
    </p:spTree>
  </p:cSld>
  <p:clrMapOvr>
    <a:masterClrMapping/>
  </p:clrMapOvr>
</p:sld>
</file>

<file path=ppt/slides/slide52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दविंदर सिंह निर्णय में न्यायालय ने राज्यों की शक्तियों पर सख्त सुरक्षा कवच लगाए: मनमाने वर्गीकरण को रोकने के लिए सरकारी नौकरियों में अपर्याप्त प्रतिनिधित्व का अनुभवजन्य और मात्रात्मक डेटा अनिवार्य किया गया, अतः कथन A सही है। राज्य किसी जाति को शून्य प्रतिनिधित्व नहीं दे सकते और न ही राष्ट्रपति सूची से बाहर कर सकते हैं, अतः कथन B सही है। राज्य के ऐसे किसी भी कानून की अदालती समीक्षा हो सकती है, अतः कथन C सही है। न्यायमूर्ति बी. आर. गवई, विक्रम नाथ, पंकज मिथल और सतीश चंद्र शर्मा ने स्पष्ट टिप्पणी की कि SC/ST वर्ग के भीतर जो परिवार उच्च पदों पर पहुंचकर समृद्ध हो चुके हैं, उन्हें क्रीमी लेयर मानकर बाहर किया जाना चाहिए ताकि वास्तविक गरीबों तक आरक्षण का लाभ पहुंचे,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012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262/300</a:t>
            </a:r>
          </a:p>
        </p:txBody>
      </p:sp>
    </p:spTree>
  </p:cSld>
  <p:clrMapOvr>
    <a:masterClrMapping/>
  </p:clrMapOvr>
</p:sld>
</file>

<file path=ppt/slides/slide52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263</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370 के निरस्तीकरण पर सर्वोच्च न्यायालय की संविधान पीठ के ऐतिहासिक निर्णय (11 दिसंबर, 2023) के संदर्भ में निम्नलिखित कथनों पर विचार कीजिए: A. भारत के मुख्य न्यायाधीश डी. वाई. चंद्रचूड़ की अध्यक्षता वाली 5-न्यायाधीशों की संविधान पीठ ने सर्वसम्मति (5:0) से 5 अगस्त 2019 को केंद्र सरकार द्वारा अनुच्छेद 370 को निरस्त करने के निर्णय को संवैधानिक रूप से वैध ठहराया। B. न्यायालय ने निर्णय दिया कि अनुच्छेद 370 भारतीय संविधान का एक 'अस्थायी और संक्रमणकालीन प्रावधान' (Temporary and Transitional Provision) था, जो संविधान के भाग XXI में उल्लिखित था। C. न्यायालय ने माना कि 1947 में भारत में विलय पत्र (Instrument of Accession) पर हस्ताक्षर करने के साथ ही जम्मू और कश्मीर राज्य ने अपनी संप्रभुता का पूरी तरह त्याग कर दिया था और वह भारत का अविभाज्य अंग बन गया था। D. न्यायालय ने भारत के निर्वाचन आयोग को 30 सितंबर, 2024 तक जम्मू-कश्मीर विधानसभा के चुनाव संपन्न कराने का स्पष्ट निर्देश दिया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4135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263/300</a:t>
            </a:r>
          </a:p>
        </p:txBody>
      </p:sp>
    </p:spTree>
  </p:cSld>
  <p:clrMapOvr>
    <a:masterClrMapping/>
  </p:clrMapOvr>
</p:sld>
</file>

<file path=ppt/slides/slide52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11 दिसंबर 2023 को संविधान पीठ ने अनुच्छेद 370 को हटाने को चुनौती देने वाली सभी याचिकाओं को खारिज कर दिया, अतः कथन A सही है। संविधान सभा के 1957 में भंग होने के बाद भी अनुच्छेद 370 स्थायी नहीं बना क्योंकि यह भाग XXI के अस्थायी प्रावधानों में था, अतः कथन B सही है। महाराजा हरि सिंह के विलय के बाद जम्मू-कश्मीर की कोई आंतरिक संप्रभुता शेष नहीं रही और वह अन्य भारतीय राज्यों के समान था, अतः कथन C सही है। न्यायालय ने लोकतंत्र की बहाली हेतु 30 सितंबर 2024 तक विधानसभा चुनाव कराने का ऐतिहासिक निर्देश दिया (जिसका अनुपालन करते हुए चुनाव सफलतापूर्वक संपन्न हुए),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4135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263/300</a:t>
            </a:r>
          </a:p>
        </p:txBody>
      </p:sp>
    </p:spTree>
  </p:cSld>
  <p:clrMapOvr>
    <a:masterClrMapping/>
  </p:clrMapOvr>
</p:sld>
</file>

<file path=ppt/slides/slide52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'एक राष्ट्र, एक चुनाव' (Simultaneous Elections) हेतु गठित उच्च स्तरीय समिति (HLC) की रिपोर्ट (मार्च 2024) के संदर्भ में निम्नलिखित कथनों पर विचार कीजिए: A. केंद्र सरकार द्वारा सितंबर 2023 में भारत के पूर्व राष्ट्रपति 'रामनाथ कोविंद' की अध्यक्षता में 8-सदस्यीय उच्च स्तरीय समिति का गठन किया गया था। B. समिति ने 18,000 से अधिक पृष्ठों की अपनी विस्तृत रिपोर्ट 14 मार्च, 2024 को राष्ट्रपति द्रौपदी मुर्मू को सौंपी, जिसमें देश में एक साथ चुनाव कराने की पुरजोर सिफारिश की गई। C. समिति ने तर्क दिया कि बार-बार होने वाले चुनावों से विकास कार्य ठप होते हैं, सरकारी खजाने पर भारी वित्तीय बोझ पड़ता है और नीतिगत पंगुता उत्पन्न होती है। D. समिति ने सिफारिश की कि पहले चरण के एक साथ चुनावों के लिए कम से कम 20 राज्यों की विधानसभाओं का अनुसमर्थन अनिवार्य होना चाहिए।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58143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264/300</a:t>
            </a:r>
          </a:p>
        </p:txBody>
      </p:sp>
    </p:spTree>
  </p:cSld>
  <p:clrMapOvr>
    <a:masterClrMapping/>
  </p:clrMapOvr>
</p:sld>
</file>

<file path=ppt/slides/slide52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रामनाथ कोविंद समिति ने भारत में एक साथ चुनाव कराने की व्यापक रूपरेखा तैयार की, अतः कथन A सही है। 191 दिनों के गहन विचार-विमर्श और राजनीतिक दलों से चर्चा के बाद मार्च 2024 में विस्तृत रिपोर्ट राष्ट्रपति को सौंपी गई, अतः कथन B और C सही हैं। कथन D असत्य है क्योंकि कोविंद समिति ने स्पष्ट रूप से दो-चरणीय मॉडल सुझाया और कहा कि पहले चरण में लोकसभा और राज्य विधानसभाओं के चुनाव एक साथ कराने हेतु अनुच्छेद 83 व 172 में संशोधन के लिए राज्यों के अनुसमर्थन की आवश्यकता 'नहीं' होगी; राज्यों के अनुसमर्थन की आवश्यकता केवल दूसरे चरण में स्थानीय निकायों (पंचायतों व नगरपालिकाओं) के चुनावों को एक साथ जोड़ने हेतु नया अनुच्छेद 324A बनाते समय ही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58143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264/300</a:t>
            </a:r>
          </a:p>
        </p:txBody>
      </p:sp>
    </p:spTree>
  </p:cSld>
  <p:clrMapOvr>
    <a:masterClrMapping/>
  </p:clrMapOvr>
</p:sld>
</file>

<file path=ppt/slides/slide52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पूर्व राष्ट्रपति रामनाथ कोविंद समिति ('एक राष्ट्र, एक चुनाव') द्वारा प्रस्तुत दो-चरणीय मॉडल की प्रमुख सिफारिशों पर विचार कीजिए: A. प्रथम चरण में लोकसभा और सभी राज्य विधानसभाओं के आम चुनाव एक साथ (Simultaneously) कराए जाएंगे। B. द्वितीय चरण में लोकसभा और विधानसभा चुनावों के संपन्न होने के '100 दिनों के भीतर' सभी नगरपालिकाओं और पंचायतों के स्थानीय निकाय चुनाव कराए जाएंगे। C. समिति ने सिफारिश की कि भारत निर्वाचन आयोग और राज्य निर्वाचन आयोगों के समन्वय से पूरे देश के लिए एक 'एकल निर्वाचक नामावली' (Single Electoral Roll) और साझा मतदाता पहचान पत्र तैयार किया जाए। D. यदि त्रिशंकु विधानसभा या अविश्वास प्रस्ताव के कारण कोई सरकार समय से पूर्व गिर जाती है, तो नए चुनाव केवल उस सदन की 'शेष बची हुई अवधि' (Unexpired Term) के लिए ही कराए जाएंगे।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2151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265/300</a:t>
            </a:r>
          </a:p>
        </p:txBody>
      </p:sp>
    </p:spTree>
  </p:cSld>
  <p:clrMapOvr>
    <a:masterClrMapping/>
  </p:clrMapOvr>
</p:sld>
</file>

<file path=ppt/slides/slide53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कोविंद समिति की सिफारिशें अत्यंत सुविचारित हैं: पहले चरण में केंद्र और राज्यों के चुनाव एक साथ होंगे, अतः कथन A सही है। दूसरे चरण में 100 दिनों के भीतर शहरी व ग्रामीण स्थानीय निकायों के चुनाव होंगे, अतः कथन B सही है। अलग-अलग वोटर लिस्ट की बर्बादी रोकने हेतु ईसीआई द्वारा साझा मतदाता सूची बनेगी, अतः कथन C सही है। चक्र को बिगड़ने से बचाने के लिए समिति ने सबसे महत्वपूर्ण सिफारिश की कि यदि कोई सरकार बीच में गिरती है और मध्यावधि चुनाव होते हैं, तो नई सरकार पूरे 5 वर्ष के लिए नहीं बल्कि केवल शेष बची अवधि के लिए बनेगी ताकि अगला चुनाव पुनः राष्ट्रीय चक्र के साथ हो सके,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2151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265/300</a:t>
            </a:r>
          </a:p>
        </p:txBody>
      </p:sp>
    </p:spTree>
  </p:cSld>
  <p:clrMapOvr>
    <a:masterClrMapping/>
  </p:clrMapOvr>
</p:sld>
</file>

<file path=ppt/slides/slide53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'नए संसद भवन' (New Parliament House) की वास्तुकला और विशेषताओं के संदर्भ में निम्नलिखित कथनों पर विचार कीजिए: A. नए संसद भवन का भव्य उद्घाटन 28 मई, 2023 को प्रधानमंत्री नरेंद्र मोदी द्वारा किया गया था और यह सेंट्रल विस्टा पुनर्विकास परियोजना का हिस्सा है। B. नए संसद भवन का मुख्य वास्तुशिल्प आकार 'त्रिकोणीय' (Triangular) है ताकि उपलब्ध भूमि का इष्टतम और प्रभावी उपयोग किया जा सके। C. नए संसद भवन के मुख्य वास्तुकार अहमदाबाद के पद्मश्री से सम्मानित डॉ. बिमल पटेल (HCP Design) हैं। D. नए संसद भवन का निर्माण लार्सन एंड टुब्रो (L&amp;T) कंपनी द्वारा किया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66159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266/300</a:t>
            </a:r>
          </a:p>
        </p:txBody>
      </p:sp>
    </p:spTree>
  </p:cSld>
  <p:clrMapOvr>
    <a:masterClrMapping/>
  </p:clrMapOvr>
</p:sld>
</file>

<file path=ppt/slides/slide53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सेंट्रल विस्टा प्रोजेक्ट के तहत निर्मित नया संसद भवन भारत की आत्मनिर्भरता और लोकतांत्रिक शक्ति का आधुनिक प्रतीक है, अतः कथन A सही है। भूखंड के आकार और आंतरिक स्पेस के अधिकतम उपयोग हेतु इसे त्रिकोणीय बनाया गया है, अतः कथन B सही है। अहमदाबाद के प्रसिद्ध वास्तुकार बिमल पटेल ने इसका डिजाइन बनाया, अतः कथन C सही है। कथन D असत्य है क्योंकि नए संसद भवन के निर्माण का आधिकारिक ठेका 'टाटा प्रोजेक्ट्स लिमिटेड' (Tata Projects Limited) को दिया गया था, जिसने इसका भौतिक निर्माण पूरा किया (L&amp;T नहीं)।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66159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266/300</a:t>
            </a:r>
          </a:p>
        </p:txBody>
      </p:sp>
    </p:spTree>
  </p:cSld>
  <p:clrMapOvr>
    <a:masterClrMapping/>
  </p:clrMapOvr>
</p:sld>
</file>

<file path=ppt/slides/slide53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नए संसद भवन की आंतरिक सज्जा, प्रतीकात्मकता और 'सेंगोल' (Sengol) के संदर्भ में निम्नलिखित कथनों पर विचार कीजिए: A. नए संसद भवन के लोकसभा कक्ष की आंतरिक सज्जा की थीम राष्ट्रीय पक्षी 'मोर' (Peacock) पर आधारित है तथा इसमें 888 सदस्यों के बैठने की क्षमता है। B. राज्यसभा कक्ष की आंतरिक सज्जा की थीम राष्ट्रीय पुष्प 'कमल' (Lotus) पर आधारित है तथा इसमें 384 सदस्यों के बैठने की क्षमता है। C. संसद के संयुक्त सत्र (Joint Session) के आयोजन के लिए लोकसभा कक्ष में कुल 1,272 सदस्यों के बैठने की व्यवस्था की गई है। D. लोकसभा अध्यक्ष के आसन के ठीक समीप स्थापित ऐतिहासिक स्वर्ण 'सेंगोल' (राजदंड) चोल साम्राज्य की परंपरा का प्रतीक है, जो न्यायपूर्ण सत्ता हस्तांतरण को दर्शाता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016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267/300</a:t>
            </a:r>
          </a:p>
        </p:txBody>
      </p:sp>
    </p:spTree>
  </p:cSld>
  <p:clrMapOvr>
    <a:masterClrMapping/>
  </p:clrMapOvr>
</p:sld>
</file>

<file path=ppt/slides/slide53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नए संसद भवन के दोनों सदनों का डिजाइन भारतीय राष्ट्रीय प्रतीकों पर आधारित है: लोकसभा मोर थीम (888 सीटें), अतः कथन A सही है। राज्यसभा कमल थीम (384 सीटें), अतः कथन B सही है। दोनों सदनों की संयुक्त बैठक हेतु कोई अलग सेंट्रल हॉल नहीं है, बल्कि लोकसभा हॉल में ही 1272 सीटें बनाई गई हैं, अतः कथन C सही है। 14 अगस्त 1947 को तमिलनाडु के थिरुवदुथुराई अधीनम द्वारा पंडित नेहरू को सत्ता हस्तांतरण के समय दिया गया ऐतिहासिक सेंगोल (जिसके शीर्ष पर धर्म व न्याय के प्रतीक नंदी विराजमान हैं) नए लोकसभा अध्यक्ष के आसन के पास स्थापित किया गया,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016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267/300</a:t>
            </a:r>
          </a:p>
        </p:txBody>
      </p:sp>
    </p:spTree>
  </p:cSld>
  <p:clrMapOvr>
    <a:masterClrMapping/>
  </p:clrMapOvr>
</p:sld>
</file>

<file path=ppt/slides/slide53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106वें संविधान संशोधन अधिनियम, 2023 ('नारी शक्ति वंदन अधिनियम') के संवैधानिक प्रावधानों के संदर्भ में निम्नलिखित कथनों पर विचार कीजिए: A. यह अधिनियम लोकसभा, राज्य विधानसभाओं और राष्ट्रीय राजधानी क्षेत्र दिल्ली की विधानसभा में महिलाओं के लिए '33% (एक-तिहाई) आरक्षण' का प्रावधान करता है। B. इस संशोधन द्वारा संविधान में नए अनुच्छेद 330A, 332A और 334A जोड़े गए तथा अनुच्छेद 239AA में संशोधन किया गया। C. यह आरक्षण अनुसूचित जातियों (SC) और अनुसूचित जनजातियों (ST) के लिए आरक्षित सीटों के भीतर भी महिलाओं के लिए 33% उप-आरक्षण के रूप में लागू होगा। D. यह आरक्षण संसद के उच्च सदन (राज्यसभा) और राज्यों की विधान परिषदों में भी पूर्णतः लागू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4176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268/300</a:t>
            </a:r>
          </a:p>
        </p:txBody>
      </p:sp>
    </p:spTree>
  </p:cSld>
  <p:clrMapOvr>
    <a:masterClrMapping/>
  </p:clrMapOvr>
</p:sld>
</file>

<file path=ppt/slides/slide53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सितंबर 2023 में संसद के विशेष सत्र में नए संसद भवन में पारित यह पहला ऐतिहासिक अधिनियम था, अतः कथन A सही है। इसके द्वारा अनुच्छेद 330A (लोकसभा), 332A (विधानसभा) और 334A (आरक्षण की अवधि व शर्तें) जोड़े गए, अतः कथन B सही है। SC/ST के लिए पहले से आरक्षित कुल सीटों में से भी एक-तिहाई सीटें SC/ST महिलाओं के लिए आरक्षित होंगी, अतः कथन C सही है। कथन D असत्य है क्योंकि नारी शक्ति वंदन अधिनियम केवल सीधे जनता द्वारा चुने जाने वाले सदनों (लोकसभा, राज्य विधानसभाओं और दिल्ली विधानसभा) पर लागू होता है; यह अप्रत्यक्ष निर्वाचित सदनों यानी 'राज्यसभा' और 'राज्य विधान परिषदों' पर लागू नहीं होता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4176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268/300</a:t>
            </a:r>
          </a:p>
        </p:txBody>
      </p:sp>
    </p:spTree>
  </p:cSld>
  <p:clrMapOvr>
    <a:masterClrMapping/>
  </p:clrMapOvr>
</p:sld>
</file>

<file path=ppt/slides/slide53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269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106वें संविधान संशोधन अधिनियम, 2023 के क्रियान्वयन की तकनीकी शर्तों और समय-सीमा के संदर्भ में निम्नलिखित कथनों पर विचार कीजिए: A. अनुच्छेद 334A के अनुसार यह आरक्षण अधिनियम के लागू होने के बाद होने वाली पहली नई जनगणना के आंकड़ों के प्रकाशन के बाद होने वाले 'परिसीमन' (Delimitation) के पश्चात प्रभावी होगा। B. अधिनियम के अनुसार महिलाओं के लिए यह 33% आरक्षण प्रारंभिक रूप से '15 वर्षों' की अवधि के लिए लागू रहेगा। C. संसद को यह संवैधानिक अधिकार प्राप्त है कि वह विधि बनाकर इस 15 वर्ष की अवधि को आगे बढ़ा सकती है। D. यह आरक्षण वर्ष 2024 के 18वें लोकसभा आम चुनाव में तुरंत पूर्ण रूप से लागू कर दिया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78184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269/300</a:t>
            </a:r>
          </a:p>
        </p:txBody>
      </p:sp>
    </p:spTree>
  </p:cSld>
  <p:clrMapOvr>
    <a:masterClrMapping/>
  </p:clrMapOvr>
</p:sld>
</file>

<file path=ppt/slides/slide53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Q.269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106वें संशोधन की धारा 334A में स्पष्ट शर्तें हैं: यह आरक्षण नई जनगणना के बाद होने वाली परिसीमन प्रक्रिया के पूरा होने के बाद ही लागू होगा, अतः कथन A सही है। इसकी प्रारंभिक संवैधानिक अवधि 15 वर्ष तय की गई है, अतः कथन B सही है। संसद कानून बनाकर इस आरक्षण को आगे बढ़ा सकती है (जैसे SC/ST आरक्षण बढ़ाया जाता रहा है), अतः कथन C सही है। कथन D असत्य है क्योंकि 2024 के लोकसभा चुनाव में यह लागू नहीं हुआ था; जनगणना और परिसीमन पूरा होने के बाद ही (संभवतः 2029 के आम चुनाव से) यह प्रभावी होगा।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78184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269/300</a:t>
            </a:r>
          </a:p>
        </p:txBody>
      </p:sp>
    </p:spTree>
  </p:cSld>
  <p:clrMapOvr>
    <a:masterClrMapping/>
  </p:clrMapOvr>
</p:sld>
</file>

<file path=ppt/slides/slide53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105वें संविधान संशोधन अधिनियम, 2021 की पृष्ठभूमि और संवैधानिक महत्व के संदर्भ में निम्नलिखित कथनों पर विचार कीजिए: A. 105वें संशोधन अधिनियम का मुख्य उद्देश्य राज्यों को अपनी सामाजिक और शैक्षणिक रूप से पिछड़े वर्गों (SEBC / OBC) की राज्य सूची स्वयं पहचानने और तैयार करने की ऐतिहासिक शक्ति को पुनः बहाल करना था। B. यह संशोधन सर्वोच्च न्यायालय के 'मराठा आरक्षण मामले' (डॉ. जयश्री लक्ष्मणराव पाटिल बनाम महाराष्ट्र राज्य, मई 2021) के निर्णय के प्रभाव को दूर करने के लिए संसद द्वारा सर्वसम्मति से लाया गया था। C. सर्वोच्च न्यायालय ने व्याख्या की थी कि 102वें संशोधन (2018) के बाद केवल राष्ट्रपति (केंद्र सरकार) ही OBC सूची अधिसूचित कर सकते हैं और राज्यों की शक्ति समाप्त हो गई है। D. 105वें संशोधन द्वारा अनुच्छेद 342A में खंड (3) जोड़कर स्पष्ट किया गया कि प्रत्येक राज्य और संघ राज्य क्षेत्र को अपनी राज्य सूची तैयार करने का स्वतंत्र अधिकार होगा।</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2192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270/300</a:t>
            </a:r>
          </a:p>
        </p:txBody>
      </p:sp>
    </p:spTree>
  </p:cSld>
  <p:clrMapOvr>
    <a:masterClrMapping/>
  </p:clrMapOvr>
</p:sld>
</file>

<file path=ppt/slides/slide54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105वां संविधान संशोधन अधिनियम, 2021 भारत के संघीय ढांचे और सामाजिक न्याय का अत्यंत महत्वपूर्ण सुधार है। मराठा आरक्षण मामले में सुप्रीम कोर्ट की संविधान पीठ ने 102वें संशोधन की व्याख्या करते हुए माना था कि राज्यों की अपनी ओबीसी सूची बनाने की शक्ति छिन चुकी है, अतः कथन B और C सही हैं। इससे राज्यों की स्वायत्तता पर संकट खड़ा हो गया, जिसके समाधान हेतु संसद ने अगस्त 2021 में बिना किसी विरोध के 105वां संशोधन पारित कर राज्यों की शक्ति को स्पष्ट रूप से बहाल किया, अतः कथन A सही है। अनुच्छेद 342A में संशोधन कर खंड (3) जोड़ा गया कि राज्य अपने प्रयोजनों के लिए स्वतंत्र सूची बना सकते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2192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270/300</a:t>
            </a:r>
          </a:p>
        </p:txBody>
      </p:sp>
    </p:spTree>
  </p:cSld>
  <p:clrMapOvr>
    <a:masterClrMapping/>
  </p:clrMapOvr>
</p:sld>
</file>

<file path=ppt/slides/slide54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164592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271</a:t>
            </a:r>
          </a:p>
        </p:txBody>
      </p:sp>
      <p:sp>
        <p:nvSpPr>
          <p:cNvPr id="13" name="t13"/>
          <p:cNvSpPr txBox="1">
            <a:spLocks noGrp="1"/>
          </p:cNvSpPr>
          <p:nvPr/>
        </p:nvSpPr>
        <p:spPr>
          <a:xfrm>
            <a:off x="1508760" y="164592"/>
            <a:ext cx="10378440" cy="1371600"/>
          </a:xfrm>
          <a:prstGeom prst="rect">
            <a:avLst/>
          </a:prstGeom>
          <a:noFill/>
          <a:ln>
            <a:noFill/>
          </a:ln>
        </p:spPr>
        <p:txBody>
          <a:bodyPr wrap="square" anchor="t">
            <a:normAutofit/>
          </a:bodyPr>
          <a:lstStyle/>
          <a:p>
            <a:pPr algn="l"/>
            <a:r>
              <a:rPr lang="hi-IN" altLang="en-US" sz="2600" b="1" dirty="0">
                <a:solidFill>
                  <a:srgbClr val="FFFFFF"/>
                </a:solidFill>
                <a:latin typeface="Nirmala UI"/>
                <a:cs typeface="Nirmala UI"/>
              </a:rPr>
              <a:t>निम्नांकित में से कौन-सा प्रसिद्ध कथन 25 नवंबर, 1949 को संविधान सभा में डॉ. बी. आर. अम्बेडकर द्वारा दिए गए ऐतिहासिक अंतिम भाषण का एक अभिन्न अंश है?</a:t>
            </a:r>
          </a:p>
        </p:txBody>
      </p:sp>
      <p:sp>
        <p:nvSpPr>
          <p:cNvPr id="14" name="r14"/>
          <p:cNvSpPr>
            <a:spLocks noGrp="1"/>
          </p:cNvSpPr>
          <p:nvPr/>
        </p:nvSpPr>
        <p:spPr>
          <a:xfrm>
            <a:off x="164592" y="1645920"/>
            <a:ext cx="12024360" cy="73152"/>
          </a:xfrm>
          <a:prstGeom prst="rect">
            <a:avLst/>
          </a:prstGeom>
          <a:solidFill>
            <a:srgbClr val="FF6600"/>
          </a:solidFill>
          <a:ln>
            <a:noFill/>
          </a:ln>
        </p:spPr>
        <p:txBody>
          <a:bodyPr/>
          <a:lstStyle/>
          <a:p/>
        </p:txBody>
      </p:sp>
      <p:sp>
        <p:nvSpPr>
          <p:cNvPr id="15" name="r15"/>
          <p:cNvSpPr>
            <a:spLocks noGrp="1"/>
          </p:cNvSpPr>
          <p:nvPr/>
        </p:nvSpPr>
        <p:spPr>
          <a:xfrm>
            <a:off x="320040" y="1874520"/>
            <a:ext cx="5806440" cy="194310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308860"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"राजनीति में भक्ति या नायक-पूजा अवनति और अंततः तानाशाही का सुनिश्चित रास्ता है।"</a:t>
            </a:r>
          </a:p>
        </p:txBody>
      </p:sp>
      <p:sp>
        <p:nvSpPr>
          <p:cNvPr id="18" name="r18"/>
          <p:cNvSpPr>
            <a:spLocks noGrp="1"/>
          </p:cNvSpPr>
          <p:nvPr/>
        </p:nvSpPr>
        <p:spPr>
          <a:xfrm>
            <a:off x="6382512" y="1874520"/>
            <a:ext cx="5806440" cy="194310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0116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371332" y="19659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"ट्रिस्ट विद डेस्टिनी (भाग्य से साक्षात्कार) का क्षण अब आ चुका है।"</a:t>
            </a:r>
          </a:p>
        </p:txBody>
      </p:sp>
      <p:sp>
        <p:nvSpPr>
          <p:cNvPr id="21" name="r21"/>
          <p:cNvSpPr>
            <a:spLocks noGrp="1"/>
          </p:cNvSpPr>
          <p:nvPr/>
        </p:nvSpPr>
        <p:spPr>
          <a:xfrm>
            <a:off x="320040" y="4046220"/>
            <a:ext cx="5806440" cy="194310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308860"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"संविधान सभा अंग्रेजों की बनाई हुई योजना पर काम कर रही है।"</a:t>
            </a:r>
          </a:p>
        </p:txBody>
      </p:sp>
      <p:sp>
        <p:nvSpPr>
          <p:cNvPr id="24" name="r24"/>
          <p:cNvSpPr>
            <a:spLocks noGrp="1"/>
          </p:cNvSpPr>
          <p:nvPr/>
        </p:nvSpPr>
        <p:spPr>
          <a:xfrm>
            <a:off x="6382512" y="4046220"/>
            <a:ext cx="5806440" cy="194310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183380"/>
            <a:ext cx="1668780" cy="166878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371332" y="4137660"/>
            <a:ext cx="3634740" cy="176022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विभाजन अपरिहार्य और अपरिवर्तनीय 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86200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271/300</a:t>
            </a:r>
          </a:p>
        </p:txBody>
      </p:sp>
    </p:spTree>
  </p:cSld>
  <p:clrMapOvr>
    <a:masterClrMapping/>
  </p:clrMapOvr>
</p:sld>
</file>

<file path=ppt/slides/slide54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"राजनीति में भक्ति या नायक-पूजा अवनति और अंततः तानाशाही का सुनिश्चित रास्ता है।"</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"ट्रिस्ट विद डेस्टिनी (भाग्य से साक्षात्कार) का क्षण अब आ चुका है।"</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"संविधान सभा अंग्रेजों की बनाई हुई योजना पर काम कर रही है।"</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विभाजन अपरिहार्य और अपरिवर्तनीय 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25 नवंबर, 1949 को संविधान को अंतिम रूप से स्वीकार किए जाने से ठीक एक दिन पूर्व डॉ. बी. आर. अम्बेडकर ने संविधान सभा में विदाई भाषण दिया था। उन्होंने चेतावनी देते हुए कहा था कि धर्म में भक्ति आत्मा की मुक्ति का मार्ग हो सकती है, लेकिन "राजनीति में भक्ति या नायक-पूजा (Hero-worship) पतन और अंततः तानाशाही का सुनिश्चित रास्ता है।" उन्होंने यह भी आगाह किया था कि 26 जनवरी 1950 को हम अंतर्विरोधों के जीवन में प्रवेश करने जा रहे हैं, जहां राजनीति में समानता होगी किंतु सामाजिक और आर्थिक जीवन में असमानता होगी। हमें राजनीतिक लोकतंत्र को शीघ्रता से सामाजिक व आर्थिक लोकतंत्र में बदलना होगा, अन्यथा असमानता से पीड़ित लोग इस लोकतांत्रिक ढांचे को ध्वस्त कर देंगे।</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86200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271/300</a:t>
            </a:r>
          </a:p>
        </p:txBody>
      </p:sp>
    </p:spTree>
  </p:cSld>
  <p:clrMapOvr>
    <a:masterClrMapping/>
  </p:clrMapOvr>
</p:sld>
</file>

<file path=ppt/slides/slide54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74320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272</a:t>
            </a:r>
          </a:p>
        </p:txBody>
      </p:sp>
      <p:sp>
        <p:nvSpPr>
          <p:cNvPr id="13" name="t13"/>
          <p:cNvSpPr txBox="1">
            <a:spLocks noGrp="1"/>
          </p:cNvSpPr>
          <p:nvPr/>
        </p:nvSpPr>
        <p:spPr>
          <a:xfrm>
            <a:off x="1508760" y="164592"/>
            <a:ext cx="10378440" cy="2468880"/>
          </a:xfrm>
          <a:prstGeom prst="rect">
            <a:avLst/>
          </a:prstGeom>
          <a:noFill/>
          <a:ln>
            <a:noFill/>
          </a:ln>
        </p:spPr>
        <p:txBody>
          <a:bodyPr wrap="square" anchor="t">
            <a:normAutofit/>
          </a:bodyPr>
          <a:lstStyle/>
          <a:p>
            <a:pPr algn="l"/>
            <a:r>
              <a:rPr lang="hi-IN" altLang="en-US" sz="1700" b="1" dirty="0">
                <a:solidFill>
                  <a:srgbClr val="FFFFFF"/>
                </a:solidFill>
                <a:latin typeface="Nirmala UI"/>
                <a:cs typeface="Nirmala UI"/>
              </a:rPr>
              <a:t>संविधान सभा के विचार-विमर्श में डॉ. बी. आर. अम्बेडकर ने निम्नलिखित में से किन राजनीतिक सिद्धांतों व व्यवस्थाओं पर गंभीर अविश्वास और असहमति प्रकट की थी? A. ग्राम-स्तरीय पारंपरिक पदसोपान और जातिगत रूढ़िवादिता (ग्राम गणराज्यों की अति-प्रशंसा का विरोध) B. धर्म व संप्रदाय के आधार पर पृथक निर्वाचक मंडल (Separate Electorates) C. राजनीति में व्यक्ति-पूजा और अंधभक्ति (Hero-worship) D. सामाजिक न्याय की पूर्व-शर्त के रूप में केवल राजनीतिक लोकतंत्र की स्थापना पर संतोष करना</a:t>
            </a:r>
          </a:p>
        </p:txBody>
      </p:sp>
      <p:sp>
        <p:nvSpPr>
          <p:cNvPr id="14" name="r14"/>
          <p:cNvSpPr>
            <a:spLocks noGrp="1"/>
          </p:cNvSpPr>
          <p:nvPr/>
        </p:nvSpPr>
        <p:spPr>
          <a:xfrm>
            <a:off x="164592" y="2743200"/>
            <a:ext cx="12024360" cy="73152"/>
          </a:xfrm>
          <a:prstGeom prst="rect">
            <a:avLst/>
          </a:prstGeom>
          <a:solidFill>
            <a:srgbClr val="FF6600"/>
          </a:solidFill>
          <a:ln>
            <a:noFill/>
          </a:ln>
        </p:spPr>
        <p:txBody>
          <a:bodyPr/>
          <a:lstStyle/>
          <a:p/>
        </p:txBody>
      </p:sp>
      <p:sp>
        <p:nvSpPr>
          <p:cNvPr id="15" name="r15"/>
          <p:cNvSpPr>
            <a:spLocks noGrp="1"/>
          </p:cNvSpPr>
          <p:nvPr/>
        </p:nvSpPr>
        <p:spPr>
          <a:xfrm>
            <a:off x="320040" y="2971800"/>
            <a:ext cx="5806440" cy="139446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760220"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2971800"/>
            <a:ext cx="5806440" cy="139446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10896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822692" y="306324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594860"/>
            <a:ext cx="5806440" cy="139446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760220"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594860"/>
            <a:ext cx="5806440" cy="139446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732020"/>
            <a:ext cx="1120140" cy="112014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822692" y="4686300"/>
            <a:ext cx="4183380" cy="121158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020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272/300</a:t>
            </a:r>
          </a:p>
        </p:txBody>
      </p:sp>
    </p:spTree>
  </p:cSld>
  <p:clrMapOvr>
    <a:masterClrMapping/>
  </p:clrMapOvr>
</p:sld>
</file>

<file path=ppt/slides/slide54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डॉ. अम्बेडकर आधुनिकता, समानता और व्यक्ति की गरिमा के प्रबल पक्षधर थे। उन्होंने मेटकॉफ के 'ग्राम गणराज्यों' के सिद्धांत को खारिज करते हुए गांवों को स्थानीयता का अड्डा, अज्ञानता, संकीर्णता और सांप्रदायिकता की शरणस्थली कहा, जहां जातिगत पदसोपान हावी रहता है, अतः कथन A सही है। उन्होंने पृथक निर्वाचक मंडलों का विरोध करते हुए संयुक्त निर्वाचन में आरक्षण का समर्थन किया, अतः कथन B सही है। उन्होंने राजनीति में नायक-पूजा को तानाशाही का जनक बताया, अतः कथन C सही है। उन्होंने स्पष्ट किया कि केवल वोट देने के राजनीतिक अधिकार से वास्तविक स्वतंत्रता नहीं आ सकती, जब तक कि सामाजिक और आर्थिक न्याय धरातल पर न पहुंचे,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020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272/300</a:t>
            </a:r>
          </a:p>
        </p:txBody>
      </p:sp>
    </p:spTree>
  </p:cSld>
  <p:clrMapOvr>
    <a:masterClrMapping/>
  </p:clrMapOvr>
</p:sld>
</file>

<file path=ppt/slides/slide54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संविधान सभा के निम्नलिखित में से किस सत्र (Session) में 'राष्ट्रमंडल' (Commonwealth of Nations) में स्वतंत्र भारत की सदस्यता जारी रखने के संप्रभु निर्णय की औपचारिक पुष्टि की गई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सातवें सत्र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आठवें सत्र में (मई 1949)</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दसवें सत्र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ग्यारहवें सत्र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4216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273/300</a:t>
            </a:r>
          </a:p>
        </p:txBody>
      </p:sp>
    </p:spTree>
  </p:cSld>
  <p:clrMapOvr>
    <a:masterClrMapping/>
  </p:clrMapOvr>
</p:sld>
</file>

<file path=ppt/slides/slide54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आठवें सत्र में (मई 1949)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सातवें सत्र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दसवें सत्र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ग्यारहवें सत्र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अप्रैल 1949 में लंदन में हुए राष्ट्रमंडल देशों के प्रधानमंत्रियों के सम्मेलन में भारत ने घोषणा की थी कि भारत एक संपूर्ण प्रभुत्व-संपन्न लोकतांत्रिक गणराज्य बनेगा और इसके साथ ही राष्ट्रमंडल का सदस्य भी बना रहेगा तथा ब्रिटिश सम्राट को राष्ट्रमंडल के स्वतंत्र सदस्यों के संघ के प्रतीक के रूप में स्वीकार करेगा। पंडित जवाहरलाल नेहरू ने 16 मई 1949 को संविधान सभा के 'आठवें सत्र' में इस ऐतिहासिक निर्णय की पुष्टि हेतु प्रस्ताव रखा था। संविधान सभा ने 17 मई 1949 को बिना किसी औपनिवेशिक अधीनता के और भारत की पूर्ण संप्रभुता को अक्षुण्ण रखते हुए राष्ट्रमंडल की सदस्यता जारी रखने के निर्णय को सर्वसम्मति से अनुमोदित किया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4216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273/300</a:t>
            </a:r>
          </a:p>
        </p:txBody>
      </p:sp>
    </p:spTree>
  </p:cSld>
  <p:clrMapOvr>
    <a:masterClrMapping/>
  </p:clrMapOvr>
</p:sld>
</file>

<file path=ppt/slides/slide54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संविधान सभा के निम्नांकित में से किस सत्र (Session) में इसके सदस्यों ने देश की तत्कालीन आर्थिक कठिनाइयों को देखते हुए अपने दैनिक भत्ते कम करने का अभूतपूर्व निर्णय लिया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आठवें सत्र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नौवें सत्र में</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दसवें सत्र में (अक्टूबर 1949)</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ग्यारहवें सत्र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098224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274/300</a:t>
            </a:r>
          </a:p>
        </p:txBody>
      </p:sp>
    </p:spTree>
  </p:cSld>
  <p:clrMapOvr>
    <a:masterClrMapping/>
  </p:clrMapOvr>
</p:sld>
</file>

<file path=ppt/slides/slide54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दसवें सत्र में (अक्टूबर 1949)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आठवें सत्र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नौवें सत्र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ग्यारहवें सत्र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सभा के सदस्यों ने सार्वजनिक धन की बचत और देश के प्रति त्याग का उत्कृष्ट उदाहरण प्रस्तुत किया था। 6 से 17 अक्टूबर, 1949 तक आयोजित संविधान सभा के 'दसवें सत्र' (10th Session) के दौरान सदस्यों ने देश की वित्तीय स्थिति और मितव्ययिता के राष्ट्रीय आह्वान पर विचार करते हुए स्वेच्छा से अपने दैनिक भत्तों में कटौती करने का सर्वसम्मत निर्णय लिया था। इसी दसवें सत्र में संविधान के विभिन्न प्रारूप अनुच्छेदों पर दूसरे वाचन (Second Reading) का अधिकांश महत्वपूर्ण कार्य भी पूरा किया गया था। अतः विकल्प C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098224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274/300</a:t>
            </a:r>
          </a:p>
        </p:txBody>
      </p:sp>
    </p:spTree>
  </p:cSld>
  <p:clrMapOvr>
    <a:masterClrMapping/>
  </p:clrMapOvr>
</p:sld>
</file>

<file path=ppt/slides/slide54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275</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संविधान सभा के निम्नांकित में से किस सत्र में ब्रिटेन की 'प्रिवी काउंसिल' के अपीलीय अधिकार क्षेत्र के भारत में पूर्ण उत्सादन/समाप्ति (Abolition of Privy Council Jurisdiction) का ऐतिहासिक निर्णय लिया गया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आठवें सत्र में</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नौवें सत्र में (सितंबर 1949)</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दसवें सत्र में</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ग्यारहवें सत्र में</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2233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275/300</a:t>
            </a:r>
          </a:p>
        </p:txBody>
      </p:sp>
    </p:spTree>
  </p:cSld>
  <p:clrMapOvr>
    <a:masterClrMapping/>
  </p:clrMapOvr>
</p:sld>
</file>

<file path=ppt/slides/slide55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नौवें सत्र में (सितंबर 1949)</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आठवें सत्र में</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दसवें सत्र में</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ग्यारहवें सत्र में</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30 जुलाई से 18 सितंबर, 1949 तक आयोजित संविधान सभा के 'नौवें सत्र' (9th Session) के अंतिम दिनों में एक अत्यंत क्रांतिकारी विधायी कदम उठाया गया। 17 सितंबर, 1949 को डॉ. के. एम. मुंशी और बी. आर. अम्बेडकर की पहल पर संविधान सभा ने 'प्रिवी काउंसिल क्षेत्राधिकार उत्सादन अधिनियम, 1949' (Abolition of Privy Council Jurisdiction Act, 1949) पारित किया। इसके माध्यम से 200 से अधिक वर्षों से चली आ रही लंदन स्थित प्रिवी काउंसिल की सर्वोच्च अपीलीय अधिकारिता को 10 अक्टूबर 1949 से पूरी तरह समाप्त कर दिया गया और 26 जनवरी 1950 को स्थापित होने वाले 'भारत के उच्चतम न्यायालय' को देश की सर्वोच्च और अंतिम अपीलीय अदालत का पूर्ण संप्रभु दर्जा दिया गया।</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2233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275/300</a:t>
            </a:r>
          </a:p>
        </p:txBody>
      </p:sp>
    </p:spTree>
  </p:cSld>
  <p:clrMapOvr>
    <a:masterClrMapping/>
  </p:clrMapOvr>
</p:sld>
</file>

<file path=ppt/slides/slide55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276</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निर्माण की समयावधि, बैठकों और मूल पाठ के संदर्भ में निम्नलिखित कथनों पर विचार कीजिए: A. 26 नवंबर 1949 को अंगीकृत किए जाने के समय मूल संविधान में कुल 395 अनुच्छेद, 8 अनुसूचियां और 22 भाग शामिल थे। B. संविधान सभा को स्वतंत्र भारत का संविधान तैयार करने में कुल 2 वर्ष, 11 माह और 18 दिन का समय लगा था। C. संविधान निर्माण के इस ऐतिहासिक कार्य के दौरान संविधान सभा के कुल 11 औपचारिक सत्र आयोजित किए गए थे तथा कुल 165/166 दिन वास्तविक बैठकें हुई थीं। D. संविधान निर्माण की पूरी प्रक्रिया के दौरान लगभग 60 देशों के संविधानों का गहन अध्ययन किया गया था तथा प्रारूप पर विचार में लगभग ₹64 लाख का खर्च आया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06241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276/300</a:t>
            </a:r>
          </a:p>
        </p:txBody>
      </p:sp>
    </p:spTree>
  </p:cSld>
  <p:clrMapOvr>
    <a:masterClrMapping/>
  </p:clrMapOvr>
</p:sld>
</file>

<file path=ppt/slides/slide55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निर्माण का कार्य विश्व इतिहास का सबसे गहन और व्यापक लोकतांत्रिक प्रयास था। मूल संविधान में 395 अनुच्छेद, 8 अनुसूचियां थीं, अतः कथन A सही है। 9 दिसंबर 1946 से 26 नवंबर 1949 तक कुल 2 वर्ष 11 माह 18 दिन लगे, अतः कथन B सही है। संविधान निर्माण हेतु 11 सत्र (और 24 जनवरी 1950 को 12वां विशेष अंतिम अधिवेशन) हुए तथा कुल 165 दिन औपचारिक बैठकें हुईं (जिनमें से 114 दिन केवल संविधान के प्रारूप पर बहस हुई), अतः कथन C सही है। लगभग 60 देशों के संविधानों की छानबीन कर बेहतरीन तत्वों को शामिल किया गया और कुल खर्च लगभग ₹63.96 लाख आया,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06241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276/300</a:t>
            </a:r>
          </a:p>
        </p:txBody>
      </p:sp>
    </p:spTree>
  </p:cSld>
  <p:clrMapOvr>
    <a:masterClrMapping/>
  </p:clrMapOvr>
</p:sld>
</file>

<file path=ppt/slides/slide55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14-15 अगस्त, 1947 की मध्य रात्रि को जब संविधान सभा ने देश की संप्रभु सत्ता ग्रहण की, तब संविधान सभा को भारत की समस्त महिलाओं की ओर से 'राष्ट्रीय ध्वज' (तिरंगा) औपचारिक रूप से किसने भेंट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सरोजिनी नायडू</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सुचेता कृपलानी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हंसा मेहता</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राजकुमारी अमृत कौर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024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277/300</a:t>
            </a:r>
          </a:p>
        </p:txBody>
      </p:sp>
    </p:spTree>
  </p:cSld>
  <p:clrMapOvr>
    <a:masterClrMapping/>
  </p:clrMapOvr>
</p:sld>
</file>

<file path=ppt/slides/slide55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C</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हंसा मेहता</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सरोजिनी नायडू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सुचेता कृपलानी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राजकुमारी अमृत कौर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14 अगस्त, 1947 की रात 11 बजे कॉन्स्टिट्यूशन हॉल में संविधान सभा का ऐतिहासिक विशेष सत्र प्रारंभ हुआ। 'वंदे मातरम' के गायन और पंडित नेहरू के प्रसिद्ध 'ट्रिस्ट विद डेस्टिनी' भाषण के पश्चात मध्य रात्रि को सत्ता ग्रहण का प्रस्ताव पारित हुआ। इसके तुरंत बाद प्रसिद्ध समाज सुधारक, शिक्षाविद् और स्वतंत्रता सेनानी श्रीमती हंसा मेहता (Hansa Mehta) ने संविधान सभा के मंच पर आकर अध्यक्ष डॉ. राजेन्द्र प्रसाद को भारत की समस्त नारी शक्ति की ओर से स्वतंत्र भारत का पहला राष्ट्रीय ध्वज औपचारिक रूप से भेंट किया था। उन्होंने कहा था कि "यह झंडा भारत की महिलाओं की ओर से राष्ट्र की सेवा और स्वतंत्रता के लिए समर्पित एक पवित्र उपहार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024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277/300</a:t>
            </a:r>
          </a:p>
        </p:txBody>
      </p:sp>
    </p:spTree>
  </p:cSld>
  <p:clrMapOvr>
    <a:masterClrMapping/>
  </p:clrMapOvr>
</p:sld>
</file>

<file path=ppt/slides/slide55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प्रख्यात राजनीति विज्ञानी और संवैधानिक इतिहासकार ग्रेनविले ऑस्टिन (Granville Austin) के अनुसार, भारतीय संविधान सभा में विभिन्न जटिल विवादों और संवेदनशील अनुच्छेदों पर निर्णय मुख्य रूप से किन दो आधारभूत सिद्धांतों के तहत लिए गए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पूर्ण दलीय बहुमत और संसदीय व्हिप</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सर्वसम्मति और समायोजन (Consensus and Accommodation)</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केवल न्यायिक आदेश और वायसराय का विशेषाधिकार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जनमत संग्रह और गुप्त मतदान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4257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278/300</a:t>
            </a:r>
          </a:p>
        </p:txBody>
      </p:sp>
    </p:spTree>
  </p:cSld>
  <p:clrMapOvr>
    <a:masterClrMapping/>
  </p:clrMapOvr>
</p:sld>
</file>

<file path=ppt/slides/slide55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सर्वसम्मति और समायोजन (Consensus and Accommodation)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पूर्ण दलीय बहुमत और संसदीय व्हिप</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न्यायिक आदेश और वायसराय का विशेषाधिकार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जनमत संग्रह और गुप्त मतदान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अपनी प्रसिद्ध पुस्तक 'द इंडियन कॉन्स्टिट्यूशन: कॉर्नरस्टोन ऑफ ए नेशन' (The Indian Constitution: Cornerstone of a Nation) में ग्रेनविले ऑस्टिन ने भारतीय संविधान निर्माण की लोकतांत्रिक प्रक्रिया का विश्लेषण किया है। उन्होंने लिखा कि संविधान सभा ने निर्णयों को केवल संख्याबल या साधारण बहुमत से थोपने के बजाय दो अनूठे भारतीय लोकतांत्रिक सिद्धांतों-'सर्वसम्मति' (Consensus) और 'समायोजन' (Accommodation)-का अनुसरण किया। चाहे भाषा का विवाद हो (मुंशी-आयंगर फार्मूला), संघवाद का स्वरूप हो या मौलिक अधिकारों और नीति-निदेशक तत्वों का संतुलन-संविधान सभा ने विभिन्न परस्पर विरोधी विचारधाराओं को एक साथ समायोजित करके आम सहमति बनाई।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4257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278/300</a:t>
            </a:r>
          </a:p>
        </p:txBody>
      </p:sp>
    </p:spTree>
  </p:cSld>
  <p:clrMapOvr>
    <a:masterClrMapping/>
  </p:clrMapOvr>
</p:sld>
</file>

<file path=ppt/slides/slide55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279</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जून 1947 में भारत के विभाजन और पुनर्गठन के उपरांत संविधान सभा में डॉ. बी. आर. अम्बेडकर निम्नलिखित में से किस क्षेत्र/प्रांत से चुनकर आए और संविधान सभा का प्रतिनिधित्व किया?</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पूर्वी बंगाल (जैसूर-खुलना सीट)</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बम्बई प्रेसीडेंसी (बॉम्बे)</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मध्य प्रांत एवं बरार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मद्रास प्रांत</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18265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279/300</a:t>
            </a:r>
          </a:p>
        </p:txBody>
      </p:sp>
    </p:spTree>
  </p:cSld>
  <p:clrMapOvr>
    <a:masterClrMapping/>
  </p:clrMapOvr>
</p:sld>
</file>

<file path=ppt/slides/slide55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Q.279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बम्बई प्रेसीडेंसी (बॉम्बे)</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पूर्वी बंगाल (जैसूर-खुलना सीट)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मध्य प्रांत एवं बरार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मद्रास प्रांत</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1946 में डॉ. बी. आर. अम्बेडकर अविभाजित बंगाल के जैसूर-खुलना क्षेत्र से मुस्लिम लीग के सहयोग से संविधान सभा के लिए निर्वाचित हुए थे। किंतु 1947 में भारत के विभाजन के समय वह क्षेत्र पूर्वी पाकिस्तान (वर्तमान बांग्लादेश) का हिस्सा बन गया, जिसके कारण संविधान सभा में उनकी सदस्यता समाप्त हो गई। उनके असाधारण कानूनी ज्ञान और प्रारूपण क्षमता की अनिवार्यता को देखते हुए, संविधान सभा के अध्यक्ष डॉ. राजेन्द्र प्रसाद ने बम्बई के तत्कालीन प्रधानमंत्री बी. जी. खेर को पत्र लिखा। इसके बाद बम्बई विधानसभा में कांग्रेस के वरिष्ठ सदस्य एम. आर. जयकर ने अपनी सीट से इस्तीफा दिया, और उस रिक्त सीट पर उपचुनाव में डॉ. अम्बेडकर बम्बई प्रेसीडेंसी से निर्विरोध निर्वाचित होकर पुनः संविधान सभा में पहुंचे।</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18265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279/300</a:t>
            </a:r>
          </a:p>
        </p:txBody>
      </p:sp>
    </p:spTree>
  </p:cSld>
  <p:clrMapOvr>
    <a:masterClrMapping/>
  </p:clrMapOvr>
</p:sld>
</file>

<file path=ppt/slides/slide55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280</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24 जनवरी, 1950 को आयोजित संविधान सभा के अंतिम अधिवेशन में संविधान की मूल हस्तलिखित प्रतियों (हिंदी व अंग्रेजी) पर संविधान सभा के कुल कितने सदस्यों ने अपने वास्तविक हस्ताक्षर किए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299 सदस्यों 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284 सदस्यों ने</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389 सदस्यों 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211 सदस्यों ने</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2273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280/300</a:t>
            </a:r>
          </a:p>
        </p:txBody>
      </p:sp>
    </p:spTree>
  </p:cSld>
  <p:clrMapOvr>
    <a:masterClrMapping/>
  </p:clrMapOvr>
</p:sld>
</file>

<file path=ppt/slides/slide56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284 सदस्यों ने</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299 सदस्यों 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389 सदस्यों 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211 सदस्यों ने</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24 जनवरी, 1950 को संविधान सभा का 12वां और अंतिम औपचारिक अधिवेशन हुआ। उस समय विभाजन के बाद संविधान सभा में कुल 299 सदस्य शेष थे। इस अंतिम ऐतिहासिक बैठक में कुल 284 सदस्य व्यक्तिगत रूप से उपस्थित थे, और इन सभी 284 सदस्यों ने प्रेम बिहारी नारायण रायजादा द्वारा सुलेखित और नंदलाल बोस के चित्रों से सुसज्जित संविधान की मूल प्रतियों (हिंदी और अंग्रेजी दोनों) पर हस्ताक्षर किए। हस्ताक्षर करने वाले पहले व्यक्ति पंडित जवाहरलाल नेहरू थे और अंतिम हस्ताक्षर संविधान सभा के अध्यक्ष डॉ. राजेन्द्र प्रसाद ने किए। इसी दिन डॉ. राजेन्द्र प्रसाद को स्वतंत्र भारत का प्रथम राष्ट्रपति विधिवत निर्वाचित भी घोषित किया गया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2273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280/300</a:t>
            </a:r>
          </a:p>
        </p:txBody>
      </p:sp>
    </p:spTree>
  </p:cSld>
  <p:clrMapOvr>
    <a:masterClrMapping/>
  </p:clrMapOvr>
</p:sld>
</file>

<file path=ppt/slides/slide56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शासन अधिनियम, 1935 के तहत ब्रिटिश भारत के प्रांतों में द्विसदनात्मक व्यवस्था (Bicameralism) के संदर्भ में निम्नलिखित कथनों पर विचार कीजिए: A. 1935 के अधिनियम ने ब्रिटिश भारत के कुल 11 प्रांतों में से 6 प्रमुख प्रांतों में 'द्विसदनीय विधानमंडल' (विधान परिषद और विधान सभा) की स्थापना की थी। B. ये छह द्विसदनीय प्रांत थे: बंगाल, बॉम्बे, मद्रास, बिहार, असम और संयुक्त प्रांत (United Provinces)। C. शेष पांच प्रांतों (पंजाब, मध्य प्रांत, उड़ीसा, सिंध और उत्तर-पश्चिम सीमांत प्रांत) में केवल एक सदनीय विधानसभा रखी गई थी। D. इन द्विसदनीय प्रांतों में विधान परिषद (उच्च सदन) एक स्थायी निकाय था जिसका कभी विघटन नहीं होता था और इसके एक-तिहाई सदस्य प्रत्येक तीसरे वर्ष अवकाश ग्रहण करते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26281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281/300</a:t>
            </a:r>
          </a:p>
        </p:txBody>
      </p:sp>
    </p:spTree>
  </p:cSld>
  <p:clrMapOvr>
    <a:masterClrMapping/>
  </p:clrMapOvr>
</p:sld>
</file>

<file path=ppt/slides/slide56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1935 के भारत सरकार अधिनियम द्वारा भारत में प्रांतीय स्वायत्तता के साथ प्रांतीय स्तर पर पहली बार द्विसदनीय व्यवस्था लाई गई। कुल 11 गवर्नर प्रांतों में से 6 बड़े प्रांतों (बंगाल, बॉम्बे, मद्रास, बिहार, असम और संयुक्त प्रांत) में उच्च सदन (लेजिस्लेटिव काउंसिल) और निम्न सदन (लेजिस्लेटिव असेंबली) बनाए गए, अतः कथन A और B सही हैं। छोटे प्रांतों में एक ही सदन रहा, अतः कथन C सही है। विधान परिषद को विघटन से मुक्त स्थायी सदन बनाया गया जहां सदस्य निश्चित अंतराल पर सेवानिवृत्त होते थे (यही मॉडल वर्तमान राज्य विधान परिषदों में अपनाया गया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26281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281/300</a:t>
            </a:r>
          </a:p>
        </p:txBody>
      </p:sp>
    </p:spTree>
  </p:cSld>
  <p:clrMapOvr>
    <a:masterClrMapping/>
  </p:clrMapOvr>
</p:sld>
</file>

<file path=ppt/slides/slide56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शासन अधिनियम, 1919 (मोंटेग्यू-चेम्सफोर्ड सुधार) के तहत प्रांतीय स्तर पर लागू 'द्वैध शासन' (Dyarchy) में विषयों के विभाजन पर विचार कीजिए: A. प्रांतीय विषयों को दो अलग-अलग श्रेणियों-'आरक्षित विषय' (Reserved Subjects) और 'हस्तांतरित विषय' (Transferred Subjects) में विभाजित किया गया था। B. भू-राजस्व, वित्त, न्याय प्रशासन, पुलिस, सिंचाई और कारखाने 'आरक्षित विषय' थे, जिनका प्रशासन गवर्नर अपनी गैर-उत्तरदायी कार्यकारी परिषद (Executive Council) की सहायता से करता था। C. शिक्षा, सार्वजनिक स्वास्थ्य, स्थानीय स्वशासन, कृषि और उद्योग 'हस्तांतरित विषय' थे, जिनका प्रशासन गवर्नर विधान परिषद के प्रति उत्तरदायी भारतीय मंत्रियों की सलाह पर करता था। D. प्रांतीय बजट और वित्तीय संसाधनों का वास्तविक नियंत्रण भारतीय मंत्रियों के हाथों में पूरी तरह सुरक्षित रखा गया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028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282/300</a:t>
            </a:r>
          </a:p>
        </p:txBody>
      </p:sp>
    </p:spTree>
  </p:cSld>
  <p:clrMapOvr>
    <a:masterClrMapping/>
  </p:clrMapOvr>
</p:sld>
</file>

<file path=ppt/slides/slide56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केवल A, B और C</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 B, C एवं D सभी</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1919 के अधिनियम द्वारा प्रांतों में लागू द्वैध शासन प्रणाली कार्यपालिका का दोहरा स्वरूप थी, अतः कथन A सही है। सत्ता और संप्रभुता से जुड़े सभी महत्वपूर्ण विभाग (गृह, वित्त, पुलिस, राजस्व) गवर्नर और उसके ब्रिटिश पार्षदों के पास आरक्षित थे जो विधायिका के प्रति जवाबदेह नहीं थे, अतः कथन B सही है। सामाजिक व लोक कल्याण के विभाग भारतीय मंत्रियों को सौंपे गए, अतः कथन C सही है। कथन D असत्य है क्योंकि द्वैध शासन की सबसे बड़ी विफलता ही यही थी कि वित्त (Finance) एक आरक्षित विषय था जो गवर्नर की परिषद के पास था; बिना वित्त के भारतीय मंत्री स्वास्थ्य या शिक्षा में कोई स्वतंत्र नीति लागू नहीं कर सकते थे, इसलिए सी. आर. दास और मोतीलाल नेहरू ने इसे पंगु और गैर-व्यावहारिक व्यवस्था करार दिया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028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282/300</a:t>
            </a:r>
          </a:p>
        </p:txBody>
      </p:sp>
    </p:spTree>
  </p:cSld>
  <p:clrMapOvr>
    <a:masterClrMapping/>
  </p:clrMapOvr>
</p:sld>
</file>

<file path=ppt/slides/slide56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1919 के भारत सरकार अधिनियम के तहत गठित केंद्रीय विधानसभा (Central Legislative Assembly) के प्रथम निर्वाचित भारतीय अध्यक्ष (स्पीकर) बनने का ऐतिहासिक गौरव 24 अगस्त, 1925 को किसे प्राप्त हुआ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सर फ्रेडरिक व्हाइट</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विट्ठलभाई जे. पटेल</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गणेश वासुदेव मावलंकर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सच्चिदानंद सिन्हा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4298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283/300</a:t>
            </a:r>
          </a:p>
        </p:txBody>
      </p:sp>
    </p:spTree>
  </p:cSld>
  <p:clrMapOvr>
    <a:masterClrMapping/>
  </p:clrMapOvr>
</p:sld>
</file>

<file path=ppt/slides/slide56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विट्ठलभाई जे. पटेल</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फ्रेडरिक व्हाइट</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गणेश वासुदेव मावलंकर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सच्चिदानंद सिन्हा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1919 के अधिनियम के तहत केंद्रीय विधानसभा के पहले अध्यक्ष (1921 में) ब्रिटिश अधिकारी सर फ्रेडरिक व्हाइट (Sir Frederick Whyte) थे, जिन्हें वायसराय द्वारा मनोनीत किया गया था। किंतु 24 अगस्त 1925 को स्वराज पार्टी के कद्दावर नेता और सरदार वल्लभभाई पटेल के बड़े भाई 'विट्ठलभाई जे. पटेल' (Vithalbhai J. Patel) ने इतिहास रचते हुए सरकारी उम्मीदवार टी. रंगाचार्य को 2 मतों से हराकर केंद्रीय विधानसभा के 'प्रथम निर्वाचित भारतीय अध्यक्ष' का पद हासिल किया। उन्होंने इस पद पर रहते हुए अध्यक्षीय स्वतंत्रता, निष्पक्षता और विधायिका के विशेषाधिकारों की मजबूत नींव रखी। जी. वी. मावलंकर 1946 में केंद्रीय विधानसभा के अध्यक्ष और 1952 में स्वतंत्र भारत की प्रथम लोकसभा के अध्यक्ष बने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4298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283/300</a:t>
            </a:r>
          </a:p>
        </p:txBody>
      </p:sp>
    </p:spTree>
  </p:cSld>
  <p:clrMapOvr>
    <a:masterClrMapping/>
  </p:clrMapOvr>
</p:sld>
</file>

<file path=ppt/slides/slide56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284</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शासन अधिनियम, 1919 के प्रावधानों के अंतर्गत केंद्र में स्थापित की गई द्विसदनीय विधायिका के उच्च सदन-'राज्य परिषद' (Council of State) के पहले मनोनीत अध्यक्ष कौन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 अलेक्जेंडर मूडीमैन (Alexander Muddiman)</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लॉर्ड चेम्सफोर्ड</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 फ्रेडरिक व्हाइट</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सर तेज बहादुर सप्रू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383061"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284/300</a:t>
            </a:r>
          </a:p>
        </p:txBody>
      </p:sp>
    </p:spTree>
  </p:cSld>
  <p:clrMapOvr>
    <a:masterClrMapping/>
  </p:clrMapOvr>
</p:sld>
</file>

<file path=ppt/slides/slide56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सर अलेक्जेंडर मूडीमैन (Alexander Muddiman)</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लॉर्ड चेम्सफोर्ड</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फ्रेडरिक व्हाइट</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सर तेज बहादुर सप्रू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1919 के अधिनियम के तहत केंद्र में पहली बार द्विसदनीय व्यवस्था बनी: निम्न सदन 'केंद्रीय विधानसभा' (Central Legislative Assembly - 145 सदस्य) और उच्च सदन 'राज्य परिषद' (Council of State - 60 सदस्य)। केंद्रीय विधानसभा के प्रथम अध्यक्ष सर फ्रेडरिक व्हाइट थे, जबकि उच्च सदन यानी राज्य परिषद के पहले अध्यक्ष के रूप में ब्रिटिश प्रशासनिक अधिकारी 'सर अलेक्जेंडर मूडीमैन' (Sir Alexander Muddiman) को नियुक्त किया गया था। (आगे चलकर 1924 में मूडीमैन की अध्यक्षता में ही 1919 के अधिनियम के कामकाज और द्वैध शासन की विफलताओं की समीक्षा हेतु 'मूडीमैन समिति' गठित की गई थी)। अतः विकल्प A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383061"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284/300</a:t>
            </a:r>
          </a:p>
        </p:txBody>
      </p:sp>
    </p:spTree>
  </p:cSld>
  <p:clrMapOvr>
    <a:masterClrMapping/>
  </p:clrMapOvr>
</p:sld>
</file>

<file path=ppt/slides/slide56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सरकार अधिनियम, 1935 के तहत किए गए प्रमुख संस्थागत और क्षेत्रीय परिवर्तनों के संदर्भ में निम्नलिखित कथनों पर विचार कीजिए: A. इस अधिनियम के तहत 1 अप्रैल 1935 को देश के केंद्रीय बैंक के रूप में 'भारतीय रिजर्व बैंक' (RBI) की स्थापना की गई थी। B. अधिनियम के प्रावधानों के अनुसरण में 1 अक्टूबर 1937 को दिल्ली में एक 'संघीय न्यायालय' (Federal Court of India - प्रथम मुख्य न्यायाधीश सर मॉरिस ग्वेयर) की स्थापना हुई। C. इस अधिनियम द्वारा 'बर्मा' (म्यांमार) को ब्रिटिश भारत के प्रशासन से औपचारिक रूप से अलग कर दिया गया तथा 'अदन' को भी भारत से पृथक कर ब्रिटिश क्राउन कॉलोनी बनाया गया। D. इस अधिनियम द्वारा बॉम्बे से अलग करके 'सिंध' और बिहार से अलग करके 'उड़ीसा' दो नए अलग प्रांत बनाए गए थे।</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2314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285/300</a:t>
            </a:r>
          </a:p>
        </p:txBody>
      </p:sp>
    </p:spTree>
  </p:cSld>
  <p:clrMapOvr>
    <a:masterClrMapping/>
  </p:clrMapOvr>
</p:sld>
</file>

<file path=ppt/slides/slide57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1935 का अधिनियम ब्रिटिश भारत का सबसे बड़ा और जटिल संवैधानिक दस्तावेज था। हिल्टन यंग आयोग की सिफारिशों और 1935 के एक्ट के तहत आरबीआई की स्थापना 1935 में हुई, अतः कथन A सही है। 1937 में संघीय न्यायालय बना जो 1950 में सुप्रीम कोर्ट में रूपांतरित हुआ, अतः कथन B सही है। 1935 के एक्ट द्वारा बर्मा को भारत से अलग किया गया (1937 में प्रभावी), अतः कथन C सही है। भाषाई और प्रशासनिक आधार पर सिंध (बॉम्बे से अलग) और उड़ीसा (बिहार से अलग) दो नए प्रांत 1936 में अस्तित्व में आए,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2314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285/300</a:t>
            </a:r>
          </a:p>
        </p:txBody>
      </p:sp>
    </p:spTree>
  </p:cSld>
  <p:clrMapOvr>
    <a:masterClrMapping/>
  </p:clrMapOvr>
</p:sld>
</file>

<file path=ppt/slides/slide57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1935 के भारत सरकार अधिनियम की आलोचना करते हुए इसे "दासता का नया अधिकार पत्र" (A New Charter of Slavery) और "एक ऐसी कार जिसमें अनेक ब्रेक तो हैं पर कोई इंजन नहीं है" किसने कहा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महात्मा गांधी</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पंडित जवाहरलाल नेहरू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मोहम्मद अली जिन्ना</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सुभाष चंद्र बोस</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46322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286/300</a:t>
            </a:r>
          </a:p>
        </p:txBody>
      </p:sp>
    </p:spTree>
  </p:cSld>
  <p:clrMapOvr>
    <a:masterClrMapping/>
  </p:clrMapOvr>
</p:sld>
</file>

<file path=ppt/slides/slide57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पंडित जवाहरलाल नेहरू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महात्मा गांधी</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मोहम्मद अली जिन्ना</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सुभाष चंद्र बोस</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1935 के अधिनियम में हालांकि प्रांतीय स्वायत्तता दी गई थी, लेकिन गवर्नर और गवर्नर-जनरल के पास विशेषाधिकार और वीटो शक्तियां बरकरार रखी गई थीं, जिससे भारतीय मंत्रियों की शक्तियां बाधित थीं। इस पर तीखा प्रहार करते हुए पंडित जवाहरलाल नेहरू ने इसे "दासता का नया चार्टर" कहा था और टिप्पणी की थी कि "यह एक ऐसी मशीन है जिसमें ब्रेक तो बहुत मजबूत लगाए गए हैं, लेकिन इसमें कोई इंजन (वास्तविक शक्ति) नहीं है।" मोहम्मद अली जिन्ना ने इसे 'पूरी तरह सड़ा हुआ और मौलिक रूप से बुरा' बताया था, जबकि सी. राजगोपालाचारी ने इसे द्वैध शासन से भी बदतर व्यवस्था कहा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46322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286/300</a:t>
            </a:r>
          </a:p>
        </p:txBody>
      </p:sp>
    </p:spTree>
  </p:cSld>
  <p:clrMapOvr>
    <a:masterClrMapping/>
  </p:clrMapOvr>
</p:sld>
</file>

<file path=ppt/slides/slide57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287</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352 (राष्ट्रीय आपातकाल) के उद्घोषणा और संसदीय अनुमोदन के संदर्भ में निम्नलिखित कथनों पर विचार कीजिए: A. राष्ट्रपति अनुच्छेद 352 के तहत 'युद्ध', 'बाह्य आक्रमण' या 'सशस्त्र विद्रोह' के आधार पर पूरे भारत या उसके किसी भाग में आपातकाल घोषित कर सकता है। B. 44वें संविधान संशोधन (1978) द्वारा 'आंतरिक अशांति' शब्द को हटाकर उसके स्थान पर 'सशस्त्र विद्रोह' (Armed Rebellion) शब्दावली प्रतिस्थापित की गई थी। C. राष्ट्रपति आपातकाल की उद्घोषणा केवल तभी जारी कर सकता है जब केंद्रीय 'मंत्रिमंडल' (Cabinet) उसे लिखित में ऐसा निर्णय संसूचित करे। D. आपातकाल की उद्घोषणा को जारी होने की तारीख से '1 महीने के भीतर' संसद के दोनों सदनों द्वारा अलग-अलग 'विशेष बहुमत' से अनुमोदित होना अनिवार्य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0330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287/300</a:t>
            </a:r>
          </a:p>
        </p:txBody>
      </p:sp>
    </p:spTree>
  </p:cSld>
  <p:clrMapOvr>
    <a:masterClrMapping/>
  </p:clrMapOvr>
</p:sld>
</file>

<file path=ppt/slides/slide57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1975 के आपातकाल के अनुभवों के बाद 44वें संशोधन ने राष्ट्रीय आपातकाल पर अत्यंत कड़े लोकतांत्रिक अंकुश लगाए। अब केवल वास्तविक सशस्त्र विद्रोह पर ही आंतरिक आपातकाल लग सकता है, अतः कथन A और B सही हैं। प्रधानमंत्री की व्यक्तिगत मौखिक सलाह पर रोक लगाते हुए पूरी कैबिनेट की लिखित संस्तुति अनिवार्य की गई (अनुच्छेद 352(3) संविधान का एकमात्र स्थान है जहां 'मंत्रिमंडल/कैबिनेट' शब्द आता है), अतः कथन C सही है। संसद के अनुमोदन की अवधि 2 माह से घटाकर 1 माह की गई और साधारण बहुमत के स्थान पर दोनों सदनों का विशेष बहुमत (कुल सदस्यों का बहुमत + उपस्थित व मतदान का 2/3) अनिवार्य किया गया,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0330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287/300</a:t>
            </a:r>
          </a:p>
        </p:txBody>
      </p:sp>
    </p:spTree>
  </p:cSld>
  <p:clrMapOvr>
    <a:masterClrMapping/>
  </p:clrMapOvr>
</p:sld>
</file>

<file path=ppt/slides/slide57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288</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एस. आर. बोम्मई बनाम भारत संघ (1994) के ऐतिहासिक निर्णय में सर्वोच्च न्यायालय द्वारा संविधान के अनुच्छेद 356 (राष्ट्रपति शासन) के संदर्भ में प्रतिपादित दिशा-निर्देशों पर विचार कीजिए: A. अनुच्छेद 356 के तहत राष्ट्रपति शासन लागू करने की राष्ट्रपति की उद्घोषणा पूरी तरह 'न्यायिक समीक्षा' (Judicial Review) के दायरे में आती है। B. संसद के दोनों सदनों (लोकसभा व राज्यसभा) द्वारा अनुमोदन मिलने से पूर्व राष्ट्रपति राज्य विधानसभा को भंग नहीं कर सकता; तब तक विधानसभा केवल 'निलंबित' (Suspended Animation) रहेगी। C. यदि न्यायालय राष्ट्रपति शासन को असंवैधानिक या दुर्भावनापूर्ण पाता है, तो न्यायालय को बर्खास्त राज्य सरकार को बहाल करने और भंग विधानसभा को पुनर्जीवित करने की पूर्ण शक्ति है। D. किसी राज्य सरकार के बहुमत का परीक्षण राजभवन में राज्यपाल के विवेक से नहीं बल्कि अनिवार्य रूप से 'विधानसभा के पटल पर शक्ति परीक्षण' (Floor Test) द्वारा होना चाहिए।</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4338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288/300</a:t>
            </a:r>
          </a:p>
        </p:txBody>
      </p:sp>
    </p:spTree>
  </p:cSld>
  <p:clrMapOvr>
    <a:masterClrMapping/>
  </p:clrMapOvr>
</p:sld>
</file>

<file path=ppt/slides/slide57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एस. आर. बोम्मई निर्णय (1994) ने केंद्र सरकार द्वारा विपक्षी दलों की राज्य सरकारों को अनुच्छेद 356 के तहत मनमाने ढंग से बर्खास्त करने की प्रवृत्ति पर ऐतिहासिक अंकुश लगाया। 9 जजों की संविधान पीठ ने फैसला दिया कि राष्ट्रपति शासन की न्यायिक समीक्षा हो सकती है, अतः कथन A सही है। संसद के 2 माह के अनुमोदन से पहले विधानसभा भंग नहीं होगी, अतः कथन B सही है। असंवैधानिक पाए जाने पर बर्खास्त सरकार को न्यायालय द्वारा बहाल किया जा सकता है (जैसा आगे चलकर अरुणाचल प्रदेश और उत्तराखंड में किया गया), अतः कथन C सही है। बहुमत का फैसला राज्यपाल के कमरे में नहीं बल्कि केवल विधानसभा के फ्लोर टेस्ट से होगा,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4338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288/300</a:t>
            </a:r>
          </a:p>
        </p:txBody>
      </p:sp>
    </p:spTree>
  </p:cSld>
  <p:clrMapOvr>
    <a:masterClrMapping/>
  </p:clrMapOvr>
</p:sld>
</file>

<file path=ppt/slides/slide57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289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360 के तहत 'वित्तीय आपातकाल' (Financial Emergency) के संवैधानिक उपबंधों के संदर्भ में निम्नलिखित कथनों पर विचार कीजिए: A. यदि राष्ट्रपति संतुष्ट हो कि ऐसी स्थिति उत्पन्न हो गई है जिससे भारत या उसके किसी भाग की वित्तीय स्थिरता या साख (Credit) खतरे में है, तो वह वित्तीय आपातकाल घोषित कर सकता है। B. वित्तीय आपातकाल की घोषणा को जारी होने के 2 माह के भीतर संसद के दोनों सदनों द्वारा केवल 'साधारण बहुमत' से अनुमोदित होना आवश्यक होता है। C. एक बार संसद द्वारा अनुमोदित होने के बाद वित्तीय आपातकाल अनिश्चितकाल के लिए तब तक जारी रहता है जब तक कि राष्ट्रपति इसे औपचारिक रूप से वापस न ले ले (इसके लिए हर 6 माह में पुनः अनुमोदन आवश्यक नहीं होता)। D. वित्तीय आपातकाल के दौरान राष्ट्रपति राज्यों के सभी धन विधेयकों को विचारार्थ आरक्षित करने तथा उच्चतम व उच्च न्यायालयों के न्यायाधीशों के वेतन-भत्तों में कटौती का निर्देश दे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583467"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289/300</a:t>
            </a:r>
          </a:p>
        </p:txBody>
      </p:sp>
    </p:spTree>
  </p:cSld>
  <p:clrMapOvr>
    <a:masterClrMapping/>
  </p:clrMapOvr>
</p:sld>
</file>

<file path=ppt/slides/slide57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Q.289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360 अमेरिकी राष्ट्रीय पुनर्प्राप्ति अधिनियम 1933 के सिद्धांतों से प्रेरित है। वित्तीय साख खतरे में होने पर राष्ट्रपति इसकी घोषणा करते हैं, अतः कथन A सही है। राष्ट्रीय आपातकाल के विपरीत, वित्तीय आपातकाल को 2 माह में दोनों सदनों के मात्र साधारण बहुमत से पास कराना होता है, अतः कथन B सही है। राष्ट्रीय आपातकाल की तरह इसे हर 6 माह में बार-बार बढ़ाने की जरूरत नहीं होती; यह अनिश्चितकाल तक स्वतः जारी रहता है जब तक राष्ट्रपति इसे रद्द न करें, अतः कथन C सही है। इसके लागू रहने पर केंद्र सरकार राज्य के सभी वित्तीय संसाधनों को नियंत्रित कर सकती है और सुप्रीम कोर्ट/हाईकोर्ट जजों सहित सभी सरकारी सेवकों के वेतन काटे जा सकते हैं, अतः कथन D भी सत्य है। भारत में आज तक एक बार भी वित्तीय आपातकाल लागू नहीं हुआ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583467"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289/300</a:t>
            </a:r>
          </a:p>
        </p:txBody>
      </p:sp>
    </p:spTree>
  </p:cSld>
  <p:clrMapOvr>
    <a:masterClrMapping/>
  </p:clrMapOvr>
</p:sld>
</file>

<file path=ppt/slides/slide57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 XXI के तहत कुछ विशिष्ट राज्यों के लिए किए गए 'विशेष संवैधानिक उपबंधों' (Special Provisions) और उनसे संबंधित अनुच्छेदों का सही मिलान कीजिए: सूची-I: सूची-I: A. अनुच्छेद 371क (Article 371A) B. अनुच्छेद 371ग (Article 371C) C. अनुच्छेद 371घ (Article 371D) D. अनुच्छेद 371छ (Article 371G) सूची-II: 1. मणिपुर राज्य के पहाड़ी क्षेत्रों के प्रशासन के संबंध में विशेष उपबंध 2. नागालैंड राज्य के सामाजिक-धार्मिक रिवाजों, नागा प्रथागत कानून और भूमि स्वामित्व के संबंध में विशेष उपबंध 3. मिजोरम राज्य के पारंपरिक रिवाजों और भूमि हस्तांतरण के संबंध में विशेष उपबंध 4. आंध्र प्रदेश और तेलंगाना राज्यों के स्थानीय लोगों के लिए लोक रोजगार और शिक्षा के समान अवसर</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2354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290/300</a:t>
            </a:r>
          </a:p>
        </p:txBody>
      </p:sp>
    </p:spTree>
  </p:cSld>
  <p:clrMapOvr>
    <a:masterClrMapping/>
  </p:clrMapOvr>
</p:sld>
</file>

<file path=ppt/slides/slide58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भाग XXI असममित संघवाद (Asymmetric Federalism) के तहत क्षेत्रीय व सांस्कृतिक विविधताओं को संरक्षण देता है: अनुच्छेद 371क (13वें संशोधन 1962) नागालैंड की पारंपरिक प्रथाओं को संसद के कानूनों से सुरक्षा देता है (A-2)। अनुच्छेद 371ग (27वें संशोधन 1971) मणिपुर के पर्वतीय क्षेत्रों की विधानसभा समिति से जुड़ा है (B-1)। अनुच्छेद 371घ (32वें संशोधन 1973) आंध्र प्रदेश व तेलंगाना में स्थानीय संवर्गों में रोजगार व शिक्षा से संबंधित है (C-4)। अनुच्छेद 371छ (53वें संशोधन 1986) मिजोरम के रीति-रिवाजों और भूमि अधिकारों को संरक्षण देता है (D-3)। अतः सही कूट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2354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290/300</a:t>
            </a:r>
          </a:p>
        </p:txBody>
      </p:sp>
    </p:spTree>
  </p:cSld>
  <p:clrMapOvr>
    <a:masterClrMapping/>
  </p:clrMapOvr>
</p:sld>
</file>

<file path=ppt/slides/slide58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291</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भाग XVII (राजभाषा, अनुच्छेद 343 से 351) के प्रमुख संवैधानिक प्रावधानों के संदर्भ में निम्नलिखित कथनों पर विचार कीजिए: A. अनुच्छेद 343(1) के अनुसार, भारतीय संघ की राजभाषा 'हिंदी' और लिपि 'देवनागरी' होगी तथा प्रयुक्त होने वाले अंकों का रूप भारतीय अंकों का अंतरराष्ट्रीय रूप होगा। B. संविधान सभा में स्वीकृत 'मुंशी-आयंगर फॉर्मूले' के तहत तय हुआ था कि संविधान लागू होने के प्रारंभिक 15 वर्षों (1965 तक) संघ के सभी आधिकारिक प्रयोजनों हेतु अंग्रेजी का सह-उपयोग जारी रहेगा। C. अनुच्छेद 348(1) के अनुसार, जब तक संसद विधि द्वारा अन्यथा उपबंध न करे, तब तक उच्चतम न्यायालय और प्रत्येक उच्च न्यायालय की सभी कार्यवाहियां केवल 'अंग्रेजी भाषा' में होंगी। D. अनुच्छेद 350क प्राथमिक स्तर पर मातृभाषा में शिक्षा की सुविधाएं देने तथा अनुच्छेद 351 हिंदी भाषा के प्रसार, विकास और समृद्धि का संघ को निर्देश देता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66362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291/300</a:t>
            </a:r>
          </a:p>
        </p:txBody>
      </p:sp>
    </p:spTree>
  </p:cSld>
  <p:clrMapOvr>
    <a:masterClrMapping/>
  </p:clrMapOvr>
</p:sld>
</file>

<file path=ppt/slides/slide58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Q.291</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में किसी भी भाषा को 'राष्ट्रभाषा' घोषित नहीं किया गया है बल्कि हिंदी को 'संघ की राजभाषा' बनाया गया है, अतः कथन A सही है। दक्षिण भारत और गैर-हिंदी भाषी राज्यों की चिंताओं के समाधान हेतु मुंशी-आयंगर फॉर्मूले से 15 वर्ष तक अंग्रेजी के प्रयोग की छूट दी गई, जिसे राजभाषा अधिनियम 1963 द्वारा आगे बढ़ा दिया गया, अतः कथन B सही है। न्यायपालिका में प्रामाणिक पाठ और निर्णयों की एकरूपता हेतु अनुच्छेद 348(1) में सुप्रीम कोर्ट व हाईकोर्ट की भाषा अंग्रेजी अनिवार्य की गई है, अतः कथन C सही है। अनुच्छेद 350क भाषाई अल्पसंख्यकों को मातृभाषा में प्राथमिक शिक्षा और 351 सामासिक संस्कृति की अभिव्यक्ति हेतु हिंदी के विकास का अधिदेश देता है,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66362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291/300</a:t>
            </a:r>
          </a:p>
        </p:txBody>
      </p:sp>
    </p:spTree>
  </p:cSld>
  <p:clrMapOvr>
    <a:masterClrMapping/>
  </p:clrMapOvr>
</p:sld>
</file>

<file path=ppt/slides/slide58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292</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के अनुच्छेद 310 और 311 के तहत लोक सेवकों की सेवा शर्तों और संवैधानिक सुरक्षा उपायों के संदर्भ में निम्नलिखित कथनों पर विचार कीजिए: A. अनुच्छेद 310 ब्रिटिश सिद्धांत पर आधारित 'प्रसाद का सिद्धांत' (Doctrine of Pleasure) प्रतिपादित करता है कि केंद्र के सिविल सेवक राष्ट्रपति के तथा राज्यों के सिविल सेवक राज्यपाल के प्रसादपर्यंत पद धारण करते हैं। B. अनुच्छेद 311(1) के अनुसार किसी भी सिविल सेवक को उस प्राधिकारी के अधीनस्थ किसी प्राधिकारी द्वारा पदच्युत या हटाया नहीं जाएगा जिसने उसे नियुक्त किया था। C. अनुच्छेद 311(2) के अनुसार किसी सिविल सेवक को उसके विरुद्ध लगे आरोपों की जांच और सुनवाई का युक्तियुक्त अवसर (Reasonable Opportunity) दिए बिना बर्खास्त या पदावनत नहीं किया जा सकता। D. यदि किसी सिविल सेवक को आपराधिक आरोप में न्यायालय द्वारा दोषसिद्ध ठहराया गया हो, तो अनुच्छेद 311(2) के परंतुक के तहत उसे बिना विभागीय जांच के सीधे सेवा से हटाया जा सकता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0371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292/300</a:t>
            </a:r>
          </a:p>
        </p:txBody>
      </p:sp>
    </p:spTree>
  </p:cSld>
  <p:clrMapOvr>
    <a:masterClrMapping/>
  </p:clrMapOvr>
</p:sld>
</file>

<file path=ppt/slides/slide58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Q.292</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310 और 311 मिलकर भारतीय सिविल सेवाओं की स्वतंत्रता और सुरक्षा का संतुलन बनाते हैं। प्रसाद का सिद्धांत कार्यपालिका की सर्वोच्चता तय करता है, अतः कथन A सही है। मनमाने निष्कासन को रोकने हेतु अनुच्छेद 311(1) सुरक्षा देता है कि नियुक्ति प्राधिकारी से कनिष्ठ अधिकारी बर्खास्त नहीं कर सकता, अतः कथन B सही है। प्राकृतिक न्याय के तहत निष्पक्ष जांच और सुनवाई का अधिकार दिया गया है, अतः कथन C सही है। अनुच्छेद 311(2) के दूसरे परंतुक में तीन अपवाद हैं जिनमें जांच के बिना बर्खास्तगी हो सकती है: 1. आपराधिक दोषसिद्धि पर, 2. जब जांच करना व्यावहारिक न हो, और 3. जब राज्य की सुरक्षा के हित में राष्ट्रपति/राज्यपाल जांच न कराना उचित समझें। अतः कथन D भी सत्य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0371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292/300</a:t>
            </a:r>
          </a:p>
        </p:txBody>
      </p:sp>
    </p:spTree>
  </p:cSld>
  <p:clrMapOvr>
    <a:masterClrMapping/>
  </p:clrMapOvr>
</p:sld>
</file>

<file path=ppt/slides/slide58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293</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भारतीय संविधान के अनुच्छेद 233 के अनुसार, किसी राज्य में 'जिला न्यायाधीशों' (District Judges) की नियुक्ति, पदस्थापन (Posting) और पदोन्नति किसके द्वारा और किसके परामर्श से की जाती है?</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राज्य लोक सेवा आयोग (SPSC) के परामर्श से मुख्यमंत्री द्वारा</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संबंधित राज्य के उच्च न्यायालय के परामर्श से उस राज्य के राज्यपाल द्वारा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भारत के मुख्य न्यायाधीश (CJI) द्वारा</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1800" dirty="0">
                <a:solidFill>
                  <a:srgbClr val="1A1A1A"/>
                </a:solidFill>
                <a:latin typeface="Nirmala UI"/>
                <a:cs typeface="Nirmala UI"/>
              </a:rPr>
              <a:t>जिला एवं सत्र न्यायाधीशों की चयन समिति द्वारा</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43792"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293/300</a:t>
            </a:r>
          </a:p>
        </p:txBody>
      </p:sp>
    </p:spTree>
  </p:cSld>
  <p:clrMapOvr>
    <a:masterClrMapping/>
  </p:clrMapOvr>
</p:sld>
</file>

<file path=ppt/slides/slide58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Q.293</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1800" b="1" dirty="0">
                <a:solidFill>
                  <a:srgbClr val="005A24"/>
                </a:solidFill>
                <a:latin typeface="Nirmala UI"/>
                <a:cs typeface="Nirmala UI"/>
              </a:rPr>
              <a:t>संबंधित राज्य के उच्च न्यायालय के परामर्श से उस राज्य के राज्यपाल द्वारा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राज्य लोक सेवा आयोग (SPSC) के परामर्श से मुख्यमंत्री द्वारा</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भारत के मुख्य न्यायाधीश (CJI) द्वारा</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जिला एवं सत्र न्यायाधीशों की चयन समिति द्वारा</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संविधान के भाग VI के अध्याय VI (अधीनस्थ न्यायालय) का अनुच्छेद 233(1) स्पष्ट रूप से यह संवैधानिक व्यवस्था करता है कि किसी राज्य में जिला न्यायाधीश के पद पर व्यक्तियों की नियुक्ति, उनकी पदस्थापना और पदोन्नति संबंधित 'राज्य के राज्यपाल द्वारा उस राज्य के उच्च न्यायालय (High Court) के परामर्श से' ही की जाएगी। अनुच्छेद 233(2) यह भी विहित करता है कि यदि कोई व्यक्ति पहले से संघ या राज्य की न्यायिक सेवा में नहीं है, तो वह केवल तभी सीधे जिला न्यायाधीश नियुक्त होने का पात्र होगा जब वह कम से कम 7 वर्ष तक अधिवक्ता या प्लीडर रहा हो और उच्च न्यायालय ने उसकी नियुक्ति की औपचारिक सिफारिश की हो। अतः विकल्प B सही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43792"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293/300</a:t>
            </a:r>
          </a:p>
        </p:txBody>
      </p:sp>
    </p:spTree>
  </p:cSld>
  <p:clrMapOvr>
    <a:masterClrMapping/>
  </p:clrMapOvr>
</p:sld>
</file>

<file path=ppt/slides/slide58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294</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बजट प्रक्रिया में लोकसभा में अनुदानों की मांगों पर विपक्ष द्वारा लाए जाने वाले तीन प्रकार के 'कटौती प्रस्तावों' (Cut Motions) और 'गिलोटिन' का उनके संबंधित विधिक प्रभावों से सही मिलान कीजिए: सूची-I: सूची-I: A. नीतिगत कटौती प्रस्ताव (Policy Disapproval Cut) B. मितव्ययिता कटौती प्रस्ताव (Economy Cut) C. सांकेतिक कटौती प्रस्ताव (Token Cut) D. गिलोटिन (Guillotine) सूची-II: 1. मांग की राशि में से एक विनिर्दिष्ट राशि (जैसे ₹50 करोड़) कम करने का प्रस्ताव, ताकि खर्च में बचत की जा सके 2. मांग की राशि को घटाकर केवल '₹1' करने का प्रस्ताव, जो सरकार की पूरी नीति की अस्वीकृति दर्शाता है (इसके पारित होने पर सरकार गिर जाती है) 3. भारत सरकार के किसी विशिष्ट दायित्व या शिकायत को उठाने हेतु मांग की राशि में से केवल '₹100' की प्रतीकात्मक कटौती का प्रस्ताव 4. बजट सत्र में चर्चा हेतु आवंटित समय-सीमा समाप्त होने पर बची हुई सभी अनिर्णीत अनुदान मांगों को बिना किसी बहस के एक साथ मतदान के लिए रख देना</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C-3, D-4</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B-3, C-1, D-4</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783873"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294/300</a:t>
            </a:r>
          </a:p>
        </p:txBody>
      </p:sp>
    </p:spTree>
  </p:cSld>
  <p:clrMapOvr>
    <a:masterClrMapping/>
  </p:clrMapOvr>
</p:sld>
</file>

<file path=ppt/slides/slide58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Q.294</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C-3, D-4</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B-3, C-1, D-4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संसदीय बजट प्रक्रिया में कटौती प्रस्ताव कार्यपालिका की वित्तीय जवाबदेही तय करने के शक्तिशाली उपकरण हैं: 1. नीतिगत कटौती (Policy Cut) में मांग घटाकर ₹1 कर दी जाती है जो नीति की पूर्ण अस्वीकृति है; यदि यह पास हो जाए तो सरकार के प्रति अविश्वास माना जाता है और मंत्रिमंडल को इस्तीफा देना पड़ता है (A-2)। 2. मितव्ययिता कटौती (Economy Cut) में खर्च कम करने हेतु एकमुश्त राशि कटौती का प्रस्ताव होता है (B-1)। 3. सांकेतिक कटौती (Token Cut) में विशिष्ट सार्वजनिक शिकायत दर्ज कराने हेतु ₹100 की प्रतीकात्मक कटौती होती है (C-3)। 4. गिलोटिन (Guillotine) वह प्रक्रियात्मक उपकरण है जिसके तहत बजट के अंतिम दिन समय की कमी के कारण सभी अनिर्णीत मंत्रालयों की अनुदान मांगों को बिना चर्चा के सीधे मतदान हेतु पटल पर रख दिया जाता है (D-4)। सही कूट A-2, B-1, C-3, D-4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783873"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294/300</a:t>
            </a:r>
          </a:p>
        </p:txBody>
      </p:sp>
    </p:spTree>
  </p:cSld>
  <p:clrMapOvr>
    <a:masterClrMapping/>
  </p:clrMapOvr>
</p:sld>
</file>

<file path=ppt/slides/slide58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295</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 के संघीय बजट में 'राजकोषीय उत्तरदायित्व एवं बजट प्रबंधन अधिनियम, 2003' (FRBM Act, 2003) के कानूनी अधिदेश के तहत केंद्रीय वित्त मंत्री द्वारा संसद के पटल पर प्रस्तुत किए जाने वाले अनिवार्य नीतिगत दस्तावेजों पर विचार कीजिए: A. वृहद आर्थिक रूपरेखा विवरण (Macro-Economic Framework Statement) B. मध्यम-अवधि राजकोषीय नीति सह राजकोषीय नीति रणनीति विवरण (Medium-Term Fiscal Policy cum Fiscal Policy Strategy Statement) C. राजकोषीय योजना और परिणाम रूपरेखा विवरण (Fiscal Plan and Outcome Framework) D. वार्षिक वित्तीय विवरण (अनुच्छेद 112) और विनियोग विधेयक (अनुच्छेद 114) संविधान द्वारा अधिदेशित हैं, जबकि उपर्युक्त नीति विवरण FRBM कानून द्वारा अधिदेशित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D</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23954"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295/300</a:t>
            </a:r>
          </a:p>
        </p:txBody>
      </p:sp>
    </p:spTree>
  </p:cSld>
  <p:clrMapOvr>
    <a:masterClrMapping/>
  </p:clrMapOvr>
</p:sld>
</file>

<file path=ppt/slides/slide59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Q.295</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D</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संसद में बजट पेश करते समय वित्तीय अनुशासन और पारदर्शिता सुनिश्चित करने के लिए संविधान और FRBM कानून दोनों के तहत दस्तावेज रखे जाते हैं। संविधान के अनुच्छेद 112 में वार्षिक वित्तीय विवरण, 113 में अनुदान मांगें और 114 में विनियोग विधेयक आता है। इसके अतिरिक्त 2003 के FRBM कानून की धारा 3 के तहत वित्त मंत्री के लिए यह अनिवार्य है कि वे तीन अतिरिक्त मैक्रो-दस्तावेज संसद में रखें: 1. मैक्रो-इकोनॉमिक फ्रेमवर्क स्टेटमेंट (जीडीपी वृद्धि, मुद्रास्फीति और चालू खाते का आकलन), 2. मीडियम-टर्म फिस्कल पॉलिसी स्टेटमेंट (3 वर्ष के राजकोषीय घाटा लक्ष्य), और 3. फिस्कल पॉलिसी स्ट्रेटजी स्टेटमेंट (कराधान व व्यय की सरकारी रणनीति)।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23954"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295/300</a:t>
            </a:r>
          </a:p>
        </p:txBody>
      </p:sp>
    </p:spTree>
  </p:cSld>
  <p:clrMapOvr>
    <a:masterClrMapping/>
  </p:clrMapOvr>
</p:sld>
</file>

<file path=ppt/slides/slide591.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296</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भारत के राष्ट्रपति चुनाव, 2022 के आधिकारिक आंकड़ों के अनुसार, राजस्थान राज्य विधानसभा के सभी 200 निर्वाचित विधायकों (MLAs) का कुल संयुक्त मत-मूल्य (Total Vote Value) कितना निर्धारित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21,280</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25,800</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26,754</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15,708</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864035"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296/300</a:t>
            </a:r>
          </a:p>
        </p:txBody>
      </p:sp>
    </p:spTree>
  </p:cSld>
  <p:clrMapOvr>
    <a:masterClrMapping/>
  </p:clrMapOvr>
</p:sld>
</file>

<file path=ppt/slides/slide592.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Q.296</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25,800</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21,280</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26,754</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15,708</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राष्ट्रपति चुनाव में प्रत्येक राज्य के विधायक के मत-मूल्य का सूत्र = (राज्य की 1971 की कुल जनसंख्या / विधानसभा के कुल निर्वाचित सदस्य) × (1/1000) होता है। 1971 की जनगणना के अनुसार राजस्थान की जनसंख्या 2,57,65,806 थी और विधानसभा में 200 निर्वाचित विधायक हैं। इस सूत्र के आधार पर राजस्थान के प्रत्येक विधायक का मत-मूल्य 128.82 अर्थात पूर्णांक में 129 निर्धारित है। अतः राजस्थान के सभी 200 विधायकों का कुल मत-मूल्य = 129 × 200 = 25,800 था। (राष्ट्रपति चुनाव 2022 में देश में सर्वाधिक मत-मूल्य उत्तर प्रदेश के विधायक का था-208, जबकि सबसे कम मत-मूल्य सिक्किम के विधायक का था-मात्र 7)। अतः विकल्प B सही उत्तर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864035"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296/300</a:t>
            </a:r>
          </a:p>
        </p:txBody>
      </p:sp>
    </p:spTree>
  </p:cSld>
  <p:clrMapOvr>
    <a:masterClrMapping/>
  </p:clrMapOvr>
</p:sld>
</file>

<file path=ppt/slides/slide593.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297</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स्वतंत्र भारत के इतिहास में वह एकमात्र राष्ट्रपति चुनाव कौन-सा था जिसमें किसी भी प्रत्याशी को प्रथम वरीयता की मतगणना में जीत का आवश्यक कोटा नहीं मिला और विजेता का फैसला करने हेतु 'द्वितीय वरीयता के मतों की गणना' (Counting of Second Preference Votes) करनी पड़ी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1967 का चुनाव (डॉ. ज़ाकिर हुसैन)</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1969 का चुनाव (वी. वी. गिरि)</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1977 का चुनाव (नीलम संजीव रेड्डी)</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1982 का चुनाव (ज्ञानी जैल सिंह)</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04116"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297/300</a:t>
            </a:r>
          </a:p>
        </p:txBody>
      </p:sp>
    </p:spTree>
  </p:cSld>
  <p:clrMapOvr>
    <a:masterClrMapping/>
  </p:clrMapOvr>
</p:sld>
</file>

<file path=ppt/slides/slide594.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Q.297</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1969 का चुनाव (वी. वी. गिरि)</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1967 का चुनाव (डॉ. ज़ाकिर हुसैन)</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1977 का चुनाव (नीलम संजीव रेड्डी)</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1982 का चुनाव (ज्ञानी जैल सिंह)</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वर्ष 1969 का राष्ट्रपति चुनाव भारतीय राजनीतिक इतिहास का सबसे असाधारण और नाटकीय चुनाव था। राष्ट्रपति डॉ. ज़ाकिर हुसैन के असामयिक निधन के बाद कांग्रेस सिंडिकेट ने नीलम संजीव रेड्डी को आधिकारिक प्रत्याशी बनाया, जबकि तत्कालीन कार्यवाहक राष्ट्रपति वी. वी. गिरि ने स्वतंत्र उम्मीदवार के रूप में पर्चा भरा और प्रधानमंत्री इंदिरा गांधी ने 'अंतरात्मा की आवाज पर मतदान' का आह्वान किया। प्रथम वरीयता की गिनती में वी. वी. गिरि को 48% और रेड्डी को 42% मत मिले (कोटा 50%+1 था)। इतिहास में पहली और एकमात्र बार सबसे कम वोट पाने वाले उम्मीदवारों को बाहर करके द्वितीय वरीयता के मतों की गिनती की गई, जिसमें वी. वी. गिरि विजयी घोषित हुए। (1977 में नीलम संजीव रेड्डी एकमात्र निर्विरोध चुने गए राष्ट्रपति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04116"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297/300</a:t>
            </a:r>
          </a:p>
        </p:txBody>
      </p:sp>
    </p:spTree>
  </p:cSld>
  <p:clrMapOvr>
    <a:masterClrMapping/>
  </p:clrMapOvr>
</p:sld>
</file>

<file path=ppt/slides/slide595.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219456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298</a:t>
            </a:r>
          </a:p>
        </p:txBody>
      </p:sp>
      <p:sp>
        <p:nvSpPr>
          <p:cNvPr id="13" name="t13"/>
          <p:cNvSpPr txBox="1">
            <a:spLocks noGrp="1"/>
          </p:cNvSpPr>
          <p:nvPr/>
        </p:nvSpPr>
        <p:spPr>
          <a:xfrm>
            <a:off x="1508760" y="164592"/>
            <a:ext cx="10378440" cy="1920240"/>
          </a:xfrm>
          <a:prstGeom prst="rect">
            <a:avLst/>
          </a:prstGeom>
          <a:noFill/>
          <a:ln>
            <a:noFill/>
          </a:ln>
        </p:spPr>
        <p:txBody>
          <a:bodyPr wrap="square" anchor="t">
            <a:normAutofit/>
          </a:bodyPr>
          <a:lstStyle/>
          <a:p>
            <a:pPr algn="l"/>
            <a:r>
              <a:rPr lang="hi-IN" altLang="en-US" sz="2000" b="1" dirty="0">
                <a:solidFill>
                  <a:srgbClr val="FFFFFF"/>
                </a:solidFill>
                <a:latin typeface="Nirmala UI"/>
                <a:cs typeface="Nirmala UI"/>
              </a:rPr>
              <a:t>वर्ष 1986 में भारत के तत्कालीन राष्ट्रपति ज्ञानी जैल सिंह ने संसद द्वारा पारित किस विवादित विधेयक पर भारतीय इतिहास में पहली बार 'पॉकेट वीटो' (Pocket Veto / जेबी निषेधाधिकार) का प्रयोग किया था?</a:t>
            </a:r>
          </a:p>
        </p:txBody>
      </p:sp>
      <p:sp>
        <p:nvSpPr>
          <p:cNvPr id="14" name="r14"/>
          <p:cNvSpPr>
            <a:spLocks noGrp="1"/>
          </p:cNvSpPr>
          <p:nvPr/>
        </p:nvSpPr>
        <p:spPr>
          <a:xfrm>
            <a:off x="164592" y="2194560"/>
            <a:ext cx="12024360" cy="73152"/>
          </a:xfrm>
          <a:prstGeom prst="rect">
            <a:avLst/>
          </a:prstGeom>
          <a:solidFill>
            <a:srgbClr val="FF6600"/>
          </a:solidFill>
          <a:ln>
            <a:noFill/>
          </a:ln>
        </p:spPr>
        <p:txBody>
          <a:bodyPr/>
          <a:lstStyle/>
          <a:p/>
        </p:txBody>
      </p:sp>
      <p:sp>
        <p:nvSpPr>
          <p:cNvPr id="15" name="r15"/>
          <p:cNvSpPr>
            <a:spLocks noGrp="1"/>
          </p:cNvSpPr>
          <p:nvPr/>
        </p:nvSpPr>
        <p:spPr>
          <a:xfrm>
            <a:off x="320040" y="2423160"/>
            <a:ext cx="5806440" cy="166878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2034540"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दहेज प्रतिषेध (संशोधन) विधेयक</a:t>
            </a:r>
          </a:p>
        </p:txBody>
      </p:sp>
      <p:sp>
        <p:nvSpPr>
          <p:cNvPr id="18" name="r18"/>
          <p:cNvSpPr>
            <a:spLocks noGrp="1"/>
          </p:cNvSpPr>
          <p:nvPr/>
        </p:nvSpPr>
        <p:spPr>
          <a:xfrm>
            <a:off x="6382512" y="2423160"/>
            <a:ext cx="5806440" cy="166878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256032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8097012" y="251460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भारतीय डाकघर (संशोधन) विधेयक, 1986</a:t>
            </a:r>
          </a:p>
        </p:txBody>
      </p:sp>
      <p:sp>
        <p:nvSpPr>
          <p:cNvPr id="21" name="r21"/>
          <p:cNvSpPr>
            <a:spLocks noGrp="1"/>
          </p:cNvSpPr>
          <p:nvPr/>
        </p:nvSpPr>
        <p:spPr>
          <a:xfrm>
            <a:off x="320040" y="4320540"/>
            <a:ext cx="5806440" cy="166878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2034540"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बैंक सेवा आयोग (निरसन) विधेयक</a:t>
            </a:r>
          </a:p>
        </p:txBody>
      </p:sp>
      <p:sp>
        <p:nvSpPr>
          <p:cNvPr id="24" name="r24"/>
          <p:cNvSpPr>
            <a:spLocks noGrp="1"/>
          </p:cNvSpPr>
          <p:nvPr/>
        </p:nvSpPr>
        <p:spPr>
          <a:xfrm>
            <a:off x="6382512" y="4320540"/>
            <a:ext cx="5806440" cy="166878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4457700"/>
            <a:ext cx="1394460" cy="139446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8097012" y="4411980"/>
            <a:ext cx="3909060" cy="1485900"/>
          </a:xfrm>
          <a:prstGeom prst="rect">
            <a:avLst/>
          </a:prstGeom>
          <a:noFill/>
          <a:ln>
            <a:noFill/>
          </a:ln>
        </p:spPr>
        <p:txBody>
          <a:bodyPr wrap="square" anchor="ctr">
            <a:normAutofit/>
          </a:bodyPr>
          <a:lstStyle/>
          <a:p>
            <a:pPr algn="l"/>
            <a:r>
              <a:rPr lang="hi-IN" altLang="en-US" sz="2100" dirty="0">
                <a:solidFill>
                  <a:srgbClr val="1A1A1A"/>
                </a:solidFill>
                <a:latin typeface="Nirmala UI"/>
                <a:cs typeface="Nirmala UI"/>
              </a:rPr>
              <a:t>दंड प्रक्रिया संहिता (संशोधन) विधेयक</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44198"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298/300</a:t>
            </a:r>
          </a:p>
        </p:txBody>
      </p:sp>
    </p:spTree>
  </p:cSld>
  <p:clrMapOvr>
    <a:masterClrMapping/>
  </p:clrMapOvr>
</p:sld>
</file>

<file path=ppt/slides/slide596.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Q.298</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B</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100" b="1" dirty="0">
                <a:solidFill>
                  <a:srgbClr val="005A24"/>
                </a:solidFill>
                <a:latin typeface="Nirmala UI"/>
                <a:cs typeface="Nirmala UI"/>
              </a:rPr>
              <a:t>भारतीय डाकघर (संशोधन) विधेयक, 1986</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दहेज प्रतिषेध (संशोधन) विधेयक</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बैंक सेवा आयोग (निरसन) विधेयक</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दंड प्रक्रिया संहिता (संशोधन) विधेयक</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अनुच्छेद 111 में राष्ट्रपति द्वारा किसी गैर-धन विधेयक पर निर्णय लेने की कोई निश्चित समय-सीमा तय नहीं की गई है (जबकि अमेरिकी राष्ट्रपति के पास केवल 10 दिन का समय होता है)। वर्ष 1986 में राजीव गांधी सरकार ने संसद से 'भारतीय डाकघर (संशोधन) विधेयक' पारित कराया, जिसकी धारा 16 सरकार को नागरिकों के व्यक्तिगत पत्रों और संचार को संदिग्ध आधार पर रोकने और सेंसर करने की असीमित शक्ति देती थी। इसे नागरिकों की निजता और प्रेस की स्वतंत्रता पर सीधा हमला मानते हुए तत्कालीन राष्ट्रपति ज्ञानी जैल सिंह ने इस पर न तो अपनी सहमति दी, न इसे पुनर्विचार हेतु लौटाया और न ही खारिज किया; उन्होंने इसे अनिश्चितकाल के लिए अपने पास लंबित रख लिया। यह स्वतंत्र भारत में पॉकेट वीटो का पहला और एकमात्र पूर्ण प्रयोग था।</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44198"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298/300</a:t>
            </a:r>
          </a:p>
        </p:txBody>
      </p:sp>
    </p:spTree>
  </p:cSld>
  <p:clrMapOvr>
    <a:masterClrMapping/>
  </p:clrMapOvr>
</p:sld>
</file>

<file path=ppt/slides/slide597.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299</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संविधान के अनुच्छेद 104 के तहत संसद में शपथ लिए बिना या अयोग्य होते हुए बैठने और मतदान करने पर शास्ति (Penalty) के कड़े विधिक प्रावधानों पर विचार कीजिए: A. यदि कोई व्यक्ति संविधान के अनुच्छेद 99 के तहत शपथ या प्रतिज्ञान किए बिना संसद के किसी भी सदन में सदस्य के रूप में बैठता है या मतदान करता है। B. यदि वह व्यक्ति यह जानता है कि वह संसद का सदस्य बनने के लिए अर्हित (Qualified) नहीं है या दल-बदल अथवा लाभ के पद के कारण निरर्हित (Disqualified) कर दिया गया है। C. वह प्रत्येक दिन के लिए, जब वह इस प्रकार संसद में बैठता है या मतदान करता है, पाँच सौ रुपये (₹500) की शास्ति (जुर्माने) का भागी होगा। D. यह शास्ति भारत सरकार को देय ऋण (Debt due to the Union) के रूप में विधिक प्रक्रिया द्वारा वसूली जाती है।</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 B, C एवं D सभी</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B और C</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B, C और D</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केवल A और D</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1984279"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299/300</a:t>
            </a:r>
          </a:p>
        </p:txBody>
      </p:sp>
    </p:spTree>
  </p:cSld>
  <p:clrMapOvr>
    <a:masterClrMapping/>
  </p:clrMapOvr>
</p:sld>
</file>

<file path=ppt/slides/slide598.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Q.299</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 B, C एवं D सभी</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B और C</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B, C और D</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केवल A और D</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अनुच्छेद 99 सांसदों के लिए शपथ अनिवार्य बनाता है और अनुच्छेद 104 इसका उल्लंघन करने वालों पर आर्थिक दंड लगाता है। यदि कोई गैर-सदस्य, अयोग्य व्यक्ति या जिसने अभी शपथ नहीं ली है, संसद की कार्यवाही में भाग लेता है या वोट डालता है तो वह प्रतिदिन ₹500 के व्यक्तिगत जुर्माने का भागी होता है, अतः कथन A, B और C सही हैं। यह जुर्माना संबंधित व्यक्ति से सरकार के दीवानी कर्ज की तरह वसूला जाता है, अतः कथन D भी सत्य है। यही समान दंडात्मक प्रावधान राज्यों की विधानसभाओं के लिए संविधान के अनुच्छेद 193 में भी किया गया है। चारों कथन सत्य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1984279"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299/300</a:t>
            </a:r>
          </a:p>
        </p:txBody>
      </p:sp>
    </p:spTree>
  </p:cSld>
  <p:clrMapOvr>
    <a:masterClrMapping/>
  </p:clrMapOvr>
</p:sld>
</file>

<file path=ppt/slides/slide599.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1A237E"/>
          </a:solidFill>
          <a:ln>
            <a:noFill/>
          </a:ln>
        </p:spPr>
        <p:txBody>
          <a:bodyPr/>
          <a:lstStyle/>
          <a:p/>
        </p:txBody>
      </p:sp>
      <p:sp>
        <p:nvSpPr>
          <p:cNvPr id="11" name="r11"/>
          <p:cNvSpPr>
            <a:spLocks noGrp="1"/>
          </p:cNvSpPr>
          <p:nvPr/>
        </p:nvSpPr>
        <p:spPr>
          <a:xfrm>
            <a:off x="164592" y="0"/>
            <a:ext cx="12024360" cy="3291840"/>
          </a:xfrm>
          <a:prstGeom prst="rect">
            <a:avLst/>
          </a:prstGeom>
          <a:solidFill>
            <a:srgbClr val="1A237E"/>
          </a:solidFill>
          <a:ln>
            <a:noFill/>
          </a:ln>
        </p:spPr>
        <p:txBody>
          <a:bodyPr/>
          <a:lstStyle/>
          <a:p/>
        </p:txBody>
      </p:sp>
      <p:sp>
        <p:nvSpPr>
          <p:cNvPr id="12" name="t12"/>
          <p:cNvSpPr txBox="1">
            <a:spLocks noGrp="1"/>
          </p:cNvSpPr>
          <p:nvPr/>
        </p:nvSpPr>
        <p:spPr>
          <a:xfrm>
            <a:off x="320040" y="201168"/>
            <a:ext cx="1005840" cy="1005840"/>
          </a:xfrm>
          <a:prstGeom prst="rect">
            <a:avLst/>
          </a:prstGeom>
          <a:solidFill>
            <a:srgbClr val="FF6600"/>
          </a:solidFill>
          <a:ln>
            <a:noFill/>
          </a:ln>
        </p:spPr>
        <p:txBody>
          <a:bodyPr wrap="square" anchor="ctr">
            <a:noAutofit/>
          </a:bodyPr>
          <a:lstStyle/>
          <a:p>
            <a:pPr algn="ctr"/>
            <a:r>
              <a:rPr lang="hi-IN" altLang="en-US" sz="2800" b="1" dirty="0">
                <a:solidFill>
                  <a:srgbClr val="FFFFFF"/>
                </a:solidFill>
                <a:latin typeface="Nirmala UI"/>
                <a:cs typeface="Nirmala UI"/>
              </a:rPr>
              <a:t>300</a:t>
            </a:r>
          </a:p>
        </p:txBody>
      </p:sp>
      <p:sp>
        <p:nvSpPr>
          <p:cNvPr id="13" name="t13"/>
          <p:cNvSpPr txBox="1">
            <a:spLocks noGrp="1"/>
          </p:cNvSpPr>
          <p:nvPr/>
        </p:nvSpPr>
        <p:spPr>
          <a:xfrm>
            <a:off x="1508760" y="164592"/>
            <a:ext cx="10378440" cy="3017520"/>
          </a:xfrm>
          <a:prstGeom prst="rect">
            <a:avLst/>
          </a:prstGeom>
          <a:noFill/>
          <a:ln>
            <a:noFill/>
          </a:ln>
        </p:spPr>
        <p:txBody>
          <a:bodyPr wrap="square" anchor="t">
            <a:normAutofit/>
          </a:bodyPr>
          <a:lstStyle/>
          <a:p>
            <a:pPr algn="l"/>
            <a:r>
              <a:rPr lang="hi-IN" altLang="en-US" sz="1500" b="1" dirty="0">
                <a:solidFill>
                  <a:srgbClr val="FFFFFF"/>
                </a:solidFill>
                <a:latin typeface="Nirmala UI"/>
                <a:cs typeface="Nirmala UI"/>
              </a:rPr>
              <a:t>भारतीय संविधान और लोकतांत्रिक व्यवस्था के विकास में मील का पत्थर साबित हुए 4 महानतम ऐतिहासिक वादों और उनके द्वारा प्रतिपादित मूल सिद्धांतों का सही मिलान कीजिए: सूची-I: सूची-I: A. केशवानंद भारती बनाम केरल राज्य (1973) B. मेनका गांधी बनाम भारत संघ (1978) C. एस. आर. बोम्मई बनाम भारत संघ (1994) D. के. एस. पुट्टास्वामी बनाम भारत संघ (2017) सूची-II: 1. 'विधि की सम्यक प्रक्रिया' (Due Process of Law), प्राकृतिक न्याय और अनुच्छेद 21 के तहत जीवन व दैहिक स्वतंत्रता का व्यापक विस्तार 2. 'संविधान का मूल ढांचा सिद्धांत' (Basic Structure Doctrine) और अनुच्छेद 368 की संशोधन शक्ति पर संवैधानिक सीमा 3. 'निजता का अधिकार' (Right to Privacy) अनुच्छेद 21 के तहत अंतर्निहित अविभाज्य मौलिक अधिकार 4. 'पंथनिरपेक्षता' संविधान का मूल ढांचा तथा राष्ट्रपति शासन (अनुच्छेद 356) की उद्घोषणा की न्यायिक समीक्षा</a:t>
            </a:r>
          </a:p>
        </p:txBody>
      </p:sp>
      <p:sp>
        <p:nvSpPr>
          <p:cNvPr id="14" name="r14"/>
          <p:cNvSpPr>
            <a:spLocks noGrp="1"/>
          </p:cNvSpPr>
          <p:nvPr/>
        </p:nvSpPr>
        <p:spPr>
          <a:xfrm>
            <a:off x="164592" y="3291840"/>
            <a:ext cx="12024360" cy="73152"/>
          </a:xfrm>
          <a:prstGeom prst="rect">
            <a:avLst/>
          </a:prstGeom>
          <a:solidFill>
            <a:srgbClr val="FF6600"/>
          </a:solidFill>
          <a:ln>
            <a:noFill/>
          </a:ln>
        </p:spPr>
        <p:txBody>
          <a:bodyPr/>
          <a:lstStyle/>
          <a:p/>
        </p:txBody>
      </p:sp>
      <p:sp>
        <p:nvSpPr>
          <p:cNvPr id="15" name="r15"/>
          <p:cNvSpPr>
            <a:spLocks noGrp="1"/>
          </p:cNvSpPr>
          <p:nvPr/>
        </p:nvSpPr>
        <p:spPr>
          <a:xfrm>
            <a:off x="320040" y="3520440"/>
            <a:ext cx="5806440" cy="1120140"/>
          </a:xfrm>
          <a:prstGeom prst="rect">
            <a:avLst/>
          </a:prstGeom>
          <a:solidFill>
            <a:srgbClr val="FFFFFF"/>
          </a:solidFill>
          <a:ln w="19050">
            <a:solidFill>
              <a:srgbClr val="B8C5EC"/>
            </a:solidFill>
          </a:ln>
        </p:spPr>
        <p:txBody>
          <a:bodyPr/>
          <a:lstStyle/>
          <a:p/>
        </p:txBody>
      </p:sp>
      <p:sp>
        <p:nvSpPr>
          <p:cNvPr id="16" name="t16"/>
          <p:cNvSpPr txBox="1">
            <a:spLocks noGrp="1"/>
          </p:cNvSpPr>
          <p:nvPr/>
        </p:nvSpPr>
        <p:spPr>
          <a:xfrm>
            <a:off x="457200"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A</a:t>
            </a:r>
          </a:p>
        </p:txBody>
      </p:sp>
      <p:sp>
        <p:nvSpPr>
          <p:cNvPr id="17" name="t17"/>
          <p:cNvSpPr txBox="1">
            <a:spLocks noGrp="1"/>
          </p:cNvSpPr>
          <p:nvPr/>
        </p:nvSpPr>
        <p:spPr>
          <a:xfrm>
            <a:off x="1485900"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B-1, C-4, D-3</a:t>
            </a:r>
          </a:p>
        </p:txBody>
      </p:sp>
      <p:sp>
        <p:nvSpPr>
          <p:cNvPr id="18" name="r18"/>
          <p:cNvSpPr>
            <a:spLocks noGrp="1"/>
          </p:cNvSpPr>
          <p:nvPr/>
        </p:nvSpPr>
        <p:spPr>
          <a:xfrm>
            <a:off x="6382512" y="3520440"/>
            <a:ext cx="5806440" cy="1120140"/>
          </a:xfrm>
          <a:prstGeom prst="rect">
            <a:avLst/>
          </a:prstGeom>
          <a:solidFill>
            <a:srgbClr val="FFFFFF"/>
          </a:solidFill>
          <a:ln w="19050">
            <a:solidFill>
              <a:srgbClr val="B8C5EC"/>
            </a:solidFill>
          </a:ln>
        </p:spPr>
        <p:txBody>
          <a:bodyPr/>
          <a:lstStyle/>
          <a:p/>
        </p:txBody>
      </p:sp>
      <p:sp>
        <p:nvSpPr>
          <p:cNvPr id="19" name="t19"/>
          <p:cNvSpPr txBox="1">
            <a:spLocks noGrp="1"/>
          </p:cNvSpPr>
          <p:nvPr/>
        </p:nvSpPr>
        <p:spPr>
          <a:xfrm>
            <a:off x="6519672" y="365760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B</a:t>
            </a:r>
          </a:p>
        </p:txBody>
      </p:sp>
      <p:sp>
        <p:nvSpPr>
          <p:cNvPr id="20" name="t20"/>
          <p:cNvSpPr txBox="1">
            <a:spLocks noGrp="1"/>
          </p:cNvSpPr>
          <p:nvPr/>
        </p:nvSpPr>
        <p:spPr>
          <a:xfrm>
            <a:off x="7548372" y="361188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A-1, B-2, C-3, D-4</a:t>
            </a:r>
          </a:p>
        </p:txBody>
      </p:sp>
      <p:sp>
        <p:nvSpPr>
          <p:cNvPr id="21" name="r21"/>
          <p:cNvSpPr>
            <a:spLocks noGrp="1"/>
          </p:cNvSpPr>
          <p:nvPr/>
        </p:nvSpPr>
        <p:spPr>
          <a:xfrm>
            <a:off x="320040" y="4869180"/>
            <a:ext cx="5806440" cy="1120140"/>
          </a:xfrm>
          <a:prstGeom prst="rect">
            <a:avLst/>
          </a:prstGeom>
          <a:solidFill>
            <a:srgbClr val="FFFFFF"/>
          </a:solidFill>
          <a:ln w="19050">
            <a:solidFill>
              <a:srgbClr val="B8C5EC"/>
            </a:solidFill>
          </a:ln>
        </p:spPr>
        <p:txBody>
          <a:bodyPr/>
          <a:lstStyle/>
          <a:p/>
        </p:txBody>
      </p:sp>
      <p:sp>
        <p:nvSpPr>
          <p:cNvPr id="22" name="t22"/>
          <p:cNvSpPr txBox="1">
            <a:spLocks noGrp="1"/>
          </p:cNvSpPr>
          <p:nvPr/>
        </p:nvSpPr>
        <p:spPr>
          <a:xfrm>
            <a:off x="457200"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C</a:t>
            </a:r>
          </a:p>
        </p:txBody>
      </p:sp>
      <p:sp>
        <p:nvSpPr>
          <p:cNvPr id="23" name="t23"/>
          <p:cNvSpPr txBox="1">
            <a:spLocks noGrp="1"/>
          </p:cNvSpPr>
          <p:nvPr/>
        </p:nvSpPr>
        <p:spPr>
          <a:xfrm>
            <a:off x="1485900"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A-2, B-4, C-1, D-3</a:t>
            </a:r>
          </a:p>
        </p:txBody>
      </p:sp>
      <p:sp>
        <p:nvSpPr>
          <p:cNvPr id="24" name="r24"/>
          <p:cNvSpPr>
            <a:spLocks noGrp="1"/>
          </p:cNvSpPr>
          <p:nvPr/>
        </p:nvSpPr>
        <p:spPr>
          <a:xfrm>
            <a:off x="6382512" y="4869180"/>
            <a:ext cx="5806440" cy="1120140"/>
          </a:xfrm>
          <a:prstGeom prst="rect">
            <a:avLst/>
          </a:prstGeom>
          <a:solidFill>
            <a:srgbClr val="FFFFFF"/>
          </a:solidFill>
          <a:ln w="19050">
            <a:solidFill>
              <a:srgbClr val="B8C5EC"/>
            </a:solidFill>
          </a:ln>
        </p:spPr>
        <p:txBody>
          <a:bodyPr/>
          <a:lstStyle/>
          <a:p/>
        </p:txBody>
      </p:sp>
      <p:sp>
        <p:nvSpPr>
          <p:cNvPr id="25" name="t25"/>
          <p:cNvSpPr txBox="1">
            <a:spLocks noGrp="1"/>
          </p:cNvSpPr>
          <p:nvPr/>
        </p:nvSpPr>
        <p:spPr>
          <a:xfrm>
            <a:off x="6519672" y="5006340"/>
            <a:ext cx="845820" cy="845820"/>
          </a:xfrm>
          <a:prstGeom prst="rect">
            <a:avLst/>
          </a:prstGeom>
          <a:solidFill>
            <a:srgbClr val="FF6600"/>
          </a:solidFill>
          <a:ln>
            <a:noFill/>
          </a:ln>
        </p:spPr>
        <p:txBody>
          <a:bodyPr wrap="square" anchor="ctr">
            <a:noAutofit/>
          </a:bodyPr>
          <a:lstStyle/>
          <a:p>
            <a:pPr algn="ctr"/>
            <a:r>
              <a:rPr lang="hi-IN" altLang="en-US" sz="2600" b="1" dirty="0">
                <a:solidFill>
                  <a:srgbClr val="FFFFFF"/>
                </a:solidFill>
                <a:latin typeface="Nirmala UI"/>
                <a:cs typeface="Nirmala UI"/>
              </a:rPr>
              <a:t>D</a:t>
            </a:r>
          </a:p>
        </p:txBody>
      </p:sp>
      <p:sp>
        <p:nvSpPr>
          <p:cNvPr id="26" name="t26"/>
          <p:cNvSpPr txBox="1">
            <a:spLocks noGrp="1"/>
          </p:cNvSpPr>
          <p:nvPr/>
        </p:nvSpPr>
        <p:spPr>
          <a:xfrm>
            <a:off x="7548372" y="4960620"/>
            <a:ext cx="4457700" cy="937260"/>
          </a:xfrm>
          <a:prstGeom prst="rect">
            <a:avLst/>
          </a:prstGeom>
          <a:noFill/>
          <a:ln>
            <a:noFill/>
          </a:ln>
        </p:spPr>
        <p:txBody>
          <a:bodyPr wrap="square" anchor="ctr">
            <a:normAutofit/>
          </a:bodyPr>
          <a:lstStyle/>
          <a:p>
            <a:pPr algn="l"/>
            <a:r>
              <a:rPr lang="hi-IN" altLang="en-US" sz="2400" dirty="0">
                <a:solidFill>
                  <a:srgbClr val="1A1A1A"/>
                </a:solidFill>
                <a:latin typeface="Nirmala UI"/>
                <a:cs typeface="Nirmala UI"/>
              </a:rPr>
              <a:t>A-4, B-1, C-2, D-3</a:t>
            </a:r>
          </a:p>
        </p:txBody>
      </p:sp>
      <p:sp>
        <p:nvSpPr>
          <p:cNvPr id="27" name="r27"/>
          <p:cNvSpPr>
            <a:spLocks noGrp="1"/>
          </p:cNvSpPr>
          <p:nvPr/>
        </p:nvSpPr>
        <p:spPr>
          <a:xfrm>
            <a:off x="164592" y="6053328"/>
            <a:ext cx="12024360" cy="146304"/>
          </a:xfrm>
          <a:prstGeom prst="rect">
            <a:avLst/>
          </a:prstGeom>
          <a:solidFill>
            <a:srgbClr val="E8EDFF"/>
          </a:solidFill>
          <a:ln>
            <a:noFill/>
          </a:ln>
        </p:spPr>
        <p:txBody>
          <a:bodyPr/>
          <a:lstStyle/>
          <a:p/>
        </p:txBody>
      </p:sp>
      <p:sp>
        <p:nvSpPr>
          <p:cNvPr id="28" name="r28"/>
          <p:cNvSpPr>
            <a:spLocks noGrp="1"/>
          </p:cNvSpPr>
          <p:nvPr/>
        </p:nvSpPr>
        <p:spPr>
          <a:xfrm>
            <a:off x="164592" y="6053328"/>
            <a:ext cx="12024360" cy="146304"/>
          </a:xfrm>
          <a:prstGeom prst="rect">
            <a:avLst/>
          </a:prstGeom>
          <a:solidFill>
            <a:srgbClr val="FF6600"/>
          </a:solidFill>
          <a:ln>
            <a:noFill/>
          </a:ln>
        </p:spPr>
        <p:txBody>
          <a:bodyPr/>
          <a:lstStyle/>
          <a:p/>
        </p:txBody>
      </p:sp>
      <p:sp>
        <p:nvSpPr>
          <p:cNvPr id="29" name="t29"/>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0" name="t30"/>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FF6600"/>
                </a:solidFill>
                <a:latin typeface="Nirmala UI"/>
                <a:cs typeface="Nirmala UI"/>
              </a:rPr>
              <a:t>Q 300/300</a:t>
            </a:r>
          </a:p>
        </p:txBody>
      </p:sp>
    </p:spTree>
  </p:cSld>
  <p:clrMapOvr>
    <a:masterClrMapping/>
  </p:clrMapOvr>
</p:sld>
</file>

<file path=ppt/slides/slide600.xml><?xml version="1.0" encoding="utf-8"?>
<p:sld xmlns:a="http://schemas.openxmlformats.org/drawingml/2006/main" xmlns:p="http://schemas.openxmlformats.org/presentationml/2006/main" xmlns:r="http://schemas.openxmlformats.org/officeDocument/2006/relationships">
  <p:cSld>
    <p:bg>
      <p:bgPr>
        <a:solidFill>
          <a:srgbClr val="F5F7FF"/>
        </a:solidFill>
      </p:bgPr>
    </p:bg>
    <p:spTree>
      <p:nvGrpSpPr>
        <p:cNvPr id="1" name=""/>
        <p:cNvGrpSpPr/>
        <p:nvPr/>
      </p:nvGrpSpPr>
      <p:grpSpPr>
        <a:xfrm>
          <a:off x="0" y="0"/>
          <a:ext cx="0" cy="0"/>
          <a:chOff x="0" y="0"/>
          <a:chExt cx="0" cy="0"/>
        </a:xfrm>
      </p:grpSpPr>
      <p:sp>
        <p:nvSpPr>
          <p:cNvPr id="10" name="r10"/>
          <p:cNvSpPr>
            <a:spLocks noGrp="1"/>
          </p:cNvSpPr>
          <p:nvPr/>
        </p:nvSpPr>
        <p:spPr>
          <a:xfrm>
            <a:off x="0" y="0"/>
            <a:ext cx="164592" cy="6858000"/>
          </a:xfrm>
          <a:prstGeom prst="rect">
            <a:avLst/>
          </a:prstGeom>
          <a:solidFill>
            <a:srgbClr val="00AA44"/>
          </a:solidFill>
          <a:ln>
            <a:noFill/>
          </a:ln>
        </p:spPr>
        <p:txBody>
          <a:bodyPr/>
          <a:lstStyle/>
          <a:p/>
        </p:txBody>
      </p:sp>
      <p:sp>
        <p:nvSpPr>
          <p:cNvPr id="11" name="r11"/>
          <p:cNvSpPr>
            <a:spLocks noGrp="1"/>
          </p:cNvSpPr>
          <p:nvPr/>
        </p:nvSpPr>
        <p:spPr>
          <a:xfrm>
            <a:off x="164592" y="0"/>
            <a:ext cx="12024360" cy="1188720"/>
          </a:xfrm>
          <a:prstGeom prst="rect">
            <a:avLst/>
          </a:prstGeom>
          <a:solidFill>
            <a:srgbClr val="006B2D"/>
          </a:solidFill>
          <a:ln>
            <a:noFill/>
          </a:ln>
        </p:spPr>
        <p:txBody>
          <a:bodyPr/>
          <a:lstStyle/>
          <a:p/>
        </p:txBody>
      </p:sp>
      <p:sp>
        <p:nvSpPr>
          <p:cNvPr id="12" name="t12"/>
          <p:cNvSpPr txBox="1">
            <a:spLocks noGrp="1"/>
          </p:cNvSpPr>
          <p:nvPr/>
        </p:nvSpPr>
        <p:spPr>
          <a:xfrm>
            <a:off x="320040" y="128016"/>
            <a:ext cx="1188720" cy="914400"/>
          </a:xfrm>
          <a:prstGeom prst="rect">
            <a:avLst/>
          </a:prstGeom>
          <a:noFill/>
          <a:ln>
            <a:noFill/>
          </a:ln>
        </p:spPr>
        <p:txBody>
          <a:bodyPr wrap="square" anchor="ctr">
            <a:noAutofit/>
          </a:bodyPr>
          <a:lstStyle/>
          <a:p>
            <a:pPr algn="l"/>
            <a:r>
              <a:rPr lang="hi-IN" altLang="en-US" sz="1800" b="1" dirty="0">
                <a:solidFill>
                  <a:srgbClr val="AAFFCC"/>
                </a:solidFill>
                <a:latin typeface="Nirmala UI"/>
                <a:cs typeface="Nirmala UI"/>
              </a:rPr>
              <a:t>Q.300</a:t>
            </a:r>
          </a:p>
        </p:txBody>
      </p:sp>
      <p:sp>
        <p:nvSpPr>
          <p:cNvPr id="13" name="t13"/>
          <p:cNvSpPr txBox="1">
            <a:spLocks noGrp="1"/>
          </p:cNvSpPr>
          <p:nvPr/>
        </p:nvSpPr>
        <p:spPr>
          <a:xfrm>
            <a:off x="1691640" y="91440"/>
            <a:ext cx="10332720" cy="1005840"/>
          </a:xfrm>
          <a:prstGeom prst="rect">
            <a:avLst/>
          </a:prstGeom>
          <a:noFill/>
          <a:ln>
            <a:noFill/>
          </a:ln>
        </p:spPr>
        <p:txBody>
          <a:bodyPr wrap="square" anchor="ctr">
            <a:noAutofit/>
          </a:bodyPr>
          <a:lstStyle/>
          <a:p>
            <a:pPr algn="l"/>
            <a:r>
              <a:rPr lang="hi-IN" altLang="en-US" sz="2600" b="1" dirty="0">
                <a:solidFill>
                  <a:srgbClr val="FFFFFF"/>
                </a:solidFill>
                <a:latin typeface="Nirmala UI"/>
                <a:cs typeface="Nirmala UI"/>
              </a:rPr>
              <a:t>✅  सही उत्तर  (Correct Answer)</a:t>
            </a:r>
          </a:p>
        </p:txBody>
      </p:sp>
      <p:sp>
        <p:nvSpPr>
          <p:cNvPr id="14" name="r14"/>
          <p:cNvSpPr>
            <a:spLocks noGrp="1"/>
          </p:cNvSpPr>
          <p:nvPr/>
        </p:nvSpPr>
        <p:spPr>
          <a:xfrm>
            <a:off x="164592" y="1188720"/>
            <a:ext cx="12024360" cy="54864"/>
          </a:xfrm>
          <a:prstGeom prst="rect">
            <a:avLst/>
          </a:prstGeom>
          <a:solidFill>
            <a:srgbClr val="FF6600"/>
          </a:solidFill>
          <a:ln>
            <a:noFill/>
          </a:ln>
        </p:spPr>
        <p:txBody>
          <a:bodyPr/>
          <a:lstStyle/>
          <a:p/>
        </p:txBody>
      </p:sp>
      <p:sp>
        <p:nvSpPr>
          <p:cNvPr id="15" name="r15"/>
          <p:cNvSpPr>
            <a:spLocks noGrp="1"/>
          </p:cNvSpPr>
          <p:nvPr/>
        </p:nvSpPr>
        <p:spPr>
          <a:xfrm>
            <a:off x="320040" y="1417320"/>
            <a:ext cx="11567160" cy="1280160"/>
          </a:xfrm>
          <a:prstGeom prst="rect">
            <a:avLst/>
          </a:prstGeom>
          <a:solidFill>
            <a:srgbClr val="DFF7EB"/>
          </a:solidFill>
          <a:ln w="31750">
            <a:solidFill>
              <a:srgbClr val="00AA44"/>
            </a:solidFill>
          </a:ln>
        </p:spPr>
        <p:txBody>
          <a:bodyPr/>
          <a:lstStyle/>
          <a:p/>
        </p:txBody>
      </p:sp>
      <p:sp>
        <p:nvSpPr>
          <p:cNvPr id="16" name="t16"/>
          <p:cNvSpPr txBox="1">
            <a:spLocks noGrp="1"/>
          </p:cNvSpPr>
          <p:nvPr/>
        </p:nvSpPr>
        <p:spPr>
          <a:xfrm>
            <a:off x="457200" y="1463040"/>
            <a:ext cx="1051560" cy="1188720"/>
          </a:xfrm>
          <a:prstGeom prst="rect">
            <a:avLst/>
          </a:prstGeom>
          <a:solidFill>
            <a:srgbClr val="00AA44"/>
          </a:solidFill>
          <a:ln>
            <a:noFill/>
          </a:ln>
        </p:spPr>
        <p:txBody>
          <a:bodyPr wrap="square" anchor="ctr">
            <a:noAutofit/>
          </a:bodyPr>
          <a:lstStyle/>
          <a:p>
            <a:pPr algn="ctr"/>
            <a:r>
              <a:rPr lang="hi-IN" altLang="en-US" sz="3600" b="1" dirty="0">
                <a:solidFill>
                  <a:srgbClr val="FFFFFF"/>
                </a:solidFill>
                <a:latin typeface="Nirmala UI"/>
                <a:cs typeface="Nirmala UI"/>
              </a:rPr>
              <a:t>A</a:t>
            </a:r>
          </a:p>
        </p:txBody>
      </p:sp>
      <p:sp>
        <p:nvSpPr>
          <p:cNvPr id="17" name="t17"/>
          <p:cNvSpPr txBox="1">
            <a:spLocks noGrp="1"/>
          </p:cNvSpPr>
          <p:nvPr/>
        </p:nvSpPr>
        <p:spPr>
          <a:xfrm>
            <a:off x="1691640" y="1481328"/>
            <a:ext cx="9966960" cy="1152144"/>
          </a:xfrm>
          <a:prstGeom prst="rect">
            <a:avLst/>
          </a:prstGeom>
          <a:noFill/>
          <a:ln>
            <a:noFill/>
          </a:ln>
        </p:spPr>
        <p:txBody>
          <a:bodyPr wrap="square" anchor="ctr">
            <a:normAutofit/>
          </a:bodyPr>
          <a:lstStyle/>
          <a:p>
            <a:pPr algn="l"/>
            <a:r>
              <a:rPr lang="hi-IN" altLang="en-US" sz="2400" b="1" dirty="0">
                <a:solidFill>
                  <a:srgbClr val="005A24"/>
                </a:solidFill>
                <a:latin typeface="Nirmala UI"/>
                <a:cs typeface="Nirmala UI"/>
              </a:rPr>
              <a:t>A-2, B-1, C-4, D-3</a:t>
            </a:r>
          </a:p>
        </p:txBody>
      </p:sp>
      <p:sp>
        <p:nvSpPr>
          <p:cNvPr id="18" name="t18"/>
          <p:cNvSpPr txBox="1">
            <a:spLocks noGrp="1"/>
          </p:cNvSpPr>
          <p:nvPr/>
        </p:nvSpPr>
        <p:spPr>
          <a:xfrm>
            <a:off x="320040" y="2788920"/>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B)</a:t>
            </a:r>
          </a:p>
        </p:txBody>
      </p:sp>
      <p:sp>
        <p:nvSpPr>
          <p:cNvPr id="19" name="t19"/>
          <p:cNvSpPr txBox="1">
            <a:spLocks noGrp="1"/>
          </p:cNvSpPr>
          <p:nvPr/>
        </p:nvSpPr>
        <p:spPr>
          <a:xfrm>
            <a:off x="777240" y="2788920"/>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A-1, B-2, C-3, D-4</a:t>
            </a:r>
          </a:p>
        </p:txBody>
      </p:sp>
      <p:sp>
        <p:nvSpPr>
          <p:cNvPr id="20" name="t20"/>
          <p:cNvSpPr txBox="1">
            <a:spLocks noGrp="1"/>
          </p:cNvSpPr>
          <p:nvPr/>
        </p:nvSpPr>
        <p:spPr>
          <a:xfrm>
            <a:off x="320040" y="3227832"/>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C)</a:t>
            </a:r>
          </a:p>
        </p:txBody>
      </p:sp>
      <p:sp>
        <p:nvSpPr>
          <p:cNvPr id="21" name="t21"/>
          <p:cNvSpPr txBox="1">
            <a:spLocks noGrp="1"/>
          </p:cNvSpPr>
          <p:nvPr/>
        </p:nvSpPr>
        <p:spPr>
          <a:xfrm>
            <a:off x="777240" y="3227832"/>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A-2, B-4, C-1, D-3</a:t>
            </a:r>
          </a:p>
        </p:txBody>
      </p:sp>
      <p:sp>
        <p:nvSpPr>
          <p:cNvPr id="22" name="t22"/>
          <p:cNvSpPr txBox="1">
            <a:spLocks noGrp="1"/>
          </p:cNvSpPr>
          <p:nvPr/>
        </p:nvSpPr>
        <p:spPr>
          <a:xfrm>
            <a:off x="320040" y="3666744"/>
            <a:ext cx="45720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D)</a:t>
            </a:r>
          </a:p>
        </p:txBody>
      </p:sp>
      <p:sp>
        <p:nvSpPr>
          <p:cNvPr id="23" name="t23"/>
          <p:cNvSpPr txBox="1">
            <a:spLocks noGrp="1"/>
          </p:cNvSpPr>
          <p:nvPr/>
        </p:nvSpPr>
        <p:spPr>
          <a:xfrm>
            <a:off x="777240" y="3666744"/>
            <a:ext cx="10607040" cy="384048"/>
          </a:xfrm>
          <a:prstGeom prst="rect">
            <a:avLst/>
          </a:prstGeom>
          <a:noFill/>
          <a:ln>
            <a:noFill/>
          </a:ln>
        </p:spPr>
        <p:txBody>
          <a:bodyPr wrap="square" anchor="ctr">
            <a:noAutofit/>
          </a:bodyPr>
          <a:lstStyle/>
          <a:p>
            <a:pPr algn="l"/>
            <a:r>
              <a:rPr lang="hi-IN" altLang="en-US" sz="1800" dirty="0">
                <a:solidFill>
                  <a:srgbClr val="8890A8"/>
                </a:solidFill>
                <a:latin typeface="Nirmala UI"/>
                <a:cs typeface="Nirmala UI"/>
              </a:rPr>
              <a:t>A-4, B-1, C-2, D-3</a:t>
            </a:r>
          </a:p>
        </p:txBody>
      </p:sp>
      <p:sp>
        <p:nvSpPr>
          <p:cNvPr id="24" name="r24"/>
          <p:cNvSpPr>
            <a:spLocks noGrp="1"/>
          </p:cNvSpPr>
          <p:nvPr/>
        </p:nvSpPr>
        <p:spPr>
          <a:xfrm>
            <a:off x="320040" y="4242816"/>
            <a:ext cx="11567160" cy="1746504"/>
          </a:xfrm>
          <a:prstGeom prst="rect">
            <a:avLst/>
          </a:prstGeom>
          <a:solidFill>
            <a:srgbClr val="FFF3E0"/>
          </a:solidFill>
          <a:ln w="19050">
            <a:solidFill>
              <a:srgbClr val="FF6600"/>
            </a:solidFill>
          </a:ln>
        </p:spPr>
        <p:txBody>
          <a:bodyPr/>
          <a:lstStyle/>
          <a:p/>
        </p:txBody>
      </p:sp>
      <p:sp>
        <p:nvSpPr>
          <p:cNvPr id="25" name="r25"/>
          <p:cNvSpPr>
            <a:spLocks noGrp="1"/>
          </p:cNvSpPr>
          <p:nvPr/>
        </p:nvSpPr>
        <p:spPr>
          <a:xfrm>
            <a:off x="320040" y="4242816"/>
            <a:ext cx="91440" cy="1746504"/>
          </a:xfrm>
          <a:prstGeom prst="rect">
            <a:avLst/>
          </a:prstGeom>
          <a:solidFill>
            <a:srgbClr val="FF6600"/>
          </a:solidFill>
          <a:ln>
            <a:noFill/>
          </a:ln>
        </p:spPr>
        <p:txBody>
          <a:bodyPr/>
          <a:lstStyle/>
          <a:p/>
        </p:txBody>
      </p:sp>
      <p:sp>
        <p:nvSpPr>
          <p:cNvPr id="26" name="t26"/>
          <p:cNvSpPr txBox="1">
            <a:spLocks noGrp="1"/>
          </p:cNvSpPr>
          <p:nvPr/>
        </p:nvSpPr>
        <p:spPr>
          <a:xfrm>
            <a:off x="530352" y="4297680"/>
            <a:ext cx="11247120" cy="384048"/>
          </a:xfrm>
          <a:prstGeom prst="rect">
            <a:avLst/>
          </a:prstGeom>
          <a:noFill/>
          <a:ln>
            <a:noFill/>
          </a:ln>
        </p:spPr>
        <p:txBody>
          <a:bodyPr wrap="square" anchor="ctr">
            <a:noAutofit/>
          </a:bodyPr>
          <a:lstStyle/>
          <a:p>
            <a:pPr algn="l"/>
            <a:r>
              <a:rPr lang="hi-IN" altLang="en-US" sz="1500" b="1" dirty="0">
                <a:solidFill>
                  <a:srgbClr val="FF6600"/>
                </a:solidFill>
                <a:latin typeface="Nirmala UI"/>
                <a:cs typeface="Nirmala UI"/>
              </a:rPr>
              <a:t>📝 व्याख्या (Explanation)</a:t>
            </a:r>
          </a:p>
        </p:txBody>
      </p:sp>
      <p:sp>
        <p:nvSpPr>
          <p:cNvPr id="27" name="t27"/>
          <p:cNvSpPr txBox="1">
            <a:spLocks noGrp="1"/>
          </p:cNvSpPr>
          <p:nvPr/>
        </p:nvSpPr>
        <p:spPr>
          <a:xfrm>
            <a:off x="530352" y="4718304"/>
            <a:ext cx="11247120" cy="1197864"/>
          </a:xfrm>
          <a:prstGeom prst="rect">
            <a:avLst/>
          </a:prstGeom>
          <a:noFill/>
          <a:ln>
            <a:noFill/>
          </a:ln>
        </p:spPr>
        <p:txBody>
          <a:bodyPr wrap="square" anchor="t">
            <a:normAutofit/>
          </a:bodyPr>
          <a:lstStyle/>
          <a:p>
            <a:pPr algn="l"/>
            <a:r>
              <a:rPr lang="hi-IN" altLang="en-US" sz="1300" dirty="0">
                <a:solidFill>
                  <a:srgbClr val="1A1A1A"/>
                </a:solidFill>
                <a:latin typeface="Nirmala UI"/>
                <a:cs typeface="Nirmala UI"/>
              </a:rPr>
              <a:t>भारतीय संविधान के चार युगांतकारी निर्णय: 1. केशवानंद भारती वाद (1973): 13 न्यायाधीशों की सबसे बड़ी संविधान पीठ ने 7:6 से मूल ढांचा सिद्धांत प्रतिपादित किया कि संसद संविधान के किसी भी भाग में संशोधन कर सकती है किंतु इसके बुनियादी ढांचे को नष्ट नहीं कर सकती (A-2)। 2. मेनका गांधी वाद (1978): अनुच्छेद 21 को अमेरिकी 'ड्यू प्रोसेस' के अनुरूप उचित, निष्पक्ष और न्यायसंगत प्रक्रिया से जोड़कर जीवन के अधिकार का क्रांतिकारी विस्तार किया गया (B-1)। 3. एस. आर. बोम्मई वाद (1994): पंथनिरपेक्षता को मूल ढांचा माना और अनुच्छेद 356 के तहत राष्ट्रपति शासन को न्यायिक समीक्षा के अधीन लाते हुए विधानसभा पटल पर फ्लोर टेस्ट अनिवार्य किया (C-4)। 4. के. एस. पुट्टास्वामी वाद (2017): 9 जजों की पीठ ने सर्वसम्मति से निजता के अधिकार को अनुच्छेद 21 के तहत मौलिक अधिकार घोषित किया (D-3)। अतः सही कूट A-2, B-1, C-4, D-3 है।</a:t>
            </a:r>
          </a:p>
        </p:txBody>
      </p:sp>
      <p:sp>
        <p:nvSpPr>
          <p:cNvPr id="28" name="r28"/>
          <p:cNvSpPr>
            <a:spLocks noGrp="1"/>
          </p:cNvSpPr>
          <p:nvPr/>
        </p:nvSpPr>
        <p:spPr>
          <a:xfrm>
            <a:off x="164592" y="6053328"/>
            <a:ext cx="12024360" cy="146304"/>
          </a:xfrm>
          <a:prstGeom prst="rect">
            <a:avLst/>
          </a:prstGeom>
          <a:solidFill>
            <a:srgbClr val="E8EDFF"/>
          </a:solidFill>
          <a:ln>
            <a:noFill/>
          </a:ln>
        </p:spPr>
        <p:txBody>
          <a:bodyPr/>
          <a:lstStyle/>
          <a:p/>
        </p:txBody>
      </p:sp>
      <p:sp>
        <p:nvSpPr>
          <p:cNvPr id="29" name="r29"/>
          <p:cNvSpPr>
            <a:spLocks noGrp="1"/>
          </p:cNvSpPr>
          <p:nvPr/>
        </p:nvSpPr>
        <p:spPr>
          <a:xfrm>
            <a:off x="164592" y="6053328"/>
            <a:ext cx="12024360" cy="146304"/>
          </a:xfrm>
          <a:prstGeom prst="rect">
            <a:avLst/>
          </a:prstGeom>
          <a:solidFill>
            <a:srgbClr val="00AA44"/>
          </a:solidFill>
          <a:ln>
            <a:noFill/>
          </a:ln>
        </p:spPr>
        <p:txBody>
          <a:bodyPr/>
          <a:lstStyle/>
          <a:p/>
        </p:txBody>
      </p:sp>
      <p:sp>
        <p:nvSpPr>
          <p:cNvPr id="30" name="t30"/>
          <p:cNvSpPr txBox="1">
            <a:spLocks noGrp="1"/>
          </p:cNvSpPr>
          <p:nvPr/>
        </p:nvSpPr>
        <p:spPr>
          <a:xfrm>
            <a:off x="320040" y="6272784"/>
            <a:ext cx="11795760" cy="457200"/>
          </a:xfrm>
          <a:prstGeom prst="rect">
            <a:avLst/>
          </a:prstGeom>
          <a:noFill/>
          <a:ln>
            <a:noFill/>
          </a:ln>
        </p:spPr>
        <p:txBody>
          <a:bodyPr wrap="square" anchor="ctr">
            <a:noAutofit/>
          </a:bodyPr>
          <a:lstStyle/>
          <a:p>
            <a:pPr algn="ctr"/>
            <a:r>
              <a:rPr lang="hi-IN" altLang="en-US" sz="1300" dirty="0">
                <a:solidFill>
                  <a:srgbClr val="1A237E"/>
                </a:solidFill>
                <a:latin typeface="Nirmala UI"/>
                <a:cs typeface="Nirmala UI"/>
              </a:rPr>
              <a:t>🕉️ New India Education (NIEd)  |  omkarsir.com</a:t>
            </a:r>
          </a:p>
        </p:txBody>
      </p:sp>
      <p:sp>
        <p:nvSpPr>
          <p:cNvPr id="31" name="t31"/>
          <p:cNvSpPr txBox="1">
            <a:spLocks noGrp="1"/>
          </p:cNvSpPr>
          <p:nvPr/>
        </p:nvSpPr>
        <p:spPr>
          <a:xfrm>
            <a:off x="10241280" y="6272784"/>
            <a:ext cx="1737360" cy="457200"/>
          </a:xfrm>
          <a:prstGeom prst="rect">
            <a:avLst/>
          </a:prstGeom>
          <a:noFill/>
          <a:ln>
            <a:noFill/>
          </a:ln>
        </p:spPr>
        <p:txBody>
          <a:bodyPr wrap="square" anchor="ctr">
            <a:noAutofit/>
          </a:bodyPr>
          <a:lstStyle/>
          <a:p>
            <a:pPr algn="r"/>
            <a:r>
              <a:rPr lang="hi-IN" altLang="en-US" sz="1300" b="1" dirty="0">
                <a:solidFill>
                  <a:srgbClr val="00AA44"/>
                </a:solidFill>
                <a:latin typeface="Nirmala UI"/>
                <a:cs typeface="Nirmala UI"/>
              </a:rPr>
              <a:t>Q 300/300</a:t>
            </a:r>
          </a:p>
        </p:txBody>
      </p:sp>
    </p:spTree>
  </p:cSld>
  <p:clrMapOvr>
    <a:masterClrMapping/>
  </p:clrMapOvr>
</p:sld>
</file>

<file path=ppt/theme/theme1.xml><?xml version="1.0" encoding="utf-8"?>
<a:theme xmlns:a="http://schemas.openxmlformats.org/drawingml/2006/main" name="NIEd">
  <a:themeElements>
    <a:clrScheme name="NIEd">
      <a:dk1>
        <a:srgbClr val="1A1A4A"/>
      </a:dk1>
      <a:lt1>
        <a:srgbClr val="F5F7FF"/>
      </a:lt1>
      <a:dk2>
        <a:srgbClr val="1B2A6B"/>
      </a:dk2>
      <a:lt2>
        <a:srgbClr val="E8EDFF"/>
      </a:lt2>
      <a:accent1>
        <a:srgbClr val="FF6B00"/>
      </a:accent1>
      <a:accent2>
        <a:srgbClr val="00AA44"/>
      </a:accent2>
      <a:accent3>
        <a:srgbClr val="4466CC"/>
      </a:accent3>
      <a:accent4>
        <a:srgbClr val="FF3B30"/>
      </a:accent4>
      <a:accent5>
        <a:srgbClr val="FFB830"/>
      </a:accent5>
      <a:accent6>
        <a:srgbClr val="7C3AED"/>
      </a:accent6>
      <a:hlink>
        <a:srgbClr val="FF6B00"/>
      </a:hlink>
      <a:folHlink>
        <a:srgbClr val="953734"/>
      </a:folHlink>
    </a:clrScheme>
    <a:fontScheme name="NIEd">
      <a:majorFont>
        <a:latin typeface="Calibri Light"/>
        <a:ea typeface=""/>
        <a:cs typeface="Mangal"/>
      </a:majorFont>
      <a:minorFont>
        <a:latin typeface="Calibri"/>
        <a:ea typeface=""/>
        <a:cs typeface="Mangal"/>
      </a:minorFont>
    </a:fontScheme>
    <a:fmtScheme name="NIEd">
      <a:fillStyleLst>
        <a:solidFill>
          <a:schemeClr val="phClr"/>
        </a:solidFill>
        <a:solidFill>
          <a:schemeClr val="phClr"/>
        </a:solidFill>
        <a:solidFill>
          <a:schemeClr val="phClr"/>
        </a:solidFill>
      </a:fillStyleLst>
      <a:lnStyleLst>
        <a:ln w="6350">
          <a:solidFill>
            <a:schemeClr val="phClr"/>
          </a:solidFill>
        </a:ln>
        <a:ln w="12700">
          <a:solidFill>
            <a:schemeClr val="phClr"/>
          </a:solidFill>
        </a:ln>
        <a:ln w="19050">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