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0.xml" ContentType="application/vnd.openxmlformats-officedocument.presentationml.slide+xml"/>
  <Override PartName="/ppt/slides/slide631.xml" ContentType="application/vnd.openxmlformats-officedocument.presentationml.slide+xml"/>
  <Override PartName="/ppt/slides/slide632.xml" ContentType="application/vnd.openxmlformats-officedocument.presentationml.slide+xml"/>
  <Override PartName="/ppt/slides/slide633.xml" ContentType="application/vnd.openxmlformats-officedocument.presentationml.slide+xml"/>
  <Override PartName="/ppt/slides/slide634.xml" ContentType="application/vnd.openxmlformats-officedocument.presentationml.slide+xml"/>
  <Override PartName="/ppt/slides/slide635.xml" ContentType="application/vnd.openxmlformats-officedocument.presentationml.slide+xml"/>
  <Override PartName="/ppt/slides/slide636.xml" ContentType="application/vnd.openxmlformats-officedocument.presentationml.slide+xml"/>
  <Override PartName="/ppt/slides/slide637.xml" ContentType="application/vnd.openxmlformats-officedocument.presentationml.slide+xml"/>
  <Override PartName="/ppt/slides/slide638.xml" ContentType="application/vnd.openxmlformats-officedocument.presentationml.slide+xml"/>
  <Override PartName="/ppt/slides/slide639.xml" ContentType="application/vnd.openxmlformats-officedocument.presentationml.slide+xml"/>
  <Override PartName="/ppt/slides/slide640.xml" ContentType="application/vnd.openxmlformats-officedocument.presentationml.slide+xml"/>
  <Override PartName="/ppt/slides/slide641.xml" ContentType="application/vnd.openxmlformats-officedocument.presentationml.slide+xml"/>
  <Override PartName="/ppt/slides/slide642.xml" ContentType="application/vnd.openxmlformats-officedocument.presentationml.slide+xml"/>
  <Override PartName="/ppt/slides/slide643.xml" ContentType="application/vnd.openxmlformats-officedocument.presentationml.slide+xml"/>
  <Override PartName="/ppt/slides/slide644.xml" ContentType="application/vnd.openxmlformats-officedocument.presentationml.slide+xml"/>
  <Override PartName="/ppt/slides/slide645.xml" ContentType="application/vnd.openxmlformats-officedocument.presentationml.slide+xml"/>
  <Override PartName="/ppt/slides/slide646.xml" ContentType="application/vnd.openxmlformats-officedocument.presentationml.slide+xml"/>
  <Override PartName="/ppt/slides/slide647.xml" ContentType="application/vnd.openxmlformats-officedocument.presentationml.slide+xml"/>
  <Override PartName="/ppt/slides/slide648.xml" ContentType="application/vnd.openxmlformats-officedocument.presentationml.slide+xml"/>
  <Override PartName="/ppt/slides/slide649.xml" ContentType="application/vnd.openxmlformats-officedocument.presentationml.slide+xml"/>
  <Override PartName="/ppt/slides/slide650.xml" ContentType="application/vnd.openxmlformats-officedocument.presentationml.slide+xml"/>
  <Override PartName="/ppt/slides/slide651.xml" ContentType="application/vnd.openxmlformats-officedocument.presentationml.slide+xml"/>
  <Override PartName="/ppt/slides/slide652.xml" ContentType="application/vnd.openxmlformats-officedocument.presentationml.slide+xml"/>
  <Override PartName="/ppt/slides/slide653.xml" ContentType="application/vnd.openxmlformats-officedocument.presentationml.slide+xml"/>
  <Override PartName="/ppt/slides/slide654.xml" ContentType="application/vnd.openxmlformats-officedocument.presentationml.slide+xml"/>
  <Override PartName="/ppt/slides/slide655.xml" ContentType="application/vnd.openxmlformats-officedocument.presentationml.slide+xml"/>
  <Override PartName="/ppt/slides/slide656.xml" ContentType="application/vnd.openxmlformats-officedocument.presentationml.slide+xml"/>
  <Override PartName="/ppt/slides/slide657.xml" ContentType="application/vnd.openxmlformats-officedocument.presentationml.slide+xml"/>
  <Override PartName="/ppt/slides/slide658.xml" ContentType="application/vnd.openxmlformats-officedocument.presentationml.slide+xml"/>
  <Override PartName="/ppt/slides/slide659.xml" ContentType="application/vnd.openxmlformats-officedocument.presentationml.slide+xml"/>
  <Override PartName="/ppt/slides/slide660.xml" ContentType="application/vnd.openxmlformats-officedocument.presentationml.slide+xml"/>
  <Override PartName="/ppt/slides/slide661.xml" ContentType="application/vnd.openxmlformats-officedocument.presentationml.slide+xml"/>
  <Override PartName="/ppt/slides/slide662.xml" ContentType="application/vnd.openxmlformats-officedocument.presentationml.slide+xml"/>
  <Override PartName="/ppt/slides/slide663.xml" ContentType="application/vnd.openxmlformats-officedocument.presentationml.slide+xml"/>
  <Override PartName="/ppt/slides/slide664.xml" ContentType="application/vnd.openxmlformats-officedocument.presentationml.slide+xml"/>
  <Override PartName="/ppt/slides/slide665.xml" ContentType="application/vnd.openxmlformats-officedocument.presentationml.slide+xml"/>
  <Override PartName="/ppt/slides/slide666.xml" ContentType="application/vnd.openxmlformats-officedocument.presentationml.slide+xml"/>
  <Override PartName="/ppt/slides/slide667.xml" ContentType="application/vnd.openxmlformats-officedocument.presentationml.slide+xml"/>
  <Override PartName="/ppt/slides/slide668.xml" ContentType="application/vnd.openxmlformats-officedocument.presentationml.slide+xml"/>
  <Override PartName="/ppt/slides/slide669.xml" ContentType="application/vnd.openxmlformats-officedocument.presentationml.slide+xml"/>
  <Override PartName="/ppt/slides/slide670.xml" ContentType="application/vnd.openxmlformats-officedocument.presentationml.slide+xml"/>
  <Override PartName="/ppt/slides/slide671.xml" ContentType="application/vnd.openxmlformats-officedocument.presentationml.slide+xml"/>
  <Override PartName="/ppt/slides/slide672.xml" ContentType="application/vnd.openxmlformats-officedocument.presentationml.slide+xml"/>
  <Override PartName="/ppt/slides/slide673.xml" ContentType="application/vnd.openxmlformats-officedocument.presentationml.slide+xml"/>
  <Override PartName="/ppt/slides/slide674.xml" ContentType="application/vnd.openxmlformats-officedocument.presentationml.slide+xml"/>
  <Override PartName="/ppt/slides/slide675.xml" ContentType="application/vnd.openxmlformats-officedocument.presentationml.slide+xml"/>
  <Override PartName="/ppt/slides/slide676.xml" ContentType="application/vnd.openxmlformats-officedocument.presentationml.slide+xml"/>
  <Override PartName="/ppt/slides/slide677.xml" ContentType="application/vnd.openxmlformats-officedocument.presentationml.slide+xml"/>
  <Override PartName="/ppt/slides/slide678.xml" ContentType="application/vnd.openxmlformats-officedocument.presentationml.slide+xml"/>
  <Override PartName="/ppt/slides/slide679.xml" ContentType="application/vnd.openxmlformats-officedocument.presentationml.slide+xml"/>
  <Override PartName="/ppt/slides/slide680.xml" ContentType="application/vnd.openxmlformats-officedocument.presentationml.slide+xml"/>
  <Override PartName="/ppt/slides/slide681.xml" ContentType="application/vnd.openxmlformats-officedocument.presentationml.slide+xml"/>
  <Override PartName="/ppt/slides/slide682.xml" ContentType="application/vnd.openxmlformats-officedocument.presentationml.slide+xml"/>
  <Override PartName="/ppt/slides/slide683.xml" ContentType="application/vnd.openxmlformats-officedocument.presentationml.slide+xml"/>
  <Override PartName="/ppt/slides/slide684.xml" ContentType="application/vnd.openxmlformats-officedocument.presentationml.slide+xml"/>
  <Override PartName="/ppt/slides/slide685.xml" ContentType="application/vnd.openxmlformats-officedocument.presentationml.slide+xml"/>
  <Override PartName="/ppt/slides/slide686.xml" ContentType="application/vnd.openxmlformats-officedocument.presentationml.slide+xml"/>
  <Override PartName="/ppt/slides/slide687.xml" ContentType="application/vnd.openxmlformats-officedocument.presentationml.slide+xml"/>
  <Override PartName="/ppt/slides/slide688.xml" ContentType="application/vnd.openxmlformats-officedocument.presentationml.slide+xml"/>
  <Override PartName="/ppt/slides/slide689.xml" ContentType="application/vnd.openxmlformats-officedocument.presentationml.slide+xml"/>
  <Override PartName="/ppt/slides/slide690.xml" ContentType="application/vnd.openxmlformats-officedocument.presentationml.slide+xml"/>
  <Override PartName="/ppt/slides/slide691.xml" ContentType="application/vnd.openxmlformats-officedocument.presentationml.slide+xml"/>
  <Override PartName="/ppt/slides/slide692.xml" ContentType="application/vnd.openxmlformats-officedocument.presentationml.slide+xml"/>
  <Override PartName="/ppt/slides/slide693.xml" ContentType="application/vnd.openxmlformats-officedocument.presentationml.slide+xml"/>
  <Override PartName="/ppt/slides/slide694.xml" ContentType="application/vnd.openxmlformats-officedocument.presentationml.slide+xml"/>
  <Override PartName="/ppt/slides/slide695.xml" ContentType="application/vnd.openxmlformats-officedocument.presentationml.slide+xml"/>
  <Override PartName="/ppt/slides/slide696.xml" ContentType="application/vnd.openxmlformats-officedocument.presentationml.slide+xml"/>
  <Override PartName="/ppt/slides/slide697.xml" ContentType="application/vnd.openxmlformats-officedocument.presentationml.slide+xml"/>
  <Override PartName="/ppt/slides/slide698.xml" ContentType="application/vnd.openxmlformats-officedocument.presentationml.slide+xml"/>
  <Override PartName="/ppt/slides/slide699.xml" ContentType="application/vnd.openxmlformats-officedocument.presentationml.slide+xml"/>
  <Override PartName="/ppt/slides/slide7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 id="625" r:id="rId371"/>
    <p:sldId id="626" r:id="rId372"/>
    <p:sldId id="627" r:id="rId373"/>
    <p:sldId id="628" r:id="rId374"/>
    <p:sldId id="629" r:id="rId375"/>
    <p:sldId id="630" r:id="rId376"/>
    <p:sldId id="631" r:id="rId377"/>
    <p:sldId id="632" r:id="rId378"/>
    <p:sldId id="633" r:id="rId379"/>
    <p:sldId id="634" r:id="rId380"/>
    <p:sldId id="635" r:id="rId381"/>
    <p:sldId id="636" r:id="rId382"/>
    <p:sldId id="637" r:id="rId383"/>
    <p:sldId id="638" r:id="rId384"/>
    <p:sldId id="639" r:id="rId385"/>
    <p:sldId id="640" r:id="rId386"/>
    <p:sldId id="641" r:id="rId387"/>
    <p:sldId id="642" r:id="rId388"/>
    <p:sldId id="643" r:id="rId389"/>
    <p:sldId id="644" r:id="rId390"/>
    <p:sldId id="645" r:id="rId391"/>
    <p:sldId id="646" r:id="rId392"/>
    <p:sldId id="647" r:id="rId393"/>
    <p:sldId id="648" r:id="rId394"/>
    <p:sldId id="649" r:id="rId395"/>
    <p:sldId id="650" r:id="rId396"/>
    <p:sldId id="651" r:id="rId397"/>
    <p:sldId id="652" r:id="rId398"/>
    <p:sldId id="653" r:id="rId399"/>
    <p:sldId id="654" r:id="rId400"/>
    <p:sldId id="655" r:id="rId401"/>
    <p:sldId id="656" r:id="rId402"/>
    <p:sldId id="657" r:id="rId403"/>
    <p:sldId id="658" r:id="rId404"/>
    <p:sldId id="659" r:id="rId405"/>
    <p:sldId id="660" r:id="rId406"/>
    <p:sldId id="661" r:id="rId407"/>
    <p:sldId id="662" r:id="rId408"/>
    <p:sldId id="663" r:id="rId409"/>
    <p:sldId id="664" r:id="rId410"/>
    <p:sldId id="665" r:id="rId411"/>
    <p:sldId id="666" r:id="rId412"/>
    <p:sldId id="667" r:id="rId413"/>
    <p:sldId id="668" r:id="rId414"/>
    <p:sldId id="669" r:id="rId415"/>
    <p:sldId id="670" r:id="rId416"/>
    <p:sldId id="671" r:id="rId417"/>
    <p:sldId id="672" r:id="rId418"/>
    <p:sldId id="673" r:id="rId419"/>
    <p:sldId id="674" r:id="rId420"/>
    <p:sldId id="675" r:id="rId421"/>
    <p:sldId id="676" r:id="rId422"/>
    <p:sldId id="677" r:id="rId423"/>
    <p:sldId id="678" r:id="rId424"/>
    <p:sldId id="679" r:id="rId425"/>
    <p:sldId id="680" r:id="rId426"/>
    <p:sldId id="681" r:id="rId427"/>
    <p:sldId id="682" r:id="rId428"/>
    <p:sldId id="683" r:id="rId429"/>
    <p:sldId id="684" r:id="rId430"/>
    <p:sldId id="685" r:id="rId431"/>
    <p:sldId id="686" r:id="rId432"/>
    <p:sldId id="687" r:id="rId433"/>
    <p:sldId id="688" r:id="rId434"/>
    <p:sldId id="689" r:id="rId435"/>
    <p:sldId id="690" r:id="rId436"/>
    <p:sldId id="691" r:id="rId437"/>
    <p:sldId id="692" r:id="rId438"/>
    <p:sldId id="693" r:id="rId439"/>
    <p:sldId id="694" r:id="rId440"/>
    <p:sldId id="695" r:id="rId441"/>
    <p:sldId id="696" r:id="rId442"/>
    <p:sldId id="697" r:id="rId443"/>
    <p:sldId id="698" r:id="rId444"/>
    <p:sldId id="699" r:id="rId445"/>
    <p:sldId id="700" r:id="rId446"/>
    <p:sldId id="701" r:id="rId447"/>
    <p:sldId id="702" r:id="rId448"/>
    <p:sldId id="703" r:id="rId449"/>
    <p:sldId id="704" r:id="rId450"/>
    <p:sldId id="705" r:id="rId451"/>
    <p:sldId id="706" r:id="rId452"/>
    <p:sldId id="707" r:id="rId453"/>
    <p:sldId id="708" r:id="rId454"/>
    <p:sldId id="709" r:id="rId455"/>
    <p:sldId id="710" r:id="rId456"/>
    <p:sldId id="711" r:id="rId457"/>
    <p:sldId id="712" r:id="rId458"/>
    <p:sldId id="713" r:id="rId459"/>
    <p:sldId id="714" r:id="rId460"/>
    <p:sldId id="715" r:id="rId461"/>
    <p:sldId id="716" r:id="rId462"/>
    <p:sldId id="717" r:id="rId463"/>
    <p:sldId id="718" r:id="rId464"/>
    <p:sldId id="719" r:id="rId465"/>
    <p:sldId id="720" r:id="rId466"/>
    <p:sldId id="721" r:id="rId467"/>
    <p:sldId id="722" r:id="rId468"/>
    <p:sldId id="723" r:id="rId469"/>
    <p:sldId id="724" r:id="rId470"/>
    <p:sldId id="725" r:id="rId471"/>
    <p:sldId id="726" r:id="rId472"/>
    <p:sldId id="727" r:id="rId473"/>
    <p:sldId id="728" r:id="rId474"/>
    <p:sldId id="729" r:id="rId475"/>
    <p:sldId id="730" r:id="rId476"/>
    <p:sldId id="731" r:id="rId477"/>
    <p:sldId id="732" r:id="rId478"/>
    <p:sldId id="733" r:id="rId479"/>
    <p:sldId id="734" r:id="rId480"/>
    <p:sldId id="735" r:id="rId481"/>
    <p:sldId id="736" r:id="rId482"/>
    <p:sldId id="737" r:id="rId483"/>
    <p:sldId id="738" r:id="rId484"/>
    <p:sldId id="739" r:id="rId485"/>
    <p:sldId id="740" r:id="rId486"/>
    <p:sldId id="741" r:id="rId487"/>
    <p:sldId id="742" r:id="rId488"/>
    <p:sldId id="743" r:id="rId489"/>
    <p:sldId id="744" r:id="rId490"/>
    <p:sldId id="745" r:id="rId491"/>
    <p:sldId id="746" r:id="rId492"/>
    <p:sldId id="747" r:id="rId493"/>
    <p:sldId id="748" r:id="rId494"/>
    <p:sldId id="749" r:id="rId495"/>
    <p:sldId id="750" r:id="rId496"/>
    <p:sldId id="751" r:id="rId497"/>
    <p:sldId id="752" r:id="rId498"/>
    <p:sldId id="753" r:id="rId499"/>
    <p:sldId id="754" r:id="rId500"/>
    <p:sldId id="755" r:id="rId501"/>
    <p:sldId id="756" r:id="rId502"/>
    <p:sldId id="757" r:id="rId503"/>
    <p:sldId id="758" r:id="rId504"/>
    <p:sldId id="759" r:id="rId505"/>
    <p:sldId id="760" r:id="rId506"/>
    <p:sldId id="761" r:id="rId507"/>
    <p:sldId id="762" r:id="rId508"/>
    <p:sldId id="763" r:id="rId509"/>
    <p:sldId id="764" r:id="rId510"/>
    <p:sldId id="765" r:id="rId511"/>
    <p:sldId id="766" r:id="rId512"/>
    <p:sldId id="767" r:id="rId513"/>
    <p:sldId id="768" r:id="rId514"/>
    <p:sldId id="769" r:id="rId515"/>
    <p:sldId id="770" r:id="rId516"/>
    <p:sldId id="771" r:id="rId517"/>
    <p:sldId id="772" r:id="rId518"/>
    <p:sldId id="773" r:id="rId519"/>
    <p:sldId id="774" r:id="rId520"/>
    <p:sldId id="775" r:id="rId521"/>
    <p:sldId id="776" r:id="rId522"/>
    <p:sldId id="777" r:id="rId523"/>
    <p:sldId id="778" r:id="rId524"/>
    <p:sldId id="779" r:id="rId525"/>
    <p:sldId id="780" r:id="rId526"/>
    <p:sldId id="781" r:id="rId527"/>
    <p:sldId id="782" r:id="rId528"/>
    <p:sldId id="783" r:id="rId529"/>
    <p:sldId id="784" r:id="rId530"/>
    <p:sldId id="785" r:id="rId531"/>
    <p:sldId id="786" r:id="rId532"/>
    <p:sldId id="787" r:id="rId533"/>
    <p:sldId id="788" r:id="rId534"/>
    <p:sldId id="789" r:id="rId535"/>
    <p:sldId id="790" r:id="rId536"/>
    <p:sldId id="791" r:id="rId537"/>
    <p:sldId id="792" r:id="rId538"/>
    <p:sldId id="793" r:id="rId539"/>
    <p:sldId id="794" r:id="rId540"/>
    <p:sldId id="795" r:id="rId541"/>
    <p:sldId id="796" r:id="rId542"/>
    <p:sldId id="797" r:id="rId543"/>
    <p:sldId id="798" r:id="rId544"/>
    <p:sldId id="799" r:id="rId545"/>
    <p:sldId id="800" r:id="rId546"/>
    <p:sldId id="801" r:id="rId547"/>
    <p:sldId id="802" r:id="rId548"/>
    <p:sldId id="803" r:id="rId549"/>
    <p:sldId id="804" r:id="rId550"/>
    <p:sldId id="805" r:id="rId551"/>
    <p:sldId id="806" r:id="rId552"/>
    <p:sldId id="807" r:id="rId553"/>
    <p:sldId id="808" r:id="rId554"/>
    <p:sldId id="809" r:id="rId555"/>
    <p:sldId id="810" r:id="rId556"/>
    <p:sldId id="811" r:id="rId557"/>
    <p:sldId id="812" r:id="rId558"/>
    <p:sldId id="813" r:id="rId559"/>
    <p:sldId id="814" r:id="rId560"/>
    <p:sldId id="815" r:id="rId561"/>
    <p:sldId id="816" r:id="rId562"/>
    <p:sldId id="817" r:id="rId563"/>
    <p:sldId id="818" r:id="rId564"/>
    <p:sldId id="819" r:id="rId565"/>
    <p:sldId id="820" r:id="rId566"/>
    <p:sldId id="821" r:id="rId567"/>
    <p:sldId id="822" r:id="rId568"/>
    <p:sldId id="823" r:id="rId569"/>
    <p:sldId id="824" r:id="rId570"/>
    <p:sldId id="825" r:id="rId571"/>
    <p:sldId id="826" r:id="rId572"/>
    <p:sldId id="827" r:id="rId573"/>
    <p:sldId id="828" r:id="rId574"/>
    <p:sldId id="829" r:id="rId575"/>
    <p:sldId id="830" r:id="rId576"/>
    <p:sldId id="831" r:id="rId577"/>
    <p:sldId id="832" r:id="rId578"/>
    <p:sldId id="833" r:id="rId579"/>
    <p:sldId id="834" r:id="rId580"/>
    <p:sldId id="835" r:id="rId581"/>
    <p:sldId id="836" r:id="rId582"/>
    <p:sldId id="837" r:id="rId583"/>
    <p:sldId id="838" r:id="rId584"/>
    <p:sldId id="839" r:id="rId585"/>
    <p:sldId id="840" r:id="rId586"/>
    <p:sldId id="841" r:id="rId587"/>
    <p:sldId id="842" r:id="rId588"/>
    <p:sldId id="843" r:id="rId589"/>
    <p:sldId id="844" r:id="rId590"/>
    <p:sldId id="845" r:id="rId591"/>
    <p:sldId id="846" r:id="rId592"/>
    <p:sldId id="847" r:id="rId593"/>
    <p:sldId id="848" r:id="rId594"/>
    <p:sldId id="849" r:id="rId595"/>
    <p:sldId id="850" r:id="rId596"/>
    <p:sldId id="851" r:id="rId597"/>
    <p:sldId id="852" r:id="rId598"/>
    <p:sldId id="853" r:id="rId599"/>
    <p:sldId id="854" r:id="rId600"/>
    <p:sldId id="855" r:id="rId601"/>
    <p:sldId id="856" r:id="rId602"/>
    <p:sldId id="857" r:id="rId603"/>
    <p:sldId id="858" r:id="rId604"/>
    <p:sldId id="859" r:id="rId605"/>
    <p:sldId id="860" r:id="rId606"/>
    <p:sldId id="861" r:id="rId607"/>
    <p:sldId id="862" r:id="rId608"/>
    <p:sldId id="863" r:id="rId609"/>
    <p:sldId id="864" r:id="rId610"/>
    <p:sldId id="865" r:id="rId611"/>
    <p:sldId id="866" r:id="rId612"/>
    <p:sldId id="867" r:id="rId613"/>
    <p:sldId id="868" r:id="rId614"/>
    <p:sldId id="869" r:id="rId615"/>
    <p:sldId id="870" r:id="rId616"/>
    <p:sldId id="871" r:id="rId617"/>
    <p:sldId id="872" r:id="rId618"/>
    <p:sldId id="873" r:id="rId619"/>
    <p:sldId id="874" r:id="rId620"/>
    <p:sldId id="875" r:id="rId621"/>
    <p:sldId id="876" r:id="rId622"/>
    <p:sldId id="877" r:id="rId623"/>
    <p:sldId id="878" r:id="rId624"/>
    <p:sldId id="879" r:id="rId625"/>
    <p:sldId id="880" r:id="rId626"/>
    <p:sldId id="881" r:id="rId627"/>
    <p:sldId id="882" r:id="rId628"/>
    <p:sldId id="883" r:id="rId629"/>
    <p:sldId id="884" r:id="rId630"/>
    <p:sldId id="885" r:id="rId631"/>
    <p:sldId id="886" r:id="rId632"/>
    <p:sldId id="887" r:id="rId633"/>
    <p:sldId id="888" r:id="rId634"/>
    <p:sldId id="889" r:id="rId635"/>
    <p:sldId id="890" r:id="rId636"/>
    <p:sldId id="891" r:id="rId637"/>
    <p:sldId id="892" r:id="rId638"/>
    <p:sldId id="893" r:id="rId639"/>
    <p:sldId id="894" r:id="rId640"/>
    <p:sldId id="895" r:id="rId641"/>
    <p:sldId id="896" r:id="rId642"/>
    <p:sldId id="897" r:id="rId643"/>
    <p:sldId id="898" r:id="rId644"/>
    <p:sldId id="899" r:id="rId645"/>
    <p:sldId id="900" r:id="rId646"/>
    <p:sldId id="901" r:id="rId647"/>
    <p:sldId id="902" r:id="rId648"/>
    <p:sldId id="903" r:id="rId649"/>
    <p:sldId id="904" r:id="rId650"/>
    <p:sldId id="905" r:id="rId651"/>
    <p:sldId id="906" r:id="rId652"/>
    <p:sldId id="907" r:id="rId653"/>
    <p:sldId id="908" r:id="rId654"/>
    <p:sldId id="909" r:id="rId655"/>
    <p:sldId id="910" r:id="rId656"/>
    <p:sldId id="911" r:id="rId657"/>
    <p:sldId id="912" r:id="rId658"/>
    <p:sldId id="913" r:id="rId659"/>
    <p:sldId id="914" r:id="rId660"/>
    <p:sldId id="915" r:id="rId661"/>
    <p:sldId id="916" r:id="rId662"/>
    <p:sldId id="917" r:id="rId663"/>
    <p:sldId id="918" r:id="rId664"/>
    <p:sldId id="919" r:id="rId665"/>
    <p:sldId id="920" r:id="rId666"/>
    <p:sldId id="921" r:id="rId667"/>
    <p:sldId id="922" r:id="rId668"/>
    <p:sldId id="923" r:id="rId669"/>
    <p:sldId id="924" r:id="rId670"/>
    <p:sldId id="925" r:id="rId671"/>
    <p:sldId id="926" r:id="rId672"/>
    <p:sldId id="927" r:id="rId673"/>
    <p:sldId id="928" r:id="rId674"/>
    <p:sldId id="929" r:id="rId675"/>
    <p:sldId id="930" r:id="rId676"/>
    <p:sldId id="931" r:id="rId677"/>
    <p:sldId id="932" r:id="rId678"/>
    <p:sldId id="933" r:id="rId679"/>
    <p:sldId id="934" r:id="rId680"/>
    <p:sldId id="935" r:id="rId681"/>
    <p:sldId id="936" r:id="rId682"/>
    <p:sldId id="937" r:id="rId683"/>
    <p:sldId id="938" r:id="rId684"/>
    <p:sldId id="939" r:id="rId685"/>
    <p:sldId id="940" r:id="rId686"/>
    <p:sldId id="941" r:id="rId687"/>
    <p:sldId id="942" r:id="rId688"/>
    <p:sldId id="943" r:id="rId689"/>
    <p:sldId id="944" r:id="rId690"/>
    <p:sldId id="945" r:id="rId691"/>
    <p:sldId id="946" r:id="rId692"/>
    <p:sldId id="947" r:id="rId693"/>
    <p:sldId id="948" r:id="rId694"/>
    <p:sldId id="949" r:id="rId695"/>
    <p:sldId id="950" r:id="rId696"/>
    <p:sldId id="951" r:id="rId697"/>
    <p:sldId id="952" r:id="rId698"/>
    <p:sldId id="953" r:id="rId699"/>
    <p:sldId id="954" r:id="rId700"/>
    <p:sldId id="955" r:id="rId7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 Id="rId302" Type="http://schemas.openxmlformats.org/officeDocument/2006/relationships/slide" Target="slides/slide301.xml"/><Relationship Id="rId303" Type="http://schemas.openxmlformats.org/officeDocument/2006/relationships/slide" Target="slides/slide302.xml"/><Relationship Id="rId304" Type="http://schemas.openxmlformats.org/officeDocument/2006/relationships/slide" Target="slides/slide303.xml"/><Relationship Id="rId305" Type="http://schemas.openxmlformats.org/officeDocument/2006/relationships/slide" Target="slides/slide304.xml"/><Relationship Id="rId306" Type="http://schemas.openxmlformats.org/officeDocument/2006/relationships/slide" Target="slides/slide305.xml"/><Relationship Id="rId307" Type="http://schemas.openxmlformats.org/officeDocument/2006/relationships/slide" Target="slides/slide306.xml"/><Relationship Id="rId308" Type="http://schemas.openxmlformats.org/officeDocument/2006/relationships/slide" Target="slides/slide307.xml"/><Relationship Id="rId309" Type="http://schemas.openxmlformats.org/officeDocument/2006/relationships/slide" Target="slides/slide308.xml"/><Relationship Id="rId310" Type="http://schemas.openxmlformats.org/officeDocument/2006/relationships/slide" Target="slides/slide309.xml"/><Relationship Id="rId311" Type="http://schemas.openxmlformats.org/officeDocument/2006/relationships/slide" Target="slides/slide310.xml"/><Relationship Id="rId312" Type="http://schemas.openxmlformats.org/officeDocument/2006/relationships/slide" Target="slides/slide311.xml"/><Relationship Id="rId313" Type="http://schemas.openxmlformats.org/officeDocument/2006/relationships/slide" Target="slides/slide312.xml"/><Relationship Id="rId314" Type="http://schemas.openxmlformats.org/officeDocument/2006/relationships/slide" Target="slides/slide313.xml"/><Relationship Id="rId315" Type="http://schemas.openxmlformats.org/officeDocument/2006/relationships/slide" Target="slides/slide314.xml"/><Relationship Id="rId316" Type="http://schemas.openxmlformats.org/officeDocument/2006/relationships/slide" Target="slides/slide315.xml"/><Relationship Id="rId317" Type="http://schemas.openxmlformats.org/officeDocument/2006/relationships/slide" Target="slides/slide316.xml"/><Relationship Id="rId318" Type="http://schemas.openxmlformats.org/officeDocument/2006/relationships/slide" Target="slides/slide317.xml"/><Relationship Id="rId319" Type="http://schemas.openxmlformats.org/officeDocument/2006/relationships/slide" Target="slides/slide318.xml"/><Relationship Id="rId320" Type="http://schemas.openxmlformats.org/officeDocument/2006/relationships/slide" Target="slides/slide319.xml"/><Relationship Id="rId321" Type="http://schemas.openxmlformats.org/officeDocument/2006/relationships/slide" Target="slides/slide320.xml"/><Relationship Id="rId322" Type="http://schemas.openxmlformats.org/officeDocument/2006/relationships/slide" Target="slides/slide321.xml"/><Relationship Id="rId323" Type="http://schemas.openxmlformats.org/officeDocument/2006/relationships/slide" Target="slides/slide322.xml"/><Relationship Id="rId324" Type="http://schemas.openxmlformats.org/officeDocument/2006/relationships/slide" Target="slides/slide323.xml"/><Relationship Id="rId325" Type="http://schemas.openxmlformats.org/officeDocument/2006/relationships/slide" Target="slides/slide324.xml"/><Relationship Id="rId326" Type="http://schemas.openxmlformats.org/officeDocument/2006/relationships/slide" Target="slides/slide325.xml"/><Relationship Id="rId327" Type="http://schemas.openxmlformats.org/officeDocument/2006/relationships/slide" Target="slides/slide326.xml"/><Relationship Id="rId328" Type="http://schemas.openxmlformats.org/officeDocument/2006/relationships/slide" Target="slides/slide327.xml"/><Relationship Id="rId329" Type="http://schemas.openxmlformats.org/officeDocument/2006/relationships/slide" Target="slides/slide328.xml"/><Relationship Id="rId330" Type="http://schemas.openxmlformats.org/officeDocument/2006/relationships/slide" Target="slides/slide329.xml"/><Relationship Id="rId331" Type="http://schemas.openxmlformats.org/officeDocument/2006/relationships/slide" Target="slides/slide330.xml"/><Relationship Id="rId332" Type="http://schemas.openxmlformats.org/officeDocument/2006/relationships/slide" Target="slides/slide331.xml"/><Relationship Id="rId333" Type="http://schemas.openxmlformats.org/officeDocument/2006/relationships/slide" Target="slides/slide332.xml"/><Relationship Id="rId334" Type="http://schemas.openxmlformats.org/officeDocument/2006/relationships/slide" Target="slides/slide333.xml"/><Relationship Id="rId335" Type="http://schemas.openxmlformats.org/officeDocument/2006/relationships/slide" Target="slides/slide334.xml"/><Relationship Id="rId336" Type="http://schemas.openxmlformats.org/officeDocument/2006/relationships/slide" Target="slides/slide335.xml"/><Relationship Id="rId337" Type="http://schemas.openxmlformats.org/officeDocument/2006/relationships/slide" Target="slides/slide336.xml"/><Relationship Id="rId338" Type="http://schemas.openxmlformats.org/officeDocument/2006/relationships/slide" Target="slides/slide337.xml"/><Relationship Id="rId339" Type="http://schemas.openxmlformats.org/officeDocument/2006/relationships/slide" Target="slides/slide338.xml"/><Relationship Id="rId340" Type="http://schemas.openxmlformats.org/officeDocument/2006/relationships/slide" Target="slides/slide339.xml"/><Relationship Id="rId341" Type="http://schemas.openxmlformats.org/officeDocument/2006/relationships/slide" Target="slides/slide340.xml"/><Relationship Id="rId342" Type="http://schemas.openxmlformats.org/officeDocument/2006/relationships/slide" Target="slides/slide341.xml"/><Relationship Id="rId343" Type="http://schemas.openxmlformats.org/officeDocument/2006/relationships/slide" Target="slides/slide342.xml"/><Relationship Id="rId344" Type="http://schemas.openxmlformats.org/officeDocument/2006/relationships/slide" Target="slides/slide343.xml"/><Relationship Id="rId345" Type="http://schemas.openxmlformats.org/officeDocument/2006/relationships/slide" Target="slides/slide344.xml"/><Relationship Id="rId346" Type="http://schemas.openxmlformats.org/officeDocument/2006/relationships/slide" Target="slides/slide345.xml"/><Relationship Id="rId347" Type="http://schemas.openxmlformats.org/officeDocument/2006/relationships/slide" Target="slides/slide346.xml"/><Relationship Id="rId348" Type="http://schemas.openxmlformats.org/officeDocument/2006/relationships/slide" Target="slides/slide347.xml"/><Relationship Id="rId349" Type="http://schemas.openxmlformats.org/officeDocument/2006/relationships/slide" Target="slides/slide348.xml"/><Relationship Id="rId350" Type="http://schemas.openxmlformats.org/officeDocument/2006/relationships/slide" Target="slides/slide349.xml"/><Relationship Id="rId351" Type="http://schemas.openxmlformats.org/officeDocument/2006/relationships/slide" Target="slides/slide350.xml"/><Relationship Id="rId352" Type="http://schemas.openxmlformats.org/officeDocument/2006/relationships/slide" Target="slides/slide351.xml"/><Relationship Id="rId353" Type="http://schemas.openxmlformats.org/officeDocument/2006/relationships/slide" Target="slides/slide352.xml"/><Relationship Id="rId354" Type="http://schemas.openxmlformats.org/officeDocument/2006/relationships/slide" Target="slides/slide353.xml"/><Relationship Id="rId355" Type="http://schemas.openxmlformats.org/officeDocument/2006/relationships/slide" Target="slides/slide354.xml"/><Relationship Id="rId356" Type="http://schemas.openxmlformats.org/officeDocument/2006/relationships/slide" Target="slides/slide355.xml"/><Relationship Id="rId357" Type="http://schemas.openxmlformats.org/officeDocument/2006/relationships/slide" Target="slides/slide356.xml"/><Relationship Id="rId358" Type="http://schemas.openxmlformats.org/officeDocument/2006/relationships/slide" Target="slides/slide357.xml"/><Relationship Id="rId359" Type="http://schemas.openxmlformats.org/officeDocument/2006/relationships/slide" Target="slides/slide358.xml"/><Relationship Id="rId360" Type="http://schemas.openxmlformats.org/officeDocument/2006/relationships/slide" Target="slides/slide359.xml"/><Relationship Id="rId361" Type="http://schemas.openxmlformats.org/officeDocument/2006/relationships/slide" Target="slides/slide360.xml"/><Relationship Id="rId362" Type="http://schemas.openxmlformats.org/officeDocument/2006/relationships/slide" Target="slides/slide361.xml"/><Relationship Id="rId363" Type="http://schemas.openxmlformats.org/officeDocument/2006/relationships/slide" Target="slides/slide362.xml"/><Relationship Id="rId364" Type="http://schemas.openxmlformats.org/officeDocument/2006/relationships/slide" Target="slides/slide363.xml"/><Relationship Id="rId365" Type="http://schemas.openxmlformats.org/officeDocument/2006/relationships/slide" Target="slides/slide364.xml"/><Relationship Id="rId366" Type="http://schemas.openxmlformats.org/officeDocument/2006/relationships/slide" Target="slides/slide365.xml"/><Relationship Id="rId367" Type="http://schemas.openxmlformats.org/officeDocument/2006/relationships/slide" Target="slides/slide366.xml"/><Relationship Id="rId368" Type="http://schemas.openxmlformats.org/officeDocument/2006/relationships/slide" Target="slides/slide367.xml"/><Relationship Id="rId369" Type="http://schemas.openxmlformats.org/officeDocument/2006/relationships/slide" Target="slides/slide368.xml"/><Relationship Id="rId370" Type="http://schemas.openxmlformats.org/officeDocument/2006/relationships/slide" Target="slides/slide369.xml"/><Relationship Id="rId371" Type="http://schemas.openxmlformats.org/officeDocument/2006/relationships/slide" Target="slides/slide370.xml"/><Relationship Id="rId372" Type="http://schemas.openxmlformats.org/officeDocument/2006/relationships/slide" Target="slides/slide371.xml"/><Relationship Id="rId373" Type="http://schemas.openxmlformats.org/officeDocument/2006/relationships/slide" Target="slides/slide372.xml"/><Relationship Id="rId374" Type="http://schemas.openxmlformats.org/officeDocument/2006/relationships/slide" Target="slides/slide373.xml"/><Relationship Id="rId375" Type="http://schemas.openxmlformats.org/officeDocument/2006/relationships/slide" Target="slides/slide374.xml"/><Relationship Id="rId376" Type="http://schemas.openxmlformats.org/officeDocument/2006/relationships/slide" Target="slides/slide375.xml"/><Relationship Id="rId377" Type="http://schemas.openxmlformats.org/officeDocument/2006/relationships/slide" Target="slides/slide376.xml"/><Relationship Id="rId378" Type="http://schemas.openxmlformats.org/officeDocument/2006/relationships/slide" Target="slides/slide377.xml"/><Relationship Id="rId379" Type="http://schemas.openxmlformats.org/officeDocument/2006/relationships/slide" Target="slides/slide378.xml"/><Relationship Id="rId380" Type="http://schemas.openxmlformats.org/officeDocument/2006/relationships/slide" Target="slides/slide379.xml"/><Relationship Id="rId381" Type="http://schemas.openxmlformats.org/officeDocument/2006/relationships/slide" Target="slides/slide380.xml"/><Relationship Id="rId382" Type="http://schemas.openxmlformats.org/officeDocument/2006/relationships/slide" Target="slides/slide381.xml"/><Relationship Id="rId383" Type="http://schemas.openxmlformats.org/officeDocument/2006/relationships/slide" Target="slides/slide382.xml"/><Relationship Id="rId384" Type="http://schemas.openxmlformats.org/officeDocument/2006/relationships/slide" Target="slides/slide383.xml"/><Relationship Id="rId385" Type="http://schemas.openxmlformats.org/officeDocument/2006/relationships/slide" Target="slides/slide384.xml"/><Relationship Id="rId386" Type="http://schemas.openxmlformats.org/officeDocument/2006/relationships/slide" Target="slides/slide385.xml"/><Relationship Id="rId387" Type="http://schemas.openxmlformats.org/officeDocument/2006/relationships/slide" Target="slides/slide386.xml"/><Relationship Id="rId388" Type="http://schemas.openxmlformats.org/officeDocument/2006/relationships/slide" Target="slides/slide387.xml"/><Relationship Id="rId389" Type="http://schemas.openxmlformats.org/officeDocument/2006/relationships/slide" Target="slides/slide388.xml"/><Relationship Id="rId390" Type="http://schemas.openxmlformats.org/officeDocument/2006/relationships/slide" Target="slides/slide389.xml"/><Relationship Id="rId391" Type="http://schemas.openxmlformats.org/officeDocument/2006/relationships/slide" Target="slides/slide390.xml"/><Relationship Id="rId392" Type="http://schemas.openxmlformats.org/officeDocument/2006/relationships/slide" Target="slides/slide391.xml"/><Relationship Id="rId393" Type="http://schemas.openxmlformats.org/officeDocument/2006/relationships/slide" Target="slides/slide392.xml"/><Relationship Id="rId394" Type="http://schemas.openxmlformats.org/officeDocument/2006/relationships/slide" Target="slides/slide393.xml"/><Relationship Id="rId395" Type="http://schemas.openxmlformats.org/officeDocument/2006/relationships/slide" Target="slides/slide394.xml"/><Relationship Id="rId396" Type="http://schemas.openxmlformats.org/officeDocument/2006/relationships/slide" Target="slides/slide395.xml"/><Relationship Id="rId397" Type="http://schemas.openxmlformats.org/officeDocument/2006/relationships/slide" Target="slides/slide396.xml"/><Relationship Id="rId398" Type="http://schemas.openxmlformats.org/officeDocument/2006/relationships/slide" Target="slides/slide397.xml"/><Relationship Id="rId399" Type="http://schemas.openxmlformats.org/officeDocument/2006/relationships/slide" Target="slides/slide398.xml"/><Relationship Id="rId400" Type="http://schemas.openxmlformats.org/officeDocument/2006/relationships/slide" Target="slides/slide399.xml"/><Relationship Id="rId401" Type="http://schemas.openxmlformats.org/officeDocument/2006/relationships/slide" Target="slides/slide400.xml"/><Relationship Id="rId402" Type="http://schemas.openxmlformats.org/officeDocument/2006/relationships/slide" Target="slides/slide401.xml"/><Relationship Id="rId403" Type="http://schemas.openxmlformats.org/officeDocument/2006/relationships/slide" Target="slides/slide402.xml"/><Relationship Id="rId404" Type="http://schemas.openxmlformats.org/officeDocument/2006/relationships/slide" Target="slides/slide403.xml"/><Relationship Id="rId405" Type="http://schemas.openxmlformats.org/officeDocument/2006/relationships/slide" Target="slides/slide404.xml"/><Relationship Id="rId406" Type="http://schemas.openxmlformats.org/officeDocument/2006/relationships/slide" Target="slides/slide405.xml"/><Relationship Id="rId407" Type="http://schemas.openxmlformats.org/officeDocument/2006/relationships/slide" Target="slides/slide406.xml"/><Relationship Id="rId408" Type="http://schemas.openxmlformats.org/officeDocument/2006/relationships/slide" Target="slides/slide407.xml"/><Relationship Id="rId409" Type="http://schemas.openxmlformats.org/officeDocument/2006/relationships/slide" Target="slides/slide408.xml"/><Relationship Id="rId410" Type="http://schemas.openxmlformats.org/officeDocument/2006/relationships/slide" Target="slides/slide409.xml"/><Relationship Id="rId411" Type="http://schemas.openxmlformats.org/officeDocument/2006/relationships/slide" Target="slides/slide410.xml"/><Relationship Id="rId412" Type="http://schemas.openxmlformats.org/officeDocument/2006/relationships/slide" Target="slides/slide411.xml"/><Relationship Id="rId413" Type="http://schemas.openxmlformats.org/officeDocument/2006/relationships/slide" Target="slides/slide412.xml"/><Relationship Id="rId414" Type="http://schemas.openxmlformats.org/officeDocument/2006/relationships/slide" Target="slides/slide413.xml"/><Relationship Id="rId415" Type="http://schemas.openxmlformats.org/officeDocument/2006/relationships/slide" Target="slides/slide414.xml"/><Relationship Id="rId416" Type="http://schemas.openxmlformats.org/officeDocument/2006/relationships/slide" Target="slides/slide415.xml"/><Relationship Id="rId417" Type="http://schemas.openxmlformats.org/officeDocument/2006/relationships/slide" Target="slides/slide416.xml"/><Relationship Id="rId418" Type="http://schemas.openxmlformats.org/officeDocument/2006/relationships/slide" Target="slides/slide417.xml"/><Relationship Id="rId419" Type="http://schemas.openxmlformats.org/officeDocument/2006/relationships/slide" Target="slides/slide418.xml"/><Relationship Id="rId420" Type="http://schemas.openxmlformats.org/officeDocument/2006/relationships/slide" Target="slides/slide419.xml"/><Relationship Id="rId421" Type="http://schemas.openxmlformats.org/officeDocument/2006/relationships/slide" Target="slides/slide420.xml"/><Relationship Id="rId422" Type="http://schemas.openxmlformats.org/officeDocument/2006/relationships/slide" Target="slides/slide421.xml"/><Relationship Id="rId423" Type="http://schemas.openxmlformats.org/officeDocument/2006/relationships/slide" Target="slides/slide422.xml"/><Relationship Id="rId424" Type="http://schemas.openxmlformats.org/officeDocument/2006/relationships/slide" Target="slides/slide423.xml"/><Relationship Id="rId425" Type="http://schemas.openxmlformats.org/officeDocument/2006/relationships/slide" Target="slides/slide424.xml"/><Relationship Id="rId426" Type="http://schemas.openxmlformats.org/officeDocument/2006/relationships/slide" Target="slides/slide425.xml"/><Relationship Id="rId427" Type="http://schemas.openxmlformats.org/officeDocument/2006/relationships/slide" Target="slides/slide426.xml"/><Relationship Id="rId428" Type="http://schemas.openxmlformats.org/officeDocument/2006/relationships/slide" Target="slides/slide427.xml"/><Relationship Id="rId429" Type="http://schemas.openxmlformats.org/officeDocument/2006/relationships/slide" Target="slides/slide428.xml"/><Relationship Id="rId430" Type="http://schemas.openxmlformats.org/officeDocument/2006/relationships/slide" Target="slides/slide429.xml"/><Relationship Id="rId431" Type="http://schemas.openxmlformats.org/officeDocument/2006/relationships/slide" Target="slides/slide430.xml"/><Relationship Id="rId432" Type="http://schemas.openxmlformats.org/officeDocument/2006/relationships/slide" Target="slides/slide431.xml"/><Relationship Id="rId433" Type="http://schemas.openxmlformats.org/officeDocument/2006/relationships/slide" Target="slides/slide432.xml"/><Relationship Id="rId434" Type="http://schemas.openxmlformats.org/officeDocument/2006/relationships/slide" Target="slides/slide433.xml"/><Relationship Id="rId435" Type="http://schemas.openxmlformats.org/officeDocument/2006/relationships/slide" Target="slides/slide434.xml"/><Relationship Id="rId436" Type="http://schemas.openxmlformats.org/officeDocument/2006/relationships/slide" Target="slides/slide435.xml"/><Relationship Id="rId437" Type="http://schemas.openxmlformats.org/officeDocument/2006/relationships/slide" Target="slides/slide436.xml"/><Relationship Id="rId438" Type="http://schemas.openxmlformats.org/officeDocument/2006/relationships/slide" Target="slides/slide437.xml"/><Relationship Id="rId439" Type="http://schemas.openxmlformats.org/officeDocument/2006/relationships/slide" Target="slides/slide438.xml"/><Relationship Id="rId440" Type="http://schemas.openxmlformats.org/officeDocument/2006/relationships/slide" Target="slides/slide439.xml"/><Relationship Id="rId441" Type="http://schemas.openxmlformats.org/officeDocument/2006/relationships/slide" Target="slides/slide440.xml"/><Relationship Id="rId442" Type="http://schemas.openxmlformats.org/officeDocument/2006/relationships/slide" Target="slides/slide441.xml"/><Relationship Id="rId443" Type="http://schemas.openxmlformats.org/officeDocument/2006/relationships/slide" Target="slides/slide442.xml"/><Relationship Id="rId444" Type="http://schemas.openxmlformats.org/officeDocument/2006/relationships/slide" Target="slides/slide443.xml"/><Relationship Id="rId445" Type="http://schemas.openxmlformats.org/officeDocument/2006/relationships/slide" Target="slides/slide444.xml"/><Relationship Id="rId446" Type="http://schemas.openxmlformats.org/officeDocument/2006/relationships/slide" Target="slides/slide445.xml"/><Relationship Id="rId447" Type="http://schemas.openxmlformats.org/officeDocument/2006/relationships/slide" Target="slides/slide446.xml"/><Relationship Id="rId448" Type="http://schemas.openxmlformats.org/officeDocument/2006/relationships/slide" Target="slides/slide447.xml"/><Relationship Id="rId449" Type="http://schemas.openxmlformats.org/officeDocument/2006/relationships/slide" Target="slides/slide448.xml"/><Relationship Id="rId450" Type="http://schemas.openxmlformats.org/officeDocument/2006/relationships/slide" Target="slides/slide449.xml"/><Relationship Id="rId451" Type="http://schemas.openxmlformats.org/officeDocument/2006/relationships/slide" Target="slides/slide450.xml"/><Relationship Id="rId452" Type="http://schemas.openxmlformats.org/officeDocument/2006/relationships/slide" Target="slides/slide451.xml"/><Relationship Id="rId453" Type="http://schemas.openxmlformats.org/officeDocument/2006/relationships/slide" Target="slides/slide452.xml"/><Relationship Id="rId454" Type="http://schemas.openxmlformats.org/officeDocument/2006/relationships/slide" Target="slides/slide453.xml"/><Relationship Id="rId455" Type="http://schemas.openxmlformats.org/officeDocument/2006/relationships/slide" Target="slides/slide454.xml"/><Relationship Id="rId456" Type="http://schemas.openxmlformats.org/officeDocument/2006/relationships/slide" Target="slides/slide455.xml"/><Relationship Id="rId457" Type="http://schemas.openxmlformats.org/officeDocument/2006/relationships/slide" Target="slides/slide456.xml"/><Relationship Id="rId458" Type="http://schemas.openxmlformats.org/officeDocument/2006/relationships/slide" Target="slides/slide457.xml"/><Relationship Id="rId459" Type="http://schemas.openxmlformats.org/officeDocument/2006/relationships/slide" Target="slides/slide458.xml"/><Relationship Id="rId460" Type="http://schemas.openxmlformats.org/officeDocument/2006/relationships/slide" Target="slides/slide459.xml"/><Relationship Id="rId461" Type="http://schemas.openxmlformats.org/officeDocument/2006/relationships/slide" Target="slides/slide460.xml"/><Relationship Id="rId462" Type="http://schemas.openxmlformats.org/officeDocument/2006/relationships/slide" Target="slides/slide461.xml"/><Relationship Id="rId463" Type="http://schemas.openxmlformats.org/officeDocument/2006/relationships/slide" Target="slides/slide462.xml"/><Relationship Id="rId464" Type="http://schemas.openxmlformats.org/officeDocument/2006/relationships/slide" Target="slides/slide463.xml"/><Relationship Id="rId465" Type="http://schemas.openxmlformats.org/officeDocument/2006/relationships/slide" Target="slides/slide464.xml"/><Relationship Id="rId466" Type="http://schemas.openxmlformats.org/officeDocument/2006/relationships/slide" Target="slides/slide465.xml"/><Relationship Id="rId467" Type="http://schemas.openxmlformats.org/officeDocument/2006/relationships/slide" Target="slides/slide466.xml"/><Relationship Id="rId468" Type="http://schemas.openxmlformats.org/officeDocument/2006/relationships/slide" Target="slides/slide467.xml"/><Relationship Id="rId469" Type="http://schemas.openxmlformats.org/officeDocument/2006/relationships/slide" Target="slides/slide468.xml"/><Relationship Id="rId470" Type="http://schemas.openxmlformats.org/officeDocument/2006/relationships/slide" Target="slides/slide469.xml"/><Relationship Id="rId471" Type="http://schemas.openxmlformats.org/officeDocument/2006/relationships/slide" Target="slides/slide470.xml"/><Relationship Id="rId472" Type="http://schemas.openxmlformats.org/officeDocument/2006/relationships/slide" Target="slides/slide471.xml"/><Relationship Id="rId473" Type="http://schemas.openxmlformats.org/officeDocument/2006/relationships/slide" Target="slides/slide472.xml"/><Relationship Id="rId474" Type="http://schemas.openxmlformats.org/officeDocument/2006/relationships/slide" Target="slides/slide473.xml"/><Relationship Id="rId475" Type="http://schemas.openxmlformats.org/officeDocument/2006/relationships/slide" Target="slides/slide474.xml"/><Relationship Id="rId476" Type="http://schemas.openxmlformats.org/officeDocument/2006/relationships/slide" Target="slides/slide475.xml"/><Relationship Id="rId477" Type="http://schemas.openxmlformats.org/officeDocument/2006/relationships/slide" Target="slides/slide476.xml"/><Relationship Id="rId478" Type="http://schemas.openxmlformats.org/officeDocument/2006/relationships/slide" Target="slides/slide477.xml"/><Relationship Id="rId479" Type="http://schemas.openxmlformats.org/officeDocument/2006/relationships/slide" Target="slides/slide478.xml"/><Relationship Id="rId480" Type="http://schemas.openxmlformats.org/officeDocument/2006/relationships/slide" Target="slides/slide479.xml"/><Relationship Id="rId481" Type="http://schemas.openxmlformats.org/officeDocument/2006/relationships/slide" Target="slides/slide480.xml"/><Relationship Id="rId482" Type="http://schemas.openxmlformats.org/officeDocument/2006/relationships/slide" Target="slides/slide481.xml"/><Relationship Id="rId483" Type="http://schemas.openxmlformats.org/officeDocument/2006/relationships/slide" Target="slides/slide482.xml"/><Relationship Id="rId484" Type="http://schemas.openxmlformats.org/officeDocument/2006/relationships/slide" Target="slides/slide483.xml"/><Relationship Id="rId485" Type="http://schemas.openxmlformats.org/officeDocument/2006/relationships/slide" Target="slides/slide484.xml"/><Relationship Id="rId486" Type="http://schemas.openxmlformats.org/officeDocument/2006/relationships/slide" Target="slides/slide485.xml"/><Relationship Id="rId487" Type="http://schemas.openxmlformats.org/officeDocument/2006/relationships/slide" Target="slides/slide486.xml"/><Relationship Id="rId488" Type="http://schemas.openxmlformats.org/officeDocument/2006/relationships/slide" Target="slides/slide487.xml"/><Relationship Id="rId489" Type="http://schemas.openxmlformats.org/officeDocument/2006/relationships/slide" Target="slides/slide488.xml"/><Relationship Id="rId490" Type="http://schemas.openxmlformats.org/officeDocument/2006/relationships/slide" Target="slides/slide489.xml"/><Relationship Id="rId491" Type="http://schemas.openxmlformats.org/officeDocument/2006/relationships/slide" Target="slides/slide490.xml"/><Relationship Id="rId492" Type="http://schemas.openxmlformats.org/officeDocument/2006/relationships/slide" Target="slides/slide491.xml"/><Relationship Id="rId493" Type="http://schemas.openxmlformats.org/officeDocument/2006/relationships/slide" Target="slides/slide492.xml"/><Relationship Id="rId494" Type="http://schemas.openxmlformats.org/officeDocument/2006/relationships/slide" Target="slides/slide493.xml"/><Relationship Id="rId495" Type="http://schemas.openxmlformats.org/officeDocument/2006/relationships/slide" Target="slides/slide494.xml"/><Relationship Id="rId496" Type="http://schemas.openxmlformats.org/officeDocument/2006/relationships/slide" Target="slides/slide495.xml"/><Relationship Id="rId497" Type="http://schemas.openxmlformats.org/officeDocument/2006/relationships/slide" Target="slides/slide496.xml"/><Relationship Id="rId498" Type="http://schemas.openxmlformats.org/officeDocument/2006/relationships/slide" Target="slides/slide497.xml"/><Relationship Id="rId499" Type="http://schemas.openxmlformats.org/officeDocument/2006/relationships/slide" Target="slides/slide498.xml"/><Relationship Id="rId500" Type="http://schemas.openxmlformats.org/officeDocument/2006/relationships/slide" Target="slides/slide499.xml"/><Relationship Id="rId501" Type="http://schemas.openxmlformats.org/officeDocument/2006/relationships/slide" Target="slides/slide500.xml"/><Relationship Id="rId502" Type="http://schemas.openxmlformats.org/officeDocument/2006/relationships/slide" Target="slides/slide501.xml"/><Relationship Id="rId503" Type="http://schemas.openxmlformats.org/officeDocument/2006/relationships/slide" Target="slides/slide502.xml"/><Relationship Id="rId504" Type="http://schemas.openxmlformats.org/officeDocument/2006/relationships/slide" Target="slides/slide503.xml"/><Relationship Id="rId505" Type="http://schemas.openxmlformats.org/officeDocument/2006/relationships/slide" Target="slides/slide504.xml"/><Relationship Id="rId506" Type="http://schemas.openxmlformats.org/officeDocument/2006/relationships/slide" Target="slides/slide505.xml"/><Relationship Id="rId507" Type="http://schemas.openxmlformats.org/officeDocument/2006/relationships/slide" Target="slides/slide506.xml"/><Relationship Id="rId508" Type="http://schemas.openxmlformats.org/officeDocument/2006/relationships/slide" Target="slides/slide507.xml"/><Relationship Id="rId509" Type="http://schemas.openxmlformats.org/officeDocument/2006/relationships/slide" Target="slides/slide508.xml"/><Relationship Id="rId510" Type="http://schemas.openxmlformats.org/officeDocument/2006/relationships/slide" Target="slides/slide509.xml"/><Relationship Id="rId511" Type="http://schemas.openxmlformats.org/officeDocument/2006/relationships/slide" Target="slides/slide510.xml"/><Relationship Id="rId512" Type="http://schemas.openxmlformats.org/officeDocument/2006/relationships/slide" Target="slides/slide511.xml"/><Relationship Id="rId513" Type="http://schemas.openxmlformats.org/officeDocument/2006/relationships/slide" Target="slides/slide512.xml"/><Relationship Id="rId514" Type="http://schemas.openxmlformats.org/officeDocument/2006/relationships/slide" Target="slides/slide513.xml"/><Relationship Id="rId515" Type="http://schemas.openxmlformats.org/officeDocument/2006/relationships/slide" Target="slides/slide514.xml"/><Relationship Id="rId516" Type="http://schemas.openxmlformats.org/officeDocument/2006/relationships/slide" Target="slides/slide515.xml"/><Relationship Id="rId517" Type="http://schemas.openxmlformats.org/officeDocument/2006/relationships/slide" Target="slides/slide516.xml"/><Relationship Id="rId518" Type="http://schemas.openxmlformats.org/officeDocument/2006/relationships/slide" Target="slides/slide517.xml"/><Relationship Id="rId519" Type="http://schemas.openxmlformats.org/officeDocument/2006/relationships/slide" Target="slides/slide518.xml"/><Relationship Id="rId520" Type="http://schemas.openxmlformats.org/officeDocument/2006/relationships/slide" Target="slides/slide519.xml"/><Relationship Id="rId521" Type="http://schemas.openxmlformats.org/officeDocument/2006/relationships/slide" Target="slides/slide520.xml"/><Relationship Id="rId522" Type="http://schemas.openxmlformats.org/officeDocument/2006/relationships/slide" Target="slides/slide521.xml"/><Relationship Id="rId523" Type="http://schemas.openxmlformats.org/officeDocument/2006/relationships/slide" Target="slides/slide522.xml"/><Relationship Id="rId524" Type="http://schemas.openxmlformats.org/officeDocument/2006/relationships/slide" Target="slides/slide523.xml"/><Relationship Id="rId525" Type="http://schemas.openxmlformats.org/officeDocument/2006/relationships/slide" Target="slides/slide524.xml"/><Relationship Id="rId526" Type="http://schemas.openxmlformats.org/officeDocument/2006/relationships/slide" Target="slides/slide525.xml"/><Relationship Id="rId527" Type="http://schemas.openxmlformats.org/officeDocument/2006/relationships/slide" Target="slides/slide526.xml"/><Relationship Id="rId528" Type="http://schemas.openxmlformats.org/officeDocument/2006/relationships/slide" Target="slides/slide527.xml"/><Relationship Id="rId529" Type="http://schemas.openxmlformats.org/officeDocument/2006/relationships/slide" Target="slides/slide528.xml"/><Relationship Id="rId530" Type="http://schemas.openxmlformats.org/officeDocument/2006/relationships/slide" Target="slides/slide529.xml"/><Relationship Id="rId531" Type="http://schemas.openxmlformats.org/officeDocument/2006/relationships/slide" Target="slides/slide530.xml"/><Relationship Id="rId532" Type="http://schemas.openxmlformats.org/officeDocument/2006/relationships/slide" Target="slides/slide531.xml"/><Relationship Id="rId533" Type="http://schemas.openxmlformats.org/officeDocument/2006/relationships/slide" Target="slides/slide532.xml"/><Relationship Id="rId534" Type="http://schemas.openxmlformats.org/officeDocument/2006/relationships/slide" Target="slides/slide533.xml"/><Relationship Id="rId535" Type="http://schemas.openxmlformats.org/officeDocument/2006/relationships/slide" Target="slides/slide534.xml"/><Relationship Id="rId536" Type="http://schemas.openxmlformats.org/officeDocument/2006/relationships/slide" Target="slides/slide535.xml"/><Relationship Id="rId537" Type="http://schemas.openxmlformats.org/officeDocument/2006/relationships/slide" Target="slides/slide536.xml"/><Relationship Id="rId538" Type="http://schemas.openxmlformats.org/officeDocument/2006/relationships/slide" Target="slides/slide537.xml"/><Relationship Id="rId539" Type="http://schemas.openxmlformats.org/officeDocument/2006/relationships/slide" Target="slides/slide538.xml"/><Relationship Id="rId540" Type="http://schemas.openxmlformats.org/officeDocument/2006/relationships/slide" Target="slides/slide539.xml"/><Relationship Id="rId541" Type="http://schemas.openxmlformats.org/officeDocument/2006/relationships/slide" Target="slides/slide540.xml"/><Relationship Id="rId542" Type="http://schemas.openxmlformats.org/officeDocument/2006/relationships/slide" Target="slides/slide541.xml"/><Relationship Id="rId543" Type="http://schemas.openxmlformats.org/officeDocument/2006/relationships/slide" Target="slides/slide542.xml"/><Relationship Id="rId544" Type="http://schemas.openxmlformats.org/officeDocument/2006/relationships/slide" Target="slides/slide543.xml"/><Relationship Id="rId545" Type="http://schemas.openxmlformats.org/officeDocument/2006/relationships/slide" Target="slides/slide544.xml"/><Relationship Id="rId546" Type="http://schemas.openxmlformats.org/officeDocument/2006/relationships/slide" Target="slides/slide545.xml"/><Relationship Id="rId547" Type="http://schemas.openxmlformats.org/officeDocument/2006/relationships/slide" Target="slides/slide546.xml"/><Relationship Id="rId548" Type="http://schemas.openxmlformats.org/officeDocument/2006/relationships/slide" Target="slides/slide547.xml"/><Relationship Id="rId549" Type="http://schemas.openxmlformats.org/officeDocument/2006/relationships/slide" Target="slides/slide548.xml"/><Relationship Id="rId550" Type="http://schemas.openxmlformats.org/officeDocument/2006/relationships/slide" Target="slides/slide549.xml"/><Relationship Id="rId551" Type="http://schemas.openxmlformats.org/officeDocument/2006/relationships/slide" Target="slides/slide550.xml"/><Relationship Id="rId552" Type="http://schemas.openxmlformats.org/officeDocument/2006/relationships/slide" Target="slides/slide551.xml"/><Relationship Id="rId553" Type="http://schemas.openxmlformats.org/officeDocument/2006/relationships/slide" Target="slides/slide552.xml"/><Relationship Id="rId554" Type="http://schemas.openxmlformats.org/officeDocument/2006/relationships/slide" Target="slides/slide553.xml"/><Relationship Id="rId555" Type="http://schemas.openxmlformats.org/officeDocument/2006/relationships/slide" Target="slides/slide554.xml"/><Relationship Id="rId556" Type="http://schemas.openxmlformats.org/officeDocument/2006/relationships/slide" Target="slides/slide555.xml"/><Relationship Id="rId557" Type="http://schemas.openxmlformats.org/officeDocument/2006/relationships/slide" Target="slides/slide556.xml"/><Relationship Id="rId558" Type="http://schemas.openxmlformats.org/officeDocument/2006/relationships/slide" Target="slides/slide557.xml"/><Relationship Id="rId559" Type="http://schemas.openxmlformats.org/officeDocument/2006/relationships/slide" Target="slides/slide558.xml"/><Relationship Id="rId560" Type="http://schemas.openxmlformats.org/officeDocument/2006/relationships/slide" Target="slides/slide559.xml"/><Relationship Id="rId561" Type="http://schemas.openxmlformats.org/officeDocument/2006/relationships/slide" Target="slides/slide560.xml"/><Relationship Id="rId562" Type="http://schemas.openxmlformats.org/officeDocument/2006/relationships/slide" Target="slides/slide561.xml"/><Relationship Id="rId563" Type="http://schemas.openxmlformats.org/officeDocument/2006/relationships/slide" Target="slides/slide562.xml"/><Relationship Id="rId564" Type="http://schemas.openxmlformats.org/officeDocument/2006/relationships/slide" Target="slides/slide563.xml"/><Relationship Id="rId565" Type="http://schemas.openxmlformats.org/officeDocument/2006/relationships/slide" Target="slides/slide564.xml"/><Relationship Id="rId566" Type="http://schemas.openxmlformats.org/officeDocument/2006/relationships/slide" Target="slides/slide565.xml"/><Relationship Id="rId567" Type="http://schemas.openxmlformats.org/officeDocument/2006/relationships/slide" Target="slides/slide566.xml"/><Relationship Id="rId568" Type="http://schemas.openxmlformats.org/officeDocument/2006/relationships/slide" Target="slides/slide567.xml"/><Relationship Id="rId569" Type="http://schemas.openxmlformats.org/officeDocument/2006/relationships/slide" Target="slides/slide568.xml"/><Relationship Id="rId570" Type="http://schemas.openxmlformats.org/officeDocument/2006/relationships/slide" Target="slides/slide569.xml"/><Relationship Id="rId571" Type="http://schemas.openxmlformats.org/officeDocument/2006/relationships/slide" Target="slides/slide570.xml"/><Relationship Id="rId572" Type="http://schemas.openxmlformats.org/officeDocument/2006/relationships/slide" Target="slides/slide571.xml"/><Relationship Id="rId573" Type="http://schemas.openxmlformats.org/officeDocument/2006/relationships/slide" Target="slides/slide572.xml"/><Relationship Id="rId574" Type="http://schemas.openxmlformats.org/officeDocument/2006/relationships/slide" Target="slides/slide573.xml"/><Relationship Id="rId575" Type="http://schemas.openxmlformats.org/officeDocument/2006/relationships/slide" Target="slides/slide574.xml"/><Relationship Id="rId576" Type="http://schemas.openxmlformats.org/officeDocument/2006/relationships/slide" Target="slides/slide575.xml"/><Relationship Id="rId577" Type="http://schemas.openxmlformats.org/officeDocument/2006/relationships/slide" Target="slides/slide576.xml"/><Relationship Id="rId578" Type="http://schemas.openxmlformats.org/officeDocument/2006/relationships/slide" Target="slides/slide577.xml"/><Relationship Id="rId579" Type="http://schemas.openxmlformats.org/officeDocument/2006/relationships/slide" Target="slides/slide578.xml"/><Relationship Id="rId580" Type="http://schemas.openxmlformats.org/officeDocument/2006/relationships/slide" Target="slides/slide579.xml"/><Relationship Id="rId581" Type="http://schemas.openxmlformats.org/officeDocument/2006/relationships/slide" Target="slides/slide580.xml"/><Relationship Id="rId582" Type="http://schemas.openxmlformats.org/officeDocument/2006/relationships/slide" Target="slides/slide581.xml"/><Relationship Id="rId583" Type="http://schemas.openxmlformats.org/officeDocument/2006/relationships/slide" Target="slides/slide582.xml"/><Relationship Id="rId584" Type="http://schemas.openxmlformats.org/officeDocument/2006/relationships/slide" Target="slides/slide583.xml"/><Relationship Id="rId585" Type="http://schemas.openxmlformats.org/officeDocument/2006/relationships/slide" Target="slides/slide584.xml"/><Relationship Id="rId586" Type="http://schemas.openxmlformats.org/officeDocument/2006/relationships/slide" Target="slides/slide585.xml"/><Relationship Id="rId587" Type="http://schemas.openxmlformats.org/officeDocument/2006/relationships/slide" Target="slides/slide586.xml"/><Relationship Id="rId588" Type="http://schemas.openxmlformats.org/officeDocument/2006/relationships/slide" Target="slides/slide587.xml"/><Relationship Id="rId589" Type="http://schemas.openxmlformats.org/officeDocument/2006/relationships/slide" Target="slides/slide588.xml"/><Relationship Id="rId590" Type="http://schemas.openxmlformats.org/officeDocument/2006/relationships/slide" Target="slides/slide589.xml"/><Relationship Id="rId591" Type="http://schemas.openxmlformats.org/officeDocument/2006/relationships/slide" Target="slides/slide590.xml"/><Relationship Id="rId592" Type="http://schemas.openxmlformats.org/officeDocument/2006/relationships/slide" Target="slides/slide591.xml"/><Relationship Id="rId593" Type="http://schemas.openxmlformats.org/officeDocument/2006/relationships/slide" Target="slides/slide592.xml"/><Relationship Id="rId594" Type="http://schemas.openxmlformats.org/officeDocument/2006/relationships/slide" Target="slides/slide593.xml"/><Relationship Id="rId595" Type="http://schemas.openxmlformats.org/officeDocument/2006/relationships/slide" Target="slides/slide594.xml"/><Relationship Id="rId596" Type="http://schemas.openxmlformats.org/officeDocument/2006/relationships/slide" Target="slides/slide595.xml"/><Relationship Id="rId597" Type="http://schemas.openxmlformats.org/officeDocument/2006/relationships/slide" Target="slides/slide596.xml"/><Relationship Id="rId598" Type="http://schemas.openxmlformats.org/officeDocument/2006/relationships/slide" Target="slides/slide597.xml"/><Relationship Id="rId599" Type="http://schemas.openxmlformats.org/officeDocument/2006/relationships/slide" Target="slides/slide598.xml"/><Relationship Id="rId600" Type="http://schemas.openxmlformats.org/officeDocument/2006/relationships/slide" Target="slides/slide599.xml"/><Relationship Id="rId601" Type="http://schemas.openxmlformats.org/officeDocument/2006/relationships/slide" Target="slides/slide600.xml"/><Relationship Id="rId602" Type="http://schemas.openxmlformats.org/officeDocument/2006/relationships/slide" Target="slides/slide601.xml"/><Relationship Id="rId603" Type="http://schemas.openxmlformats.org/officeDocument/2006/relationships/slide" Target="slides/slide602.xml"/><Relationship Id="rId604" Type="http://schemas.openxmlformats.org/officeDocument/2006/relationships/slide" Target="slides/slide603.xml"/><Relationship Id="rId605" Type="http://schemas.openxmlformats.org/officeDocument/2006/relationships/slide" Target="slides/slide604.xml"/><Relationship Id="rId606" Type="http://schemas.openxmlformats.org/officeDocument/2006/relationships/slide" Target="slides/slide605.xml"/><Relationship Id="rId607" Type="http://schemas.openxmlformats.org/officeDocument/2006/relationships/slide" Target="slides/slide606.xml"/><Relationship Id="rId608" Type="http://schemas.openxmlformats.org/officeDocument/2006/relationships/slide" Target="slides/slide607.xml"/><Relationship Id="rId609" Type="http://schemas.openxmlformats.org/officeDocument/2006/relationships/slide" Target="slides/slide608.xml"/><Relationship Id="rId610" Type="http://schemas.openxmlformats.org/officeDocument/2006/relationships/slide" Target="slides/slide609.xml"/><Relationship Id="rId611" Type="http://schemas.openxmlformats.org/officeDocument/2006/relationships/slide" Target="slides/slide610.xml"/><Relationship Id="rId612" Type="http://schemas.openxmlformats.org/officeDocument/2006/relationships/slide" Target="slides/slide611.xml"/><Relationship Id="rId613" Type="http://schemas.openxmlformats.org/officeDocument/2006/relationships/slide" Target="slides/slide612.xml"/><Relationship Id="rId614" Type="http://schemas.openxmlformats.org/officeDocument/2006/relationships/slide" Target="slides/slide613.xml"/><Relationship Id="rId615" Type="http://schemas.openxmlformats.org/officeDocument/2006/relationships/slide" Target="slides/slide614.xml"/><Relationship Id="rId616" Type="http://schemas.openxmlformats.org/officeDocument/2006/relationships/slide" Target="slides/slide615.xml"/><Relationship Id="rId617" Type="http://schemas.openxmlformats.org/officeDocument/2006/relationships/slide" Target="slides/slide616.xml"/><Relationship Id="rId618" Type="http://schemas.openxmlformats.org/officeDocument/2006/relationships/slide" Target="slides/slide617.xml"/><Relationship Id="rId619" Type="http://schemas.openxmlformats.org/officeDocument/2006/relationships/slide" Target="slides/slide618.xml"/><Relationship Id="rId620" Type="http://schemas.openxmlformats.org/officeDocument/2006/relationships/slide" Target="slides/slide619.xml"/><Relationship Id="rId621" Type="http://schemas.openxmlformats.org/officeDocument/2006/relationships/slide" Target="slides/slide620.xml"/><Relationship Id="rId622" Type="http://schemas.openxmlformats.org/officeDocument/2006/relationships/slide" Target="slides/slide621.xml"/><Relationship Id="rId623" Type="http://schemas.openxmlformats.org/officeDocument/2006/relationships/slide" Target="slides/slide622.xml"/><Relationship Id="rId624" Type="http://schemas.openxmlformats.org/officeDocument/2006/relationships/slide" Target="slides/slide623.xml"/><Relationship Id="rId625" Type="http://schemas.openxmlformats.org/officeDocument/2006/relationships/slide" Target="slides/slide624.xml"/><Relationship Id="rId626" Type="http://schemas.openxmlformats.org/officeDocument/2006/relationships/slide" Target="slides/slide625.xml"/><Relationship Id="rId627" Type="http://schemas.openxmlformats.org/officeDocument/2006/relationships/slide" Target="slides/slide626.xml"/><Relationship Id="rId628" Type="http://schemas.openxmlformats.org/officeDocument/2006/relationships/slide" Target="slides/slide627.xml"/><Relationship Id="rId629" Type="http://schemas.openxmlformats.org/officeDocument/2006/relationships/slide" Target="slides/slide628.xml"/><Relationship Id="rId630" Type="http://schemas.openxmlformats.org/officeDocument/2006/relationships/slide" Target="slides/slide629.xml"/><Relationship Id="rId631" Type="http://schemas.openxmlformats.org/officeDocument/2006/relationships/slide" Target="slides/slide630.xml"/><Relationship Id="rId632" Type="http://schemas.openxmlformats.org/officeDocument/2006/relationships/slide" Target="slides/slide631.xml"/><Relationship Id="rId633" Type="http://schemas.openxmlformats.org/officeDocument/2006/relationships/slide" Target="slides/slide632.xml"/><Relationship Id="rId634" Type="http://schemas.openxmlformats.org/officeDocument/2006/relationships/slide" Target="slides/slide633.xml"/><Relationship Id="rId635" Type="http://schemas.openxmlformats.org/officeDocument/2006/relationships/slide" Target="slides/slide634.xml"/><Relationship Id="rId636" Type="http://schemas.openxmlformats.org/officeDocument/2006/relationships/slide" Target="slides/slide635.xml"/><Relationship Id="rId637" Type="http://schemas.openxmlformats.org/officeDocument/2006/relationships/slide" Target="slides/slide636.xml"/><Relationship Id="rId638" Type="http://schemas.openxmlformats.org/officeDocument/2006/relationships/slide" Target="slides/slide637.xml"/><Relationship Id="rId639" Type="http://schemas.openxmlformats.org/officeDocument/2006/relationships/slide" Target="slides/slide638.xml"/><Relationship Id="rId640" Type="http://schemas.openxmlformats.org/officeDocument/2006/relationships/slide" Target="slides/slide639.xml"/><Relationship Id="rId641" Type="http://schemas.openxmlformats.org/officeDocument/2006/relationships/slide" Target="slides/slide640.xml"/><Relationship Id="rId642" Type="http://schemas.openxmlformats.org/officeDocument/2006/relationships/slide" Target="slides/slide641.xml"/><Relationship Id="rId643" Type="http://schemas.openxmlformats.org/officeDocument/2006/relationships/slide" Target="slides/slide642.xml"/><Relationship Id="rId644" Type="http://schemas.openxmlformats.org/officeDocument/2006/relationships/slide" Target="slides/slide643.xml"/><Relationship Id="rId645" Type="http://schemas.openxmlformats.org/officeDocument/2006/relationships/slide" Target="slides/slide644.xml"/><Relationship Id="rId646" Type="http://schemas.openxmlformats.org/officeDocument/2006/relationships/slide" Target="slides/slide645.xml"/><Relationship Id="rId647" Type="http://schemas.openxmlformats.org/officeDocument/2006/relationships/slide" Target="slides/slide646.xml"/><Relationship Id="rId648" Type="http://schemas.openxmlformats.org/officeDocument/2006/relationships/slide" Target="slides/slide647.xml"/><Relationship Id="rId649" Type="http://schemas.openxmlformats.org/officeDocument/2006/relationships/slide" Target="slides/slide648.xml"/><Relationship Id="rId650" Type="http://schemas.openxmlformats.org/officeDocument/2006/relationships/slide" Target="slides/slide649.xml"/><Relationship Id="rId651" Type="http://schemas.openxmlformats.org/officeDocument/2006/relationships/slide" Target="slides/slide650.xml"/><Relationship Id="rId652" Type="http://schemas.openxmlformats.org/officeDocument/2006/relationships/slide" Target="slides/slide651.xml"/><Relationship Id="rId653" Type="http://schemas.openxmlformats.org/officeDocument/2006/relationships/slide" Target="slides/slide652.xml"/><Relationship Id="rId654" Type="http://schemas.openxmlformats.org/officeDocument/2006/relationships/slide" Target="slides/slide653.xml"/><Relationship Id="rId655" Type="http://schemas.openxmlformats.org/officeDocument/2006/relationships/slide" Target="slides/slide654.xml"/><Relationship Id="rId656" Type="http://schemas.openxmlformats.org/officeDocument/2006/relationships/slide" Target="slides/slide655.xml"/><Relationship Id="rId657" Type="http://schemas.openxmlformats.org/officeDocument/2006/relationships/slide" Target="slides/slide656.xml"/><Relationship Id="rId658" Type="http://schemas.openxmlformats.org/officeDocument/2006/relationships/slide" Target="slides/slide657.xml"/><Relationship Id="rId659" Type="http://schemas.openxmlformats.org/officeDocument/2006/relationships/slide" Target="slides/slide658.xml"/><Relationship Id="rId660" Type="http://schemas.openxmlformats.org/officeDocument/2006/relationships/slide" Target="slides/slide659.xml"/><Relationship Id="rId661" Type="http://schemas.openxmlformats.org/officeDocument/2006/relationships/slide" Target="slides/slide660.xml"/><Relationship Id="rId662" Type="http://schemas.openxmlformats.org/officeDocument/2006/relationships/slide" Target="slides/slide661.xml"/><Relationship Id="rId663" Type="http://schemas.openxmlformats.org/officeDocument/2006/relationships/slide" Target="slides/slide662.xml"/><Relationship Id="rId664" Type="http://schemas.openxmlformats.org/officeDocument/2006/relationships/slide" Target="slides/slide663.xml"/><Relationship Id="rId665" Type="http://schemas.openxmlformats.org/officeDocument/2006/relationships/slide" Target="slides/slide664.xml"/><Relationship Id="rId666" Type="http://schemas.openxmlformats.org/officeDocument/2006/relationships/slide" Target="slides/slide665.xml"/><Relationship Id="rId667" Type="http://schemas.openxmlformats.org/officeDocument/2006/relationships/slide" Target="slides/slide666.xml"/><Relationship Id="rId668" Type="http://schemas.openxmlformats.org/officeDocument/2006/relationships/slide" Target="slides/slide667.xml"/><Relationship Id="rId669" Type="http://schemas.openxmlformats.org/officeDocument/2006/relationships/slide" Target="slides/slide668.xml"/><Relationship Id="rId670" Type="http://schemas.openxmlformats.org/officeDocument/2006/relationships/slide" Target="slides/slide669.xml"/><Relationship Id="rId671" Type="http://schemas.openxmlformats.org/officeDocument/2006/relationships/slide" Target="slides/slide670.xml"/><Relationship Id="rId672" Type="http://schemas.openxmlformats.org/officeDocument/2006/relationships/slide" Target="slides/slide671.xml"/><Relationship Id="rId673" Type="http://schemas.openxmlformats.org/officeDocument/2006/relationships/slide" Target="slides/slide672.xml"/><Relationship Id="rId674" Type="http://schemas.openxmlformats.org/officeDocument/2006/relationships/slide" Target="slides/slide673.xml"/><Relationship Id="rId675" Type="http://schemas.openxmlformats.org/officeDocument/2006/relationships/slide" Target="slides/slide674.xml"/><Relationship Id="rId676" Type="http://schemas.openxmlformats.org/officeDocument/2006/relationships/slide" Target="slides/slide675.xml"/><Relationship Id="rId677" Type="http://schemas.openxmlformats.org/officeDocument/2006/relationships/slide" Target="slides/slide676.xml"/><Relationship Id="rId678" Type="http://schemas.openxmlformats.org/officeDocument/2006/relationships/slide" Target="slides/slide677.xml"/><Relationship Id="rId679" Type="http://schemas.openxmlformats.org/officeDocument/2006/relationships/slide" Target="slides/slide678.xml"/><Relationship Id="rId680" Type="http://schemas.openxmlformats.org/officeDocument/2006/relationships/slide" Target="slides/slide679.xml"/><Relationship Id="rId681" Type="http://schemas.openxmlformats.org/officeDocument/2006/relationships/slide" Target="slides/slide680.xml"/><Relationship Id="rId682" Type="http://schemas.openxmlformats.org/officeDocument/2006/relationships/slide" Target="slides/slide681.xml"/><Relationship Id="rId683" Type="http://schemas.openxmlformats.org/officeDocument/2006/relationships/slide" Target="slides/slide682.xml"/><Relationship Id="rId684" Type="http://schemas.openxmlformats.org/officeDocument/2006/relationships/slide" Target="slides/slide683.xml"/><Relationship Id="rId685" Type="http://schemas.openxmlformats.org/officeDocument/2006/relationships/slide" Target="slides/slide684.xml"/><Relationship Id="rId686" Type="http://schemas.openxmlformats.org/officeDocument/2006/relationships/slide" Target="slides/slide685.xml"/><Relationship Id="rId687" Type="http://schemas.openxmlformats.org/officeDocument/2006/relationships/slide" Target="slides/slide686.xml"/><Relationship Id="rId688" Type="http://schemas.openxmlformats.org/officeDocument/2006/relationships/slide" Target="slides/slide687.xml"/><Relationship Id="rId689" Type="http://schemas.openxmlformats.org/officeDocument/2006/relationships/slide" Target="slides/slide688.xml"/><Relationship Id="rId690" Type="http://schemas.openxmlformats.org/officeDocument/2006/relationships/slide" Target="slides/slide689.xml"/><Relationship Id="rId691" Type="http://schemas.openxmlformats.org/officeDocument/2006/relationships/slide" Target="slides/slide690.xml"/><Relationship Id="rId692" Type="http://schemas.openxmlformats.org/officeDocument/2006/relationships/slide" Target="slides/slide691.xml"/><Relationship Id="rId693" Type="http://schemas.openxmlformats.org/officeDocument/2006/relationships/slide" Target="slides/slide692.xml"/><Relationship Id="rId694" Type="http://schemas.openxmlformats.org/officeDocument/2006/relationships/slide" Target="slides/slide693.xml"/><Relationship Id="rId695" Type="http://schemas.openxmlformats.org/officeDocument/2006/relationships/slide" Target="slides/slide694.xml"/><Relationship Id="rId696" Type="http://schemas.openxmlformats.org/officeDocument/2006/relationships/slide" Target="slides/slide695.xml"/><Relationship Id="rId697" Type="http://schemas.openxmlformats.org/officeDocument/2006/relationships/slide" Target="slides/slide696.xml"/><Relationship Id="rId698" Type="http://schemas.openxmlformats.org/officeDocument/2006/relationships/slide" Target="slides/slide697.xml"/><Relationship Id="rId699" Type="http://schemas.openxmlformats.org/officeDocument/2006/relationships/slide" Target="slides/slide698.xml"/><Relationship Id="rId700" Type="http://schemas.openxmlformats.org/officeDocument/2006/relationships/slide" Target="slides/slide699.xml"/><Relationship Id="rId701" Type="http://schemas.openxmlformats.org/officeDocument/2006/relationships/slide" Target="slides/slide7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विभिन्न जिलों की भौगोलिक सीमाओं की विशिष्ट बाह्य आकृतियों (Geometric Shapes) का सही सुमेलन कीजिए: सूची-I (जिला): सूची-I: A. हनुमानगढ़ B. सीकर C. दौसा D. जालोर सूची-II: 1. अर्द्ध-चन्द्राकार / प्यालेनुमा 2. व्हेल मछली के समान 3. कुर्सीनुमा (L-आकार / सोफा जैसी) 4. धनुषाकार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3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मानचित्र पर राजस्थान के विभिन्न जिलों की बाह्य सीमाएं विशिष्ट वस्तुओं और जीवों से साम्यता रखती हैं: (1) हनुमानगढ़ - कुर्सीनुमा अथवा अंग्रेजी के 'L' आकार जैसी आकृति। (2) सीकर - अर्द्ध-चन्द्राकार अथवा कटोरे/प्यालेनुमा (Crescent/Bowl shaped) आकृति। (3) दौसा - धनुषाकार (Bow shaped)। (4) जालोर - समुद्र में तैरती व्हेल मछली के समान। अन्य जिलों की विशिष्ट आकृतियां: राजसमंद - माथे के तिलक अथवा जल की बूंद जैसी; चित्तौड़गढ़ (मुख्य भाग) - घोड़े की नाल अथवा इल्ली जैसी; करौली - बतख के समान; टोंक - समचतुर्भुज (पतंगाकार/रोम्बस) जैसी, जो लगभग पूरे राजस्थान के लघु प्रतिरूप जैसी दिखती है; भीलवाड़ा - आयताकार; तथा डूंगरपुर - अनियमित त्रिभुजाकार। अतः सही कूट A-3, B-1, C-4, D-2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3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सीमाओं के स्वरूप एवं अंतर्वर्ती (Inland) जिलों के भौगोलिक वितरण के संदर्भ में निम्नलिखित कथनों पर विचार कीजिए: A. राजस्थान की कुल स्थलीय भू-सीमा 5920 किमी है, जिसमें 1070 किमी अंतरराष्ट्रीय और 4850 किमी अंतर्राज्यीय सीमा है। B. राजस्थान के कुल 4 जिले - हनुमानगढ़, डीग, धौलपुर एवं बांसवाड़ा ऐसे हैं जो दो-दो पड़ोसी राज्यों के साथ सीमा साझा करते हैं। C. कोटा और चित्तौड़गढ़ राजस्थान के ऐसे दो जिले हैं जो मध्य प्रदेश राज्य के साथ दो बार सीमा बनाते हैं। D. राजस्थान में 22 जिले पूर्णतः अंतर्वर्ती (Inland) जिले हैं जो न तो किसी देश और न ही किसी अन्य राज्य की सीमा को स्पर्श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7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भौगोलिक सीमाएं अत्यंत विशिष्ट हैं। राज्य की कुल स्थलीय सीमा 5920 किमी है जिसमें 1070 किमी पाकिस्तान के साथ अंतरराष्ट्रीय सीमा (रेडक्लिफ रेखा) तथा 4850 किमी 5 राज्यों (पंजाब, हरियाणा, यूपी, एमपी, गुजरात) के साथ अंतर्राज्यीय सीमा है। दो-दो राज्यों से सीमा बनाने वाले 4 जिले हैं: (1) हनुमानगढ़ - पंजाब व हरियाणा; (2) डीग - हरियाणा व उत्तर प्रदेश; (3) धौलपुर - उत्तर प्रदेश व मध्य प्रदेश; (4) बांसवाड़ा - मध्य प्रदेश व गुजरात। मध्य प्रदेश के साथ कोटा और चित्तौड़गढ़ दो बार सीमा स्पर्श करते हैं; चित्तौड़गढ़ खंडित सीमा बनाता है (भैंसरोड़गढ़ अलग भाग है जिसे भीलवाड़ा पृथक करता है), जबकि कोटा अखंडित सीमा बनाता है। राज्य के 13 अंतर्वर्ती जिले (Inland Districts) हैं: जयपुर, दौसा, टोंक, बूंदी, अजमेर, ब्यावर, बालोतरा, पाली, डीडवाना-कुचामन, नागौर, जोधपुर, राजसमंद और सलूंबर। अतः सभी कथन सत्य हैं। ⚡ [परीक्षा-उपयोगी सूक्ष्म दृष्टि / RPSC Trap Alert]: कथन D असत्य है। 41 ज़िलों के प्रशासनिक पुनर्गठन के अनुसार राजस्थान में अंतर्वर्ती (Inland) ज़िलों की कुल संख्या 13 है (न कि 22)। अतः केवल कथन A, B और C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7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मध्य अरावली की पहाड़ियों में स्थित 'टॉडगढ़-रावली वन्यजीव अभयारण्य' (स्थापना 1983) निम्नलिखित में से किन तीन जिलों के सीमावर्ती क्षेत्रों में विस्तृत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जयपुर, दौसा एवं अलवर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राजसमंद, पाली एवं अजमेर (ब्यावर)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उदयपुर, सिरोही एवं जालौर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कोटा, बूंदी एवं बारां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0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राजसमंद, पाली एवं अजमेर (ब्यावर)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दौसा एवं अलवर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उदयपुर, सिरोही एवं जालौर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 बूंदी एवं बारां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टॉडगढ़-रावली वन्यजीव अभयारण्य (क्षेत्रफल लगभग 495.27 वर्ग किमी) मध्य राजस्थान में अरावली की पहाड़ियों में स्थित है। इसकी स्थापना 1983 में कर्नल जेम्स टॉड द्वारा निर्मित ऐतिहासिक टॉडगढ़ के आसपास की गई थी। यह अभयारण्य मुख्य रूप से तीन जिलों-राजसमंद, पाली तथा अजमेर (नवगठित ब्यावर) के त्रिकोणीय सीमांत पर्वतीय क्षेत्र में फैला हुआ है। यहाँ मुख्य रूप से तेंदुआ (बघेरा), रीछ, जरख, सियार, सांभर और चौसिंगा पाए जाते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0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3/350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प्राचीन जनपदों एवं ऐतिहासिक भौगोलिक क्षेत्रों का उनके विस्तार क्षेत्रों के साथ सही सुमेलन कीजिए: सूची-I (प्राचीन नाम): सूची-I: A. शिवि जनपद B. मत्स्य जनपद C. सपादलक्ष D. हयाहय सूची-II: 1. सांभर, अजमेर व नागौर (चौहानों का मूल क्षेत्र, राजधानी - अहिच्छत्रपुर) 2. चित्तौड़गढ़ व मेवाड़ (राजधानी - मध्यमिका / नगरी) 3. कोटा एवं बूंदी (हाड़ा शासकों का प्राचीन क्षेत्र) 4. जयपुर, कोटपूतली-बहरोड़ व अलवर (राजधानी - बैराठ / विराटनगर)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74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प्रमुख प्राचीन जनपदों एवं ऐतिहासिक क्षेत्रों की अवस्थिति: (1) 'शिवि जनपद' - चित्तौड़गढ़ एवं मेवाड़ क्षेत्र; इसकी राजधानी मध्यमिका (वर्तमान नगरी) थी जहाँ से शिवि जनपद के सिक्के प्राप्त हुए हैं (बाड़मेर की एक तहसील का नाम भी 'शिव' है)। (2) 'मत्स्य जनपद' - जयपुर, दौसा, कोटपूतली-बहरोड़ और अलवर क्षेत्र; इसकी राजधानी विराटनगर (बैराठ) थी। (3) 'सपादलक्ष' - अजमेर, सांभर और नागौर का चौहान शासित भूभाग; शाब्दिक अर्थ 'सवा लाख गाँवों का समूह'; प्रारंभिक राजधानी अहिच्छत्रपुर (नागौर) व बाद में सांभर थी। (4) 'हयाहय' - कोटा और बूंदी के हाड़ौती अंचल का प्राचीन ऐतिहासिक नाम है। इसके अलावा शूरसेन जनपद (भरतपुर, धौलपुर, करौली - राजधानी मथुरा) तथा चंद्रावती (सिरोही में परमारों की राजधानी) प्रसिद्ध ऐतिहासिक क्षेत्र हैं। अतः सही कूट A-2, B-4, C-1,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74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जलवायु को नियंत्रित एवं प्रभावित करने वाले चार प्रमुख भौगोलिक कारकों पर विचार कीजिए: A. अक्षांशीय स्थिति (23°03' से 30°12' N) के कारण राज्य का अधिकांश भाग उपोष्ण कटिबंध में आता है जहाँ प्रखर सौर विकिरण प्राप्त होता है। B. समुद्र (कच्छ की खाड़ी व अरब सागर) से पर्याप्त दूरी होने के कारण राज्य में चरम महाद्वीपीय (Continental) जलवायु तथा उच्च तापांतर पाया जाता है। C. अरावली पर्वतमाला का दक्षिण-पश्चिम से उत्तर-पूर्व संरेखण दक्षिण-पश्चिम मानसून की बंगाल की खाड़ी शाखा के समानांतर है, जिससे वर्षा नहीं हो पाती। D. उच्चावच के प्रभाव से समुद्र तल से 1200 मीटर ऊंचा माउंट आबू राज्य का सर्वाधिक वर्षा वाला (लगभग 150 सेमी) तथा सबसे ठंडा स्थल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17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जलवायु के नियंत्रक कारक: (1) उपोष्ण अक्षांशीय स्थिति (कर्क रेखा बांसवाड़ा-डूंगरपुर से गुजरती है); (2) समुद्र से दूरी (महाद्वीपीयता) जिससे उच्च दैनिक व वार्षिक तापांतर बनता है; (3) अरावली का दिशा-संरेखण जो अरब सागरीय मानसून के समानांतर है तथा बंगाल की खाड़ी के लिए विभाजक है; (4) उच्चावच विषमता (माउंट आबू में ओरोग्राफिक वर्षा 150 सेमी जबकि पश्चिमी रेतीले मैदान में 25 सेमी से कम वर्षा)। अतः सभी कथन सत्य हैं। ⚡ [परीक्षा-उपयोगी सूक्ष्म दृष्टि / RPSC Trap Alert]: कथन C असत्य है। अरावली पर्वतमाला का दक्षिण-पश्चिम से उत्तर-पूर्व संरेखण दक्षिण-पश्चिम मानसून की "अरब सागर शाखा" के समानांतर है (जिससे हवाएं बिना अवरोध आगे निकल जाती हैं), न कि "बंगाल की खाड़ी शाखा" के। अतः केवल कथन A, B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17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कुम्भलगढ़-रणकपुर वन्यजीव अभयारण्य के भौगोलिक स्वरूप एवं विशेषताओं के संदर्भ में निम्नलिखित कथनों पर विचार कीजिए: A. यह अभयारण्य राजस्थान के तीन जिलों-राजसमंद, उदयपुर और पाली की सीमाओं में लगभग 610 वर्ग किमी में विस्तृत है। B. यह अभयारण्य अरावली की पर्वत श्रृंखलाओं में स्थित है और इसके निकट विश्व प्रसिद्ध रणकपुर जैन मंदिर एवं कुम्भलगढ़ दुर्ग स्थित हैं। C. यह क्षेत्र मुख्य रूप से भेड़ियों (Wolves) के प्राकृतिक प्रजनन तथा तेंदुए (Leopard) और चौसिंगा (घोटड़ा) के लिए विख्यात है। D. यह अभयारण्य पूर्णतः थार मरुस्थल के रेतीले धरातल पर स्थित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61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6/350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कुम्भलगढ़ वन्यजीव अभयारण्य दक्षिणी अरावली के राजसमंद, पाली और उदयपुर जिलों में फैला हुआ एक अत्यंत महत्वपूर्ण जैव-विविधता केंद्र है। इसके सघन वनों के मध्य ऐतिहासिक कुम्भलगढ़ किला तथा पाली की ओर रणकपुर का 1444 खंभों वाला चौमुखा जैन मंदिर स्थित है। यह अभयारण्य भारत में भेड़ियों के प्राकृतिक संरक्षण व प्रजनन की प्रमुख स्थली माना जाता है। कथन D असत्य है क्योंकि यह पर्वतीय ढलानों और घाटियों में स्थित है, रेतीले मरुस्थल में नहीं।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61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अरावली पर्वतमाला के प्रमुख प्राकृतिक दर्रों (Passes) के संदर्भ में निम्नलिखित कथनों पर विचार कीजिए: A. बर दर्रा, परवेरिया दर्रा और शिवपुर घाट ब्यावर एवं पाली सीमा पर स्थित प्रमुख दर्रे हैं। B. देसुरी की नाल और सोमेश्वर नाल पाली को राजसमंद व मेवाड़ से जोड़ने वाले संकीर्ण पर्वतीय मार्ग हैं। C. हाथी दर्रा और देबारी दर्रा दक्षिणी अरावली में उदयपुर जिले में स्थित हैं। D. कामली घाट दर्रा केवल जैसलमेर और बाड़मेर जिलों को आपस में जोड़ता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7/350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मध्य एवं दक्षिणी अरावली के दर्रे राजस्थान के ऐतिहासिक आवागमन और सामरिक मार्गों के रूप में प्रसिद्ध हैं। बर दर्रा राष्ट्रीय राजमार्ग पर ब्यावर और पाली के मध्य आवागमन सुलभ करता है, जबकि शिवपुर घाट व परवेरिया दर्रे ब्यावर क्षेत्र में स्थित हैं। देसुरी की नाल और सोमेश्वर नाल पाली जिले के देसुरी क्षेत्र को मेवाड़ (राजसमंद/कुम्भलगढ़) से जोड़ते हैं। हाथी दर्रा तथा देबारी दर्रा उदयपुर जिले के प्रमुख दर्रे हैं, जहाँ देबारी मेवाड़ का ऐतिहासिक प्रवेश द्वार रहा है। कथन D असत्य है क्योंकि कामली घाट दर्रा राजसमंद और पाली की सीमा पर स्थित पर्वतीय दर्रा है, मरुस्थलीय जैसलमेर-बाड़मेर में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अंतर्राज्यीय एवं अंतरराष्ट्रीय सीमा विस्तार के भौगोलिक तथ्यों के संदर्भ में निम्नलिखित कथनों पर विचार कीजिए: A. राजस्थान की कुल स्थलीय सीमा 5920 किमी है, जिसमें 1070 किमी अंतरराष्ट्रीय सीमा (रेडक्लिफ रेखा) तथा 4850 किमी अंतर्राज्यीय सीमा है। B. राजस्थान के साथ सर्वाधिक लम्बी अंतर्राज्यीय सीमा मध्य प्रदेश (1600 किमी) बनाता है तथा सबसे छोटी सीमा पंजाब (89 किमी) बनाता है। C. धौलपुर जिला उत्तर प्रदेश और मध्य प्रदेश दोनों राज्यों के साथ अपनी सीमाएं साझा करता है। D. भीलवाड़ा जिला मध्य प्रदेश के साथ सबसे लम्बी अंतर्राज्यीय सीमा बनाता है, जबकि झालावाड़ सबसे छोटी सीमा बनाता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48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8/350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5 पड़ोसी राज्यों (पंजाब, हरियाणा, उत्तर प्रदेश, मध्य प्रदेश और गुजरात) से घिरा है। मध्य प्रदेश से राज्य के 10 जिले लगते हैं और 1600 किमी की सीमा बनती है; इसमें झालावाड़ की सीमा सबसे लम्बी तथा भीलवाड़ा की सबसे छोटी लगती है। धौलपुर जिला यूपी व एमपी दोनों से तथा बांसवाड़ा जिला एमपी व गुजरात दोनों से मिलता है। अंतरराष्ट्रीय सीमा पर चार सीमांत जिले (श्रीगंगानगर, बीकानेर, जैसलमेर, बाड़मेर) स्थित हैं जिनमें जैसलमेर की सीमा सर्वाधिक (464 किमी) तथा बीकानेर की सबसे कम (168 किमी) है। अतः सभी चारों कथन पूर्णतः सत्य हैं। ⚡ [परीक्षा-उपयोगी सूक्ष्म दृष्टि / RPSC Trap Alert]: कथन D असत्य है। झालावाड़ मध्य प्रदेश के साथ सर्वाधिक लम्बी (520 किमी) सीमा बनाता है, जबकि भीलवाड़ा सबसे छोटी (मात्र 16 किमी) सीमा बनाता है। विकल्प में दोनों को परस्पर उलट दिया गया है। अतः केवल कथन A, B और C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48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8/350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'महान सीमा भ्रंश' (Great Boundary Fault - GBF) के भौगोलिक विस्तार एवं भूगर्भीय प्रभाव के संदर्भ में निम्नलिखित कथनों पर विचार कीजिए: A. महान सीमा भ्रंश (GBF) अरावली पर्वतमाला के पूर्व तथा हाड़ौती पठारी प्रदेश के उत्तर-पश्चिम व उत्तर-पूर्व सीमांत पर स्थित है। B. यह विवर्तनिक भ्रंश रेखा चित्तौड़गढ़, भीलवाड़ा, बूंदी, सवाई माधोपुर, करौली और धौलपुर जिलों में विस्तृत है। C. यह भ्रंश अरावली के प्राचीन प्री-कैम्ब्रियन शैल समूह को विन्ध्यन शैल समूह से भू-वैज्ञानिक रूप से पृथक करता है। D. यह भ्रंश रेखा केवल पश्चिमी राजस्थान के थार मरुस्थल के आंतरिक भाग में बालुका स्तूपों के मध्य स्थित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91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महान सीमा भ्रंश (Great Boundary Fault - GBF) राजस्थान की सबसे प्रमुख विवर्तनिक (Tectonic) संरचनात्मक भ्रंश रेखा है। यह अरावली के प्राचीन शैल समूह और विन्ध्यन बलुआ पत्थर शैल समूह के मिलन स्थल पर स्थित एक विशाल थ्रस्ट फॉल्ट (Thrust Fault) है। इसका विस्तार चित्तौड़गढ़ (बेगूं, बेंगू), भीलवाड़ा (मांडलगढ़, बिचोर), बूंदी (सत्तूर), सवाई माधोपुर, करौली (सपोटरा, मासलपुर) और धौलपुर जिलों तक लगभग 800 किमी लम्बाई में फैला हुआ है। यह प्रायद्वीपीय भारत से उप-हिमालयी अग्र-गर्त तक विस्तृत विवर्तनिक तनावों का परिणाम है। यह क्षेत्र की स्थलाकृति, खनिज संसाधनों, भूजल प्रवाह तथा नदी घाटियों की दिशा को गहराई से प्रभावित करता है। कथन D असत्य है क्योंकि यह दक्षिण-पूर्वी राजस्थान में अरावली-विन्ध्यन सीमांत पर स्थित है, पश्चिमी मरुस्थल में नहीं।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91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अंतरराष्ट्रीय रेडक्लिफ रेखा के सहारे राजस्थान की सीमा से लगने वाले पाकिस्तान के प्रशासनिक प्रांतों एवं जिलों के संदर्भ में निम्नलिखित कथनों पर विचार कीजिए: A. पाकिस्तान के कुल दो प्रांत - पंजाब प्रांत तथा सिंध प्रांत राजस्थान के साथ 1070 किमी लम्बी अंतरराष्ट्रीय सीमा बनाते हैं। B. पंजाब प्रांत के तीन जिले - बहावलनगर, बहावलपुर और रहीमयार खान राजस्थान के सीमावर्ती जिलों से लगते हैं। C. सिंध प्रांत के 6 जिले - घोटकी, सुक्कुर, खैरपुर, संघर, उमरकोट और थारपारकर राजस्थान की सीमा को स्पर्श करते हैं। D. राजस्थान के 7 जिले (श्रीगंगानगर, अनूपगढ़, बीकानेर, फलौदी, जैसलमेर, बाड़मेर, सांचौर) रेडक्लिफ रेखा पर उत्तर से दक्षिण क्रम में स्थित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35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10/350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17 अगस्त 1947 को सर सिरिल जॉन रेडक्लिफ द्वारा निर्धारित भारत-पाक सीमा (रेडक्लिफ रेखा) की राजस्थान में कुल लम्बाई 1070 किमी है (हिंदुमलकोट, श्रीगंगानगर से बाखासर, शाहगढ़, बाड़मेर तक)। यह राज्य की कुल सीमा का 18.07% है। सीमा पर राजस्थान के 5 जिले (श्रीगंगानगर, बीकानेर, फलौदी, जैसलमेर, बाड़मेर) स्थित हैं। दूसरी ओर, पाकिस्तान के कुल 9 जिले राजस्थान से सीमा साझा करते हैं, जो दो प्रांतों में बंटे हैं: (1) पंजाब प्रांत (3 जिले): बहावलनगर (श्रीगंगानगर व बीकानेर सीमा), बहावलपुर (बीकानेर व जैसलमेर सीमा), तथा रहीमयार खान (जैसलमेर सीमा)। (2) सिंध प्रांत (6 जिले): घोटकी, सुक्कुर, खैरपुर, संघर, उमरकोट और थारपारकर (बाड़मेर सीमा)। अतः सभी चारों कथन सत्य हैं। ⚡ [परीक्षा-उपयोगी सूक्ष्म दृष्टि / RPSC Trap Alert]: कथन D असत्य है। 30 दिसंबर 2024 के 41 जिलों के आधिकारिक पुनर्गठन के बाद अंतरराष्ट्रीय रेडक्लिफ रेखा पर कुल 5 जिले (श्रीगंगानगर, बीकानेर, फलौदी, जैसलमेर, बाड़मेर) ही स्थित हैं; अनूपगढ़ व सांचौर को पुनः गंगानगर व जालोर में समाहित कर दिया गया है। अतः केवल कथन A, B और C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35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वह कौन-सा जिला है जो किसी अन्य राज्य के साथ सर्वाधिक लम्बी अंतर्राज्यीय सीमा (लगभग 520 किमी) बनाता है तथा सबसे छोटी अंतर्राज्यीय सीमा वाला जिला कौन-सा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झालावाड़ (सर्वाधिक) एवं बाड़मेर (न्यूनतम)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कोटा (सर्वाधिक) एवं भीलवाड़ा (न्यूनतम)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चित्तौड़गढ़ (सर्वाधिक) एवं बांसवाड़ा (न्यूनतम)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सवाई माधोपुर (सर्वाधिक) एवं जालौर (न्यूनतम)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79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11/350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झालावाड़ (सर्वाधिक) एवं बाड़मेर (न्यूनतम)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 (सर्वाधिक) एवं भीलवाड़ा (न्यूनतम)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चित्तौड़गढ़ (सर्वाधिक) एवं बांसवाड़ा (न्यूनतम)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सवाई माधोपुर (सर्वाधिक) एवं जालौर (न्यूनतम)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अंतर्राज्यीय सीमा 5 पड़ोसी राज्यों के साथ 4850 किमी की लम्बाई में विस्तृत है। इस सीमा पर स्थित जिलों में झालावाड़ जिला मध्य प्रदेश के साथ लगभग 520 किलोमीटर की सबसे लम्बी अंतर्राज्यीय सीमा बनाता है, जो तीनों ओर से मध्य प्रदेश के भू-भाग से घिरा हुआ है। इसके विपरीत, बाड़मेर जिला गुजरात राज्य के साथ मात्र 14 किलोमीटर की सबसे छोटी अंतर्राज्यीय सीमा बनाता है (बाड़मेर अंतरराष्ट्रीय व अंतर्राज्यीय दोनों सीमाएं साझा करता है)। इसी प्रकार श्रीगंगानगर भी पंजाब के साथ अंतर्राज्यीय तथा पाकिस्तान के साथ अंतरराष्ट्रीय दोनों सीमाएं बनाता है। मध्य प्रदेश के साथ सबसे छोटी सीमा भीलवाड़ा जिला (लगभग 16 किमी) बनाता है। अंतरराष्ट्रीय सीमा पर सर्वाधिक लम्बी सीमा जैसलमेर (464 किमी) तथा सबसे छोटी सीमा फलौदी/बीकानेर की लगती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79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समग्र भौतिक, आर्थिक एवं मानव भूगोल के संतुलित सतत विकास विज़न (Vision 2047) पर विचार कीजिए: A. इंदिरा गांधी नहर, नर्मदा नहर तथा ईआरसीपी (राम जल सेतु) के पूर्ण समन्वय से राज्य के 100% कमान क्षेत्रों में जल सुरक्षा हासिल करना। B. थार मरुस्थल को देश की 'हरित ऊर्जा राजधानी' (25 GW सौर-पवन व ग्रीन हाइड्रोजन हब) तथा पेट्रोकेमिकल कॉरिडोर के रूप में स्थापित करना। C. अरावली ग्रीन वॉल प्रोजेक्ट द्वारा मरुस्थलीकरण की रोकथाम तथा वन आवरण को 20% तक विस्तारित करना। D. विरासत एवं आधुनिक अवसंरचना के समन्वय से राजस्थान को विश्व का अग्रणी पर्यटन, खनिज एवं निवेश गंतव्य बनाना।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22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विकसित राजस्थान @2047 विज़न: राज्य के जल संसाधनों का बेसिन-वार संचयन, 1500 किमी ईस्टर्न राजस्थान कैनाल प्रोजेक्ट (PKC-ERCP), 100% सूक्ष्म सिंचाई, सौर-पवन ऊर्जा में आत्मनिर्भरता, खनिजों का पर्यावरण-अनुकूल मूल्य संवर्धन, आदिवासी व वंचित वर्गों का उत्थान, तथा अरावली व थार पारिस्थितिकी का पुनरुद्धार कर राजस्थान को देश का सिरमौर व समृद्ध राज्य बनाना इसका समग्र संकल्प है। अतः सभी चारों कथन सत्य हैं। ⚡ [परीक्षा-उपयोगी सूक्ष्म दृष्टि / RPSC Trap Alert]: कथन B असत्य है क्योंकि इसमें दिए गए तथ्य में त्रुटि है। वास्तविक तथ्य यह है कि स्वच्छ ऊर्जा नीति 2024 का लक्ष्य 125 GW है न कि 25 GW।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22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भूगोल के संदर्भ में 'मरुस्थल का मार्च' (Desertification March), इसके कारक एवं रोकथाम की रणनीतियों के संबंध में निम्नलिखित कथनों पर विचार कीजिए: A. थार मरुस्थल के रेतीले टीलों का पवन प्रवाह के सहारे दक्षिण-पश्चिम से उत्तर-पूर्व (हरियाणा, पंजाब व दिल्ली) की ओर आगे बढ़ना 'मरुस्थल का मार्च' कहलाता है। B. मरुस्थल के आगे बढ़ने और प्रसार में अत्यधिक गतिशील अर्द्ध-चन्द्राकार 'बरखान' (Barchan) बालुका स्तूप न्यूनतम योगदान देते हैं। C. केंद्रीय मरु क्षेत्र अनुसंधान संस्थान (CAZRI, जोधपुर) द्वारा मरुस्थलीकरण रोकने हेतु मरु-वनरोपण, शेल्टर बेल्ट्स (वायुरोधी वृक्ष कतारें) तथा बालुका स्तूप स्थिरीकरण तकनीकें विकसित की गई हैं। D. संयुक्त राष्ट्र मरुस्थलीकरण रोकथाम अभिसमय (UNCCD) के तहत भारत ने 2030 तक 26 मिलियन हेक्टेयर अवक्रमित भूमि को बहाल करने का लक्ष्य तय किया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66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13/350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मरुस्थलीकरण राजस्थान की सबसे गंभीर पारिस्थितिकीय चुनौती है: (1) 'मरुस्थल का मार्च': थार मरुस्थल का बालूका स्तूपों के स्थानांतरण द्वारा अरावली के विच्छेदित दर्रों (जैसे सांभर गैप) से होकर हरियाणा, पंजाब, दिल्ली और पश्चिमी यूपी के उपजाऊ मैदानों की ओर अतिक्रमण करना 'मरुस्थल का मार्च' (March of Desert) कहलाता है। इसकी दिशा सामान्यतः दक्षिण-पश्चिम से उत्तर-पूर्व की ओर होती है। (2) बरखान टीले अपनी तीव्र गतिशीलता के कारण वनस्पति और कृषि भूमि को ढंक लेते हैं। (3) काजरी (CAZRI - 1959) और आफरी (AFRI - 1988) ने देशी प्रजातियों (खेजड़ी, रोहिड़ा, कुमठ, इस्राइली बबूल - Acacia tortilis) की शेल्टर बेल्ट्स और सेवण घास द्वारा सैंड ड्यून फिक्सेशन (स्तूप स्थिरीकरण) के सफल मॉडल तैयार किए हैं। (4) भारत सरकार द्वारा कॉप-14 (UNCCD COP-14, 2019) में बोन चैलेंज के तहत 2030 तक 26 मिलियन हेक्टेयर भूमि के क्षरण-तटस्थता (Land Degradation Neutrality - LDN) का राष्ट्रीय संकल्प लिया गया है, जिसमें राजस्थान की अरावली ग्रीन वॉल परियोजना प्रमुख भूमिका निभा रही है। अतः सभी चारों कथन पूर्णतः सत्य हैं। ⚡ [परीक्षा-उपयोगी सूक्ष्म दृष्टि / RPSC Trap Alert]: कथन B असत्य है क्योंकि इसमें दिए गए तथ्य में त्रुटि है। वास्तविक तथ्य यह है कि सर्वाधिक स्थिति दर्ज की जाती है न कि न्यूनतम।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66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13/350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पश्चिमी राजस्थान के जैसलमेर जिले में पोकरण से मोहनगढ़ के मध्य स्थित 60 किमी लम्बी प्राचीन 'लाठी सीरीज' भू-गर्भीय जलपट्टी के अतिरिक्त राज्य में हाल ही में चिह्नित की गई 'दूसरी भू-गर्भीय मीठे जल की पट्टी' किन दो स्थानों के मध्य विस्तृत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लूणकरणसर से सूरतगढ़</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फलोदी से पोकरण</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शिव (बाड़मेर) से जैसलमेर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बायतू (बालोतरा) से सांचोर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14/350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बायतू (बालोतरा) से सांचोर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लूणकरणसर से सूरतगढ़</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फलोदी से पोकरण</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शिव (बाड़मेर) से जैसलमेर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पश्चिमी राजस्थान के शुष्क मरुस्थल में भू-गर्भिक संरचनाओं के मध्य प्राचीन लुप्त सरस्वती नदी घाटी के अवसादी चैनल मीठे जल के अक्षय स्रोत हैं: (1) प्रथम जलपट्टी (लाठी सीरीज): जैसलमेर जिले में पोकरण से मोहनगढ़ तक लगभग 60 किलोमीटर की लम्बाई में अवसादी चट्टानों में स्थित मीठे जल की भूगर्भीय शिरा है। यहाँ चांदन नलकूप स्थित है जिसे 'थार का घड़ा' कहते हैं और इस पट्टी पर अत्यधिक पौष्टिक 'सेवण' (लीलण) घास उगती है जो राज्य पक्षी गोडावण की प्रमुख शरणस्थली है। (2) द्वितीय जलपट्टी: बाड़मेर/बालोतरा जिले के बायतू से लेकर जालौर/सांचोर तक विस्तृत भूगर्भीय मीठे जल की पट्टी चिह्नित की गई है, जहाँ गहरे नलकूपों के माध्यम से उच्च गुणवत्ता युक्त पेयजल व सीमित सिंचाई जल उपलब्ध होता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14/350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पश्चिमी मरुस्थलीय प्रदेश के 'लाठी सीरीज' एवं भू-गर्भिक जलपट्टी के संबंध में कथनों पर विचार कीजिए: A. लाठी सीरीज पोकरण से मोहनगढ़ (जैसलमेर) के मध्य लगभग 60 किमी लंबी एक भू-गर्भीय मीठे पानी की जलपट्टी है। B. यह जलपट्टी भू-वैज्ञानिकों के अनुसार प्राचीन सरस्वती नदी के भू-गर्भीय प्रवाह मार्ग (Paleochannel) का अवशेष मानी जाती है। C. इस क्षेत्र में 'चांदन नलकूप' स्थित है, जिसे अपने मीठे व प्रचुर जल के कारण 'थार का घड़ा' कहा जाता है। D. हालिया भूगर्भीय अनुसंधानों में बायतू (बालोतरा) से सांचौर तक राज्य की दूसरी मीठे जल की भूगर्भीय जलपट्टी की खोज की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53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15/350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लाठी सीरीज जैसलमेर में पोकरण से मोहनगढ़ तक विस्तृत 60 किमी लंबी अवसादी भू-गर्भीय जलपट्टी है, जो प्राचीन सरस्वती नदी का भू-गर्भीय प्रवाह मार्ग (Paleochannel) है। यहाँ चांदन नलकूप स्थित है जिसे 'थार का घड़ा' कहते हैं। इसी पट्टी के ऊपर प्रोटीन युक्त 'सेवण' (Lasiurus scindicus) घास के समृद्ध चारागाह पाए जाते हैं। हालिया हाइड्रो-जियोलॉजिकल अध्ययनों में बायतू (बालोतरा) से सांचौर के मध्य दूसरी भू-गर्भीय जलशिरा की पुष्टि हुई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53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15/350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थार मरुस्थल में पाई जाने वाली लवणीय दलदली अनुपजाऊ झीलों एवं गर्तों (रन / टाट) के क्षेत्रीय वितरण के संदर्भ में निम्नलिखित कथनों पर विचार कीजिए: A. चूरू जिले में तालछापर एवं पड़िहारा (परिहारा) प्रमुख लवणीय रन स्थित हैं। B. जैसलमेर जिले में पोकरण एवं भाकरी प्रमुख रन क्षेत्र हैं। C. नवगठित बालोतरा जिले में थोब एवं पचपदरा लवणीय रन स्थित हैं। D. फलौदी जिले में बाप एवं फलौदी तथा धौलपुर जिले में रेड़ाना प्रमुख रन क्षेत्र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96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16/350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थार मरुस्थल के बालुका स्तूप मुक्त व शुष्क क्षेत्रों में मायकाशिष्ट चट्टानों की उपस्थिति और आंतरिक जल निकासी के कारण निम्न भू-भागों में लवणीय, दलदली एवं अनुपजाऊ गर्त बनते हैं जिन्हें स्थानीय रूप से 'रन' (Rann) या 'टाट' (Tat) कहा जाता है। प्रमुख रन क्षेत्रों का जिलावार अद्यतन वर्गीकरण: (1) चूरू - तालछापर (काले हिरणों का अभयारण्य) एवं पड़िहारा रन; (2) फलौदी - बाप रन तथा फलौदी रन; (3) जैसलमेर - पोकरण रन और भाकरी रन; (4) बालोतरा - थोब रन (राज्य का सबसे बड़ा लवणीय गर्त) एवं पचपदरा रन; (5) बाड़मेर - रेड़ाना रन; तथा (6) जालोर/सांचोर - नेहड़ का रन (कच्छ की खाड़ी का विस्तार)। अतः सभी चारों कथन सत्य हैं। ⚡ [परीक्षा-उपयोगी सूक्ष्म दृष्टि / RPSC Trap Alert]: कथन D असत्य है क्योंकि इसमें दिए गए तथ्य में त्रुटि है। वास्तविक तथ्य यह है कि बाड़मेर जिले में स्थित है न कि धौलपुर में।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96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16/350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राज्य जलवायु परिवर्तन नीति 2023 (Rajasthan Climate Change Policy 2023) के मुख्य प्रावधानों पर विचार कीजिए: A. इसका विज़न राजस्थान को जलवायु-अनुकूल (Climate-Resilient) एवं निम्न-कार्बन (Low-Carbon) अर्थव्यवस्था बनाना है। B. इसमें थार मरुस्थल में मरुस्थलीकरण की रोकथाम हेतु ओरण, गोचर एवं पारंपरिक चारागाहों के विधिक संरक्षण पर बल दिया गया है। C. अरावली पर्वतमाला को हरित गलियारे के रूप में पुनर्जीवित करने हेतु अवैध खनन पर पूर्ण रोक व सघन वनीकरण का लक्ष्य रखा गया है। D. जलवायु-स्मार्ट कृषि (Climate-Smart Agriculture) तथा 100% सौर व पवन ऊर्जा आधारित औद्योगिक विकास को प्रोत्साहित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40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17/350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राज्य जलवायु परिवर्तन नीति 2023: राज्य को जलवायु जोखिमों के प्रति सक्षम बनाने हेतु राज्य वन नीति, सौर ऊर्जा नीति और सतत विकास लक्ष्यों (SDGs) का अभिसरण करती है। थार में ओरण/गोचर का संरक्षण, अरावली में ग्रीन वॉल, जल निकायों (सांभर/केवलादेव) का संरक्षण और कम पानी वाली सूखा-प्रतिरोधी फसलों को बढ़ावा देना इसके प्रमुख घटक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40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17/350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इसरो (ISRO) के 'मरुस्थलीकरण एवं भूमि क्षरण एटलस' के अनुसार राजस्थान की स्थिति पर विचार कीजिए: A. नवीनतम इसरो एटलस के अनुसार राजस्थान का लगभग 67% भौगोलिक भूभाग मरुस्थलीकरण एवं भूमि क्षरण (Land Degradation) की चपेट में है। B. राजस्थान में भूमि क्षरण का सबसे प्रमुख प्रक्रम 'वायु अपरदन' (लगभग 44% से अधिक) है, जिसके बाद जल अपरदन और वनस्पति क्षरण आते हैं। C. संयुक्त राष्ट्र मरुस्थलीकरण रोकथाम अभिसमय (UNCCD) के तहत भारत ने 2030 तक 'भूमि क्षरण तटस्थता' (LDN) हासिल करने का लक्ष्य रखा है। D. काजरी (CAZRI) एवं आफरी (AFRI), जोधपुर द्वारा बालुका स्तूप स्थिरीकरण और शेल्टरबेल्ट रोपण तकनीकें विकसित की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83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18/350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इसरो मरुस्थलीकरण एटलस: अंतरिक्ष अनुप्रयोग केंद्र (SAC/ISRO) के अनुसार राजस्थान का 67% भाग क्षरित है (वायु अपरदन 44.4%, वनस्पति क्षरण 11%, जल अपरदन 6.8%, लवणता 2.7%)। UNCCD के LDN 2030 लक्ष्यों के तहत काजरी व आफरी द्वारा वायुरोधी वृक्ष पट्टिकाएं (Shelterbelts), मरु घासों (सेवण, धामण) का रोपण व बालुका स्तूप स्थिरीकरण किया जा रहा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83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18/350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थार मरुस्थल में विशिष्ट भू-आकृतिक स्वरूप वाले 'तारा बालुका स्तूप' (Star Dunes) मुख्य रूप से किन क्षेत्रों में पाए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मोहनगढ़ (जैसलमेर) एवं सूरतगढ़ (श्रीगंगानगर)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सरदारशहर (चूरू) एवं खाटू (सीकर)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सिवाना (बालोतरा) एवं फलौदी (जोधपुर)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कोलायत (बीकानेर) एवं पचपदरा (बालोतरा)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27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19/350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मोहनगढ़ (जैसलमेर) एवं सूरतगढ़ (श्रीगंगानगर)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सरदारशहर (चूरू) एवं खाटू (सीकर)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सिवाना (बालोतरा) एवं फलौदी (जोधपुर)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कोलायत (बीकानेर) एवं पचपदरा (बालोतरा)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तारा बालुका स्तूप (Star Dunes) पवन की बहु-दिशात्मक गति और भंवरदार प्रवाह के कारण निर्मित होने वाली विशिष्ट तारानुमा संरचनाएं हैं। इन स्तूपों की कई भुजाएं विभिन्न दिशाओं में तारे की तरह निकली होती हैं और इनकी ऊँचाई सामान्यतः 10 से 25 मीटर तक होती है। राजस्थान में तारा बालुका स्तूप मुख्य रूप से जैसलमेर जिले के मोहनगढ़ व पोकरण क्षेत्रों तथा श्रीगंगानगर जिले के सूरतगढ़ क्षेत्र में पाए जाते हैं। इसके अतिरिक्त रावतसर (हनुमानगढ़) के आसपास भी इनके छोटे पॉकेट्स मिलते हैं। चूरू और सीकर में बरखान स्तूपों की बहुलता है, जबकि सिवाना और बालोतरा में पर्वतीय एवं रेतीले टीले पाए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27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19/350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अरावली पर्वतमाला के प्रमुख पठारों को उनकी समुद्र तल से औसत ऊंचाई एवं भौगोलिक स्थिति के साथ सही सुमेलित कीजिए: सूची-I (पठार): सूची-I: A. उड़िया पठार B. भोराट पठार C. लसाड़िया पठार D. मेसा पठार सूची-II: 1. 620 मीटर - बेड़च और गंभीरी नदियों के संगम पर स्थित (चित्तौड़गढ़ दुर्ग) 2. जयसमंद झील के पूर्व में स्थित अत्यधिक विच्छेदित एवं कटा-फटा उत्खात पठार (सलूंबर) 3. 1225 मीटर - कुंभलगढ़ (राजसमंद) से गोगुंदा (उदयपुर) के मध्य जल-विभाजक 4. 1360 मीटर - गुरुशिखर के नीचे, सिरोही (राजस्थान का सर्वोच्च पठार)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71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20/350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अरावली के प्रमुख पठारों का विवरण: (1) उड़िया पठार माउंट आबू में 1360 मीटर ऊंचाई पर स्थित राज्य का सबसे ऊंचा पठार है; (2) भोराट पठार 1225 मीटर ऊंचा है जो कुंभलगढ़ से गोगुंदा के मध्य अरब सागर व बंगाल की खाड़ी अपवाह का मुख्य जल-विभाजक है; (3) लसाड़िया का पठार जयसमंद झील के पूर्व में सलूंबर जिले में फैला अत्यधिक कटा-फटा विच्छेदित पठार है; (4) मेसा पठार (620 मीटर) चित्तौड़गढ़ में स्थित है जिस पर चित्तौड़गढ़ दुर्ग बना है। अतः सही सुमेलन A-4, B-3, C-2,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71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20/350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उदयपुर जिले में जरगा और रागा पर्वत चोटियों के मध्य स्थित वर्ष भर हरा-भरा रहने वाले उच्च पठारी क्षेत्र को किस नाम से जाना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भोराट का पठार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देशहरो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लसाड़िया का पठार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ऊपरमाल का पठार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21/350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देशहरो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भोराट का पठार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लसाड़िया का पठार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ऊपरमाल का पठार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दक्षिणी अरावली में उदयपुर जिले के अंतर्गत जरगा पर्वत (1431 मी.) और रागा पर्वत के बीच स्थित उच्च पर्वतीय घाटी क्षेत्र को 'देशहरो' कहा जाता है। यह क्षेत्र अपनी विशिष्ट स्थलाकृति और वर्ष भर हरी-भरी प्राकृतिक वनस्पति से आच्छादित रहने के कारण इस नाम से प्रसिद्ध है। 'भोराट का पठार' कुम्भलगढ़ (राजसमंद) और गोगुंदा (उदयपुर) के मध्य स्थित है। 'लसाड़िया का पठार' जयसमंद झील के पूर्व में स्थित अत्यधिक कटा-फटा व विच्छेदित पठार है जो अब सलूंबर जिले में आता है। 'ऊपरमाल का पठार' बिजौलिया (भीलवाड़ा) से भैंसरोड़गढ़ (चित्तौड़गढ़) के मध्य स्थित पथरीला पठारी भू-भाग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21/350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विशिष्ट स्थानीय पठारों को उनकी अवस्थिति के साथ सही सुमेलित कीजिए: सूची-I: सूची-I: A. मेसा का पठार B. लसाड़िया का पठार C. ऊपरमाल का पठार D. बीजासण का पठार सूची-II: 1. जयसमंद झील के पूर्व में (सलूंबर) 2. चित्तौड़गढ़ (चित्तौड़गढ़ दुर्ग स्थित) 3. माण्डलगढ़ (भीलवाड़ा) 4. बिजौलिया से भैंसरोड़गढ़ के मध्य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58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22/350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मेसा का पठार 620 मीटर ऊँचा है और चित्तौड़गढ़ का ऐतिहासिक दुर्ग बेड़च व गंभीरी नदियों के संगम के निकट इसी पठार पर निर्मित है। लसाड़िया का पठार जयसमंद झील के पूर्व में स्थित अत्यधिक कटा-फटा और विच्छेदित पठार है, जो प्रशासनिक पुनर्गठन के बाद अब सलूंबर जिले के अंतर्गत आता है। ऊपरमाल का पठार बिजौलिया (भीलवाड़ा) से भैंसरोड़गढ़ (चित्तौड़गढ़) के मध्य फैला हुआ एक पथरीला एवं उपजाऊ पठारी भू-भाग है। बीजासण का पठार भीलवाड़ा जिले के माण्डलगढ़ क्षेत्र में स्थित है। यह पठारी उच्चावच विन्ध्यन और अरावली के मिलन स्थल की भू-आकृति को प्रदर्शित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58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22/350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चार प्रमुख पारिस्थितिकी तंत्रों में पाए जाने वाले वानस्पतिक एवं घास संसाधनों पर विचार कीजिए: A. मरु पारिस्थितिकी तंत्र में 'सेवण' (Lasiurus scindicus) प्रोटीनयुक्त (8-10%) घास तथा धामण, बुर एवं रोहिड़ा वृक्ष पाए जाते हैं। B. अरावली पारिस्थितिकी तंत्र में बांस (Dendrocalamus strictus), महुआ, धोकड़ा तथा ढाक (पलाश) के सघन वन पाए जाते हैं। C. पश्चिमी मैदान पारिस्थितिकी तंत्र में सवाई माधोपुर, भरतपुर एवं टोंक की नम भूमि में 'खस घास' (सुगंधित इत्र व शरबत हेतु) पाई जाती है। D. हाड़ौती पठार के वन क्षेत्रों में बीड़ी उद्योग में प्रयुक्त होने वाला 'तेंदू वृक्ष' (Diospyros melanoxylon) बहुतायत से पाया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01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23/350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पारिस्थितिकीय वनस्पति वितरण: थार मरुस्थल में सेवण घास (लाठी सीरीज) राठी व थारपारकर गोवंश का मुख्य पोषक आहार है; अरावली में बांस (आदिवासियों का हरा सोना) व महुआ (कल्पवृक्ष); पूर्वी मैदान में खस घास की जड़ों से इत्र व कूलर पर्दे बनते हैं; हाड़ौती में तेंदू पत्ता राज्य वन विकास निगम द्वारा संग्रहित कर बीड़ी उद्योग को आपूर्ति होता है। अतः सभी चारों कथन सत्य हैं। ⚡ [परीक्षा-उपयोगी सूक्ष्म दृष्टि / RPSC Trap Alert]: कथन C असत्य है क्योंकि इसमें दिए गए तथ्य में त्रुटि है। वास्तविक तथ्य यह है कि पूर्वी क्षेत्र से संबंधित है न कि पश्चिमी से।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01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23/350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आदिवासी अंचल में प्रचलित स्थानांतरित कृषि 'वालरा' (Walra) एवं इसके रूपों पर विचार कीजिए: A. 'वालरा' दक्षिण एवं दक्षिण-पूर्वी राजस्थान में भील, गरासिया एवं सहरिया जनजातियों द्वारा की जाने वाली पारंपरिक झूमिंग/स्थानांतरित कृषि है। B. अरावली की पहाड़ी ढलानों पर वनों व झाड़ियों को जलाकर की जाने वाली स्थानांतरित कृषि को 'चिमाता' (Chimata) कहा जाता है। C. समतल मैदानी भागों में वनों को काटकर व जलाकर की जाने वाली स्थानांतरित कृषि को 'दाजिया' (Dajiya) कहा जाता है। D. चिमाता कृषि से पहाड़ी ढलानों पर तीव्र मृदा अपरदन और वनों का विनाश होता है, अतः सरकार द्वारा इस पर प्रतिबंध लगाया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45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24/350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वालरा कृषि (स्थानांतरित/कर्तन एवं दहन): भील व गरासिया जनजातियों में प्रचलित। स्थलाकृति के आधार पर दो रूप: (1) पहाड़ी ढलानों पर 'चिमाता' (गंभीर भू-कटाव कारक); (2) मैदानी जंगलों में 'दाजिया'। पर्यावरण संरक्षण एवं वन सुरक्षा हेतु सरकार इस पर प्रतिबंध लगाकर आदिवासियों को स्थायी कृषि व पट्टा अधिकार दे रही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45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24/350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अल्फ्रेड वेगनर के 'महाद्वीपीय विस्थापन सिद्धांत' (Continental Drift Theory) के आधार पर राजस्थान के भौतिक प्रदेशों की भूगर्भिक उत्पत्ति पर विचार कीजिए: A. राजस्थान का वर्तमान भूभाग पैंजिया के विखंडन से बने प्राचीन 'गोंडवाना लैंड' तथा 'टेथिस सागर' दोनों का प्रतिनिधित्व करता है। B. अरावली पर्वतीय प्रदेश (प्री-कैम्ब्रियन काल) तथा दक्षिण-पूर्वी हाड़ौती पठार (क्रिटेशियस काल) प्राचीन गोंडवाना लैंड के अवशेष हैं। C. उत्तर-पश्चिमी मरुस्थलीय प्रदेश तथा पश्चिमी मैदानी प्रदेश टेथिस सागर के अवसादी निक्षेपों के अवशेष हैं। D. राजस्थान में अंगारा लैंड (लॉरेशिया) का कोई भी अवशेष नहीं पाया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88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25/350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अल्फ्रेड वेगनर (1912) के अनुसार पैंजिया के उत्तरी भाग को अंगारा लैंड और दक्षिणी भाग को गोंडवाना लैंड कहा गया। राजस्थान का भूभाग प्रायद्वीपीय भारत का हिस्सा होने के कारण गोंडवाना लैंड (अरावली व हाड़ौती पठार) तथा उत्तर के विशाल मैदान का हिस्सा होने के कारण टेथिस सागर (थार मरुस्थल व पूर्वी मैदान) का प्रतिनिधित्व करता है। राजस्थान में अंगारा लैंड का कोई अवशेष नहीं है। टेथिस सागर की उपस्थिति के प्रत्यक्ष साक्ष्य: खारे पानी की झीलें (सांभर, पचपदरा), आकल वुड फॉसिल पार्क (18 करोड़ वर्ष पुराने काष्ठ जीवाश्म), तथा हाइड्रोकार्बन व जिप्सम-लाइमस्टोन के अवसादी भंडार। अतः सभी कथन सत्य हैं। ⚡ [परीक्षा-उपयोगी सूक्ष्म दृष्टि / RPSC Trap Alert]: कथन C असत्य है क्योंकि इसमें दिए गए तथ्य में त्रुटि है। वास्तविक तथ्य यह है कि पूर्वी क्षेत्र से संबंधित है न कि पश्चिमी से। अतः सही उत्तर विकल्प (A)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88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25/350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अरावली पर्वतीय प्रदेश के प्रमुख शिखरों की समुद्र तल से ऊंचाई के संबंध में विचार कीजिए: A. गुरुशिखर (1722 मीटर) - सिरोही (राजस्थान एवं अरावली का सर्वोच्च शिखर) B. सेर (1597 मीटर) एवं दिलवाड़ा (1442 मीटर) - सिरोही C. जरगा (1431 मीटर) - उदयपुर तथा अचलगढ़ (1380 मीटर) - सिरोही D. कुंभलगढ़ (1224 मीटर) - राजसमंद तथा रघुनाथगढ़ (1055 मीटर) - सीकर (दक्षिणी अरावली का सर्वोच्च शिखर)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32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26/350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अरावली के प्रमुख शिखरों का अवरोही क्रम (ऊंचाई अनुसार): गुरुशिखर 1722 मी. (माउंट आबू, कर्नल टॉड ने 'संतों का शिखर' कहा); सेर 1597 मी. (सिरोही); दिलवाड़ा 1442 मी. (सिरोही); जरगा 1431 मी. (उदयपुर/राजसमंद); अचलगढ़ 1380 मी. (सिरोही); आबू पर्वत 1295 मी.; कुंभलगढ़ 1224 मी. (राजसमंद); धोनिया 1183 मी.; जयराज 1090 मी.; रघुनाथगढ़ 1055 मी. (सीकर - उत्तरी अरावली की सबसे ऊंची चोटी); मालखेत 1051 मी. (सीकर); तारागढ़ 873 मी. व नाग पहाड़ 795 मी. (अजमेर - मध्य अरावली)। अतः सभी कथन सत्य हैं। ⚡ [परीक्षा-उपयोगी सूक्ष्म दृष्टि / RPSC Trap Alert]: कथन D असत्य है क्योंकि इसमें दिए गए तथ्य में त्रुटि है। वास्तविक तथ्य यह है कि उत्तरी भाग में स्थित है न कि दक्षिणी में।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32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26/350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अरावली पर्वतमाला के प्रमुख दरों (नाल) को उनके संबंधित जिलों के साथ सुमेलित कीजिए: सूची-I: सूची-I: A. पगल्या की नाल (जिलवाड़ा नाल) B. हाथी दर्रा C. बोरांग दर्रा D. बर दर्रा सूची-II: 1. पाली 2. सिरोही 3. राजसमंद 4. उदयपुर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75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27/350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अरावली पर्वतमाला में स्थित दर्रे (जिन्हें स्थानीय भाषा में 'नाल' या 'घाट' कहा जाता है) पर्वतीय श्रेणियों के मध्य प्राकृतिक आवागमन मार्ग प्रदान करते हैं। 'पगल्या की नाल' (या जिलवाड़ा की नाल) राजसमंद जिले में स्थित है जो मेवाड़ को मारवाड़ से जोड़ती है। 'हाथी दर्रा' उदयपुर जिले में स्थित है। 'बोरांग दर्रा' सिरोही जिले में अवस्थित है, जबकि 'बर दर्रा' पाली जिले की ब्यावर सीमा के निकट स्थित है, जहाँ से राष्ट्रीय राजमार्ग गुजरता है। अतः सही मिलान A-3, B-4, C-2,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75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27/350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अरावली पर्वतमाला के बहुआयामी भौगोलिक एवं पारिस्थितिक महत्व के संबंध में निम्नलिखित कथनों पर विचार कीजिए: A. अरावली पर्वतमाला गुजरात के पालनपुर से दिल्ली (रायसीना हिल्स) तक लगभग 692 किमी (राजस्थान में 550 किमी, लगभग 80%) विस्तृत है। B. यह 50 सेमी समवर्षा रेखा के समानांतर स्थित होकर बंगाल की खाड़ी और अरब सागरीय अपवाह तंत्र के मध्य महान भारतीय जल-विभाजक का कार्य करती है। C. यह थार मरुस्थल के बालुका स्तूपों एवं रेतीली आंधियों को उपजाऊ पश्चिमी मैदानी भागों की ओर बढ़ने से रोकने में प्राकृतिक सुरक्षा दीवार का कार्य करती है। D. वर्तमान में अरावली में 12 से अधिक 'विंड गैप्स' (Wind Gaps / वायु अंतराल) चौड़े हो गए हैं, जिससे मरुस्थलीकरण का पूर्व की ओर प्रसार हो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28/350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अरावली विश्व की प्राचीनतम वलित पर्वतमाला है। यह राज्य की रीढ़ की हड्डी है: (1) कुल लंबाई 692 किमी, राजस्थान में 550 किमी (खेडब्रह्मा सिरोही से खेतड़ी नीम का थाना); (2) महान जल-विभाजक (50 सेमी समवर्षा रेखा); (3) मरुस्थल प्रसार नियंत्रक; (4) बनास, लूनी, साबरमती नदियों का उद्गम स्थल। परंतु अवैध खनन व वनों की कटाई से सांभर गैप, पुष्कर गैप सहित 12 से अधिक विंड गैप्स चौड़े हो गए हैं, जिससे मरुस्थल का रिसाव जयपुर, अलवर और दिल्ली-एनसीआर की ओर बढ़ रहा है। अतः सभी कथन सत्य हैं। ⚡ [परीक्षा-उपयोगी सूक्ष्म दृष्टि / RPSC Trap Alert]: कथन C असत्य है क्योंकि इसमें दिए गए तथ्य में त्रुटि है। वास्तविक तथ्य यह है कि पूर्वी क्षेत्र से संबंधित है न कि पश्चिमी से।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28/350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साबरमती नदी (Sabarmati River) के उद्गम, प्रवाह एवं इस पर निर्मित जल-सुरंगों के संबंध में कथनों पर विचार कीजिए: A. साबरमती नदी का उद्गम उदयपुर जिले की झाड़ोल तहसील में स्थित पदर्शना की पहाड़ियों (अरावली पर्वतमाला) से होता है। B. राजस्थान में इसका प्रवाह मुख्यतः उदयपुर जिले में मात्र 44-45 किमी है, जिसके पश्चात यह गुजरात में प्रवेश कर खंभात की खाड़ी (बंगाल की खाड़ी) में विलीन हो जाती है। C. वाकल, सेई, हथमती, वेतरक (वात्रक), मेश्वा और माजम साबरमती की प्रमुख सहायक नदियां हैं। D. सेई जल-सुरंग (6.7 किमी लंबी) राजस्थान की प्रथम जल-सुरंग है जिसके द्वारा साबरमती बेसिन का जल लूनी बेसिन के 'जवाई बाँध' (पाली) में स्थानांतरित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63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29/350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साबरमती नदी तंत्र: उद्गम उदयपुर की झाड़ोल तहसील की पदर्शना पहाड़ियों से होता है। राजस्थान में इसका अपवाह केवल 44-45 किमी है, मुख्य नदी के रूप में यह गुजरात (अहमदाबाद, गांधीनगर) में बहती है। सहायक नदियां: वाकल, सेई, हथमती, वेतरक, मेश्वा, माजम। जल-सुरंगें: (1) सेई जल-सुरंग (6.7 किमी - अगस्त 1977 में प्रारंभ) राज्य की पहली जल सुरंग है जो उदयपुर से पाली के जवाई बाँध तक जल ले जाती है; (2) मानसी-वाकल जल-सुरंग (11.2 किमी - राजस्थान की सबसे लंबी सुरंग) उदयपुर शहर व हिंदुस्तान जिंक को जल आपूर्ति करती है। अतः सभी कथन सत्य हैं। ⚡ [परीक्षा-उपयोगी सूक्ष्म दृष्टि / RPSC Trap Alert]: कथन B असत्य है क्योंकि इसमें दिए गए तथ्य में त्रुटि है। वास्तविक तथ्य यह है कि अरब सागर शाखा के समानांतर है न कि बंगाल की खाड़ी। अतः सही उत्तर विकल्प (D)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63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29/350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सालर (Boswellia serrata) वनों के भौगोलिक वितरण एवं आर्थिक उपयोगिता के संबंध में निम्नलिखित कथनों पर विचार कीजिए: A. सालर के वन अरावली के 450 मीटर से अधिक ऊँचे पर्वतीय ढालों पर उदयपुर, राजसमंद, चित्तौड़गढ़, सिरोही, पाली और अलवर में विस्तृत हैं। B. सालर का वृक्ष उच्च गुणवत्ता वाले प्राकृतिक 'गोंद' (Gum) का प्रमुख स्रोत है। C. सालर की हल्की लकड़ी का उपयोग मुख्य रूप से पैकिंग बॉक्स (सामान पैक करने के डिब्बे) बनाने में किया जाता है। D. सालर के वन पश्चिमी राजस्थान के रेतीले बालुका स्तूपों पर पाए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06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30/350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सालर (Boswellia serrata) वन अरावली पर्वतमाला के ऊपरी ढलानों और पथरीली चोटियों पर पाए जाते हैं। यह उदयपुर, राजसमंद, चित्तौड़गढ़, सिरोही, पाली, अजमेर, जयपुर और अलवर जिलों में विस्तृत हैं। सालर के तने से व्यावसायिक गोंद निकाला जाता है। इसकी लकड़ी मुलायम और हल्की होने के कारण चाय की पेटियां, फल-सब्जियों के पैकिंग बॉक्स और माचिस उद्योग में प्रयुक्त होती है। कथन D असत्य है क्योंकि सालर पर्वतीय ढालों का वृक्ष है, मरुस्थलीय रेतीले टीलों का नहीं।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06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30/350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कुल वनों के लगभग 58% भाग पर पाए जाने वाले 'उष्ण शुष्क धोक वन' (Anogeissus pendula) पर विचार कीजिए: A. धौंकड़ा (Anogeissus pendula) राजस्थान के वनों में सर्वाधिक क्षेत्रफल (लगभग 58.11%) पर पाया जाने वाला मुख्य देशी वृक्ष है। B. यह मुख्यतः अरावली एवं विंध्यन कगार क्षेत्रों में 30 से 60 सेमी वार्षिक वर्षा तथा 250 से 750 मीटर ऊंचाई पर सवाई माधोपुर, करौली, अलवर, बूंदी व गंगानगर में विस्तृत है। C. धोक की लकड़ी अत्यधिक सघन, कठोर और भारी होने के कारण इसका कैलोरी मान बहुत उच्च होता है, जिससे यह ग्रामीण जलाऊ ईंधन का मुख्य स्रोत है। D. धोक की लकड़ी से उत्कृष्ट कोटि का गंधहीन चारकोल (कोयला) बनाया जाता है तथा इसकी पत्तियां (धावड़ा लूंग) पशुओं हेतु पोषक चारा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50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31/350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उष्ण शुष्क धोक वन (धौंकड़ा): राजस्थान के वनों का 58% हिस्सा आच्छादित करते हैं। सवाई माधोपुर (रणथंभौर) व अलवर (सरिस्का) में प्रधानता। इसकी लकड़ी का घनत्व अधिक होने से धीमी गति व तीव्र ऊष्मा से जलती है, जिससे बेहतरीन काष्ठ-कोयला बनता है। इसकी हरी/सूखी पत्तियां 'धावड़ा लूंग' कहलाती हैं जो बकरियों व मवेशियों का प्रिय चारा हैं। अतः सभी चारों कथन सत्य हैं। ⚡ [परीक्षा-उपयोगी सूक्ष्म दृष्टि / RPSC Trap Alert]: कथन B असत्य है क्योंकि इसमें दिए गए तथ्य में त्रुटि है। वास्तविक तथ्य यह है कि हाड़ौती/कोटा संभाग से संबंधित है न कि गंगानगर से।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50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31/350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दक्षिणी अरावली प्रदेश (उदयपुर, सिरोही, प्रतापगढ़) की संकटग्रस्त वन्यजीव प्रजातियों पर विचार कीजिए: A. उड़न गिलहरी (Flying Squirrel - पेटॉरिस्टा फिलिपेंसिस) - सीतामाता एवं फुलवारी की नाल के सघन महुआ व जामुन वृक्षों पर पाई जाती है। B. चौसिंगा (Four-horned Antelope / स्थानीय नाम 'घोटेल') - विश्व का एकमात्र चार सींग वाला मृग जो सीतामाता में पाया जाता है। C. स्लॉथ बियर (भालू) - माउंट आबू, कुंभलगढ़ और जयसमंद अभयारण्य में सुरक्षित है (सुंधामाता में प्रथम भालू अभयारण्य)। D. ग्रीन मुनिया (Green Munia) - माउंट आबू और सिरोही के उपोष्ण क्षेत्रों में पाई जाने वाली विलुप्तप्राय सुंदर पक्षी प्रजाति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93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32/350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दक्षिणी अरावली की विशिष्ट वन्यजीव संपदा: सीतामाता अभयारण्य उड़न गिलहरी (जो महुआ के पेड़ों पर सूर्यास्त बाद विचरती है) और चौसिंगा (घोटेल) हेतु प्रसिद्ध है; माउंट आबू में राज्य का एकमात्र भालू संरक्षित क्षेत्र (सुंधामाता भालू कंजर्वेशन रिजर्व जालौर-सिरोही 2008) तथा दुर्लभ हरा मुनिया पक्षी पाया जाता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93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32/350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मध्य एवं दक्षिणी अरावली में स्थित पर्वतीय दर्रों (नाल) के संदर्भ में निम्नलिखित में से कौन-सा युग्म सुमेलित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बर दर्रा - मारवाड़ (पाली) को मध्य राजस्थान (ब्यावर/अजमेर) से जोड़ता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देसूरी की नाल - पाली (मारवाड़) को राजसमंद (मेवाड़) से जोड़ता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हाथीगुड़ा नाल - कुंभलगढ़ दुर्ग के समीप पाली और राजसमंद के मध्य संपर्क मार्ग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कामली घाट दर्रा - जैसलमेर को बाड़मेर से जोड़ने वाला प्रमुख मरुस्थलीय मार्ग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37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33/350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कामली घाट दर्रा - जैसलमेर को बाड़मेर से जोड़ने वाला प्रमुख मरुस्थलीय मार्ग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 दर्रा - मारवाड़ (पाली) को मध्य राजस्थान (ब्यावर/अजमेर) से जोड़ता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देसूरी की नाल - पाली (मारवाड़) को राजसमंद (मेवाड़) से जोड़ता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हाथीगुड़ा नाल - कुंभलगढ़ दुर्ग के समीप पाली और राजसमंद के मध्य संपर्क मार्ग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अरावली के संकीर्ण पर्वतीय दर्रों (नाल) में: बर दर्रा (ब्यावर-पाली सीमा पर, NH-25 गुजरता है); देसूरी की नाल (पाली को राजसमंद से जोड़ता है); हाथीगुड़ा नाल (कुंभलगढ़ दुर्ग के पास, सामरिक दृष्टि से प्रसिद्ध); कामली घाट दर्रा राजसमंद और पाली की सीमा पर स्थित है (जहाँ से ऐतिहासिक मीटरगेज/हेरिटेज ट्रेन गुजरती है), यह जैसलमेर-बाड़मेर में नहीं है। अन्य प्रमुख दर्रे: सूरा घाट, शिवपुर घाट (ब्यावर) तथा झीलवाड़ा/पगल्या नाल (मेवाड़-मारवाड़)। अतः विकल्प D असुमेलित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37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33/350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निम्नलिखित पर्वत शिखरों को उनकी ऊँचाई के अनुसार सही अवरोही (Descending) क्रम में व्यवस्थित कीजिए:</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 &gt; जरगा &gt; अचलगढ़ &gt; कुम्भलगढ़</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जरगा &gt; सेर &gt; अचलगढ़ &gt; कुम्भलगढ़</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 &gt; अचलगढ़ &gt; जरगा &gt; कुम्भलगढ़</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कुम्भलगढ़ &gt; अचलगढ़ &gt; जरगा &gt; सेर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80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34/350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सेर &gt; जरगा &gt; अचलगढ़ &gt; कुम्भलगढ़</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जरगा &gt; सेर &gt; अचलगढ़ &gt; कुम्भलगढ़</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 &gt; अचलगढ़ &gt; जरगा &gt; कुम्भलगढ़</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कुम्भलगढ़ &gt; अचलगढ़ &gt; जरगा &gt; सेर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अरावली पर्वतमाला राजस्थान के मध्य से गुजरने वाली विश्व की प्राचीनतम वलित पर्वत श्रृंखला है। इसके प्रमुख शिखरों की ऊँचाई का सही अवरोही क्रम इस प्रकार है: (1) गुरु शिखर (सिरोही) - 1722 मीटर, (2) सेर (सिरोही) - 1597 मीटर, (3) दिलवाड़ा (सिरोही) - 1442 मीटर, (4) जरगा (उदयपुर) - 1431 मीटर, (5) अचलगढ़ (सिरोही) - 1380 मीटर, (6) आबू (सिरोही) - 1295 मीटर, तथा (7) कुम्भलगढ़ (राजसमंद) - 1224 मीटर। अतः दिए गए विकल्पों में सेर (1597 मी.) &gt; जरगा (1431 मी.) &gt; अचलगढ़ (1380 मी.) &gt; कुम्भलगढ़ (1224 मी.) का क्रम पूर्णतः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80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34/350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अरावली पर्वतमाला के पर्वत-पदीय ढलानों पर अपरदन के पश्चात निर्मित समतल व लहरदार मैदान को 'पीडमांट मैदान' (Piedmont Plain) कहा जाता है; राजस्थान में पीडमांट मैदान का सर्वोत्कृष्ट उदाहरण किस क्षेत्र में पाया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आबू पर्वत (सिरोही)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देवगढ़ (राजसमंद)</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शाहबाद (बारां)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सिवाना (बालोतरा)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35/350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देवगढ़ (राजसमंद)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आबू पर्वत (सिरोही)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शाहबाद (बारां)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सिवाना (बालोतरा)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भौतिक भूगोल में किसी उच्च पर्वत श्रेणी की तलहटी में नदियों और वायु के दीर्घकालिक अपरदन व निक्षेपण से निर्मित विस्तृत, मंद ढाल वाले पर्वतपदीय मैदान को 'पीडमांट' (Piedmont: Pied = पाद/पैर, Mont = पर्वत) कहा जाता है। राजस्थान में दक्षिणी अरावली के पूर्वी ढाल पर राजसमंद जिले का 'देवगढ़' (Devgarh) क्षेत्र एक आदर्श पीडमांट मैदान का उदाहरण है। यह मैदान ग्रेनाइट और नीस चट्टानों से निर्मित एक समप्राय मैदान (Peneplain) है जहाँ कहीं-कहीं अवशिष्ट कठोर पहाड़ियां (Inselbergs) एकाकी रूप में दिखाई देती हैं। इसका सामान्य ढाल पूर्व दिशा में बनास नदी बेसिन की ओर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35/350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सरकार द्वारा 1 मार्च 2026 को आधिकारिक रूप से परिवर्तित किए गए ऐतिहासिक एवं धार्मिक स्थलों के नवीन नामों का सही मिलान कीजिए: सूची-I (ऐतिहासिक स्थल): सूची-I: A. माउंट आबू (सिरोही) B. जहाजपुर (भीलवाड़ा) C. कामां (डीग) D. बैराठ (कोटपूतली-बहरोड़) सूची-II: 1. यज्ञपुर 2. कामवन 3. विराटनगर 4. आबूराज</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367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36/350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द्वारा राज्य की सांस्कृतिक एवं पौराणिक धरोहर को पुनर्स्थापित करने के उद्देश्य से 1 मार्च 2026 को प्रमुख ऐतिहासिक स्थलों के आधिकारिक नाम परिवर्तित किए गए: (1) माउंट आबू (सिरोही) का नाम बदलकर पौराणिक अर्बुदांचल पर्वत के आधार पर 'आबूराज' किया गया। (2) जहाजपुर (भीलवाड़ा) का नाम महाभारत कालीन राजा जनमेजय द्वारा सर्प-यज्ञ किए जाने के पौराणिक संदर्भ में 'यज्ञपुर' किया गया। (3) कामां (डीग) का नाम ब्रज चौरासी कोस परिक्रमा के पावन वन के आधार पर 'कामवन' किया गया। (4) बैराठ का नाम महाभारत कालीन मत्स्य जनपद की राजधानी के ऐतिहासिक आधार पर 'विराटनगर' प्रचलित है। अतः सही मिलान A-4, B-1, C-2,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367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36/350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विशिष्ट क्षेत्रीय स्थलाकृतियों एवं भौगोलिक युग्मों का सही सुमेलन कीजिए: सूची-I: सूची-I: A. बीड़ बनाम बीहड़ B. भोराट बनाम भोमट C. मेवल बनाम मेवात D. माल बनाम मालव सूची-II: 1. हाड़ौती का बेसाल्टिक पठार बनाम प्रतापगढ़, झालावाड़ व एमपी सीमावर्ती मालवा पठार का विस्तार 2. शेखावाटी में चारागाह भूमि बनाम चम्बल नदी द्वारा अवनालिका अपरदित उत्खात कंदराएं 3. कुम्भलगढ़ से गोगुंदा के मध्य जल विभाजक पठार बनाम उदयपुर-डूंगरपुर का भील बहुल दुर्गम पर्वतीय क्षेत्र 4. बांसवाड़ा व डूंगरपुर के मध्य स्थित पहाड़ी क्षेत्र बनाम अलवर-भरतपुर का मेव जाति बहुल क्षेत्र</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711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37/350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क्षेत्रीय शब्दावलियों का सूक्ष्म भौगोलिक अंतर: (1) 'बीड़' शेखावाटी में सुरक्षित घास के मैदानों व चारागाहों को कहते हैं (जैसे फतेहपुर बीड़, बीड मुहाना), जबकि 'बीहड़' चम्बल और उसकी सहायक नदियों के भीषण गली इरोजन से निर्मित बीहड़ खड्ड (डांग क्षेत्र: कोटा, बूंदी, सवाई माधोपुर, करौली, धौलपुर) हैं। (2) 'भोराट' कुम्भलगढ़ (राजसमंद) व गोगुंदा (उदयपुर) के मध्य 1224 मीटर ऊँचा पठार है जहाँ जरगा चोटी स्थित है, जबकि 'भोमट' उदयपुर, सलूंबर व डूंगरपुर के मध्य अरावली का पथरीला भील जनजाति क्षेत्र है। (3) 'मेवल' (या देवलिया) बांसवाड़ा व डूंगरपुर के बीच स्थित पहाड़ियों को कहते हैं, जबकि 'मेवात' अलवर, खैरथल-तिजारा व भरतपुर का मेव बहुल ऐतिहासिक क्षेत्र है। (4) 'माल' कोटा, बूंदी, बारां, झालावाड़ के हाड़ौती लावा पठार को कहते हैं, जबकि 'मालव' प्रतापगढ़, झालावाड़ व चित्तौड़गढ़ में फैला मालवा के पठार का अग्र-भाग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711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37/350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स्थित 7 प्रमुख मृगवनों (Deer Parks) और उनकी अवस्थिति के संबंध में कौन-सा युग्म सुमेलित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अशोक विहार मृगवन - जयपुर शहर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अमृतादेवी मृगवन - खेजड़ली (जोधपुर)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संजय उद्यान मृगवन - शाहपुरा (भीलवाड़ा)</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पुष्कर मृगवन - अजमेर (पंचकुण्ड)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055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38/350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संजय उद्यान मृगवन - शाहपुरा (भीलवाड़ा)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अशोक विहार मृगवन - जयपुर शहर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अमृतादेवी मृगवन - खेजड़ली (जोधपुर)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पुष्कर मृगवन - अजमेर (पंचकुण्ड)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कुल 7 मृगवन (Deer Parks) स्थित हैं: (1) अशोक विहार मृगवन (जयपुर), (2) संजय उद्यान मृगवन - यह शाहपुरा (जयपुर) के निकट राष्ट्रीय राजमार्ग पर स्थित है, न कि भीलवाड़ा वाले शाहपुरा में; (3) माचिया सफारी मृगवन (जोधपुर), (4) अमृतादेवी मृगवन (खेजड़ली, जोधपुर - 1988), (5) पुष्कर मृगवन (अजमेर), (6) चित्तौड़गढ़ दुर्ग मृगवन (चित्तौड़गढ़ - 1969), तथा (7) सज्जनगढ़ मृगवन (उदयपुर)। अतः विकल्प C असुमेलित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055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38/350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मोतीलाल तेजावत द्वारा प्रारंभ 'एकी आंदोलन' (भौमट भील आंदोलन) एवं 'नीमड़ा हत्याकांड' पर विचार कीजिए: A. मोतीलाल तेजावत ने 1921 में चित्तौड़गढ़ के 'मातृकुंडिया' (राशमी) से आदिवासियों के शोषण एवं 21 सूत्रीय मांगों ('मेवाड़ पुकार') हेतु एकी आंदोलन शुरू किया। B. 7 मार्च 1922 को विजयनगर राज्य के 'नीमड़ा गाँव' में एकत्रित सम्मेलन पर ब्रिटिश सेना द्वारा गोलियां चलाने से 1200 से अधिक भील-सांसी शहीद हुए। C. आदिवासियों में मोतीलाल तेजावत को श्रद्धा से 'बावजी' (मसीहा) कहा जाता है। D. एकी आंदोलन का मुख्य नारा "ना हाकिम, ना हुकम" (कोई राजा नहीं, कोई आज्ञा नहीं)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398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39/350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एकी आंदोलन (1921-22): मोतीलाल तेजावत (बावजी) का नेतृत्व। मातृकुंडिया (मेवाड़ का हरिद्वार) से शुरुआत। 21 सूत्रीय मांग पत्र 'मेवाड़ पुकार'। नीमड़ा हत्याकांड (7 मार्च 1922) में 1200 आदिवासी शहीद हुए। रियासती लाग-बाग व बेगार के विरुद्ध आदिवासियों को एकजुट किया। अतः सभी कथन सत्य हैं। ⚡ [परीक्षा-उपयोगी सूक्ष्म दृष्टि / RPSC Trap Alert]: कथन B असत्य है क्योंकि इसमें दिए गए तथ्य में त्रुटि है। वास्तविक तथ्य यह है कि गरासिया जनजाति में मोर बंधिया व ताणना विवाह प्रचलित हैं। अतः सही उत्तर विकल्प (D)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398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39/350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विभिन्न जिलों की विशिष्ट भौगोलिक आकृतियों के संदर्भ में निम्नलिखित में से कौन-सा युग्म सुमेलित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जालोर - पतंगाकार (रोम्बस के समान)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सीकर - अर्द्ध-चन्द्राकार या प्यालेनुमा (Crescent shaped)</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चित्तौड़गढ़ - घोड़े की नाल के समान / इल्लीनुमा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हनुमानगढ़ - कुर्सी या सोफेनुमा (L-आकार)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742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40/350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जालोर - पतंगाकार (रोम्बस के समान)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सीकर - अर्द्ध-चन्द्राकार या प्यालेनुमा (Crescent shaped)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चित्तौड़गढ़ - घोड़े की नाल के समान / इल्लीनुमा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हनुमानगढ़ - कुर्सी या सोफेनुमा (L-आकार)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राजस्थान के जिलों की विशिष्ट आकृतियां: हनुमानगढ़ कुर्सी या L-आकार के समान; सीकर अर्द्धचन्द्राकार या प्यालेनुमा; चित्तौड़गढ़ घोड़े की नाल अथवा इल्ली के समान; टोंक पतंगाकार (रोम्बस); जालोर की आकृति 'व्हेल मछली' के समान है; करौली बतखनुमा; भीलवाड़ा आयताकार; दौसा धनुषाकार; तथा राजसमंद की आकृति तिलक अथवा पानी की बूंद के समान है। अतः विकल्प A असुमेलित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742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40/350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लौह-अयस्क (Iron-Ore) खनन क्षेत्रों को उनके संबंधित जिलों के साथ सही सुमेलित कीजिए: सूची-I: सूची-I: A. मोरीजा-बानोल B. नीमला-रायसेला C. डाबला-सिंघाना D. नाथरा की पाल व थूर-हुंडेर सूची-II: 1. झुंझुनूं 2. उदयपुर 3. जयपुर ग्रामीण (चौमूं) 4. दौसा</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085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41/350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हेमेटाइट और मैग्नेटाइट किस्म का लौह अयस्क पाया जाता है। मोरीजा-बानोल (जयपुर ग्रामीण) राज्य का सबसे बड़ा और उच्च कोटि का लौह अयस्क उत्पादक क्षेत्र है। नीमला-रायसेला क्षेत्र दौसा जिले में स्थित है। डाबला-सिंघाना क्षेत्र झुंझुनूं जिले में खेतड़ी कॉपर बेल्ट के समीप अवस्थित है। नाथरा की पाल और थूर-हुंडेर दक्षिणी राजस्थान के उदयपुर जिले में स्थित प्रमुख लौह भंडार हैं। इसके अतिरिक्त भीलवाड़ा की पुर-बनेड़ा पेटी में भी कम मात्रा में लौह अयस्क 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085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41/350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पर्यटन विभाग एवं संस्कृति विभाग द्वारा आयोजित प्रमुख वार्षिक पर्यटन उत्सवों (Festivals) के संदर्भ में निम्नलिखित कथनों पर विचार कीजिए: A. 'ऊंट महोत्सव' (Camel Festival) प्रतिवर्ष जनवरी माह में बीकानेर में आयोजित किया जाता है। B. 'मरु महोत्सव' (Desert Festival) प्रतिवर्ष माघ पूर्णिमा (जनवरी-फरवरी) के अवसर पर जैसलमेर के सम के रेतीले धोरों पर भरता है। C. 'थार महोत्सव' धौलपुर में तथा 'हाथी महोत्सव' व 'पतंग महोत्सव' जयपुर में आयोजित किए जाते हैं। D. 'ग्रीष्म महोत्सव' एवं 'शरद महोत्सव' दोनों राज्य के एकमात्र हिल स्टेशन माउंट आबू (सिरोही) में आयोजित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42/350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देसी-विदेशी पर्यटकों को आकर्षित करने हेतु पर्यटन विभाग (RTDC) द्वारा विभिन्न मौसमों में रंगारंग उत्सव आयोजित किए जाते हैं: (1) जनवरी: ऊंट महोत्सव (बीकानेर), अंतरराष्ट्रीय पतंग महोत्सव (जयपुर), जयपुर लिटरेचर फेस्टिवल (डिग्गी पैलेस, जयपुर)। (2) फरवरी: मरु महोत्सव (जैसलमेर - मिस्टर डेजर्ट व मिस मूमल प्रतियोगिता), बेणेश्वर मेला (डूंगरपुर)। (3) मार्च: थार महोत्सव (बाड़मेर), हाथी महोत्सव (आमेर, जयपुर), ब्रज महोत्सव (भरतपुर)। (4) अप्रैल: मेवाड़ महोत्सव (उदयपुर), गणगौर मेला (जयपुर)। (5) मई/जून: ग्रीष्म महोत्सव (माउंट आबू)। (6) जुलाई/अगस्त: तीज महोत्सव (जयपुर), कजली तीज (बूंदी)। (7) सितंबर/अक्टूबर: मारवाड़ महोत्सव (जोधपुर), आभानेरी उत्सव (दौसा)। (8) नवंबर: पुष्कर मेला (अजमेर), चंद्रभागा मेला (झालरापाटन), मत्स्य महोत्सव (अलवर), कोलायत मेला (बीकानेर)। (9) दिसंबर: शरद महोत्सव (माउंट आबू), कुम्भलगढ़ शास्त्रीय संगीत उत्सव (राजसमंद)। अतः सभी कथन सत्य हैं। ⚡ [परीक्षा-उपयोगी सूक्ष्म दृष्टि / RPSC Trap Alert]: कथन C असत्य है क्योंकि इसमें दिए गए तथ्य में त्रुटि है। वास्तविक तथ्य यह है कि बाड़मेर जिले में स्थित है न कि धौलपुर में।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42/350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वन्यजीव (संरक्षण) अधिनियम, 1972 के तहत घोषित 7 प्रमुख मृगवनों (Deer Parks) पर विचार कीजिए: A. चित्तौड़गढ़ दुर्ग मृगवन (चित्तौड़गढ़, 1969) - राजस्थान का प्रथम मृगवन है। B. अशोक विहार मृगवन एवं संजय उद्यान मृगवन - क्रमशः जयपुर शहर तथा शाहपुरा (जयपुर) में स्थित हैं। C. माचिया सफारी मृगवन एवं अमृता देवी मृगवन - दोनों जोधपुर जिले में स्थित हैं। D. पुष्कर मृगवन (अजमेर) तथा सज्जनगढ़ मृगवन (चूरू) राज्य के अन्य प्रमुख मृगवन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772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43/350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कुल 7 मृगवन (Deer Parks) कार्यरत हैं: (1) चित्तौड़गढ़ मृगवन (1969 - प्रथम); (2) संजय उद्यान मृगवन (शाहपुरा, जयपुर); (3) अशोक विहार मृगवन (सचिवालय के पास, जयपुर); (4) माचिया सफारी मृगवन (जोधपुर); (5) अमृता देवी मृगवन (खेजड़ली, जोधपुर); (6) पुष्कर मृगवन (पंचकुंड, अजमेर); (7) सज्जनगढ़ मृगवन (उदयपुर)। अतः सभी चारों कथन सत्य हैं। ⚡ [परीक्षा-उपयोगी सूक्ष्म दृष्टि / RPSC Trap Alert]: कथन D असत्य है क्योंकि इसमें दिए गए तथ्य में त्रुटि है। वास्तविक तथ्य यह है कि उदयपुर क्षेत्र से संबंधित है न कि चूरू से।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772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43/350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किस जिला समूह में विशिष्ट सुगंधित 'खस' (Vetiveria zizanioides) घास प्रचुरता से पाई जाती है, जिसकी जड़ों से इत्र एवं शरबत बनाया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कोटा, बूंदी और झालावाड़</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अजमेर, भीलवाड़ा और चित्तौड़गढ़</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जैसलमेर, बाड़मेर और बीकानेर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सवाई माधोपुर, भरतपुर और टोंक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116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44/350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सवाई माधोपुर, भरतपुर और टोंक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 बूंदी और झालावाड़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अजमेर, भीलवाड़ा और चित्तौड़गढ़</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जैसलमेर, बाड़मेर और बीकानेर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खस (Vetiveria zizanioides) एक विशेष प्रकार की बारहमासी सुगंधित घास है जो कछारी और नम भूमि में उगती है। राजस्थान में इसका मुख्य उत्पादक क्षेत्र पूर्वी जिले-सवाई माधोपुर, भरतपुर और टोंक हैं। खस की जड़ों से अत्यंत मूल्यवान सुगंधित तेल (वेटिवर ऑयल) निकाला जाता है जिसका उपयोग इत्र, साबुन, शरबत, ठंडाई तथा ग्रीष्मकाल में कमरों को ठंडा व सुगंधित रखने वाली पारंपरिक टाटियों (Khus-Tatti) में किया जाता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116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44/350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सूती वस्त्र एवं परिधान उद्योग में कपड़ों की रंगाई-छपाई की प्रक्रिया में रंगों को पक्का एवं टिकाऊ बनाने के लिए किस रसायन का मुख्य रूप से उपयोग किया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सोडियम सल्फेट / सोडा ऐश</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पोटेशियम नाइट्रेट</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कॉपर सल्फेट</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कैल्शियम कार्बोनेट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459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45/350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सोडियम सल्फेट / सोडा ऐश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पोटेशियम नाइट्रेट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कॉपर सल्फेट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कैल्शियम कार्बोनेट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सूती वस्त्र उद्योग (विशेष रूप से भीलवाड़ा, पाली, बालोतरा, जोधपुर, सांगानेर) में कपड़ों की ब्लीचिंग, रंगाई (Dyeing) और छपाई की प्रक्रिया में 'सोडियम सल्फेट' (Sodium Sulphate) एवं सोडा ऐश का बड़े पैमाने पर उपयोग किया जाता है। यह रसायन रंगों के बंध को सूती रेशों के साथ मजबूत और टिकाऊ बनाता है। राजस्थान में डीडवाना (डीडवाना-कुचामन) में राज्य सरकार का प्रसिद्ध 'राजस्थान स्टेट केमिकल वर्क्स' स्थापित है जहाँ सोडियम सल्फेट और सोडियम सल्फाइड का उत्पादन होता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459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45/350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बनास नदी के अपवाह तंत्र एवं उसकी सहायक नदियों के संगम के संदर्भ में निम्नलिखित कथनों पर विचार कीजिए: A. बनास नदी का उद्गम राजसमंद जिले में स्थित अरावली की खमनोर पहाड़ियों से होता है। B. कोठारी, खारी, मानसी, बांडी, ढूँढ एवं मोरेल नदियां बनास में बाएं किनारे (Left Bank) से आकर मिलती हैं। C. बेड़च (आयड़), मेनाल, वागन और गंभीरी नदियां बनास में दाएं किनारे (Right Bank) से आकर मिलती हैं। D. बनास नदी अंततः अरब सागर की खंभात की खाड़ी में जाकर गिरती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803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46/350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बनास नदी राजस्थान में पूर्णतः बहने वाली सबसे लम्बी नदी है। इसका उद्गम खमनोर पहाड़ियों (राजसमंद) से होता है। यह राजसमंद, चित्तौड़गढ़, भीलवाड़ा, टोंक और सवाई माधोपुर में बहती हुई रामेश्वरम (सवाई माधोपुर) के निकट चम्बल में मिल जाती है। बनास के बाएं किनारे से कोठारी, खारी, मानसी, बांडी, ढूँढ और मोरेल मिलती हैं, जबकि दाएं किनारे से बेड़च (आयड़), मेनाल और वागन मिलती हैं। मांडलगढ़ के पास बनास, बेड़च और मेनाल का त्रिवेणी संगम बनता है। कथन D गलत है क्योंकि बनास चम्बल की सहायक नदी है और इसका जल बंगाल की खाड़ी में जाता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803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46/350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साबरमती नदी तंत्र की सहायक नदियों को उनकी विशेषताओं के साथ सही सुमेलित कीजिए: सूची-I: सूची-I: A. वाकल नदी B. हथमती नदी C. सेई नदी D. मेशवा नदी सूची-II: 1. जल सुरंग द्वारा जवाई बाँध में जलापूर्ति 2. गुजरात सीमा पर मिलने वाली सहायक 3. डूंगरपुर-गुजरात सीमावर्ती सहायक 4. कोटड़ा (उदयपुर) से उद्गमित प्रमुख सहायक</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147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47/350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B-2,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साबरमती नदी का उद्गम उदयपुर जिले के कोटड़ा तहसील के निकट पदराड़ा गाँव की पहाड़ियों से होता है, लेकिन यह राजस्थान में मात्र 45 किमी बहकर गुजरात में प्रवेश कर जाती है। वाकल नदी उदयपुर के गोरा गाँव से निकलती है और साबरमती में मिलती है। हथमती और मेशवा नदियां साबरमती की प्रमुख सहायक नदियां हैं जो गुजरात मैदान में इसे जल प्रदान करती हैं। सेई नदी पर जल सुरंग (Sei Tunnel) बनाकर इसका अधिशेष जल पश्चिमी राजस्थान के सबसे बड़े बाँध 'जवाई बाँध' (पाली) में स्थानांतरित किया जाता है। यह राजस्थान की प्रथम अंतर-बेसिन जल सुरंग परियोजना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147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47/350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पाली जिले के सुमेरपुर में स्थित 'जवाई बाँध' (मारवाड़ का अमृत सरोवर) एवं 'सेई जल सुरंग' पर विचार कीजिए: A. जवाई बाँध पश्चिमी राजस्थान में लूनी की सहायक जवाई नदी पर ग्रेनाइट पत्थरों से निर्मित सबसे बड़ा बाँध है, जिसे 'मारवाड़ का अमृत सरोवर' कहा जाता है। B. इस बाँध का निर्माण जोधपुर महाराजा उम्मेद सिंह द्वारा 1946 में इंजीनियर एडगर एवं फर्ग्यूसन की देखरेख में प्रारंभ कराया गया था। C. जवाई बाँध में पानी की आवक बढ़ाने हेतु चूरू के कोटड़ा में साबरमती बेसिन की सेई नदी पर 'सेई बाँध' बनाकर 6.7 किमी लंबी जल सुरंग द्वारा पानी जवाई में लाया गया। D. सेई जल सुरंग (1977 में उद्घाटित) राजस्थान की प्रथम अंतर-बेसिन जल सुरंग (First Water Tunnel)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490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48/350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जवाई बाँध एवं सेई टनल: पाली, जालोर व जोधपुर का प्रमुख पेयजल व सिंचाई स्रोत। ग्रेनाइट शिलाओं पर बना भव्य बाँध। जब जल कम होता है तो सेई बाँध (उदयपुर) से 6.7 किमी लंबी राजस्थान की पहली जल सुरंग से जवाई बाँध में जल डाला जाता है। हाल ही में इसे साबरमती बेसिन से और अधिक पानी जोड़ने हेतु बुझा टनल परियोजना से भी संबद्ध किया जा रहा है। अतः सभी चारों कथन सत्य हैं। ⚡ [परीक्षा-उपयोगी सूक्ष्म दृष्टि / RPSC Trap Alert]: कथन C असत्य है क्योंकि इसमें दिए गए तथ्य में त्रुटि है। वास्तविक तथ्य यह है कि उदयपुर क्षेत्र से संबंधित है न कि चूरू से।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490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48/350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त्रिवेणी संगमों (Triveni Sangams) के सही युग्मों पर विचार कीजिए: A. बेणेश्वर धाम (डूंगरपुर) - सोम, माही एवं जाखम नदियों का संगम B. बीगोद (भीलवाड़ा) - बनास, बेड़च एवं मेनाल नदियों का संगम C. राजमहल (टोंक) - बनास, डाई एवं खारी नदियों का संगम D. रामेश्वरम घाट (सवाई माधोपुर) - बनास, चंबल एवं सीप नदियों का संगम</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49/350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राजस्थान के चार प्रमुख त्रिवेणी संगम: (1) बेणेश्वर धाम (नवा टापरा, डूंगरपुर): सोम + माही + जाखम (आदिवासियों का कुंभ); (2) बीगोद (मांडलगढ़, भीलवाड़ा): बनास + बेड़च + मेनाल; (3) राजमहल (देवली, टोंक): बनास + डाई + खारी; (4) रामेश्वरम (खंडार, सवाई माधोपुर): बनास + चंबल + सीप (परशुराम की तपोभूमि)।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49/350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नदियों को उनके ऐतिहासिक/स्थानीय उपनामों के साथ सही सुमेलित कीजिए: सूची-I: सूची-I: A. माही नदी B. बनास नदी C. रूपारेल नदी D. काकनेय नदी सूची-II: 1. मसूरदी नदी 2. काँठल की गंगा / वागड़ की स्वर्ण रेखा 3. लसवारी / वराह नदी 4. वन की आशा (वर्णाशा)</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177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50/350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C-3,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नदियों के विशिष्ट उपनाम हैं: 'माही नदी' को काँठल की गंगा, वागड़ की स्वर्ण रेखा तथा आदिवासियों की गंगा कहा जाता है। 'बनास नदी' को प्राचीन ग्रंथों में वर्णाशा या 'वन की आशा' कहा गया है। 'रूपारेल नदी' (अलवर-भरतपुर) को लसवारी नदी अथवा वराह नदी के नाम से जाना जाता है। 'काकनेय/काकनी नदी' (जैसलमेर) को स्थानीय भाषा में 'मसूरदी नदी' कहा जाता है जो भुज झील का निर्माण करती है। अतः सही कूट A-2, B-4, C-3,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177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50/350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दक्षिणी राजस्थान की 'माही नदी' की प्रमुख सहायक नदियों को उनके उद्गम स्थलों के साथ सही सुमेलित कीजिए: सूची-I (सहायक नदी): सूची-I: A. सोम नदी B. जाखम नदी C. अनास नदी D. चाप नदी सूची-II: 1. भँवरमाता पहाड़ियाँ (छोटी सादड़ी, प्रतापगढ़) 2. आम्बेर गाँव (मध्य प्रदेश) 3. बीछामेड़ा पहाड़ियाँ (ऋषभदेव, उदयपुर) 4. कालिंजरा पहाड़ियाँ (बांसवाड़ा)</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521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51/350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 नदी तंत्र (वागड़ प्रदेश) की सहायक नदियों के उद्गम स्थल: (1) सोम नदी - उदयपुर जिले के ऋषभदेव के पास बीछामेड़ा की पहाड़ियों से निकलकर डूंगरपुर सीमा बनाती हुई बेणेश्वर में माही में मिलती है (सोम-कागदर उदयपुर में व सोम-कमला-अम्बा डूंगरपुर में बाँध बने हैं)। (2) जाखम नदी - प्रतापगढ़ जिले की छोटी सादड़ी तहसील में स्थित भँवरमाता पहाड़ियों से निकलती है और सीतामाता अभयारण्य में बहते हुए इस पर 81 मीटर ऊँचा जाखम बाँध बना है; यह बेणेश्वर के पास सोम में मिलती है। (3) अनास नदी - मध्य प्रदेश के धार जिले के आम्बेर गाँव से निकलकर बांसवाड़ा के मेलेड़ी खेड़ा में राजस्थान में प्रवेश करती है और डूंगरपुर के गलियाकोट में माही से मिलती है। (4) चाप नदी - बांसवाड़ा जिले की कालिंजरा पहाड़ियों से निकलकर डूंगरपुर में माही में मिलती है। मोरेन नदी डूंगरपुर की पहाड़ियों से तथा इरू/एराव नदी प्रतापगढ़ से निकलकर माही में मिलती है। अतः सही मिलान A-3, B-1, C-2,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521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51/350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दक्षिणी भाग में स्थित '56 के मैदान' एवं 'कांठल के मैदान' के संदर्भ में निम्नलिखित कथनों पर विचार कीजिए: A. बांसवाड़ा और प्रतापगढ़ के मध्य माही नदी के बहाव क्षेत्र में स्थित 56 नदी-नालों व गांवों के समूह को '56 का मैदान' कहा जाता है। B. प्रतापगढ़ में माही नदी के किनारे (तटवर्ती) स्थित भूभाग को स्थानीय भाषा में 'कांठल' कहा जाता है, इसी कारण माही को 'कांठल की गंगा' कहते हैं। C. बाड़मेर और बालोतरा के मध्य स्थित 56 गुंबदाकार ग्रेनाइट पहाड़ियों को '56 की पहाड़ियां' कहा जाता है। D. '56 का मैदान' और '56 की पहाड़ियां' दोनों राजस्थान के एक ही जिले में स्थित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864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52/350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भौगोलिक अवधारणात्मक अंतर: '56 का मैदान' दक्षिणी राजस्थान में माही नदी द्वारा निर्मित है जो बांसवाड़ा और प्रतापगढ़ के मध्य 56 गांवों/नालों का समूह है। 'कांठल' प्रतापगढ़ में माही के तटवर्ती क्षेत्र को कहते हैं। दूसरी ओर, '56 की पहाड़ियां' पश्चिमी राजस्थान में सिवाना (बालोतरा/बाड़मेर) में स्थित 56 गोलाकार ग्रेनाइट पहाड़ियां हैं (जहाँ नाकोड़ा पर्वत व पीपलूद - राजस्थान का लघु माउंट आबू स्थित है)। अतः कथन D असत्य है क्योंकि 56 का मैदान और 56 की पहाड़ियां दो बिल्कुल अलग भौगोलिक इकाइयों में स्थित हैं। अतः केवल 1, 2 और 3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864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52/350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बनास नदी (वन की आशा / वर्णाशा) के उद्गम, प्रवाह मार्ग एवं त्रिवेणी संगमों के संबंध में कथनों पर विचार कीजिए: A. बनास नदी का उद्गम राजसमंद जिले की खमनोर की पहाड़ियों (अरावली पर्वतमाला) से होता है। B. यह पूर्णतः राजस्थान राज्य के भीतर बहने वाली सबसे लंबी नदी (लगभग 512 किमी) है, जिसका अपवाह बेसिन राज्य में सबसे बड़ा है। C. बीगोद (भीलवाड़ा) के निकट बनास, बेड़च और मेनाल नदियों का प्रसिद्ध त्रिवेणी संगम बनता है। D. राजमहल (टोंक) के निकट बनास, डाई और खारी नदियों का दूसरा त्रिवेणी संगम बनता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208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53/350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बनास नदी ('वन की आशा' / वर्णाशा): खमनोर (राजसमंद) से निकलकर राजसमंद, चित्तौड़गढ़, भीलवाड़ा, शाहपुरा, केकड़ी, टोंक तथा सवाई माधोपुर में बहती हुई रामेश्वरम (खंडार) में चंबल में विलीन हो जाती है। यह पूर्णतः राज्य में बहने वाली सबसे लंबी नदी है। इस पर तीन प्रमुख संगम हैं: (1) बीगोद (भीलवाड़ा) में बनास-बेड़च-मेनाल; (2) राजमहल (टोंक) में बनास-डाई-खारी; (3) रामेश्वरम (सवाई माधोपुर) में बनास-चंबल-सीप का महा-त्रिवेणी संगम। टोंक में इस पर बीसलपुर बाँध तथा सवाई माधोपुर में ईसरदा बाँध बना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208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53/350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विभिन्न अंतर-बेसिन जल स्थानांतरण (River Interlinking) प्राथमिकताओं को उनके संबंधित प्रारूप से सही सुमेलित कीजिए: सूची-I (जल जोड़ो परियोजना): सूची-I: A. ब्राह्मणी-बनास लिंक परियोजना B. माही-जाखम-लूनी लिंक C. PKC-ERCP लिंक (राम जल सेतु) D. साबरमती-लूनी लिंक सूची-II: 1. ब्राह्मणी नदी (भैंसरोड़गढ़) के 10.5 TMC अधिशेष जल को सुरंग द्वारा बीसलपुर बाँध में मोड़ना 2. चंबल की सहायक नदियों के जल को बनास, मोरेल, बाणगंगा व गंभीर बेसिन में स्थानांतरित करना 3. NWDA प्रारूप के तहत साबरमती के जल को लिफ्ट व गुरुत्व से लूनी बेसिन के ऊपरी भाग तक पहुँचाना 4. दक्षिणी राजस्थान के अधिशेष जल को जाखम के रास्ते पश्चिमी राजस्थान (पाली/जालोर) ले जाना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551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54/350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B-4,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सतही जल संकट (1.16%) से निपटने हेतु अंतर-बेसिन जल स्थानांतरण प्राथमिकताएं: (1) ब्राह्मणी-बनास लिंक: ब्राह्मणी से 10.5 TMC जल बीसलपुर में लाकर जयपुर-अजमेर की पेयजल सुरक्षा बढ़ाना; (2) माही-जाखम-लूनी लिंक: माही के गुजरात बह जाने वाले अधिशेष जल को पश्चिमी राजस्थान मोड़ना; (3) PKC-ERCP लिंक: पूर्वी राजस्थान के 17 जिलों में जल पुनर्वितरण; (4) साबरमती-लूनी लिंक: राष्ट्रीय जल विकास एजेंसी (NWDA) का दीर्घकालिक प्रारूप। अतः सही मिलान A-1, B-4, C-2,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551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54/350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संशोधित पार्वती-कालीसिंध-चंबल (PKC-ERCP) लिंक / राम जल सेतु परियोजना के अंतर्गत प्रस्तावित प्रमुख बैराजों एवं बाँधों को संबंधित नदियों से सही सुमेलित कीजिए: सूची-I (बैराज / बाँध): सूची-I: A. रामगढ़ बैराज B. महलपुर बैराज C. नवनेरा बैराज D. मेज बैराज सूची-II: 1. कालीसिंध नदी (कोटा) 2. मेज नदी (बूंदी) 3. पार्वती नदी (बारां) 4. कुल नदी (बारां)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895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55/350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संशोधित पार्वती-कालीसिंध-चंबल (PKC-ERCP) लिंक परियोजना (राम जल सेतु परियोजना) हेतु 28 जनवरी 2024 को केंद्र सरकार, राजस्थान और मध्य प्रदेश के मध्य त्रिपक्षीय ऐतिहासिक समझौता हुआ। इसमें वित्तीय अनुपात 90% (केंद्र) तथा 10% (5% राजस्थान : 5% एमपी) है और कुल परिव्यय ₹45,000 करोड़ है। परियोजना के तहत चम्बल उप-घाटियों पर 6 विशाल बैराज व बाँध बनाए जा रहे हैं: (1) रामगढ़ बैराज - कुल नदी पर (बारां जिला); (2) महलपुर बैराज - पार्वती नदी पर (बारां जिला); (3) नवनेरा (नोनेरा) बैराज - कालीसिंध नदी पर (दिगोद, कोटा); (4) मेज बैराज - मेज नदी पर (बूंदी जिला); (5) राठौड़ बाँध - बनास नदी पर (सवाई माधोपुर); तथा (6) डूंगरी बाँध - बनास नदी पर (सवाई माधोपुर)। इन बैराजों से अधिशेष जल को ईसरदा बाँध और बीसलपुर बाँध में फीड किया जाएगा जिससे 17 पूर्वी जिलों को 2051 तक निर्बाध पेयजल मिलेगा। अतः सही कूट A-4, B-3, C-1, D-2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895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55/350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चित्तौड़गढ़, कोटा एवं बूंदी क्षेत्र के चार प्रमुख प्राकृतिक जलप्रपातों की भौगोलिक अवस्थिति पर विचार कीजिए: A. चूलिया जलप्रपात - चित्तौड़गढ़ जिले के भैंसरोड़गढ़ के निकट चंबल नदी पर स्थित (ऊंचाई लगभग 18 मीटर)। B. भीमलत जलप्रपात - बूंदी जिले में मांगली नदी पर लगभग 150 फीट ऊंचाई से गिरने वाला प्राकृतिक प्रपात। C. मेनाल जलप्रपात - चित्तौड़गढ़ एवं भीलवाड़ा सीमा पर मेनाली नदी पर लगभग 150 फीट गहरी विंध्यन घाटी में स्थित। D. गेपरनाथ जलप्रपात - गंगानगर जिले में चंबल नदी के गहरे बीहड़ / गॉर्ज क्षेत्र में स्थित प्रमुख धार्मिक एवं प्राकृतिक प्रपात।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56/350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हाड़ौती एवं मेवाड़ के मिलन स्थल पर विंध्यन कगारों के सहारे कई भव्य जलप्रपात विकसित हुए हैं: (1) चूलिया जलप्रपात (18 मीटर) भैंसरोड़गढ़ के पास चंबल नदी पर राज्य का सबसे प्रसिद्ध प्रपात है जहाँ विशाल जलगर्तिकाएं (Potholes) पाई जाती हैं; (2) भीमलत जलप्रपात बूंदी में मांगली नदी (घोड़ापछाड़ की सहायक) पर स्थित है; (3) मेनाल जलप्रपात मेनाली नदी पर स्थित है जहाँ 11वीं-12वीं सदी का महानालेश्वर शिव मंदिर स्थित है; (4) गेपरनाथ जलप्रपात कोटा में चंबल के गहरे गॉर्ज में स्थित है। अतः सभी चारों कथन पूर्णतः सत्य हैं। ⚡ [परीक्षा-उपयोगी सूक्ष्म दृष्टि / RPSC Trap Alert]: कथन D असत्य है क्योंकि इसमें दिए गए तथ्य में त्रुटि है। वास्तविक तथ्य यह है कि हाड़ौती/कोटा संभाग से संबंधित है न कि गंगानगर से।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56/350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बेड़च नदी (आयड़ नदी) के उद्गम, नाम परिवर्तन एवं ऐतिहासिक पुरातात्विक महत्व पर विचार कीजिए: A. इस नदी का उद्गम उदयपुर जिले में गोगुंदा की पहाड़ियों से होता है, जहाँ उद्गम स्थल पर इसे 'आयड़ नदी' कहा जाता है। B. चूरू में उदयसागर झील में गिरने के पश्चात जब यह बाहर निकलती है, तो इसका नाम परिवर्तित होकर 'बेड़च' हो जाता है। C. आयड़ नदी के तट पर 4000 वर्ष प्राचीन ताम्रपाषाण कालीन 'आहड़ सभ्यता' (ताम्रवती नगरी / धूलकोट) विकसित हुई थी। D. चित्तौड़गढ़ दुर्ग गंभीरी और बेड़च नदियों के संगम स्थल के निकट मेसा पठार पर स्थित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582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57/350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बेड़च नदी तंत्र: गोगुंदा पहाड़ियों से आयड़ नाम से निकलती है। इसके तट पर ताम्रयुगीन आहड़ सभ्यता विकसित हुई (अक्षयकीर्ति व्यास, आर.सी. अग्रवाल)। उदयसागर झील (महाराणा उदयसिंह द्वारा निर्मित) से निकलने के बाद इसका नाम 'बेड़च' पड़ता है। चित्तौड़गढ़ में गंभीरी नदी इससे मिलती है और दोनों के संगम के पास मेसा पठार पर चित्तौड़गढ़ दुर्ग स्थित है। यह अंततः बीगोद (भीलवाड़ा) में बनास नदी में मिल जाती है। अतः सभी चारों कथन सत्य हैं। ⚡ [परीक्षा-उपयोगी सूक्ष्म दृष्टि / RPSC Trap Alert]: कथन B असत्य है क्योंकि इसमें दिए गए तथ्य में त्रुटि है। वास्तविक तथ्य यह है कि उदयपुर क्षेत्र से संबंधित है न कि चूरू से। अतः सही उत्तर विकल्प (D)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582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57/350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पूर्वी राजस्थान नहर परियोजना (ERCP) के तहत प्रस्तावित 6 प्रमुख बैराजों एवं बाँधों के सही मिलान पर विचार कीजिए: A. नवनेरा (नोनेरा) बैराज - कालीसिंध नदी (कोटा) B. रामगढ़ बैराज - कुल नदी (बारां) C. महलपुर बैराज - पार्वती नदी (बारां/सवाई माधोपुर) D. मेज बैराज - मेज नदी (बूंदी)</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926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58/350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संशोधित पार्वती-कालीसिंध-चंबल (PKC-ERCP) लिंक परियोजना में चंबल बेसिन के मानसून अधिशेष जल को संग्रहित करने हेतु 6 प्रमुख ढांचे प्रस्तावित हैं: (1) नवनेरा बैराज कालीसिंध नदी पर; (2) रामगढ़ बैराज कुल नदी पर; (3) महलपुर बैराज पार्वती नदी पर; (4) मेज बैराज मेज नदी पर; तथा बनास बेसिन में डूंगरी बाँध और राठौड़ बाँध। नवनेरा से जल लिफ्ट कर ईसरदा व बीसलपुर बाँधों में भेजा जाएगा।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926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58/350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कोटा जिले में स्थित 'नोनेरा / नवनेरा बैराज' के तकनीकी महत्व पर विचार कीजिए: A. नवनेरा बैराज का निर्माण कालीसिंध नदी पर दिगोद तहसील (कोटा) के समीप किया गया है। B. यह संशोधित PKC-ERCP (पूर्वी राजस्थान नहर परियोजना) का मुख्य जल संग्रहण एवं लिफ्टिंग केंद्र है। C. इस बैराज में एकत्रित कालीसिंध व चंबल के अधिशेष जल को लिफ्ट एवं टनल के माध्यम से बीसलपुर और ईसरदा बाँधों तक पहुंचाया जाएगा। D. यह बैराज राजस्थान के पश्चिमी मरुस्थल को लूनी नदी से जोड़ने के उद्देश्य से बनाया गया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269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59/350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नवनेरा (नोनेरा) बैराज कालीसिंध नदी पर कोटा जिले में निर्मित ईआरसीपी का केंद्रीय ढांचा है। यहाँ जल संचित कर पम्पिंग स्टेशन और फीडर टनल द्वारा बनास बेसिन के बीसलपुर बाँध (टोंक) और ईसरदा बाँध (दौसा/सवाई माधोपुर) में स्थानांतरित किया जाएगा। कथन D असत्य है क्योंकि इसका संबंध पूर्वी राजस्थान से है, पश्चिमी मरुस्थल या लूनी नदी से नहीं। अतः केवल 1, 2 और 3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269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59/350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नदियों एवं उनके उद्गम स्थलों का सही सुमेलन कीजिए: सूची-I (नदी): सूची-I: A. पार्वती नदी B. परवन नदी C. मेज नदी D. सोम नदी सूची-II: 1. मांडलगढ़ की पहाड़ियां (भीलवाड़ा) 2. सीहोर जिला (मध्य प्रदेश), विंध्याचल श्रेणी 3. मालवा पठार (मध्य प्रदेश), अजनार व घोड़ापछाड़ की संयुक्त धारा 4. बीछा मेड़ा की पहाड़ियां (ऋषभदेव, उदयपुर)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613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60/350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नदियों के उद्गम स्थल: (1) पार्वती नदी सीहोर (म.प्र.) से निकलकर बारां के करियाहाट में प्रवेश करती है और पालिया गाँव में चंबल में मिलती है; (2) परवन नदी म.प्र. के मालवा से अजनार व घोड़ापछाड़ के रूप में निकलकर झालावाड़ के मनोहरथाना में प्रवेश करती है और शेरगढ़ अभयारण्य से बहती हुई पलायथा (बारां) में कालीसिंध में मिलती है; (3) मेज नदी मांडलगढ़ भीलवाड़ा से निकलकर बूंदी में लाखेरी के पास चंबल में मिलती है; (4) सोम नदी उदयपुर के बीछा मेड़ा से निकलकर बेणेश्वर में माही में मिलती है। अतः सही मिलान A-2, B-3, C-1,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613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60/350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संशोधित पार्वती-कालीसिंध-चंबल लिंक / पूर्वी राजस्थान नहर परियोजना (PKC-ERCP / राम जल सेतु) के संबंध में कथनों पर विचार कीजिए: A. 28 जनवरी 2024 को राजस्थान, मध्य प्रदेश और केंद्र सरकार के मध्य 75% निर्भरता (Dependability) के सिद्धांत पर ऐतिहासिक त्रिपक्षीय MoU हस्ताक्षरित हुआ। B. परियोजना में केंद्र और राज्यों के मध्य वित्तीय अंशदान 90% (केंद्र) : 5% (राजस्थान) : 5% (मध्य प्रदेश) निर्धारित किया गया है। C. इससे पश्चिमी राजस्थान के 17 जिलों को वर्ष 2051 तक दीर्घकालिक पेयजल तथा 2.8 लाख हेक्टेयर नए क्षेत्र में सूक्ष्म सिंचाई (फव्वारा/ड्रिप) उपलब्ध होगी। D. परियोजना के तहत कालीसिंध पर नवनेरा (नोनेरा) बैराज, कुल नदी पर रामगढ़ बैराज, पार्वती पर महलपुर बैराज तथा मेज नदी पर मेज बैराज प्रमुख ढांचे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956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61/350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संशोधित PKC-ERCP (राम जल सेतु) राष्ट्रीय नदी जोड़ो परियोजना का हिस्सा है: जनवरी 2024 में त्रिपक्षीय समझौता हुआ जिसमें ₹45,000 करोड़ की लागत में केंद्र सरकार 90% और राजस्थान व एमपी 5-5% वहन करेंगे। 75% निर्भरता पर जल आवंटन तय हुआ। 17 जिलों (झालावाड़, बारां, कोटा, बूंदी, सवाई माधोपुर, करौली, धौलपुर, भरतपुर, दौसा, जयपुर, दूदू, अलवर, खैरथल-तिजारा, कोटपूतली-बहरोड़, अजमेर, टोंक) को पेयजल व 2.8 लाख हेक्टेयर में सूक्ष्म सिंचाई मिलेगी। प्रमुख बैराज: नवनेरा (कालीसिंध), रामगढ़ (कुल), महलपुर (पार्वती), मेज (मेज), डूंगरी व राठौड़ (बनास)। अतः सभी चारों कथन सत्य हैं। ⚡ [परीक्षा-उपयोगी सूक्ष्म दृष्टि / RPSC Trap Alert]: कथन C असत्य है क्योंकि इसमें दिए गए तथ्य में त्रुटि है। वास्तविक तथ्य यह है कि पूर्वी क्षेत्र से संबंधित है न कि पश्चिमी से।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956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61/350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चंबल की प्रमुख दाहिनी सहायक 'पार्वती नदी' के भौगोलिक तथ्यों पर विचार कीजिए: A. पार्वती नदी मध्य प्रदेश के सीहोर जिले में विंध्याचल श्रेणी से निकलकर राजस्थान में बारां जिले के करियाहाट/छत्रपुरा के निकट प्रवेश करती है। B. यह बारां जिले में बहते हुए राजस्थान एवं मध्य प्रदेश की अंतर्राज्यीय सीमा बनाती है। C. यह सवाई माधोपुर के पालिया गाँव (गंगानगर-सवाई माधोपुर-श्योपुर सीमा संगम) के निकट चंबल नदी में विलीन हो जाती है। D. अंधेरी, रेतड़ी, अहेली, कुल, लासी और बरनी पार्वती की प्रमुख सहायक नदियां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300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62/350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पार्वती नदी चंबल की दाहिनी सहायक नदी है। सीहोर (म.प्र.) से उद्गम होकर बारां के करियाहाट में प्रवेश करती है। यह कोटा-सवाई माधोपुर व म.प्र. सीमा पर बहती हुई पालिया गाँव में चंबल में मिलती है। इसकी सहायक नदियों में अंधेरी, रेतड़ी, अहेली, कुल, लासी, बरनी और विलास नदियां प्रमुख हैं। संशोधित PKC-ERCP में पार्वती नदी पर महलपुर बैराज तथा इसकी सहायक कुल नदी पर रामगढ़ बैराज प्रस्तावित हैं। अतः सभी कथन सत्य हैं। ⚡ [परीक्षा-उपयोगी सूक्ष्म दृष्टि / RPSC Trap Alert]: कथन C असत्य है क्योंकि इसमें दिए गए तथ्य में त्रुटि है। वास्तविक तथ्य यह है कि हाड़ौती/कोटा संभाग से संबंधित है न कि गंगानगर से। अतः सही उत्तर विकल्प (D)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300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62/350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'ईसरदा बाँध परियोजना' (Isarda Dam Project) के संबंध में निम्नलिखित कथनों पर विचार कीजिए: A. ईसरदा बाँध बनास नदी पर सवाई माधोपुर जिले की चौथ का बरवाड़ा तहसील (बनेठा गाँव) के पास निर्मित किया जा रहा है। B. इस परियोजना का मुख्य उद्देश्य दौसा एवं सवाई माधोपुर जिलों के कस्बों व गांवों को दीर्घकालिक पेयजल उपलब्ध कराना है। C. इसे पूर्वी राजस्थान नहर परियोजना (ERCP) के प्रमुख जल वितरण घटक के रूप में जोड़ा गया है। D. ईसरदा बाँध केवल जल-विद्युत उत्पादन के लिए बनाया जा रहा एक पिकअप बाँध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63/350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ईसरदा बाँध परियोजना बनास नदी पर सवाई माधोपुर जिले में बीसलपुर बाँध के डाउनस्ट्रीम में बनास के अधिशेष जल को रोकने हेतु निर्मित की जा रही है। इसका मुख्य उद्देश्य दौसा, सवाई माधोपुर और जयपुर ग्रामीण के क्षेत्रों को शुद्ध पेयजल उपलब्ध कराना है। यह ईआरसीपी का अभिन्न अंग है। कथन D असत्य है क्योंकि इसमें कोई जल-विद्युत उत्पादन नहीं होता, यह पेयजल व जल पुनर्भरण परियोजना है। अतः केवल 1, 2 और 3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63/350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बनास नदी पर स्थित 'बीसलपुर बाँध परियोजना' (टोंक) एवं ब्राह्मणी-बनास लिंक पर विचार कीजिए: A. बीसलपुर बाँध टोंक जिले की देवली तहसील के 'राजमहल' गाँव में बनास, डाई और खारी नदियों के त्रिवेणी संगम के निकट स्थित है। B. यह कंक्रीट-ग्रेविटी प्रकार का बाँध है जिसकी कुल जलभराव क्षमता लगभग 38.7 TMC (315.50 आरएल मीटर) है और इसमें 18 रेडियल गेट लगे हैं। C. यह बाँध जयपुर, अजमेर, टोंक और दौसा जिलों की करोड़ों आबादी की पेयजल आपूर्ति की मुख्य 'जीवनरेखा' (Lifeline) है। D. बीसलपुर बाँध में जल की कमी को दूर करने हेतु चंबल की सहायक 'ब्राह्मणी नदी' से अधिशेष जल सुरंग द्वारा बीसलपुर में लाने की 'ब्राह्मणी-बनास लिंक परियोजना' स्वीकृत की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987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64/350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बीसलपुर बाँध परियोजना: 1987 में निर्माण शुरू। टोंक, जयपुर व अजमेर का मुख्य पेयजल स्रोत। कमान क्षेत्र में सवाई माधोपुर व टोंक में सिंचाई नहरें भी हैं। मानसून कम होने पर जल संकट के स्थायी समाधान हेतु ब्राह्मणी नदी (भैंसरोड़गढ़, चित्तौड़गढ़) से 14 टीएमसी अधिशेष पानी सुरंग द्वारा बनास में मोड़कर बीसलपुर लाने की ब्राह्मणी-बनास लिंक परियोजना स्वीकृत की गई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987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64/350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'मेजा बाँध' (Meja Dam) एवं 'मातृकुण्डिया बाँध' के संबंध में कथनों पर विचार कीजिए: A. मेजा बाँध भीलवाड़ा जिले के मांडल कस्बे के पास कोठारी नदी पर निर्मित किया गया है। B. मेजा बाँध के पाल पर विकसित किए गए सुंदर पार्क को 'ग्रीन माउंट' (Green Mount) कहा जाता है। C. मातृकुण्डिया बाँध चित्तौड़गढ़ जिले की राशमी तहसील में बनास नदी पर स्थित है। D. मातृकुण्डिया को 'मेवाड़ का हरिद्वार' कहा जाता है, जहाँ 1921 में मोतीलाल तेजावत के नेतृत्व में 'एकी आंदोलन' प्रारंभ हुआ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330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65/350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कोठारी नदी पर निर्मित मेजा बाँध भीलवाड़ा शहर को पेयजल आपूर्ति का ऐतिहासिक स्रोत रहा है, इसके पार्क को ग्रीन माउंट कहते हैं। मातृकुण्डिया बाँध बनास नदी पर राशमी (चित्तौड़गढ़) में स्थित है जिसे पवित्र लक्ष्मण झूले व चंद्रभागा संगम के कारण 'मेवाड़ का हरिद्वार' कहा जाता है; यहीं से मोतीलाल तेजावत ने आदिवासियों में 'एकी आंदोलन' शुरू किया था।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330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65/350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पश्चिमी बनास नदी (West Banas River) के उद्गम, प्रवाह एवं संगम के संदर्भ में कौन-सा तथ्य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उद्गम अजमेर के नाग पहाड़ से होता है तथा यह खंभात की खाड़ी में गिरती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उद्गम खमनोर पहाड़ियों से होता है तथा यह बंगाल की खाड़ी में गिरती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उद्गम बैराठ पहाड़ियों से होता है तथा यह सांभर झील में गिरती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उद्गम सिरोही के नया सानवाड़ा से होता है तथा यह गुजरात के कच्छ के छोटे रण में विलीन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674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66/350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इसका उद्गम सिरोही के नया सानवाड़ा से होता है तथा यह गुजरात के कच्छ के छोटे रण में विलीन 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उद्गम अजमेर के नाग पहाड़ से होता है तथा यह खंभात की खाड़ी में गिरती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उद्गम खमनोर पहाड़ियों से होता है तथा यह बंगाल की खाड़ी में गिरती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उद्गम बैराठ पहाड़ियों से होता है तथा यह सांभर झील में गिरती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पश्चिमी बनास नदी अरावली के पश्चिमी ढालों पर सिरोही जिले के 'नया सानवाड़ा' गाँव से निकलती है। यह सिरोही में बहने के बाद गुजरात के बनासकांठा जिले में प्रवेश करती है (डीसा नगर इसके तट पर स्थित है) और अंततः कच्छ के छोटे रण (Little Rann of Kutch - अरब सागर तंत्र) में विलीन हो जाती है। 'सीपू' और 'सुकेली' इसकी प्रमुख सहायक नदियां हैं। सिरोही में इस पर 'पश्चिमी बनास बाँध' बना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674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66/350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बनास नदी पर टोंक जिले में स्थित 'बीसलपुर बहुउद्देशीय बाँध' के संदर्भ में पर्यटन विभाग द्वारा इसे किस लोकप्रिय उपनाम से नवाजा गया है तथा इसके तट पर कौन-सा विशिष्ट जलीय अनुसंधान केंद्र स्थापित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'मिनी गोवा' - रंगीन मछलियों का एक्वेरियम एवं प्रजनन केंद्र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'मारवाड़ का मानसरोवर' - मोती संवर्धन केंद्र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'हाड़ौती का ताजमहल' - घड़ियाल प्रजनन केंद्र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'वागड़ का पुष्कर' - महासीर संरक्षण केंद्र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018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67/350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'मिनी गोवा' - रंगीन मछलियों का एक्वेरियम एवं प्रजनन केंद्र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'मारवाड़ का मानसरोवर' - मोती संवर्धन केंद्र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'हाड़ौती का ताजमहल' - घड़ियाल प्रजनन केंद्र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'वागड़ का पुष्कर' - महासीर संरक्षण केंद्र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बीसलपुर बाँध (टोंक जिला) बनास नदी पर 1999 में निर्मित राजस्थान की सबसे बड़ी कंक्रीट गुरुत्व पेयजल परियोजना है। इस परियोजना से जयपुर, अजमेर, ब्यावर, टोंक, दौसा और सवाई माधोपुर को पेयजल तथा टोंक जिले को सिंचाई जल प्राप्त होता है। पर्यटन विकास की दृष्टि से इसके विशाल बैक-वाटर और सुंदर टापुओं के कारण राज्य पर्यटन विभाग द्वारा इसे 'मिनी गोवा' (Mini Goa of Rajasthan) का दर्जा दिया गया है। मत्स्य पालन विभाग द्वारा यहाँ देश का पहला रंगीन मछलियों का अत्याधुनिक एक्वेरियम, हैचरी एवं 'रंगीन मछली प्रजनन केंद्र' (Color Fish Breeding Centre) स्थापित किया गया है। बीसलपुर कंजर्वेशन रिजर्व (2008) राजस्थान का प्रथम अधिसूचित संरक्षण आरक्षित क्षेत्र भी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018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67/350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कौन-सा बाँध चंबल परियोजना का भाग नहीं है, बल्कि बनास की सहायक खारी नदी पर भीलवाड़ा जिले में स्थित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राणा प्रताप सागर बाँध</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मेजा बाँध</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जवाहर सागर बाँध</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कोटा बैराज</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361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68/350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मेजा बाँध</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राणा प्रताप सागर बाँध</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जवाहर सागर बाँध</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 बैराज</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मेजा बाँध भीलवाड़ा जिले की मांडल तहसील में कोठारी नदी पर स्थित है (न कि चंबल पर)। यह भीलवाड़ा शहर का प्रमुख पेयजल स्रोत था और इसके चारों ओर विकसित पार्क को 'मेजा पार्क' (ग्रीन माउंट) कहा जाता है। राणा प्रताप सागर, जवाहर सागर एवं कोटा बैराज तीनों चंबल नदी घाटी परियोजना के प्रमुख बाँध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361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68/350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'डांग क्षेत्र' (Dang Region) की भौगोलिक अवस्थिति एवं बीहड़ स्थलाकृति के संबंध में निम्नलिखित कथनों पर विचार कीजिए: A. डांग क्षेत्र मुख्य रूप से चंबल नदी बेसिन के अंतर्गत करौली, धौलपुर और सवाई माधोपुर जिलों में विस्तृत है, जिसमें करौली को 'डांग की रानी' कहा जाता है। B. चंबल एवं उसकी सहायक नदियों द्वारा मुलायम जलोढ़ एवं बलुआ पत्थर वाली भूमि पर किए जाने वाले तीव्र अवनालिका अपरदन (Gully Erosion) से बीहड़ों (Ravines) का निर्माण हुआ है। C. बीहड़ स्थलाकृति को भू-आकृतिक विज्ञान में 'उत्खात स्थलाकृति' (Badland Topography) कहा जाता है। D. डांग क्षेत्र अपनी समतल उपजाऊ भूमि और सघन औद्योगिक विकास के कारण राज्य का सबसे समृद्ध क्षेत्र माना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705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69/350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डांग क्षेत्र राजस्थान के दक्षिण-पूर्वी व पूर्वी भाग में करौली, धौलपुर व सवाई माधोपुर जिलों में फैला है। चंबल नदी के तीव्र प्रवाह द्वारा निर्मित गहरी खाइयों, कंदराओं और टीलों को 'बीहड़' या 'उत्खात भूमि' (Badland Topography) कहा जाता है। कथन D असत्य है क्योंकि अत्यधिक अपरदन के कारण यह क्षेत्र कृषि योग्य समतल भूमि के अभाव, गहरे भूजल स्तर, परिवहन संपर्क की कमी और ऐतिहासिक रूप से दस्यु गतिविधियों के कारण अत्यधिक पिछड़ा रहा है, न कि समृद्ध व औद्योगिक। अतः केवल 1, 2 और 3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705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69/350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हाड़ौती एवं पूर्वी राजस्थान की सहायक नदियों व जलप्रपातों को उनके संबंधित युग्मों से सुमेलित कीजिए: सूची-I: सूची-I: A. कुराल व मेज नदी B. घोड़ा पछाड़ नदी C. चूलिया जलप्रपात D. भीमलत जलप्रपात सूची-II: 1. बिजौलिया (भीलवाड़ा) से बूंदी की ओर प्रवाह 2. मांगली नदी (बूंदी) पर स्थित जलप्रपात 3. बूंदी जिले का मुख्य अपवाह तंत्र 4. चम्बल नदी (भैंसरोड़गढ़, चित्तौड़गढ़) पर 18 मीटर ऊँचा</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70/350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B-2,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मेज नदी मांडलगढ़ (भीलवाड़ा) से निकलकर बूंदी जिले में बहती है, जहाँ कुराल नदी इसमें आकर मिलती है। घोड़ा पछाड़ नदी बिजौलिया से निकलकर बूंदी में मांगली नदी में मिलती है। चूलिया जलप्रपात राजस्थान का सबसे ऊँचा प्राकृतिक जलप्रपात (18 मीटर) है, जो चित्तौड़गढ़ जिले के भैंसरोड़गढ़ के निकट चम्बल और बामनी नदियों के संगम के पास स्थित है। भीमलत जलप्रपात बूंदी जिले में मांगली नदी पर स्थित एक अत्यंत मनोरम प्राकृतिक झरना है। यह सभी नदियाँ और जलप्रपात विन्ध्यन कगार की जल निकासी प्रणाली का महत्वपूर्ण हिस्सा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70/350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प्राकृतिक जलप्रपातों (Waterfalls) को उनके संबंधित जिलों एवं नदियों के साथ सही सुमेलित कीजिए: सूची-I (जलप्रपात): सूची-I: A. दमोह जलप्रपात B. अरणा जलप्रपात C. भीलवेरी जलप्रपात D. गैपरनाथ जलप्रपात सूची-II: 1. जोधपुर (शुष्क मौसमी जलप्रपात) 2. चम्बल नदी घाटी (कोटा) 3. बांड़ी नदी (धौलपुर) 4. पाली (अरावली पर्वत श्रृंखला में)</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392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71/350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प्रमुख प्राकृतिक झरने व जलप्रपात: (1) दमोह जलप्रपात - धौलपुर जिले के सरमथुरा क्षेत्र में बांड़ी नदी पर स्थित एक अत्यंत मनोरम प्राकृतिक जलप्रपात है। (2) अरणा जलप्रपात - जोधपुर जिले के मथानिया मार्ग पर स्थित प्राकृतिक शुष्क जलप्रपात (Dry Waterfall) है। (3) भीलवेरी जलप्रपात - पाली जिले में अरावली की सघन पहाड़ियों में स्थित 55 मीटर से अधिक ऊँचा झरना है। (4) गैपरनाथ जलप्रपात - कोटा-रावतभाटा मार्ग पर चम्बल नदी की गहरी कंदरा घाटी में 100-120 फीट की ऊँचाई से गिरने वाला जलप्रपात है, जहाँ प्राचीन गैपरनाथ महादेव मंदिर स्थित है। अन्य प्रमुख जलप्रपात: चूलिया जलप्रपात (भैंसरोड़गढ़, चित्तौड़गढ़ - चम्बल नदी पर 18 मीटर ऊँचा, राज्य का सबसे ऊँचा प्रपात), भीमलत जलप्रपात (बूंदी - मांगली नदी पर), मेनाल जलप्रपात (चित्तौड़गढ़-भीलवाड़ा सीमा - मेनाली नदी पर), पाड़ाझार (भैंसरोड़गढ़), तथा दूधिया जलप्रपात (माउंट आबू)। अतः सही कूट A-3, B-1, C-4, D-2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392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71/350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हाड़ौती के दक्षिण-पूर्वी पठार के 5 उप-प्रदेशों को उनकी विशिष्ट भू-आकृतिक विशेषताओं के साथ सही सुमेलित कीजिए: सूची-I (उप-प्रदेश): सूची-I: A. अर्धचंद्राकार पर्वत श्रेणियां B. नदी-निर्मित मैदान C. शाहबाद उच्च भूमि D. डग-गंगधार उच्च भूमि सूची-II: 1. कासबा-थाना/मामूनी (456 मी.) एवं 3.2 किमी व्यास का रामगढ़ क्रेटर 2. बूंदी की पहाड़ियां (सर्वोच्च शिखर सतूर 353 मी.) एवं मुकुंदरा हिल्स (चांदबाड़ी 517 मी.) 3. झालावाड़ के सुदूर दक्षिण-पश्चिम में 350-450 मी. ऊंची विच्छेदित पहाड़ियां व छोटे पठार 4. चंबल, कालीसिंध व परवन द्वारा निर्मित कछारी मैदान एवं बीहड़/उत्खात भूमि</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735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72/350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हाड़ौती पठार के 5 उप-प्रदेशों का भू-आकृतिक वर्गीकरण: (1) अर्धचंद्राकार पर्वत श्रेणियां: बूंदी हिल्स (सतूर 353 मी.) व मुकुंदरा हिल्स (चांदबाड़ी 517 मी.); (2) नदी-निर्मित मैदान: चंबल व सहायक नदियों का कछारी व बीहड़ क्षेत्र; (3) शाहबाद उच्च भूमि: बारां के पूर्वी भाग में मामूनी (456 मी.) व रामगढ़ क्रेटर (उल्कापिंडीय संरचना); (4) डग-गंगधार उच्च भूमि: झालावाड़ में विच्छेदित पठारी उभार (350-450 मी.); 5वाँ उप-प्रदेश 'झालावाड़ पठार' है जो मालवा का सपाट लावा पठार है। अतः सही मिलान A-2, B-4, C-1,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735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72/350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त्रिवेणी संगमों को उनमें मिलने वाली तीन नदियों के साथ सही सुमेलित कीजिए: सूची-I: सूची-I: A. बिगोद (भीलवाड़ा) B. रामेश्वर घाट (सवाई माधोपुर) C. बेणेश्वर धाम (डूंगरपुर) D. राजमहल (टोंक) सूची-II: 1. बनास, खारी और डाई 2. सोम, माही और जाखम 3. चम्बल, बनास और सीप 4. बनास, बेड़च और मेनाल</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079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73/350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चार प्रमुख त्रिवेणी संगम धार्मिक एवं भौगोलिक दृष्टि से प्रसिद्ध हैं। भीलवाड़ा के बिगोद में बनास, बेड़च और मेनाल नदियां मिलती हैं। सवाई माधोपुर के खंडार तहसील में रामेश्वर घाट पर चम्बल, बनास और सीप नदियों का मिलन होता है। डूंगरपुर के नवाटापुरा में बेणेश्वर धाम पर सोम, माही और जाखम नदियां मिलती हैं, जिसे 'आदिवासियों का कुंभ' कहा जाता है। टोंक जिले के राजमहल में बनास, खारी और डाई नदियां मिलकर पवित्र त्रिवेणी बनाती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079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73/350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बहुमूल्य रत्नों (पन्ना एवं तामड़ा) के प्रमुख खनन क्षेत्रों को उनके संबंधित जिलों से सुमेलित कीजिए: सूची-I: सूची-I: A. कालागुमान व टिक्की B. गढ़बोर व गुढ़ा C. राजमहल व जनकपुरा D. सरवाड़ व कुशलपुरा सूची-II: 1. राजसमंद (पन्ना क्षेत्र) 2. राजसमंद (पन्ना / ग्रीन फायर बेल्ट) 3. केकड़ी / अजमेर (तामड़ा क्षेत्र) 4. टोंक (तामड़ा / गार्नेट)</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422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74/350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पन्ना (Emerald) को 'हरी अग्नि' (Green Fire) कहा जाता है। राजस्थान में राजसमंद के कालागुमान से अजमेर के बुबानी तक 221 किमी लम्बी 'ग्रीन फायर बेल्ट' फैली हुई है, जहाँ टिक्की, गढ़बोर और गुढ़ा प्रमुख पन्ना खनन स्थल हैं। तामड़ा (Garnet/रक्तमणि) लाल-भूरे रंग का अर्द्ध-कीमती पत्थर है जिसके उत्पादन में राजस्थान का भारत में शत-प्रतिशत एकाधिकार है। टोंक जिले की बनास नदी घाटी में राजमहल, जनकपुरा, कुशलपुरा और कल्याणपुर तथा केकड़ी/अजमेर का सरवाड़ क्षेत्र तामड़ा के विश्व प्रसिद्ध उत्पादक स्थल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422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74/350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दक्षिणी राजस्थान में अंतर-बेसिन जल स्थानांतरण हेतु निर्मित प्रमुख जल सुरंगों (Water Tunnels) को उनकी विशेषताओं के साथ सही सुमेलित कीजिए: सूची-I (जल सुरंग / परियोजना): सूची-I: A. सेई जल सुरंग B. मानसी-वाकल जल सुरंग C. देवास जल सुरंग परियोजना (प्रथम व द्वितीय चरण) D. कालीतीर लिफ्ट जल परियोजना सूची-II: 1. चम्बल बेसिन से धौलपुर जिले के बांधों व तालाबों को पेयजल लिफ्ट परियोजना 2. आकोदड़ा व मादड़ी बाँध से पिछोला झील व उदयपुर नगर को जलापूर्ति 3. साबरमती की सहायक सेई नदी से जवाई बाँध (पाली) को जलापूर्ति (राज्य की प्रथम जल सुरंग) 4. राजस्थान की सबसे लम्बी जल सुरंग (लगभग 11.2 किमी), उदयपुर पेयजल हेतु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766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75/350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जल अभावग्रस्त क्षेत्रों में जल आपूर्ति हेतु पहाड़ों को काटकर कई ऐतिहासिक जल सुरंगे बनाई गई हैं: (1) सेई जल सुरंग: उदयपुर जिले की कोटड़ा तहसील में साबरमती की सहायक सेई नदी पर बने सेई बाँध से 6.7 किमी लम्बी सुरंग बनाकर अरावली पर्वत के आर-पार पानी जवाई बाँध (पाली) में डाला जाता है; यह 1977 में बनी राजस्थान की पहली अंतर-बेसिन जल सुरंग है। (2) मानसी-वाकल जल सुरंग: उदयपुर के कोटड़ा क्षेत्र में फुलवारी की नाल से होकर गुजरने वाली 11.2 किमी लम्बी सुरंग है, जो हिंदुस्तान जिंक लिमिटेड और राज्य सरकार के सहयोग से बनी राजस्थान की सबसे लम्बी जल सुरंग है। (3) देवास परियोजना (मोहनलाल सुखाड़िया जल परियोजना): गोगुंदा की पहाड़ियों में मादड़ी व आकोदड़ा बाँधों से सुरंग बनाकर पानी उदयपुर की पिछोला और फतेहसागर झीलों में डाला जाता है। (4) कालीतीर लिफ्ट: चम्बल नदी के अधिशेष जल को लिफ्ट कर धौलपुर जिले के पार्वती, रामसागर व उर्मिला सागर को भरने की नवीन परियोजना है। अतः सही कूट A-3, B-4, C-2,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766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75/350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वागड़ अंचल में 'संत मावजी' एवं 'बेणेश्वर धाम' (आदिवासियों का महाकुंभ) के संदर्भ में विचार कीजिए: A. संत मावजी को भगवान विष्णु के 10वें 'कल्कि अवतार' के रूप में पूजा जाता है, जिन्होंने 'निष्कलंक संप्रदाय' की स्थापना की। B. संत मावजी के भविष्यवाणियों से युक्त हस्तलिखित ज्ञानोपदेशों के संग्रह को 'चोपड़ा' (Chopra) कहा जाता है जो दिवाली पर दर्शनार्थ निकाले जाते हैं। C. बेणेश्वर धाम (नवाटापरा, डूंगरपुर) में सोम, माही एवं जाखम नदियों के त्रिवेणी संगम पर प्रतिवर्ष माघ पूर्णिमा को 'आदिवासियों का महाकुंभ' भरता है। D. बेणेश्वर धाम में भारत का एकमात्र 'खंडित शिवलिंग' (पांच स्थानों से खंडित) पूजा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110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76/350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संत मावजी एवं बेणेश्वर: साबला (डूंगरपुर) में जन्म। चोपड़ा (वागड़ी बोली में भविष्यवाणियां)। बेणेश्वर (नवाटापरा गाँव, डूंगरपुर) सोम-माही-जाखम त्रिवेणी संगम। माघ पूर्णिमा को लाखों भील आदिवासी अस्थि विसर्जन व स्नान हेतु आते हैं। खंडित शिवलिंग की पूजा होती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110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76/350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बारां जिले में स्थित 'विलास सिंचाई परियोजना' एवं 'लासी परियोजना' पर विचार कीजिए: A. विलास सिंचाई परियोजना बारां जिले की किशनगंज तहसील में विलास नदी पर स्थित है। B. लासी सिंचाई परियोजना बारां जिले की छीपाबड़ौद तहसील में लासी नदी पर निर्मित है। C. विलास और लासी दोनों नदियां पार्वती नदी तंत्र की सहायक नदियां हैं। D. ये दोनों परियोजनाएं मीणा बहुल क्षेत्रों में कृषि सिंचाई एवं भूजल पुनर्भरण में महत्वपूर्ण भूमिका निभाती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77/350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 जिले की मध्यम सिंचाई परियोजनाएं: विलास नदी पर किशनगंज में विलास परियोजना तथा लासी नदी पर छीपाबड़ौद में लासी परियोजना स्थित है। ये दोनों नदियां पार्वती की सहायक नदियां हैं जो दक्षिण-पूर्वी राजस्थान के सहरिया आदिवासी बहुल हाड़ौती अंचल को सिंचित करती हैं। अतः सभी कथन सत्य हैं। ⚡ [परीक्षा-उपयोगी सूक्ष्म दृष्टि / RPSC Trap Alert]: कथन D असत्य है क्योंकि इसमें दिए गए तथ्य में त्रुटि है। वास्तविक तथ्य यह है कि सहरिया राजस्थान की एकमात्र PVTG जनजाति है। अतः सही उत्तर विकल्प (A)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77/350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तीन प्रमुख अपवाह प्रणालियों को उनके कुल अपवाह क्षेत्र प्रतिशत एवं प्रतिनिधि नदियों के साथ सही सुमेलित कीजिए: सूची-I (अपवाह प्रणाली): सूची-I: A. आंतरिक प्रवाह तंत्र B. बंगाल की खाड़ी अपवाह तंत्र C. अरब सागरीय अपवाह तंत्र D. साबरमती उप-बेसिन सूची-II: 1. लगभग 23-24% भाग - चंबल, बनास, बेड़च, कोठारी, खारी, बाणगंगा 2. लगभग 16-17% भाग - लूनी, माही, पश्चिमी बनास, साबरमती 3. लगभग 1.2% भाग - वाकल, सेई, हथमती (खंभात की खाड़ी में विसर्जन) 4. लगभग 60.2% भाग - घग्घर, कांतली, साबी, रूपारेल, कांकनी, मंथा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797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78/350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जल विसर्जन के आधार पर अपवाह तंत्र 3 भागों में बंटा है: (1) आंतरिक प्रवाह तंत्र राज्य का सबसे बड़ा अपवाह तंत्र है जो कुल अपवाह के 60.2% भाग पर फैला है (घग्घर, कांतली, साबी आदि); (2) बंगाल की खाड़ी तंत्र 23-24% भाग का प्रतिनिधित्व करता है जो यमुना के माध्यम से गंगा में मिलता है (चंबल, बनास आदि); (3) अरब सागरीय तंत्र 16-17% भाग पर विस्तृत है जो कच्छ के रण या खंभात की खाड़ी में गिरता है (लूनी, माही आदि); (4) साबरमती बेसिन राज्य के लगभग 1.2% क्षेत्र पर फैला है। अतः सही मिलान A-4, B-1, C-2,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797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78/350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हाड़ौती क्षेत्र की प्रमुख नदियों एवं उनके किनारे स्थित ऐतिहासिक किलों का सही सुमेलन कीजिए: सूची-I (ऐतिहासिक किला): सूची-I: A. गागरोन का किला B. शेरगढ़ का किला (कोशवर्धन दुर्ग) C. भैंसरोड़गढ़ का किला D. मनोहरथाना का किला सूची-II: 1. परवन एवं कालीखाड़ नदियों का संगम (झालावाड़) 2. आहू एवं कालीसिंध नदियों का संगम (सामेला) 3. परवन नदी का तट (बारां) 4. चंबल एवं बामनी (ब्राह्मणी) नदियों का संगम (चित्तौड़गढ़)</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140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79/350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नदियों के संगम व तट पर स्थित ऐतिहासिक दुर्ग: (1) गागरोन दुर्ग आहू-कालीसिंध संगम पर स्थित प्रसिद्ध जलदुर्ग है; (2) शेरगढ़ दुर्ग (कोशवर्धन) बारां में परवन नदी के तट पर शेरगढ़ अभयारण्य के पास स्थित है; (3) भैंसरोड़गढ़ दुर्ग (राजस्थान का वेल्लोर) चंबल और बामनी नदी के संगम पर स्थित जलदुर्ग है; (4) मनोहरथाना दुर्ग झालावाड़ में परवन और कालीखाड़ नदियों के संगम पर स्थित है। अतः सही मिलान A-2, B-3, C-4,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140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79/350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मुख्य नदियों को उनकी सहायक नदियों के साथ सही सुमेलित कीजिए: सूची-I: सूची-I: A. चम्बल B. बनास C. लूनी D. माही सूची-II: 1. सुकड़ी, जवाई, बांडी 2. सोम, जाखम, अनास 3. पार्वती, कालीसिंध, मेज 4. खारी, बेड़च, कोठारी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484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80/350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प्रमुख नदियों का सहायक नदियों के साथ सही संयोजन इस प्रकार है: 'चम्बल' की प्रमुख सहायक नदियां पार्वती, कालीसिंध, आहू, परवन, मेज और बामनी हैं। 'बनास' (वन की आशा) की सहायक नदियां खारी, बेड़च, कोठारी, मोरेल, बांडी और मानसी हैं। 'लूनी' (मरुगंगा) की सहायक नदियां सुकड़ी, जवाई, लीलड़ी, मीठड़ी, बांडी और जोजड़ी हैं। 'माही' की सहायक नदियां सोम, जाखम, अनास, चाप, मोरेन और इरू हैं। अतः सही कूट A-3, B-4, C-1, D-2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484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80/350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बालोतरा जिले में स्थित प्रसिद्ध 'पचपदरा झील' के संदर्भ में निम्नलिखित कथनों पर विचार कीजिए: A. पचपदरा झील के नमक में सोडियम क्लोराइड (NaCl) की मात्रा लगभग 98% तक पाई जाती है, जिससे यह खाने की दृष्टि से सर्वोत्तम श्रेणी का माना जाता है। B. यहाँ पारंपरिक रूप से 'खारवाल' जाति के लोग 'मोरली' झाड़ी की टहनियों का उपयोग करके नमक के स्फटिक (क्रिस्टल) बनाते हैं। C. पचपदरा झील राजस्थान की सबसे बड़ी मीठे पानी की प्राकृतिक झील है। D. इस झील से प्राप्त नमक का उपयोग केवल रासायनिक व औद्योगिक कार्यों तक सीमित नहीं है, बल्कि भोजन हेतु व्यापक रूप से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827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81/350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पचपदरा झील (अब नवगठित बालोतरा जिले में) राजस्थान की सर्वाधिक खारी और उच्च गुणवत्तायुक्त नमक उत्पादक झील है। यहाँ के नमक में 98% तक शुद्ध सोडियम क्लोराइड होता है, जो इसे भारत का सबसे उत्तम खाद्य नमक बनाता है। यहाँ स्थानीय खारवाल जाति के परिवार वायु प्रवाही क्यारियों में मोरली झाड़ी की टहनियों को डालकर प्राकृतिक वाष्पीकरण से नमक के क्रिस्टल तैयार करते हैं। कथन C असत्य है क्योंकि पचपदरा अत्यंत खारे पानी की झील है, मीठे पानी की नहीं (राजस्थान की सबसे बड़ी मीठे पानी की प्राकृतिक झील पुष्कर तथा कृत्रिम झील जयसमंद है)। अतः केवल A, B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827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81/350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प्रमुख झीलों एवं उनके संबंधित जिलों के संदर्भ में निम्नलिखित में से कौन-सा युग्म सुमेलित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कावोद झील - जैसलमेर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ढेबर झील (जयसमंद) - सलूंबर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सिलीसेढ़ झील - भरतपुर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कायलाना झील - जोधपुर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171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82/350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सिलीसेढ़ झील - भरतपुर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कावोद झील - जैसलमेर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ढेबर झील (जयसमंद) - सलूंबर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कायलाना झील - जोधपुर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सिलीसेढ़ झील भरतपुर में नहीं, बल्कि राजस्थान के अलवर जिले में स्थित एक अत्यंत मनोरम मीठे पानी की झील है। इस झील के किनारे अलवर के महाराजा विनय सिंह ने 1845 ई. में अपनी रानी शीला के लिए एक भव्य महल (शाही लेक पैलेस) और शिकारी लॉज का निर्माण करवाया था। इस झील को 'राजस्थान का नंदन कानन' भी कहा जाता है। कावोद झील जैसलमेर में स्थित खारे पानी की झील है। ढेबर झील (जयसमंद) राजस्थान की सबसे बड़ी मीठे पानी की कृत्रिम झील है जो अब नए जिले सलूंबर में स्थित है। कायलाना झील जोधपुर में स्थित है। अतः विकल्प C असुमेलित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171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82/350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सांभर झील (Sambhar Salt Lake) के जल-अपवाह प्रतिरूप एवं लवणता वाहक नदियों के संबंध में विचार कीजिए: A. सांभर झील भारत की सबसे बड़ी अंतःस्थलीय खारे पानी की झील (प्लाया बेसिन) है, जिसमें अभिकेंद्रीय (Centripetal) जल-अपवाह प्रतिरूप पाया जाता है। B. मेंथा (मेढ़ा) नदी उत्तर दिशा से आकर सांभर झील में मिलती है और यह झील में न्यूनतम लवणता जमा करने वाली प्रमुख नदी है। C. रूपनगढ़ नदी दक्षिण दिशा (अजमेर) से तथा खारी व खंडेला नदियां उत्तर एवं उत्तर-पश्चिम दिशा से आकर सांभर में जल गिराती हैं। D. सांभर झील में मिट्टी की मेड़ें बनाकर उथली क्यारियों में सौर वाष्पीकरण द्वारा नमक बनाने की पारंपरिक पद्धति को 'क्यार नमक' कहा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514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83/350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सांभर झील (जयपुर, डीडवाना-कुचामन, अजमेर सीमा): भारत की सबसे बड़ी अंतर्देशीय प्राकृतिक लवण झील है। चारों ओर की पहाड़ियों से नदियां केंद्र की ओर जल लाती हैं जिसे 'अभिकेंद्रीय अपवाह प्रतिरूप' (Centripetal Drainage) कहते हैं। मुख्य लवण वाहक नदियां: मेंथा (सर्वाधिक लवण निक्षेपण), रूपनगढ़, खारी, खंडेला। नमक उत्पादन: 'क्यार पद्धति' (उथली क्यारियों में सौर वाष्पीकरण) तथा वायु प्रवाह से बना नमक 'रेस्ता' कहलाता है। केंद्र सरकार का उपक्रम 'सांभर साल्ट्स लिमिटेड' (Hindustan Salts Ltd. की सहायक) यहाँ देश के कुल नमक उत्पादन का लगभग 8.7% उत्पादित करता है। अतः सभी कथन सत्य हैं। ⚡ [परीक्षा-उपयोगी सूक्ष्म दृष्टि / RPSC Trap Alert]: कथन B असत्य है क्योंकि इसमें दिए गए तथ्य में त्रुटि है। वास्तविक तथ्य यह है कि सर्वाधिक स्थिति दर्ज की जाती है न कि न्यूनतम। अतः सही उत्तर विकल्प (D)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514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83/350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सांभर झील में प्रवासी पक्षियों की मौतों एवं 'सांभर लेक मैनेजमेंट एजेंसी' (SLMA) के संबंध में विचार कीजिए: A. वर्ष 2019 में सांभर झील में 'एवियन बोटुलिज्म' (Avian Botulism) बीमारी के कारण हजारों प्रवासी पक्षियों की असामयिक मृत्यु हुई थी। B. एवियन बोटुलिज्म 'क्लॉस्ट्रिडियम बोटुलिनम' (Clostridium botulinum) नामक अवायवीय जीवाणु द्वारा स्रावित न्यूरोटॉक्सिन के कारण पक्षियों में होने वाला पक्षाघात रोग है। C. सांभर झील के पारिस्थितिक संरक्षण एवं अवैध अतिक्रमण/अवैध बोरवेल नियंत्रण हेतु वर्ष 2021 में 'सांभर लेक मैनेजमेंट एजेंसी' (SLMA) का गठन किया गया। D. सांभर झील को वर्ष 1990 में अंतरराष्ट्रीय महत्व की 'रामसर आर्द्रभूमि' (Ramsar Wetland Site) घोषित किया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84/350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सांभर झील संरक्षण: 1990 में राजस्थान का दूसरा रामसर स्थल घोषित। नवंबर 2019 में अत्यधिक लवणता, अवायवीय दशाओं व उच्च तापमान के कारण क्लॉस्ट्रिडियम बोटुलिनम जीवाणु संक्रमण से एवियन बोटुलिज्म फैला जिससे हजारों प्रवासी पक्षी (फ्लेमिंगो, स्टिल्ट आदि) मारे गए। इसके स्थायी समाधान हेतु 2021 में राज्य सरकार ने 'सांभर लेक मैनेजमेंट एजेंसी' (SLMA) बनाई जो अवैध बोरवेल, अवैध नमक क्यारियों और कैचमेंट नदी अवरोधों को हटाने का कार्य करती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84/350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डीडवाना, कुचामन एवं नावां झीलों के औद्योगिक महत्व पर विचार कीजिए: A. डीडवाना झील (डीडवाना-कुचामन) में सोडियम सल्फेट की प्रचुरता के कारण यहाँ 'राजस्थान स्टेट केमिकल वर्क्स' के 2 संयंत्र (सोडियम सल्फेट एवं सोडियम सल्फाइड) कार्यरत हैं। B. डीडवाना में निजी संस्थाओं द्वारा नमक बनाने की छोटी क्यारियों को स्थानीय भाषा में 'देवल' कहा जाता है। C. नावां (डीडवाना-कुचामन) में केंद्र सरकार द्वारा अत्याधुनिक 'मॉडल साल्ट फार्म' (Model Salt Farm) एवं नमक परीक्षण प्रयोगशाला स्थापित की गई है। D. डीडवाना झील के नमक में 98% सोडियम क्लोराइड होने के कारण इसका उपयोग सीधे भोजन में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202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85/350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डीडवाना व नावां लवण क्षेत्र: डीडवाना झील में सोडियम सल्फेट की अधिकता है जिससे यह खाने योग्य नहीं होता (चमड़ा रंगाई व कागज में प्रयुक्त होता है); देवल संस्थाएं यहाँ नमक बनाती हैं। नावां में भारत का पहला मॉडल साल्ट फार्म व देश की सबसे बड़ी नमक मंडी स्थित है। कथन D असत्य है क्योंकि 98% शुद्ध NaCl पचपदरा (बालोतरा) के नमक में पाया जाता है, डीडवाना में नहीं। अतः केवल 1, 2 और 3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202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85/350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बालोतरा जिले में स्थित 'पचपदरा झील' के नमक उत्पादन एवं विशिष्ट पद्धतियों पर विचार कीजिए: A. पचपदरा झील के नमक में सोडियम क्लोराइड (NaCl) की मात्रा लगभग 98% तक पाई जाती है, जो इसे उपभोग (खाने) के लिए सर्वोत्तम बनाती है। B. यहाँ पारंपरिक रूप से 'खारवाल जाति' के लोग नमक उत्पादन का कार्य करते हैं। C. खारे जल (ब्राइन) की क्यारियों में स्थानीय 'मोरली झाड़ी' (Morali Bush) की टहनियां डालकर शुद्ध नमक के स्फटिक (क्रिस्टल) बनाए जाते हैं। D. पचपदरा में रिसकर एकत्र होने वाले भूमिगत अत्यधिक खारे जल के गहरे कुओं/कुंडों को स्थानीय भाषा में 'कोसिया' कहा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545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86/350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पचपदरा झील (बालोतरा): 98% सोडियम क्लोराइड की उच्च शुद्धता के कारण इसका नमक खाने हेतु सर्वोत्तम माना जाता है। खारवाल जाति मोरली झाड़ी की टहनियों पर नमक के रवे (क्रिस्टल) जमाती है जिसे 'मोरली पद्धति' कहते हैं। 10-15 फीट गहरे कुएं जिनमें खारा पानी रिसता है, 'कोसिया' कहलाते हैं। यहाँ राज्य सरकार का 'राजस्थान स्टेट केमिकल वर्क्स' भी कार्यरत है। अतः सभी चारों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545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86/350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प्रसिद्ध खारे पानी की सांभर झील के आंतरिक अपवाह क्षेत्र में चारों दिशाओं से आकर जल गिराने वाली प्रमुख नदियों का सही समूह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जोजड़ी, सुकड़ी, खारी, मेंथा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मेंथा, रूपनगढ़, बेड़च, बांडी</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कांतली, साबी, मेंथा, रूपनगढ़</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मेंथा, रूपनगढ़, खारी, खण्डेला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889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87/350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मेंथा, रूपनगढ़, खारी, खण्डेला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जोजड़ी, सुकड़ी, खारी, मेंथा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मेंथा, रूपनगढ़, बेड़च, बांडी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कांतली, साबी, मेंथा, रूपनगढ़</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सांभर झील भारत की सबसे बड़ी अंतःस्थलीय (Inland) खारे पानी की झील है। यह एक प्राकृतिक आंतरिक अपवाह द्रोणी (Closed Drainage Basin) है जिसमें चारों ओर से चार प्रमुख नदियां आकर अपना जल और लवण जमा करती हैं: (1) मेंथा (मंथाई) नदी - जो उत्तर से (जयपुर/सीकर से) आती है और झील में सर्वाधिक नमक लाती है, (2) रूपनगढ़ नदी - जो दक्षिण से (अजमेर के सलेमाबाद से) आती है, (3) खारी नदी, तथा (4) खण्डेला नदी। बेड़च, कांतली और जोजड़ी नदियां सांभर बेसिन में नहीं गिरतीं।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889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87/350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कितने जिले आंतरिक अपवाह नदियों, अरब सागरीय और बंगाल की खाड़ी नदियों के संबंध में 'सीपू', 'मंथा', 'खंडेला' एवं 'कांतली' के अपवाह वर्गीकरण पर विचार कीजिए: A. मंथा (मेंढा) नदी जयपुर के मनोहरपुर से निकलकर सांभर झील में उत्तर से विसर्जित होने वाली आंतरिक प्रवाह नदी है। B. खंडेला नदी सीकर की पहाड़ियों से निकलकर सांभर झील में मिलने वाली आंतरिक प्रवाह नदी है। C. कांतली नदी शेखावाटी के तोरावाटी बेसिन में बहने वाली पूर्णतः आंतरिक प्रवाह नदी है। D. सीपू नदी सिरोही से निकलकर गुजरात में पश्चिमी बनास में मिलती है जो अंततः बंगाल की खाड़ी (कच्छ के रण) अपवाह तंत्र का हिस्सा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232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88/350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इन चार नदियों में से तीन नदियां (मंथा, खंडेला, कांतली) आंतरिक अपवाह तंत्र की हैं, जबकि सीपू नदी अरब सागर अपवाह तंत्र की नदी है जो पश्चिमी बनास की सहायक होकर कच्छ के छोटे रण में गिरती है। अतः सभी चारों कथन पूर्णतः सत्य हैं। ⚡ [परीक्षा-उपयोगी सूक्ष्म दृष्टि / RPSC Trap Alert]: कथन D असत्य है क्योंकि इसमें दिए गए तथ्य में त्रुटि है। वास्तविक तथ्य यह है कि अरब सागर शाखा के समानांतर है न कि बंगाल की खाड़ी। अतः सही उत्तर विकल्प (A)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232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88/350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विभिन्न प्राकृतिक एवं कृत्रिम झीलों को उनके निर्माणकर्ताओं से सही सुमेलित कीजिए: सूची-I (झील): सूची-I: A. आनासागर झील (अजमेर) B. राजसमंद झील (राजसमंद) C. जयसमंद झील (सलूंबर) D. कायलाना झील (जोधपुर) सूची-II: 1. महाराणा जयसिंह (1685 ई.) 2. महाराणा राजसिंह प्रथम (1662 ई.) 3. सर प्रताप सिंह (जोधपुर के प्रधानमंत्री, 1872 ई.) 4. चौहान शासक अर्णोराज (1137 ई.)</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576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89/350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B-2,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झीलों के निर्माणकर्ता: (1) आनासागर का निर्माण अर्णोराज (आनाजी) ने कराया; (2) राजसमंद झील का निर्माण महाराणा राजसिंह ने अकाल राहत कार्य में कराया; (3) जयसमंद (ढेबर) झील का निर्माण महाराणा जयसिंह ने कराया; (4) कायलाना झील (जोधपुर) का वर्तमान विशाल स्वरूप सर प्रताप सिंह द्वारा 1872 में निर्मित करवाया गया जो IGNP की राजीव गांधी लिफ्ट नहर से जुड़ी है। अतः सही मिलान A-4, B-2, C-1,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576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89/350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जयसमंद झील (ढेबर झील, सलूंबर) के निर्माण, भौगोलिक विस्तार एवं नहरों के संबंध में कथनों पर विचार कीजिए: A. मेवाड़ के महाराणा जयसिंह द्वारा 1685 से 1691 ईस्वी के मध्य गोमती नदी पर बाँध बनाकर इस झील का निर्माण करवाया गया। B. यह राजस्थान राज्य की सबसे बड़ी मानव-निर्मित (कृत्रिम) खारे पानी की झील है। C. इस झील में कुल 7 छोटे-बड़े टापू स्थित हैं, जिनमें सबसे बड़े टापू का नाम 'बाबा का भांगड़ा' (या मगरा) तथा सबसे छोटे टापू का नाम 'प्यारी' है। D. इस झील से कृषि सिंचाई हेतु 'श्यामपुरा' एवं 'भाट' नामक दो प्रमुख नहरें निकाली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919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90/350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जयसमंद झील (ढेबर झील): महाराणा जयसिंह ने गोमती नदी को रोककर 1685-1691 में बनाया। यह राज्य की सबसे बड़ी मीठे पानी की कृत्रिम झील है (वर्तमान में नवगठित सलूंबर जिले में)। झील में 7 टापू हैं जिन पर भील व मीणा (पटेल) निवास करते हैं; सबसे बड़ा टापू 'बाबा का भांगड़ा' तथा सबसे छोटा 'प्यारी' है। एक टापू पर 'बाबा का मगरा' रिसॉर्ट बना है। 1950 में सिंचाई हेतु श्यामपुरा व भाट नहरें निकाली गईं। झील के किनारे रूठी रानी का महल तथा संगमरमर की 6 कलात्मक छतरियां स्थित हैं। अतः सभी चारों कथन सत्य हैं। ⚡ [परीक्षा-उपयोगी सूक्ष्म दृष्टि / RPSC Trap Alert]: कथन B असत्य है क्योंकि इसमें दिए गए तथ्य में त्रुटि है। वास्तविक तथ्य यह है कि मीठे पानी की झील/स्रोत है न कि खारे पानी का।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919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90/350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सबसे बड़ी कृत्रिम मीठे पानी की झील 'जयसमंद' (ढेबर झील) के संबंध में निम्नलिखित कथनों पर विचार कीजिए: A. इसका निर्माण मेवाड़ के महाराणा जयसिंह द्वारा 1685-1691 ई. के मध्य गोमती नदी पर बाँध बनाकर करवाया गया था। B. इस झील में कुल 7 बड़े-छोटे टापू हैं, जिनमें सबसे बड़े टापू का नाम 'बाबा का भांगड़ा' तथा सबसे छोटे का नाम 'प्यारी' है। C. सिंचाई सुविधा उपलब्ध कराने हेतु 1950 ई. में इस झील से 'श्यामपुरा' और 'भाट' नामक दो नहरें निकाली गई थीं। D. यह झील वर्तमान में जयपुर संभाग के अंतर्गत खारे पानी की झील के रूप में वर्गीकृत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91/350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जयसमंद झील (ढेबर झील) राजस्थान की सबसे बड़ी और भारत की दूसरी सबसे बड़ी कृत्रिम मीठे पानी की झील है, जो प्रशासनिक पुनर्गठन के बाद अब सलूंबर जिले में स्थित है। गोमती, झावर और बागर नदियों का जल इसमें गिरता है। झील के 7 टापुओं पर भील और मीणा जनजाति के लोग निवास करते हैं; सबसे बड़ा टापू बाबा का भांगड़ा तथा सबसे छोटा प्यारी कहलाता है। यहाँ से निकाली गई श्यामपुरा व भाट नहरों से आसपास के क्षेत्रों में सिंचाई होती है। कथन D पूर्णतः असत्य है क्योंकि यह मीठे पानी की झील है, खारे की नहीं।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91/350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झील संरक्षण योजना (NLCP) के अंतर्गत राजस्थान की झीलों एवं वित्तीय ढाँचे के संबंध में कथनों पर विचार कीजिए: A. राष्ट्रीय झील संरक्षण योजना में राजस्थान की कुल 6 महत्वपूर्ण शहरी एवं पर्यटन महत्व की झीलें सम्मिलित हैं। B. योजना में सम्मिलित 6 झीलें हैं: मानसागर (जयपुर), पुष्कर (अजमेर), आनासागर (अजमेर), पिछोला (उदयपुर), फतेहसागर (उदयपुर) एवं नक्की झील (माउंट आबू, सिरोही)। C. इस योजना के अंतर्गत केंद्र सरकार एवं राज्य सरकार के मध्य लागत सहभाजन का अनुपात 60:40 निर्धारित है। D. राजसमंद झील एवं सिलीसेढ़ झील को भी इस योजना के तहत वित्तीय सहायता प्रदान की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606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92/350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झील संरक्षण कार्यक्रम (NLCP / वर्तमान में NPCA): केंद्रीय पर्यावरण, वन एवं जलवायु परिवर्तन मंत्रालय द्वारा 60:40 के वित्तीय अनुपात पर संचालित है। राजस्थान की केवल 6 झीलें इसमें स्वीकृत हैं: मानसागर (जयपुर), पुष्कर व आनासागर (अजमेर), पिछोला व फतेहसागर (उदयपुर), तथा नक्की झील (सिरोही)। कथन D असत्य है क्योंकि राजसमंद और सिलीसेढ़ झीलें NLCP में शामिल नहीं हैं। अतः केवल 1, 2 और 3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606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92/350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 सरकार के पर्यावरण, वन एवं जलवायु परिवर्तन मंत्रालय द्वारा संचालित 'राष्ट्रीय झील संरक्षण कार्यक्रम' (NLCP) के संदर्भ में निम्नलिखित कथनों पर विचार कीजिए: A. राष्ट्रीय झील संरक्षण कार्यक्रम (NLCP) के अंतर्गत राजस्थान की कुल 6 महत्वपूर्ण ऐतिहासिक झीलों को संरक्षण एवं पुनरुद्धार हेतु शामिल किया गया है। B. अजमेर जिले की 'आनासागर झील' एवं 'पुष्कर झील' इस कार्यक्रम में सम्मिलित हैं। C. चूरू जिले की 'पिछोला झील' एवं 'फतेहसागर झील' तथा सिरोही जिले की 'नक्की झील' इसमें शामिल हैं। D. जयपुर जिले की प्रसिद्ध 'मानसागर झील' (जलमहल स्थित) इस योजना में सम्मिलित 6वीं झील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950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93/350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 सरकार द्वारा झीलों के पारिस्थितिकीय स्वास्थ्य सुधार, जल गुणवत्ता बहाली, गाद निकालने और प्रदूषण नियंत्रण हेतु 'राष्ट्रीय झील संरक्षण कार्यक्रम' (National Lake Conservation Plan - NLCP, जो अब NPCA - राष्ट्रीय जलीय पारिस्थितिकी तंत्र संरक्षण योजना का भाग है) संचालित किया जा रहा है। इसके अंतर्गत राजस्थान की कुल 6 चयनित झीलें सम्मिलित हैं: (1) पुष्कर झील (अजमेर); (2) आनासागर झील (अजमेर); (3) नक्की झील (माउंट आबू, सिरोही); (4) फतेहसागर झील (उदयपुर); (5) पिछोला झील (उदयपुर); तथा (6) मानसागर झील (जयपुर, जलमहल झील)। इस योजना में जयसमंद झील (सलूंबर), कोलायत झील (बीकानेर) या राजसमंद झील सम्मिलित नहीं हैं। अतः सभी चारों कथन पूर्णतः सत्य हैं। ⚡ [परीक्षा-उपयोगी सूक्ष्म दृष्टि / RPSC Trap Alert]: कथन C असत्य है क्योंकि इसमें दिए गए तथ्य में त्रुटि है। वास्तविक तथ्य यह है कि उदयपुर क्षेत्र से संबंधित है न कि चूरू से। अतः सही उत्तर विकल्प (A)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950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93/350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राजसमंद झील (कांकरोली) एवं 'राजप्रशस्ति महाकाव्य' के ऐतिहासिक व अकाल राहत महत्व पर विचार कीजिए: A. मेवाड़ के महाराणा राजसिंह प्रथम द्वारा 1662 से 1676 ईस्वी के मध्य गोमती नदी के जल को रोककर इसका निर्माण करवाया गया। B. यह राजस्थान के इतिहास में संगठित 'अकाल राहत कार्य' के तहत निर्मित पहली और सबसे भव्य झील मानी जाती है। C. झील की दक्षिणी पाल को 'नौचौकी पाल' कहा जाता है, जहाँ संगमरमर की 25 विशाल शिलाओं पर रणछोड़ भट्ट तैलंग द्वारा संस्कृत में 'राजप्रशस्ति महाकाव्य' उत्कीर्ण है। D. राजप्रशस्ति को भारत का सबसे बड़ा शिलालेख माना जाता है, जिसमें बप्पा रावल से लेकर महाराणा राजसिंह तक का मेवाड़ इतिहास अंकित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294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94/350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राजसमंद झील (राजसमंद): महाराणा राजसिंह द्वारा भीषण अकाल के समय प्रजा को रोजगार देने हेतु गोमती, केलवा व ताली नदियों के संगम पर निर्मित। नौचौकी पाल पर 25 काले संगमरमर के पत्थरों पर रणछोड़ भट्ट तैलंग रचित 'राजप्रशस्ति' (24 सर्ग, संस्कृत श्लोक) उत्कीर्ण है जो भारत का सबसे बड़ा शिलालेख है। झील के किनारे घेवर माता का मंदिर (सती मंदिर) तथा द्वारकाधीश जी का पुष्टि-मार्गीय मंदिर स्थित है। द्वितीय विश्वयुद्ध में यह इंपीरियल एयरवेज का सी-प्लेन बेस भी रहा। अतः सभी कथन सत्य हैं। ⚡ [परीक्षा-उपयोगी सूक्ष्म दृष्टि / RPSC Trap Alert]: कथन C असत्य है क्योंकि इसमें दिए गए तथ्य में त्रुटि है। वास्तविक तथ्य यह है कि उत्तरी भाग में स्थित है न कि दक्षिणी में।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294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94/350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मत्स्य पालन (मत्स्य विकास) की संभावनाओं एवं 'आजीविका मॉडल' पर विचार कीजिए: A. राजस्थान में लगभग 4.23 लाख हेक्टेयर का विशाल अंतर्देशीय जल क्षेत्र (जलाशय, बाँध, तालाब एवं नदियां) उपलब्ध है। B. दक्षिणी राजस्थान के आदिवासी बहुल जिलों (बांसवाड़ा, डूंगरपुर, उदयपुर) में जयसमंद, माही बजाज सागर और कडाणा बैकवाटर में शून्य रॉयल्टी पर 'आजीविका मॉडल' लागू किया गया है। C. केंद्रीय मत्स्य शिक्षा संस्थान के सहयोग से लवणीय भूजल में 'सफेद झींगा' (White Prawn / Litopenaeus vannamei) पालन चूरू एवं धौलपुर में सफल रहा है। D. राजस्थान मत्स्य अधिनियम 1953 के तहत वर्षा ऋतु में मछलियों के प्रजनन काल (16 जून से 31 अगस्त) के दौरान मत्स्य आखेट पर पूर्ण प्रतिबंध रहता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637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95/350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मत्स्य विकास: अंतर्देशीय जलाशयों में 'केज कल्चर' (Cage Culture) माही व राणा प्रताप सागर में शुरू किया गया। जयसमंद झील में आदिवासी मछुआरों हेतु आजीविका मॉडल चला। चूरू-हनुमानगढ़ के खारे पानी में खारे पानी की झींगा मछली (Prawn) का बंपर उत्पादन हुआ। मानसून प्रजनन काल (क्लोज सीजन) में 16 जून से 31 अगस्त तक शिकार प्रतिबंधित रहता है। अतः सभी कथन सत्य हैं। ⚡ [परीक्षा-उपयोगी सूक्ष्म दृष्टि / RPSC Trap Alert]: कथन C असत्य है क्योंकि इसमें दिए गए तथ्य में त्रुटि है। वास्तविक तथ्य यह है कि बाड़मेर जिले में स्थित है न कि धौलपुर में।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637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95/350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नक्की झील (Mount Abu, सिरोही) के संबंध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समुद्र तल से लगभग 1200 मीटर ऊंचाई पर स्थित राजस्थान की सबसे ऊंची मीठे पानी की झील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भू-वैज्ञानिक दृष्टि से इसे ज्वालामुखी क्रिया से निर्मित 'क्रेटर झील' माना जाता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झील के किनारे टॉड रॉक (मेंढक जैसी), नन रॉक (घूंघट निकाले स्त्री) एवं नंदी रॉक जैसी प्राकृतिक शिलाएं स्थित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राजस्थान का एकमात्र ऐसा रामसर आर्द्रभूमि स्थल है जहाँ सर्दियों में नमक की क्यारियां बनाई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981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96/350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राजस्थान का एकमात्र ऐसा रामसर आर्द्रभूमि स्थल है जहाँ सर्दियों में नमक की क्यारियां बनाई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समुद्र तल से लगभग 1200 मीटर ऊंचाई पर स्थित राजस्थान की सबसे ऊंची मीठे पानी की झील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भू-वैज्ञानिक दृष्टि से इसे ज्वालामुखी क्रिया से निर्मित 'क्रेटर झील' माना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झील के किनारे टॉड रॉक (मेंढक जैसी), नन रॉक (घूंघट निकाले स्त्री) एवं नंदी रॉक जैसी प्राकृतिक शिलाएं स्थित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नक्की झील माउंट आबू (सिरोही) में 1200 मीटर ऊंचाई पर स्थित राज्य की सबसे ऊंची व सबसे गहरी झील है। शीतकाल में इसका पानी जम जाता है। यह मीठे पानी की प्राकृतिक क्रेटर झील है (पौराणिक मान्यता अनुसार देवताओं ने नाखूनों से खोदी थी)। गरासिया जनजाति इसमें अस्थि विसर्जन करती है। कथन D असत्य है क्योंकि नक्की झील कोई रामसर स्थल या नमक उत्पादन केंद्र नहीं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981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96/350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अजमेर एवं बीकानेर संभाग की झीलों को उनकी विशेषताओं के साथ सही सुमेलित कीजिए: सूची-I: सूची-I: A. आनासागर झील B. फॉय सागर झील C. कोलायत झील D. लूणकरणसर झील सूची-II: 1. बीकानेर की खारे पानी की झील, जहाँ का नमक स्थानीय स्तर पर प्रयुक्त होता है 2. अर्णोराज द्वारा 1137 ई. में निर्मित, दौलत बाग व बारादरी स्थित 3. कपिल मुनि का आश्रम, 52 घाट, कार्तिक पूर्णिमा को दीपदान 4. बांडी नदी पर 1891-92 में इंजीनियर फॉय द्वारा निर्मित अकाल राहत झील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324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97/350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C-3,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आनासागर झील अजमेर में अर्णोराज (आनाजी) द्वारा चंद्रा नदी के जल को रोककर बनाई गई थी; इसके किनारे जहाँगीर ने दौलत बाग (सुभाष उद्यान) तथा शाहजहाँ ने संगमरमर की पांच बारादरियां बनवाईं। फॉय सागर अजमेर की दूसरी प्रमुख झील है जिसे 1891-92 के भीषण अकाल के समय राहत कार्य हेतु बनाया गया था। कोलायत (बीकानेर) सांख्य दर्शन के प्रणेता महर्षि कपिल की तपोभूमि है जहाँ पवित्र सरोवर में कार्तिक पूर्णिमा को मेला भरता है और चारण जाति के लोग इसमें स्नान नहीं करते। लूणकरणसर बीकानेर की प्रमुख लवणीय (खारे पानी) की झील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324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97/350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पिछोला झील एवं फतेहसागर झील (उदयपुर) की परस्पर जुड़ी जल-प्रणाली पर विचार कीजिए: A. पिछोला झील का निर्माण 14वीं शताब्दी के अंत में (महाराणा लाखा के काल में) 'पिच्छू' (छीतर) नामक बंजारे द्वारा करवाया गया था। B. पिछोला झील में सीसारमा और कोटड़ा/बुझड़ा नदियां अपना जल गिराती हैं। C. फतेहसागर झील का मूल निर्माण महाराणा जयसिंह (1687 ई.) ने करवाया, जिसे बाद में 1889 ई. में महाराणा फतेहसिंह ने पुनर्निर्मित करवाया (शिलान्यास ड्यूक ऑफ कनॉट द्वारा)। D. पिछोला झील का अतिरिक्त जल 'स्वरूप सागर लिंक नहर' (कुम्हारिया तालाब लिंक) के माध्यम से फतेहसागर झील में स्थानांतरित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98/350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उदयपुर की झील प्रणाली: पिछोला झील बंजारे द्वारा बैलों की स्मृति में लाखा के काल में बनी; इसमें 'जग मंदिर' (जहाँ शाहजहाँ ने शरण ली थी) एवं 'जग निवास' (लेक पैलेस) स्थित हैं। नटनी का चबूतरा (गलकी नटनी) पिछोला के किनारे है। फतेहसागर को 'कनॉट बाँध' भी कहते हैं; इसके मध्य नेहरू पार्क तथा 'उदयपुर सौर वेधशाला' (USO - मास्टर द्वीप पर) स्थित है। पिछोला और फतेहसागर को जोड़ने वाली नहर 'स्वरूप सागर' कहलाती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98/350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अजमेर जिले में स्थित ऐतिहासिक 'आनासागर झील' एवं 'पुष्कर झील' पर विचार कीजिए: A. आनासागर झील का निर्माण 1137 ई. में चौहान शासक अर्णोराज (आनाजी) द्वारा तुर्कों के संहार के बाद रक्त-रंजित भूमि को साफ करने हेतु चंद्रा नदी के जल को रोककर करवाया गया। B. आनासागर झील के किनारे मुगल सम्राट जहाँगीर ने 'दौलत बाग' (वर्तमान सुभाष उद्यान) तथा शाहजहाँ ने संगमरमर की 'बारहदरी' का निर्माण करवाया था। C. पुष्कर झील अर्द्ध-चंद्राकार आकृति वाली प्राकृतिक खारे पानी की क्रेटर/कॉल्डेरा झील है, जिसके चारों ओर 52 पक्के घाट बने हैं। D. पुष्कर में कार्तिक पूर्णिमा को राजस्थान का विख्यात रंग-बिरंगा ऊँट व पशु मेला आयोजित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011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99/350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अजमेर की ऐतिहासिक झीलें: (1) आनासागर झील: 1137 ई. में अर्णोराज द्वारा चंद्रा/बांडी नदी पर निर्मित। जहाँगीर ने दौलत बाग बनाया जहाँ नूरजहाँ की माँ अस्मत बेगम ने गुलाब से इत्र निकालने की विधि खोजी। शाहजहाँ ने संगमरमर की 5 बारहदरी बनवाईं। हाल ही में यहाँ राज्य का प्रथम इलेक्ट्रिक क्रूज शुरू हुआ; (2) पुष्कर झील (तीर्थराज/कोंकण तीर्थ/पंचम तीर्थ): 52 घाटों से युक्त, ब्रह्मा जी का प्रसिद्ध मंदिर, कार्तिक पूर्णिमा महास्नान व पशु मेला। अतः सभी कथन सत्य हैं। ⚡ [परीक्षा-उपयोगी सूक्ष्म दृष्टि / RPSC Trap Alert]: कथन C असत्य है क्योंकि इसमें दिए गए तथ्य में त्रुटि है। वास्तविक तथ्य यह है कि मीठे पानी की झील/स्रोत है न कि खारे पानी का।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011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99/350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जल संचयन प्रणालियों को उनके पारंपरिक क्षेत्रों के साथ सही सुमेलित कीजिए: सूची-I (जल संचयन संरचना): सूची-I: A. खड़ीन (Khadin) B. टांका या कुंड C. जोहड़ (Johad) D. झालरा (Jhalra) सूची-II: 1. पश्चिमी राजस्थान के घरों व खेतों में पक्के ढके हुए वर्षा जल कुंड 2. शेखावाटी क्षेत्र में वर्षा जल संचयन के कच्चे कुएं 3. जैसलमेर (15वीं सदी, पालीवाल ब्राह्मणों की कृषि तकनीक) 4. जोधपुर (जोधपुर के महलों/मंदिरों के समीप सीढ़ीदार जलकुंड)</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355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100/350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पारंपरिक जल संरक्षण संरचनाएं: (1) खड़ीन: जैसलमेर में पालीवाल ब्राह्मणों द्वारा विकसित बारानी कृषि व जल संचयन प्रणाली; (2) टांका: थार मरुस्थल में घरों व आगोर (पायतान) में वर्षा जल संचयन का भूमिगत पक्का कुंड; (3) जोहड़: शेखावाटी में कच्चे कुएं; (4) झालरा: सीढ़ीदार जलाशय जो स्वयं का जलस्रोत न होकर किसी ऊंचे तालाब या झील के रिसाव (सीपेज) से जल प्राप्त करते हैं (जैसे जोधपुर का महिला बाग झालरा)। अतः सही मिलान A-3, B-1, C-2,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355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100/350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पारंपरिक जल संरक्षण पद्धतियों एवं भू-जल प्रबंधन के संदर्भ में निम्नलिखित कथनों पर विचार कीजिए: A. 'टोबा' थार मरुस्थल में नाड़ी के समान ही लेकिन अधिक गहरा प्राकृतिक या कृत्रिम गड्ढा होता है जिसमें जल वाष्पीकरण कम होता है। B. 'झालरा' अपने से ऊंचे स्तर पर स्थित तालाबों या झीलों के रिसाव (Seepage) से जल प्राप्त करने वाली सीढ़ीदार बावड़ीनुमा संरचना है। C. 'टांका' या 'कुंडी' पश्चिमी राजस्थान के घरों और खेतों में वर्षा जल संचयन (Water Harvesting) का सबसे सुरक्षित भूमिगत ढांचा है। D. खड़ीन कृषि पद्धति का विकास 15वीं शताब्दी में अलवर के पालीवाल ब्राह्मणों द्वारा किया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698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101/350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पारंपरिक जल संरक्षण ढांचे मरुस्थलीय पारिस्थितिकी में जीवन-रेखा का कार्य करते हैं। टोबा नाड़ी से अधिक गहरा होने के कारण लंबे समय तक पशुओं और मनुष्यों के लिए जल सुरक्षित रखता है। झालरा का जल सामान्यतः पीने योग्य न होकर धार्मिक स्नान और घरेलू उपयोग हेतु प्रयुक्त होता था, जो ऊपरी जलाशयों के रिसाव से भरता था। टांका थार मरुस्थल का प्रमुख भूमिगत पक्का जलकुंड है जो पार्लर पानी (शुद्ध वर्षा जल) को वर्ष भर सुरक्षित रखता है। खड़ीन वर्षा जल को ढलानों पर मिट्टी की पाल बनाकर रोककर की जाने वाली रबी की नम कृषि पद्धति है, जिसका आविष्कार पालीवाल ब्राह्मणों ने किया था। अतः सभी कथन सत्य हैं। ⚡ [परीक्षा-उपयोगी सूक्ष्म दृष्टि / RPSC Trap Alert]: कथन D असत्य है क्योंकि इसमें दिए गए तथ्य में त्रुटि है। वास्तविक तथ्य यह है कि जैसलमेर जिले में स्थित है न कि पूर्वी राजस्थान के अलवर में।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698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101/350</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'जल जीवन मिशन' (JJM) एवं 'मुख्यमंत्री जल स्वावलंबन अभियान 2.0' (MJSA 2.0) के एकीकृत जल लक्ष्यों पर विचार कीजिए: A. JJM का लक्ष्य प्रत्येक ग्रामीण परिवार को 'हर घर नल से जल' के तहत 55 लीटर प्रति व्यक्ति प्रतिदिन (LPCD) शुद्ध पेयजल आपूर्ति सुनिश्चित करना है। B. JJM में केंद्र एवं राज्य सरकार की वित्तीय हिस्सेदारी 50:50 के अनुपात में है। C. MJSA 2.0 के तहत आगामी वर्षों में राज्य के 20,000 गाँवों में 5 लाख वाटर हार्वेस्टिंग स्ट्रक्चर्स (एनीकट, टांका, नाड़ी, कंटूर ट्रेंच) बनाने का लक्ष्य रखा गया है। D. MJSA 2.0 'रिज टू वैली' (पहाड़ी चोटी से घाटी तक) वैज्ञानिक सिद्धांत पर आधारित एकीकृत वाटरशेड कार्यक्रम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042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102/350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पेयजल व जल संचयन महा-अभियान: JJM के तहत सतही जल स्रोतों (बीसलपुर, चंबल, ईसरदा, इंदिरा गांधी नहर) पर आधारित क्षेत्रीय जल प्रदाय योजनाओं द्वारा ग्रामीण घरों में नल कनेक्शन दिए जा रहे हैं। MJSA 2.0 भूजल स्तर को रिचार्ज करने हेतु पारंपरिक ढांचों के जीर्णोद्धार और वनीकरण का सबसे बड़ा जन-आंदोलन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042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102/350</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पश्चिमी राजस्थान (जैसलमेर) की पारंपरिक 'खड़ीन कृषि प्रणाली' (Khadin System) के वैज्ञानिक स्वरूप पर विचार कीजिए: A. खड़ीन प्रणाली का विकास 15वीं शताब्दी में जैसलमेर के 'पालीवाल ब्राह्मणों' द्वारा वर्षा जल संचयन एवं शुष्क कृषि हेतु किया गया था। B. खड़ीन के ऊपरी पथरीले जलग्रहण क्षेत्र को 'आगोर' (पायतान) तथा कृषि भूमि को जलमग्न रखने वाले मिट्टी के बाँध को 'धोरा' या 'पाल' कहते हैं। C. अतिरिक्त अधिशेष जल को सुरक्षित बाहर निकालने हेतु बने पक्के निकास द्वार को 'चादर' या 'खड़ीन नाला' (Spillway) कहा जाता है। D. मानसून पश्चात संचित अवशिष्ट नमी के आधार पर बिना किसी कृत्रिम सिंचाई के खरीफ की फसलों (चना, गेहूँ, सरसों) का उत्कृष्ट उत्पादन प्राप्त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385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103/350</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खड़ीन प्रणाली: 15वीं सदी में पालीवाल ब्राह्मणों का जल अभियांत्रिकी चमत्कार। आगोर (जलग्रहण) और खड़ीन का अनुपात 12:1 से 15:1 होता है। पानी रुकने से बारीक सिल्ट की उपजाऊ परत जमती है और लवण नीचे रिस जाते हैं (लीचिंग)। अक्टूबर में पानी सूखने पर बिना सिंचाई रबी चना व काठा गेहूँ उगाया जाता है। अतः सभी कथन सत्य हैं। ⚡ [परीक्षा-उपयोगी सूक्ष्म दृष्टि / RPSC Trap Alert]: कथन D असत्य है क्योंकि इसमें दिए गए तथ्य में त्रुटि है। वास्तविक तथ्य यह है कि रबी ऋतु की फसल है न कि खरीफ की। अतः सही उत्तर विकल्प (A)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385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103/350</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आंतरिक अपवाह तंत्र की प्रमुख नदियों के संदर्भ में निम्नलिखित कथनों पर विचार कीजिए: A. कांतली नदी शेखावाटी की पूर्णतः राजस्थान में बहने वाली 100 किमी लम्बी मौसमी नदी है, जिसके किनारे गणेश्वर सभ्यता विकसित हुई। B. काकनी (काकनेय/मसूरदी) नदी जैसलमेर की सबसे छोटी आंतरिक नदी है जो बुझ झील का निर्माण करती है। C. घग्घर नदी हिमाचल प्रदेश की शिवालिक पहाड़ियों से निकलकर राजस्थान के हनुमानगढ़ व श्रीगंगानगर में बहती है। D. साबी नदी अलवर जिले के सिलीसेढ़ झील से निकलकर सीधे चम्बल नदी में मिल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729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104/350</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लगभग 60% अपवाह क्षेत्र आंतरिक जल प्रवाह (Inland Drainage) के अंतर्गत आता है। कांतली नदी सीकर की खण्डेला पहाड़ियों से निकलकर झुंझुनूं को दो भागों में बांटती हुई चूरू की सीमा पर समाप्त होती है; इसके प्रवाह क्षेत्र को 'तोरावाटी' कहते हैं। काकनी नदी मात्र 17 किमी बहकर बुझ झील बनाती है। घग्घर नदी (प्राचीन सरस्वती/मृत नदी) शिवालिक से आकर राजस्थान में प्रवेश करती है और इसका तल 'नाली' कहलाता है। कथन D असत्य है क्योंकि साबी नदी जयपुर के सेवर से निकलकर हरियाणा के पटौदी में रेत में विलीन होती है, यह चम्बल में नहीं गिरती।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729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104/350</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शेखावाटी अंतःप्रवाह प्रदेश की विशिष्ट भौतिक स्थलाकृतियों के संदर्भ में कौन-सा युग्म सुमेलित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तोरावाटी - कांतली नदी का अपवाह बेसिन (सीकर, नीम का थाना, झुंझुनूं)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जोहड़ - शेखावाटी क्षेत्र में वर्षा जल संचयन हेतु बनाए गए कच्चे कुएं</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 - पवन के कटाव से निर्मित विशाल अनुदैर्ध्य बालुका स्तूप</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बीड़ - प्राकृतिक रूप से सुरक्षित घास के मैदान एवं चारागाह भूमि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105/350</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सर - पवन के कटाव से निर्मित विशाल अनुदैर्ध्य बालुका स्तूप</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तोरावाटी - कांतली नदी का अपवाह बेसिन (सीकर, नीम का थाना, झुंझुनूं)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जोहड़ - शेखावाटी क्षेत्र में वर्षा जल संचयन हेतु बनाए गए कच्चे कुएं</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बीड़ - प्राकृतिक रूप से सुरक्षित घास के मैदान एवं चारागाह भूमि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शेखावाटी अंतःप्रवाह प्रदेश में: (1) 'तोरावाटी' कांतली नदी का बेसिन है; (2) 'जोहड़' कच्चे कुएं हैं तथा पक्के कुओं को 'नाड़ा' कहा जाता है; (3) 'बीड़' संरक्षित सार्वजनिक चारागाह भूमियां हैं (जैसे झुंझुनूं का बीड़ कंजर्वेशन रिजर्व); (4) 'सर' कोई बालुका स्तूप नहीं है, बल्कि वर्षा ऋतु में जल एकत्र होने वाले छोटे प्राकृतिक मौसमी सरोवरों/तालाबों को स्थानीय भाषा में 'सर' कहा जाता है, जिसके आधार पर मलसीसर, बिदासर, जसवंतसर आदि गांवों का नामकरण हुआ है। अतः विकल्प C असुमेलित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105/350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'शेखावाटी प्रदेश' (बांगर क्षेत्र) के धरातलीय एवं जल निकास स्वरूप के संबंध में कौन-सा तथ्य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पूर्णतः चम्बल नदी घाटी का पथरीला बीहड़ क्षेत्र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राजस्थान का सर्वाधिक वर्षा प्राप्त करने वाला दक्षिण-पूर्वी पठारी क्षेत्र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सघन सदाबहार वन और काली कपासी मिट्टी पाई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आंतरिक जल प्रवाह का प्रदेश है जहाँ वर्षा का जल स्थानीय कच्चे कुओं (जोहड़) में संचित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416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106/350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आंतरिक जल प्रवाह का प्रदेश है जहाँ वर्षा का जल स्थानीय कच्चे कुओं (जोहड़) में संचित 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पूर्णतः चम्बल नदी घाटी का पथरीला बीहड़ क्षेत्र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राजस्थान का सर्वाधिक वर्षा प्राप्त करने वाला दक्षिण-पूर्वी पठारी क्षेत्र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सघन सदाबहार वन और काली कपासी मिट्टी पाई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शेखावाटी अंतःप्रवाही प्रदेश (राजस्थान बांगर) सीकर, झुंझुनूं, चूरू और उत्तरी नागौर जिलों में विस्तृत है। इस क्षेत्र की प्रमुख विशेषता अंतःप्रवाही जल अपवाह तंत्र है। शेखावाटी में वर्षा जल संचयन हेतु बनाए जाने वाले पारंपरिक कच्चे/पक्के गोल कुओं को स्थानीय भाषा में 'जोहड़' या 'नाड़ा' कहा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416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106/350</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ऐतिहासिक कलात्मक बावड़ियों (Stepwells) को उनके संबंधित निर्माणकर्ताओं एवं जिलों के साथ सही सुमेलित कीजिए: सूची-I (बावड़ी): सूची-I: A. रानी जी की बावड़ी B. चाँद बावड़ी C. दूध बावड़ी D. त्रिमुखी बावड़ी सूची-II: 1. बूंदी (रानी नाथावती द्वारा 1699 ई. में निर्मित - बावड़ियों का सिरमौर) 2. माउंट आबू, सिरोही (अधर देवी मंदिर की तलहटी में स्थित) 3. उदयपुर (महाराणा राजसिंह की रानी रामरसदे द्वारा निर्मित) 4. आभानेरी, दौसा (निकुंभ राजा चंदा द्वारा 8वीं-9वीं सदी में निर्मित)</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760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107/350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B-4,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जल स्थापत्य (Water Architecture) के तहत निर्मित सीढ़ीदार बावड़ियां विश्व प्रसिद्ध हैं: (1) 'रानी जी की बावड़ी' बूंदी में स्थित है, जिसे 1699 ई. में बूंदी के राव राजा अनिरुद्ध सिंह की विधवा रानी नाथावती ने बनवाया था; इसे 'बावड़ियों का सिरमौर' कहते हैं (बूंदी को 'सिटी ऑफ स्टेपवेल्स' कहा जाता है)। (2) 'चाँद बावड़ी' आभानेरी (दौसा) में स्थित 13 मंजिला 3500 कलात्मक सीढ़ियों वाली विश्व की सबसे गहरी और भव्य बावड़ी है। (3) 'दूध बावड़ी' माउंट आबू (सिरोही) में नक्की झील व अधर देवी मंदिर के पास स्थित है, जिसका जल दूधिया आभा लिए माना जाता है। (4) 'त्रिमुखी बावड़ी' (जया बावड़ी) उदयपुर में महाराणा राजसिंह प्रथम की पटरानी रामरसदे द्वारा तीन दिशाओं से प्रवेश द्वार युक्त बनवाई गई थी। अन्य प्रमुख बावड़ियां: नौलखा बावड़ी (डूंगरपुर - रानी ताराबाई द्वारा 1586 ई.), हाड़ी रानी की बावड़ी (टोडा रायसिंह, टोंक), तथा बाटाडू का कुआं (बालोतरा - संगमरमर का भव्य कुआं)। अतः सही कूट A-1, B-4, C-2,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760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107/350</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आंतरिक अपवाह तंत्र की सबसे लंबी नदी 'कांतली नदी' के संबंध में कथनों पर विचार कीजिए: A. कांतली नदी का उद्गम सीकर जिले की खंडेला पहाड़ियों से होता है। B. यह सीकर, नीम का थाना तथा झुंझुनूं जिलों में लगभग 100 किमी बहती हुई चूरू जिले की सीमा पर मरुस्थलीय रेत में विलीन हो जाती है। C. कांतली नदी के प्रवाह बेसिन को ऐतिहासिक रूप से 'तोरावाटी' कहा जाता है। D. कांतली नदी पूर्णतः राजस्थान राज्य के भीतर बहने वाली आंतरिक अपवाह तंत्र की सबसे लंबी मौसमी नदी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103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108/350</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कांतली नदी शेखावाटी की प्रमुख आंतरिक नदी है: खंडेला की पहाड़ियों (सीकर) से निकलकर तोरावाटी बेसिन में 100 किमी बहती है और झुंझुनूं को दो भागों में बांटती हुई चूरू सीमा पर समाप्त होती है। यह पूर्णतः राज्य में बहने वाली सबसे लंबी आंतरिक नदी है (जबकि संपूर्ण आंतरिक प्रवाह की सबसे लंबी नदी घग्घर है)। इसके किनारे नीम का थाना में ताम्रयुगीन 'गणेश्वर सभ्यता' तथा झुंझुनूं में लौहयुगीन 'सुनारी सभ्यता' विकसित हुई।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103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108/350</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घग्घर नदी (प्राचीन सरस्वती / दृषद्वती का अवशेष) के भौगोलिक स्वरूप पर विचार कीजिए: A. इसका उद्गम हिमाचल प्रदेश में कालका (शिवालिक पहाड़ियों) से होता है तथा यह पंजाब-हरियाणा से होते हुए राजस्थान के हनुमानगढ़ की टिब्बी तहसील (तलवाड़ा) में प्रवेश करती है। B. राजस्थान में घग्घर नदी के तल/पाट को स्थानीय भाषा में 'नाली' कहा जाता है, जो अत्यंत उपजाऊ जलोढ़ क्षेत्र है। C. अत्यधिक वर्षा की स्थिति में इस नदी का बाढ़ का जल अंतरराष्ट्रीय सीमा पार कर पाकिस्तान के 'फोर्ट अब्बास' तक पहुंच जाता है, जहाँ इसे 'हकरा' कहा जाता है। D. इसे राजस्थान में 'मृत नदी' (नट नदी), सोतर, लेटी हुई नदी तथा द्वेषद्वती के उपनामों से भी जाना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447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109/350</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घग्घर नदी राजस्थान में उत्तर दिशा से प्रवेश करने वाली एकमात्र अंतरराष्ट्रीय नदी है। कालका (शिवालिक) से निकलकर टिब्बी में प्रवेश करती है और हनुमानगढ़, श्रीगंगानगर व अनूपगढ़ में बहती है। सामान्यतः भटनेर के मैदान में विलीन हो जाती है, किंतु अतिवृष्टि में फोर्ट अब्बास (पाकिस्तान) तक जाती है जहाँ इसका प्रवाह 'हकरा' कहलाता है। इसके प्रवाह क्षेत्र को 'नाली' कहते हैं जहाँ चावल (बासमती) की खेती होती है। हनुमानगढ़ में इसके पाट में तलवाड़ा झील (राज्य की सबसे नीची झील) स्थित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447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109/350</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जल संरक्षण हेतु निर्मित ऐतिहासिक 'बावड़ियों' (Stepwells) के संदर्भ में निम्नलिखित कथनों पर विचार कीजिए: A. बूंदी जिले को बावड़ियों की प्रचुरता के कारण 'बावड़ियों का शहर' (City of Stepwells) कहा जाता है। B. बूंदी में स्थित 'रानीजी की बावड़ी' का निर्माण 1699 ई. में राव राजा अनिरुद्ध सिंह की विधवा रानी नाथावती ने करवाया था, जो एशिया की सर्वश्रेष्ठ कलात्मक बावड़ी मानी जाती है। C. आभानेरी (दौसा) में स्थित 'चाँद बावड़ी' गुर्जर-प्रतिहार कालीन स्थापत्य का विश्वविख्यात 13 मंजिला भूमिगत सीढ़ीदार जल-स्थापत्य है। D. जोधपुर में 'तापी बावड़ी' एवं 'महिला बाग झालरा' तथा टोंक में 'हाड़ी रानी की बावड़ी' (टोडाflowसिंह) प्रसिद्ध जल संरचनाएं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790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110/350</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बावड़ी स्थापत्य: बूंदी को 'सिटी ऑफ स्टेपवेल्स' कहते हैं जहाँ रानीजी की बावड़ी, धाभाई जी की बावड़ी, अनारकली की बावड़ी स्थित हैं। आभानेरी (दौसा) की चाँद बावड़ी विश्वप्रसिद्ध 13 मंजिला 3500 सीढ़ियों वाली बावड़ी है जो हर्षत माता मंदिर के सामने स्थित है। टोडाflowसिंह (टोंक/केकड़ी) में हाड़ी रानी की बावड़ी, जोधपुर में महिला बाग झालरा व तापी बावड़ी, तथा सिरोही में दूध बावड़ी (माउंट आबू) प्रमुख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790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110/350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शीत ऋतु में होने वाली चक्रवातीय वर्षा 'मावठ' (Mawath) के संबंध में निम्नलिखित कथनों पर विचार कीजिए: A. मावठ की उत्पत्ति शीत ऋतु में भूमध्य सागर, कैस्पियन सागर एवं काला सागर में उत्पन्न होने वाले शीतोष्ण कटिबंधीय पश्चिमी विक्षोभों से होती है। B. इन चक्रवाती विक्षोभों को ऊपरी वायुमंडल में तीव्र गति से चलने वाली 'उपोष्ण पछुआ जेट स्ट्रीम' (Subtropical Westerly Jet Stream) भारत लाती है। C. राजस्थान में कुल वार्षिक वर्षा का लगभग 10% भाग मावठ के रूप में प्राप्त होता है। D. मावठ की वर्षा खरीफ की प्रमुख फसलों (गेहूँ, चना, सरसों) के लिए अमृत समान होने के कारण इसे 'सुनहरी बूंदें' (Golden Drops) कहा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134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111/350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मावठ (शीतकालीन चक्रवाती वर्षा): भूमध्यसागरीय पश्चिमी विक्षोभों द्वारा उपोष्ण पछुआ जेट स्ट्रीम के सहारे उत्तर-पश्चिम भारत में लाई जाती है। राजस्थान में दिसंबर-जनवरी में होने वाली यह वर्षा रबी फसलों में दानों के भराव, कल्ले फूटने तथा पाले से सुरक्षा हेतु वरदान सिद्ध होती है, अतः इसे 'गोल्डन ड्रॉप्स' (Golden Drops) कहते हैं। यह कुल वर्षा का लगभग 5 से 10% होती है। अतः सभी चारों कथन सत्य हैं। ⚡ [परीक्षा-उपयोगी सूक्ष्म दृष्टि / RPSC Trap Alert]: कथन D असत्य है क्योंकि इसमें दिए गए तथ्य में त्रुटि है। वास्तविक तथ्य यह है कि रबी ऋतु की फसल है न कि खरीफ की। अतः सही उत्तर विकल्प (D)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134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111/350</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शीत ऋतु में जनवरी माह की समवायुदाब रेखाओं (Isobars) के वितरण पर विचार कीजिए: A. जनवरी माह में राजस्थान में उच्च वायुदाब की स्थिति पाई जाती है तथा समवायुदाब रेखाएं दक्षिण-पश्चिम से उत्तर-पूर्व की ओर बढ़ती हैं। B. 1018 मिलीबार (mb) समवायुदाब रेखा अलवर, जोधपुर, पाली, राजसमंद, चित्तौड़गढ़ एवं झालावाड़ जिलों से गुजरती है। C. 1019 मिलीबार (mb) समवायुदाब रेखा बीकानेर, चूरू, सीकर, झुंझुनूं एवं श्रीगंगानगर जिलों से गुजरती है। D. जनवरी माह में राज्य का सबसे ठंडा स्थान माउंट आबू तथा मैदानी भागों में सबसे ठंडा स्थल चूरू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112/350</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शीतकालीन वायुदाब प्रतिरूप (जनवरी): सूर्य के मकर रेखा पर होने से तापमान न्यून और वायुदाब उच्च होता है। 1018 mb रेखा दक्षिणी व मध्य जिलों से तथा 1019 mb रेखा उत्तरी व उत्तर-पूर्वी मरुस्थलीय जिलों से गुजरती है। अत्यधिक पार्थिव विकिरण से चूरू में शीतकाल में तापमान शून्य या माइनस में चला जाता है तथा तुषार (पाला) पड़ता है। अतः सभी कथन सत्य हैं। ⚡ [परीक्षा-उपयोगी सूक्ष्म दृष्टि / RPSC Trap Alert]: कथन B असत्य है क्योंकि इसमें दिए गए तथ्य में त्रुटि है। वास्तविक तथ्य यह है कि जैसलमेर जिले में स्थित है न कि पूर्वी राजस्थान के अलवर में। अतः सही उत्तर विकल्प (A)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112/350</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स्थानीय जलवायु शब्दावली एवं मौसम संबंधी घटनाओं के संदर्भ में कौन-सा युग्म सुमेलित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 - राज्य में ग्रीष्म ऋतु में चलने वाली अत्यधिक गर्म एवं शुष्क पवनें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बरखान - शीतकाल में होने वाली वर्षा का स्थानीय ग्रामीण नाम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भभूल्या - ग्रीष्मकाल में स्थानीय तापीय विषमता से उत्पन्न तीव्र वायु चक्रवात (भंवर)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मावठ - शीत ऋतु में पश्चिमी विक्षोभों से होने वाली लाभदायक वर्षा</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821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113/350</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बरखान - शीतकाल में होने वाली वर्षा का स्थानीय ग्रामीण नाम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 - राज्य में ग्रीष्म ऋतु में चलने वाली अत्यधिक गर्म एवं शुष्क पवनें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भभूल्या - ग्रीष्मकाल में स्थानीय तापीय विषमता से उत्पन्न तीव्र वायु चक्रवात (भंवर)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मावठ - शीत ऋतु में पश्चिमी विक्षोभों से होने वाली लाभदायक वर्षा</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स्थानीय मौसम और स्थलाकृतियों से जुड़े कई विशिष्ट नाम प्रचलित हैं। 'बरखान' कोई शीतकालीन वर्षा नहीं है, बल्कि यह पवन के निक्षेपण द्वारा निर्मित अर्द्ध-चन्द्राकार (Crescent-shaped) गतिशील बालुका स्तूप है। ये बालुका स्तूप मरुस्थलीकरण को बढ़ाने में सर्वाधिक योगदान देते हैं और मुख्य रूप से शेखावाटी (चूरू के भालेरी) तथा बीकानेर में पाए जाते हैं। ग्रीष्म ऋतु में चलने वाली शुष्क व गर्म हवाओं को 'लू' कहा जाता है। शीतकाल में भूमध्यसागरीय चक्रवातों (पश्चिमी विक्षोभ) से होने वाली वर्षा को 'मावठ' कहते हैं, जो रबी की फसलों के लिए अमृत समान होती है। अत्यधिक गर्मी के कारण वायुदाब के अंतर से बनने वाले स्थानीय वायु भंवर को 'भभूल्या' कहा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821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113/350</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थार मरुस्थल की भौगोलिक एवं जलवायु विशेषताओं के संबंध में निम्नलिखित कथनों पर विचार कीजिए: A. इस क्षेत्र में अत्यधिक उच्च दैनिक व वार्षिक तापान्तर तथा निम्न सापेक्षिक आर्द्रता पाई जाती है। B. थार मरुस्थल एक विशिष्ट उष्ण एवं शुष्क उपोष्णकटिबंधीय मरुस्थलीय जलवायु का प्रतिनिधित्व करता है। C. ग्रीष्म ऋतु में अत्यधिक विकिरण उत्सर्जन के कारण यहाँ रात का तापमान कभी-कभी 15°C से भी नीचे चला जाता है। D. यह संपूर्ण भू-भाग वर्ष भर मानसूनी पवनों से अत्यधिक मात्रा में वर्षा प्राप्त करता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165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114/350</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थार मरुस्थल भारत का प्रमुख उष्ण एवं शुष्क मरुस्थलीय प्रदेश है। यहाँ रेतीली बलुई मिट्टी की प्रचुरता के कारण ऊष्मा का अवशोषण और विकिरण दोनों बहुत तीव्र गति से होते हैं, जिससे दिन अत्यधिक गर्म (45°C से 50°C तक) और रातें काफी ठंडी हो जाती हैं। शुष्क वायुमंडलीय दशाओं और आकाश के साफ रहने के कारण अत्यधिक पार्थिव विकिरण से ग्रीष्मकाल में भी रात का तापमान अचानक गिरकर 15°C या उससे नीचे पहुंच जाता है, इसलिए कथन A, B और C पूरी तरह सही हैं। कथन D असत्य है क्योंकि थार मरुस्थल अरावली के वृष्टि-छाया क्षेत्र में होने तथा अरावली की दिशा मानसूनी पवनों के समानांतर होने के कारण वर्षा से वंचित रहता है और यहाँ औसत वार्षिक वर्षा 25 सेमी से भी कम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165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114/350</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ग्रीष्म ऋतु की स्थानीय पवनों- लू, धूलभरी आंधी एवं भभूल्या के उत्पत्ति तंत्र एवं प्रभावों पर विचार कीजिए: A. लू (Loo) थार मरुस्थल व बलूचिस्तान के अति-तप्त क्षेत्रों से चलने वाली अत्यधिक शुष्क व गर्म पवनों का क्षैतिज अभिवहन (Advection) है। B. धूलभरी आंधी दिन में धरातल के अत्यधिक तापन से उत्पन्न ऊर्ध्वाधर संवहन (Convection) धाराओं के कारण उत्पन्न होती है। C. धूलभरी आंधियों के चलने से वायुमंडल में फैले धूलकणों द्वारा सौर विकिरण रुकने से तापमान में तात्कालिक 2° से 5°C की अस्थायी गिरावट होती है। D. राजस्थान में धूलभरी आंधियां चलने की न्यूनतम वार्षिक आवृत्ति (औसत 27 दिन) श्रीगंगानगर जिले में दर्ज की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508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115/350</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ग्रीष्मकालीन वायुमंडलीय घटनाएं: लू क्षैतिज अभिवहन है जो तापमान 45°-48°C तक बढ़ा देती है। आंधियां ऊर्ध्वाधर संवहन से उत्पन्न होती हैं जो धूल की चादर बनाकर तात्कालिक रूप से 2°-5°C तापमान गिराकर राहत देती हैं (श्रीगंगानगर 27 दिन, बीकानेर 18 दिन, झालावाड़ मात्र 3 दिन)। भभूल्या सीमित क्षेत्र में तापीय निम्नदाब से बनने वाला स्थानीय चक्रवाती वायु भंवर (Whirlwind) है। अतः सभी कथन सत्य हैं। ⚡ [परीक्षा-उपयोगी सूक्ष्म दृष्टि / RPSC Trap Alert]: कथन D असत्य है क्योंकि इसमें दिए गए तथ्य में त्रुटि है। वास्तविक तथ्य यह है कि सर्वाधिक स्थिति दर्ज की जाती है न कि न्यूनतम। अतः सही उत्तर विकल्प (D)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508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115/350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मानचित्र पर 25 सेमी, 40 सेमी तथा 50 सेमी समवर्षा रेखाओं (Isohyets) के भौगोलिक महत्व पर विचार कीजिए: A. 25 सेमी समवर्षा रेखा थार मरुस्थल को दो उप-भागों- 'शुष्क रेतीला मैदान' (मरुस्थली) तथा 'अर्द्ध-शुष्क मैदान' (राजस्थान बांगर) में विभाजित करती है। B. 40 सेमी समवर्षा रेखा राजस्थान में मरुस्थलीय प्रसार की पूर्वी सीमा का निर्धारण करती है तथा पश्चिमी मरुस्थल को राज्य के शेष भाग से अलग करती है। C. 50 सेमी समवर्षा रेखा अरावली पर्वतमाला के लगभग समानांतर गुजरती है और राज्य की मुख्य जलवायुवीय व महान जल-विभाजक रेखा का कार्य करती है। D. राजस्थान में 10 सेमी समवर्षा रेखा केवल पूर्वी जैसलमेर जिले (सम तहसील क्षेत्र) से होकर गुजरती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852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116/350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समवर्षा रेखाओं (Isohyets) की भौगोलिक भूमिका: 25 सेमी रेखा शुष्क व अर्द्ध-शुष्क मरुस्थल का विभाजन करती है; 40 सेमी रेखा मरुस्थल की पूर्वी भौतिक सीमा बनाती है; 50 सेमी रेखा अरावली के अक्ष का अनुसरण करती हुई राज्य को शुष्क/अर्द्ध-शुष्क तथा उप-आर्द्र/आर्द्र जलवायु एवं अपवाह तंत्र में बांटती है; 10 सेमी रेखा सुदूर पश्चिम (जैसलमेर) से गुजरती है। अतः सभी कथन सत्य हैं। ⚡ [परीक्षा-उपयोगी सूक्ष्म दृष्टि / RPSC Trap Alert]: कथन D असत्य है क्योंकि इसमें दिए गए तथ्य में त्रुटि है। वास्तविक तथ्य यह है कि पश्चिमी मरुस्थलीय भाग से संबंधित है न कि पूर्वी से। अतः सही उत्तर विकल्प (A)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852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116/350</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थार मरुस्थल में रात के तापमान में अचानक होने वाली तीव्र गिरावट के भौतिक कारणों पर विचार कीजिए: A. मरुस्थलीय बालू (रेत) का विशिष्ट ऊष्मा मान (Specific Heat) कम होने के कारण यह जितनी तेजी से दिन में गर्म होती है, उतनी ही तेजी से रात में ठंडी होती है। B. शुष्क जलवायु में वायुमंडल में जलवाष्प (सापेक्षिक आर्द्रता) की भारी कमी होती है, जिससे ग्रीनहाउस प्रभाव नगण्य रहता है। C. मरुस्थल में अधिकांशतः आकाश पूर्णतः स्वच्छ एवं बादलरहित रहता है, जिससे धरातल से दीर्घ-तरंग पार्थिव विकिरण (Terrestrial Radiation) बिना रुकावट अंतरिक्ष में लौट जाता है। D. रात के समय मरुस्थल में कभी-कभी तापमान गिरकर 15°C से भी नीचे चला जाता है, जिसके कारण दैनिक तापांतर अत्यधिक उच्च रहता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195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117/350</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मरुस्थलीय तापीय गतिकी: बालू का निम्न विशिष्ट ऊष्मा गुण, बादलरहित स्वच्छ आकाश, अत्यंत निम्न सापेक्षिक आर्द्रता मिलकर रात में धरातलीय ऊष्मा को तेजी से विकिरण के रूप में अंतरिक्ष में उत्सर्जित कर देते हैं। इससे ग्रीष्मकाल में भी रातें सुखद व ठंडी हो जाती हैं और दैनिक तापांतर (Diurnal Range) 15°-20°C तक बढ़ जाता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195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117/350</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जलवायु वर्गीकरण के संदर्भ में थॉर्नथ्वेट मॉडल के कृषि-जलवायु महत्व पर विचार कीजिए: A. थॉर्नथ्वेट का वर्गीकरण केवल वर्षा की कुल मात्रा तक सीमित न रहकर जल बजट (Water Balance Approach) पर आधारित है। B. यह मृदा में पौधों की जड़ों के लिए नमी के तनाव (Soil Moisture Stress) का वैज्ञानिक मापन प्रस्तुत करता है। C. यह मॉडल फसलों की वास्तविक जल आवश्यकता (Crop Water Requirement) का निर्धारण करने में सक्षम है। D. इससे मौसम संबंधी सूखे के बजाय 'कृषि सूखे' (Agricultural Drought) का सटीक पूर्वानुमान लगाया जा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539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118/350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थॉर्नथ्वेट मॉडल की कृषि प्रासंगिकता: राजस्थान जैसे जल-अभावग्रस्त राज्य में वाष्पीकरण दर वर्षा से अधिक होती है। थॉर्नथ्वेट का PET और जल बजट मॉडल यह बताता है कि वास्तव में पौधों के लिए भूमि में कितना जल उपलब्ध है। इससे बाजरा, मूंग, सरसों जैसी फसलों की वास्तविक पानी मांग तय करने, ड्रिप सिंचाई का शेड्यूल बनाने और कृषि सूखे का वैज्ञानिक आकलन करने में मदद मिलती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539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118/350</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जी.टी. त्रिवार्था (Trewartha) के जलवायु वर्गीकरण के अनुसार राजस्थान के चार जलवायु प्रदेशों को उनके प्रतीकों एवं क्षेत्रों से सुमेलित कीजिए: सूची-I (त्रिवार्था का जलवायु प्रदेश): सूची-I: A. BWh B. BSh C. Caw D. Aw सूची-II: 1. पूर्वी मैदान एवं उत्तरी हाड़ौती (जयपुर, दौसा, टोंक, सवाई माधोपुर) 2. दक्षिणी राजस्थान (बांसवाड़ा, डूंगरपुर, दक्षिणी झालावाड़) 3. अरावली के पश्चिम का अर्द्ध-शुष्क स्टेपी संक्रमण क्षेत्र (जालोर, पाली, नागौर, सीकर) 4. पश्चिमी मरुस्थलीय जिले (जैसलमेर, फलौदी, बीकानेर का पश्चिमी भाग)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119/350</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त्रिवार्था का जलवायु वर्गीकरण कोपेन के वर्गीकरण का संशोधित व सरलीकृत रूप है: (1) BWh: उष्ण शुष्क मरुस्थलीय जलवायु (जैसलमेर, पश्चिमी बीकानेर); (2) BSh: अर्द्ध-शुष्क स्टेपी जलवायु (मध्य-पश्चिमी राजस्थान); (3) Caw: उपोष्ण मानसूनी जलवायु (पूर्वी मैदान); (4) Aw: उष्ण कटिबंधीय आर्द्र जलवायु (दक्षिणी वागड़ व झालावाड़)। अतः सही मिलान A-4, B-3, C-1, D-2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119/350</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सी.डब्ल्यू. थॉर्नथ्वेट (C.W. Thornthwaite) के जलवायु वर्गीकरण के मुख्य आधारों एवं प्रदेशों पर विचार कीजिए: A. थॉर्नथ्वेट ने वर्षण प्रभावशीलता सूचकांक (P-E Index), तापीय दक्षता सूचकांक (T-E Index) तथा संभावित वाष्पोत्सर्जन (PET) को मुख्य आधार माना। B. 'DA'w' (उष्ण/उपोष्ण अर्द्ध-शुष्क जलवायु) थॉर्नथ्वेट के अनुसार राजस्थान का क्षेत्रफल में सबसे बड़ा जलवायु प्रदेश है। C. DA'w प्रदेश का विस्तार राज्य के अधिकांश मध्यवर्ती एवं पूर्वी भागों (नागौर, पाली, अजमेर, जयपुर, दौसा, टोंक, भीलवाड़ा) में है। D. 'EA'd' उष्ण शुष्क मरुस्थलीय जलवायु प्रदेश है जो अलवर, फलौदी व बाड़मेर में विस्तृत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226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120/350</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थॉर्नथ्वेट का वर्गीकरण: जल-संतुलन उपागम (Water Balance) पर आधारित है। 4 प्रदेश: (1) DA'w: सबसे बड़ा प्रदेश (मध्य व पूर्वी राजस्थान); (2) EA'd: उष्ण शुष्क मरुस्थल (जैसलमेर, बाड़मेर, फलौदी); (3) DB'w: मध्यम तापीय अर्द्ध-शुष्क (श्रीगंगानगर, हनुमानगढ़, चूरू); (4) CA'w: उपोष्ण आर्द्र (डूंगरपुर, बांसवाड़ा, झालावाड़, बारां)। अतः सभी चारों कथन पूर्णतः सत्य हैं। ⚡ [परीक्षा-उपयोगी सूक्ष्म दृष्टि / RPSC Trap Alert]: कथन D असत्य है क्योंकि इसमें दिए गए तथ्य में त्रुटि है। वास्तविक तथ्य यह है कि जैसलमेर जिले में स्थित है न कि पूर्वी राजस्थान के अलवर में। अतः सही उत्तर विकल्प (D)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226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120/350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डॉ. व्लादिमीर कोपेन (Köppen) द्वारा निर्धारित राजस्थान के चार प्रमुख जलवायु प्रदेशों के संबंध में कथनों पर विचार कीजिए: A. कोपेन ने वनस्पति को जलवायु का सबसे प्रामाणिक सूचक मानते हुए तापमान एवं वर्षा के वितरण के आधार पर राजस्थान को 4 प्रदेशों में बांटा। B. 'BWhw' (उष्ण मरुस्थलीय जलवायु) जैसलमेर, बीकानेर, फलौदी, बाड़मेर तथा पश्चिमी श्रीगंगानगर में पाई जाती है जहाँ मरुद्भिद (ज़ीरोफाइट्स) वनस्पति मिलती है। C. 'BShw' (अर्द्ध-शुष्क स्टेपी जलवायु) जालोर, पाली, नागौर, सीकर, झुंझुनूं व चूरू में विस्तृत है जहाँ कांटेदार झाड़ियां व स्टेपी घास पाई जाती है। D. 'Aw' (उष्णकटिबंधीय सवाना आर्द्र जलवायु) केवल जैसलमेर और बीकानेर के बालुका स्तूप क्षेत्रों में पाई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569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121/350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कोपेन का जलवायु वर्गीकरण: BWhw (उष्ण शुष्क मरुस्थल), BShw (अर्द्ध-शुष्क स्टेपी), Cwg (उप-आर्द्र गंगा तुल्य मानसूनी - पूर्वी मैदान), तथा Aw (उष्णकटिबंधीय आर्द्र/सवाना - दक्षिणी राजस्थान के बांसवाड़ा, डूंगरपुर, प्रतापगढ़, झालावाड़ व माउंट आबू)। कथन D असत्य है क्योंकि Aw जलवायु सवाना प्रकार की अति-आर्द्र जलवायु है जो दक्षिणी व दक्षिण-पूर्वी राजस्थान में मिलती है, मरुस्थल में नहीं। अतः केवल 1, 2 और 3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569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121/350</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कोपेन के जलवायु वर्गीकरण के अनुसार राजस्थान के जलवायु प्रदेशों के क्षेत्रीय विस्तार पर विचार कीजिए: A. 'BWhw' (शुष्क मरुस्थलीय जलवायु) जैसलमेर, बीकानेर, श्रीगंगानगर और हनुमानगढ़ जिलों में पाई जाती है। B. 'BShw' (अर्द्ध-शुष्क स्टेपी जलवायु) जालौर, पाली, नागौर, सीकर, झुंझुनूं और चूरू जिलों में विस्तृत है। C. 'Cwg' (मानसूनी शुष्क शीत ऋतु जलवायु) अरावली के पूर्व में स्थित टोंक, सवाई माधोपुर, जयपुर, दौसा और भरतपुर में पाई जाती है। D. 'Aw' (उष्णकटिबंधीय सवाना जलवायु) मुख्य रूप से चूरू, बीकानेर और जैसलमेर जिलों में पाई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913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122/350</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कोपेन का वर्गीकरण वनस्पति, तापमान और वर्षा पर आधारित है। 'BWhw' शुष्क मरुस्थलीय प्रदेश है। 'BShw' अर्द्ध-शुष्क स्टेपी प्रदेश है। 'Cwg' उप-आर्द्र मानसूनी जलवायु है। कथन D असत्य है क्योंकि 'Aw' सवाना तुल्य अति-आर्द्र जलवायु दक्षिणी राजस्थान (बांसवाड़ा, डूंगरपुर, प्रतापगढ़) और हाड़ौती के झालावाड़ जिले में पाई जाती है, न कि पश्चिमी मरुस्थलीय जिलों में।</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913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122/350</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डॉ. व्लादिमीर कोपेन के जलवायु वर्गीकरण के अनुसार राजस्थान के निम्नलिखित में से किस जिले में 'Aw' प्रकार की जलवायु नहीं पाई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बांसवाड़ा</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झालावाड़</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डूंगरपुर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257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123/350</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बूंदी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बांसवाड़ा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झालावाड़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डूंगरपुर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कोपेन के जलवायु वर्गीकरण के अनुसार 'Aw' का अर्थ उष्ण कटिबंधीय आर्द्र अथवा सवाना तुल्य जलवायु प्रदेश से है। राजस्थान में इस जलवायु प्रदेश का विस्तार मुख्य रूप से दक्षिणी राजस्थान के वागड़ क्षेत्र (बांसवाड़ा, डूंगरपुर, प्रतापगढ़), दक्षिणी-पूर्वी राजस्थान के हाड़ौती क्षेत्र (झालावाड़, बारां, कोटा) तथा सिरोही जिले के माउंट आबू पर्वतीय क्षेत्र में पाया जाता है। हाड़ौती क्षेत्र में बूंदी जिला 'Aw' में शामिल न होकर 'Cwg' (उपोष्ण मानसूनी/उप-आर्द्र) जलवायु प्रदेश के अंतर्गत आता है। 'Aw' क्षेत्र में वार्षिक वर्षा 80 से 100 सेमी से अधिक होती है तथा यहाँ सघन पर्णपाती एवं सवाना तुल्य पौष्टिक वनस्पति का विस्तार पाया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257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123/350</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वैज्ञानिक मृदा वर्गीकरण (USDA) के अनुसार राजस्थान के मृदा प्रकारों को उनके संबंधित जलवायु/भौगोलिक क्षेत्रों से सुमेलित कीजिए: सूची-I (मृदा प्रकार): सूची-I: A. एरिडीसोल्स (Aridisols) B. इन्सेप्टीसोल्स (Inceptisols) C. अल्फीसोल्स (Alfisols) D. वर्टीसोल्स (Vertisols) सूची-II: 1. उप-आर्द्र एवं आर्द्र पूर्वी मैदान (जयपुर, अलवर, भरतपुर, दौसा) 2. शुष्क एवं अर्द्ध-शुष्क पश्चिमी क्षेत्र (चूरू, सीकर, झुंझुनूं, नागौर) 3. आद्र पहाड़ी क्षेत्र एवं तलहटी (माउंट आबू, सिरोही, उदयपुर, पाली) 4. अति-आर्द्र दक्षिण-पूर्वी पठार (कोटा, बूंदी, बारां, झालावाड़)</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600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124/350</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वैज्ञानिक वर्गीकरण के अनुसार मृदाओं का क्षेत्रीय वितरण इस प्रकार है: 'एरिडीसोल्स' शुष्क जलवायु में चूरू, सीकर, झुंझुनूं, नागौर, जोधपुर में मिलती है। 'इन्सेप्टीसोल्स' सिरोही (माउंट आबू), पाली, राजसमंद, उदयपुर और भीलवाड़ा के पहाड़ी क्षेत्रों में पाई जाती है। 'अल्फीसोल्स' पूर्वी राजस्थान के जयपुर, अलवर, भरतपुर, दौसा, टोंक में पाई जाती है। 'वर्टीसोल्स' हाड़ौती के कोटा, बूंदी, बारां, झालावाड़ के दक्कन लावा क्षेत्र में विस्तृत है। अतः सही मिलान A-2, B-3, C-1,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600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124/350</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 डब्ल्यू. थॉर्नथवेट के जलवायु वर्गीकरण प्रणाली के अनुसार राजस्थान के जलवायु प्रदेशों का संबंधित जिलों के साथ सही मिलान कीजिए: सूची-I: सूची-I: A. CA'w B. DA'w C. DB'w D. EA'd सूची-II: 1. जैसलमेर, बाड़मेर, पश्चिमी जोधपुर 2. अजमेर, जयपुर, टोंक, सवाई माधोपुर 3. डूंगरपुर, बांसवाड़ा, झालावाड़ 4. बीकानेर, श्रीगंगानगर, हनुमानगढ़, चूरू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944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125/350</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B-2,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थॉर्नथवेट का जलवायु वर्गीकरण वर्षण प्रभावशीलता, तापीय दक्षता और वाष्पीकरण के आधार पर निर्धारित किया गया है। 'CA'w' उपार्द्र जलवायु प्रदेश को दर्शाता है जो दक्षिणी राजस्थान (डूंगरपुर, बांसवाड़ा) और दक्षिण-पूर्वी हाड़ौती (झालावाड़) में विस्तृत है। 'DA'w' अर्द्ध-शुष्क उपोष्ण जलवायु प्रदेश है जो राजस्थान के सर्वाधिक भू-भाग (जयपुर, अजमेर, भीलवाड़ा, टोंक, सवाई माधोपुर) को आच्छादित करता है। 'DB'w' मध्य-तापीय अर्द्ध-शुष्क जलवायु प्रदेश है जिसमें उत्तरी राजस्थान के श्रीगंगानगर, हनुमानगढ़, बीकानेर और चूरू जिले आते हैं। 'EA'd' उष्णकटिबंधीय मरुस्थलीय अत्यंत शुष्क जलवायु प्रदेश है जो पश्चिमी राजस्थान के जैसलमेर, बाड़मेर और पश्चिमी जोधपुर क्षेत्र में पाया जाता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944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125/350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प्रसिद्ध भूगोलवेत्ता ट्रिवार्था (Trewartha) के जलवायु वर्गीकरण के अनुसार राजस्थान के जलवायु प्रदेशों का उनके प्रतीकों से सही मिलान कीजिए: सूची-I: सूची-I: A. BWh B. BSh C. Caw D. Aw सूची-II: 1. अर्द्ध-शुष्क स्टेपी प्रदेश (जोधपुर, बाड़मेर, नागौर, जालौर) 2. दक्षिणी एवं दक्षिण-पूर्वी अति-आर्द्र प्रदेश (बांसवाड़ा, झालावाड़) 3. पश्चिमी उष्ण मरुस्थलीय प्रदेश (जैसलमेर, पश्चिमी बीकानेर) 4. पूर्वी उप-आर्द्र मैदानी प्रदेश (जयपुर, दौसा, अलवर, भरतपुर)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126/350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ट्रिवार्था ने कोपेन के जलवायु वर्गीकरण का सरलीकृत रूप प्रस्तुत करते हुए राजस्थान को चार प्रमुख जलवायु प्रदेशों में विभाजित किया है: 'BWh' उष्ण मरुस्थलीय प्रदेश जो थार के पश्चिमी छोर को कवर करता है; 'BSh' उष्ण एवं अर्द्ध-शुष्क स्टेपी प्रदेश जो मध्य-पश्चिमी अरावली के पश्चिमवर्ती जिलों में फैला है; 'Caw' उप-आर्द्र जलवायु प्रदेश जो पूर्वी मैदानी जिलों का प्रतिनिधित्व करता है; तथा 'Aw' उष्णकटिबंधीय आर्द्र जलवायु प्रदेश जो दक्षिणी छोर और झालावाड़ में विस्तृत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126/350</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ग्रीष्मकालीन (जुलाई माह) की समवायुदाब रेखाओं (Isobars) को उनके गुजरने वाले संबंधित जिलों के साथ सही सुमेलित कीजिए: सूची-I (समवायुदाब रेखा): सूची-I: A. 997 मिलीबार (mb) B. 998 मिलीबार (mb) C. 999 मिलीबार (mb) D. 1000 मिलीबार (mb) सूची-II: 1. जालौर, पाली, अजमेर, टोंक, सवाई माधोपुर 2. जैसलमेर, बीकानेर, श्रीगंगानगर 3. सिरोही, उदयपुर, प्रतापगढ़, झालावाड़ 4. बाड़मेर, जोधपुर, नागौर, चूरू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631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127/350</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ग्रीष्म ऋतु में राजस्थान पर सूर्य की सीधी किरणें पड़ने और अत्यधिक उच्च तापमान के कारण गहरा निम्न वायुदाब का केंद्र विकसित होता है। जुलाई माह में समुद्र तल पर समायोजित समवायुदाब रेखाएं (Isobars) राज्य के विभिन्न अंचलों से इस प्रकार गुजरती हैं: (1) 997 mb रेखा - उत्तर-पश्चिमी मरुस्थलीय सीमांत के जैसलमेर, बीकानेर और श्रीगंगानगर से गुजरती है (न्यूनतम वायुदाब क्षेत्र)। (2) 998 mb रेखा - बाड़मेर, जोधपुर, नागौर और चूरू जिलों से होकर गुजरती है। (3) 999 mb रेखा - जालौर, पाली, अजमेर, टोंक और सवाई माधोपुर से गुजरती है। (4) 1000 mb रेखा - दक्षिणी एवं दक्षिण-पूर्वी राजस्थान के सिरोही, उदयपुर, प्रतापगढ़ और झालावाड़ जिलों से गुजरती है। इसके विपरीत, शीतकाल में जनवरी माह में उच्च वायुदाब रहता है जहाँ 1019 mb रेखा श्रीगंगानगर, बीकानेर, चूरू व सीकर से तथा 1018 mb रेखा जैसलमेर, जोधपुर, पाली, राजसमंद, चित्तौड़गढ़ व झालावाड़ से गुजरती है। अतः सही कूट A-2, B-4, C-1,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631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127/350</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विभिन्न मौसमी एवं वायुमंडलीय परिघटनाओं को उनकी सही वैज्ञानिक परिभाषा से सुमेलित कीजिए: सूची-I (मौसमी परिघटना): सूची-I: A. लू (Loo) B. भभूल्या (Whirlwind) C. मावठ (Mawath) D. पुरवाई (Purvai) सूची-II: 1. बंगाल की खाड़ी से गंगा के मैदान को पार कर आने वाली दक्षिण-पूर्वी आर्द्र मानसूनी पवनें 2. भूमध्यसागरीय पश्चिमी विक्षोभों से शीतकाल में होने वाली शीतोष्ण चक्रवाती वर्षा 3. स्थानीय तापीय निम्नदाब केंद्र की ओर तीव्र हवाओं का सर्पिलाकार चक्रवाती भंवर 4. ग्रीष्म ऋतु में चलने वाली अत्यधिक गर्म एवं शुष्क पवनों का क्षैतिज अभिवहन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974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128/350</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मौसमी परिघटनाओं का वैज्ञानिक वर्गीकरण: (1) लू: थार के उच्च तापमान से उत्पन्न क्षैतिज गर्म पवनें; (2) भभूल्या: लघु निम्न वायुदाब का स्थानीय धूल भरा बवंडर; (3) मावठ: पश्चिमी विक्षोभ जनित रबी पोषक वर्षा; (4) पुरवाई: बंगाल की खाड़ी मानसून शाखा की पूर्वी आर्द्र पवनें जो अरावली से टकराकर वर्षा कराती हैं। अतः सही मिलान A-4, B-3, C-2,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974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128/350</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थॉर्नथवेट के जलवायु वर्गीकरण के मूल सिद्धांतों एवं राजस्थान के संदर्भ में निम्नलिखित कथनों पर विचार कीजिए: A. थॉर्नथवेट का वर्गीकरण मुख्य रूप से वर्षा प्रभावी अनुपात (P/E Ratio) और तापीय दक्षता अनुपात (T/E Ratio) पर आधारित है। B. 'EA'd' जलवायु प्रदेश राजस्थान के अत्यधिक उष्ण एवं शुष्क पश्चिमी मरुस्थल को प्रदर्शित करता है। C. 'DB'w' जलवायु प्रदेश उत्तरी राजस्थान के गंगानगर-हनुमानगढ़ क्षेत्र को दर्शाता है जहाँ शीतकाल में कुछ वर्षा होती है। D. 'CA'w' जलवायु प्रदेश सम्पूर्ण पश्चिमी राजस्थान और अरावली के वृष्टि-छाया क्षेत्र को आच्छादित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318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129/350</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सी.डब्ल्यू. थॉर्नथवेट का जलवायु वर्गीकरण केवल तापमान और वर्षा पर नहीं, बल्कि पौधों के लिए वास्तविक जल उपलब्धता और संभावित वाष्पोत्सर्जन (Potential Evapotranspiration) के गणितीय विश्लेषण पर आधारित है। (1) EA'd - उष्णकटिबंधीय मरुस्थलीय अत्यंत शुष्क जलवायु; वर्षा की तीव्र कमी, अत्यधिक वाष्पीकरण; जिले: जैसलमेर, बाड़मेर, फलौदी, पश्चिमी बीकानेर। (2) DB'w - मध्य-तापीय अर्द्ध-शुष्क जलवायु; ग्रीष्म में मध्यम वर्षा व शीतकाल में न्यून वर्षा; जिले: श्रीगंगानगर, हनुमानगढ़, बीकानेर, चूरू। (3) DA'w - उष्णकटिबंधीय अर्द्ध-शुष्क/उप-आर्द्र जलवायु; यह राजस्थान के सर्वाधिक भू-भाग (अजमेर, ब्यावर, जयपुर, टोंक, भीलवाड़ा, सवाई माधोपुर, करौली, बूंदी आदि) को कवर करता है। कथन D असत्य है क्योंकि 'CA'w' उप-आर्द्र/आर्द्र जलवायु प्रदेश है जो केवल दक्षिणी राजस्थान (डूंगरपुर, बांसवाड़ा, प्रतापगढ़) और हाड़ौती के झालावाड़ व बारां में विस्तृत है, न कि सबसे बड़े भूभाग पर।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318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129/350</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वर्ष 2025 में राजस्थान में दर्ज चरम वर्षा रुझानों एवं जलवायु परिवर्तन के वैज्ञानिक परिप्रेक्ष्य पर विचार कीजिए: A. वर्ष 2025 में राजस्थान में दक्षिण-पश्चिम मानसून के दौरान 715.9 मिमी वर्षा दर्ज की गई, जो दीर्घकालिक सामान्य औसत से लगभग 64% अधिक तथा पिछले 108 वर्षों की दूसरी सर्वाधिक वर्षा थी। B. बूंदी जिले के नैनवां में 24 घंटे में 502 मिमी की अति-चरम मानसूनी वर्षा (अतिवृष्टि) दर्ज की गई। C. क्लॉसियस-क्लेपेरॉन संबंध (Clausius-Clapeyron Principle) के अनुसार तापमान में प्रत्येक 1°C की वृद्धि से वायुमंडल की जलवाष्प धारण क्षमता लगभग 7% बढ़ जाती है। D. जलवायु परिवर्तन के कारण मानसूनी द्रोणी (Monsoon Trough) का अक्ष अपनी सामान्य स्थिति से उत्तर-पश्चिम (पूर्वी राजस्थान) की ओर विस्थापित हो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661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130/350</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2025 चरम वर्षा परिघटना: राजस्थान में 715.9 मिमी वर्षा 108 वर्षों में दूसरी सर्वाधिक वर्षा रही (नैनवां में 24 घंटे में 502 मिमी)। क्लॉसियस-क्लेपेरॉन सिद्धांत (तापमान +1°C = वायुमंडल में नमी धारण क्षमता +7%) तथा अरब सागर के समुद्री सतही तापमान (SST) में वृद्धि ने पश्चिमी राजस्थान (जोधपुर, बीकानेर, जैसलमेर) में तीव्र संवहनीय बादलों व भारी वर्षा की आवृत्ति बढ़ाई है। अतः सभी चारों कथन सत्य हैं। ⚡ [परीक्षा-उपयोगी सूक्ष्म दृष्टि / RPSC Trap Alert]: कथन D असत्य है क्योंकि इसमें दिए गए तथ्य में त्रुटि है। वास्तविक तथ्य यह है कि पश्चिमी मरुस्थलीय भाग से संबंधित है न कि पूर्वी से। अतः सही उत्तर विकल्प (A)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661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130/350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वानिकी एवं जैव-विविधता विकास परियोजना (RFBDP) किस अंतरराष्ट्रीय वित्तीय संस्था के वित्तीय एवं तकनीकी सहयोग से राज्य के 13 पूर्वी जिलों में वर्ष 2023-24 से 2030-31 तक संचालित की जा रही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विश्व बैंक (World Bank)</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फ्रांसीसी विकास एजेंसी (AFD - Agence Française de Développement)</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जापान इंटरनेशनल कोऑपरेशन एजेंसी (JICA)</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एशियाई विकास बैंक (ADB)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005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131/350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फ्रांसीसी विकास एजेंसी (AFD - Agence Française de Développement)</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विश्व बैंक (World Bank)</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जापान इंटरनेशनल कोऑपरेशन एजेंसी (JICA)</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एशियाई विकास बैंक (ADB)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वानिकी एवं जैव-विविधता विकास परियोजना (Rajasthan Forestry and Biodiversity Development Project - RFBDP) फ्रांसीसी विकास एजेंसी (AFD - Agence Française de Développement) के वित्तीय सहयोग से 8 वर्षों की अवधि (2023-24 से 2030-31) के लिए प्रारंभ की गई है। इस परियोजना के तहत राजस्थान के 13 पूर्वी एवं दक्षिण-पूर्वी जिलों - अलवर, खैरथल-तिजारा, कोटपूतली-बहरोड़, भरतपुर, डीग, धौलपुर, करौली, सवाई माधोपुर, दौसा, जयपुर, टोंक, बूंदी, कोटा, बारां, झालावाड़ और भीलवाड़ा के लगभग 800 गाँवों में जैव-विविधता संरक्षण, पर्णपाती वन संपदा के संवर्धन, सामुदायिक सशक्तिकरण और जलवायु परिवर्तन अनुकूलन के कार्य किए जा रहे हैं। पूर्ववर्ती RFBP चरण-I और II जायका (JICA, जापान) द्वारा वित्तपोषित थे, जबकि नवीन परियोजना AFD द्वारा समर्थित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005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131/350</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वर्ष 2024 एवं 2025 के दौरान राजस्थान में मानसूनी वर्षा (जून-सितंबर) के आधिकारिक मौसम विभाग रिकॉर्ड के अनुसार चरम वर्षा वाले जिलों का सही सुमेलन कीजिए: सूची-I (वर्षा श्रेणी): सूची-I: A. वर्ष 2024 में सर्वाधिक वर्षा वाला जिला B. वर्ष 2024 में न्यूनतम वर्षा वाला जिला C. वर्ष 2025 में सर्वाधिक वर्षा वाला जिला D. वर्ष 2025 में न्यूनतम वर्षा वाला जिला सूची-II: 1. श्रीगंगानगर (314.1 मिमी) 2. दौसा (1409.4 मिमी) 3. जैसलमेर (223.5 मिमी) 4. बारां (1593.5 मिमी)</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349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132/350</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मानसूनी वर्षा की परिवर्तनशीलता अत्यधिक उच्च रहती है। भारत मौसम विज्ञान विभाग (IMD) और जल संसाधन विभाग के आधिकारिक वर्षा आंकड़ों के अनुसार: (1) मानसून 2024: पूर्वी राजस्थान में असामान्य मानसूनी दबाव के कारण दौसा जिला 1409.4 मिमी वर्षा के साथ राज्य में शीर्ष पर रहा (सवाई माधोपुर 1285.6 मिमी के साथ द्वितीय), जबकि श्रीगंगानगर जिला मात्र 314.1 मिमी के साथ न्यूनतम वर्षा वाला जिला रहा। (2) मानसून 2025: दक्षिण-पूर्वी हाड़ौती क्षेत्र में भारी मानसूनी अतिवृष्टि हुई जिसमें बारां जिला 1593.5 मिमी के साथ राज्य में सर्वाधिक वर्षा प्राप्तकर्ता रहा (सवाई माधोपुर 1333.1 मिमी 2nd, बूंदी 1251.6 मिमी 3rd), जबकि पश्चिमी मरुस्थलीय जैसलमेर जिला मात्र 223.5 मिमी वर्षा के साथ राज्य में सबसे कम वर्षा वाला जिला दर्ज हुआ। अतः सही कूट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349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132/350</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नवीनतम जीवाश्म उत्खनन एवं भू-विरासत अनुसंधानों के संबंध में निम्नलिखित कथनों पर विचार कीजिए: A. भारतीय भूवैज्ञानिक सर्वेक्षण (GSI) एवं IIT रुड़की द्वारा जैसलमेर के जेठवाई गाँव के पास लगभग 16.7 करोड़ वर्ष पुराना शाकाहारी डायनासोर का जीवाश्म खोजा गया। B. इस डायनासोर जीवाश्म को वैज्ञानिकों द्वारा 'थारोसॉरस इंडिकस' (Tharosaurus indicus) नाम दिया गया है, जो डाइक्रियोसॉरिड डायनासोर का विश्व का सबसे प्राचीन जीवाश्म माना गया है। C. अलवर का 'अकाल वुड फॉसिल पार्क' मध्य-जुरासिक काल (18 करोड़ वर्ष पूर्व) के काष्ठ जीवाश्मों का 21 हेक्टेयर में फैला राष्ट्रीय भू-वैज्ञानिक स्मारक है। D. जोधपुर में मेहरानगढ़ दुर्ग की पहाड़ी 'जोधपुर मालानी संपर्क' (Malani Igneous Suite Contact) का अद्वितीय भू-वैज्ञानिक स्मारक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133/350</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भू-वैज्ञानिक जीवाश्म अनुसंधान: (1) अगस्त 2023 में GSI व IIT रुड़की ने जैसलमेर के जेठवाई में 16.7 करोड़ वर्ष पुराना लंबी गर्दन वाले शाकाहारी डायनासोर का जीवाश्म खोजा जिसे 'थारोसॉरस इंडिकस' नाम दिया गया; (2) अकाल वुड फॉसिल पार्क (जैसलमेर) में 18 करोड़ वर्ष पुराने जुरासिक युगीन 25 जीवाश्म वृक्ष तने सुरक्षित हैं; (3) जोधपुर में मेहरानगढ़ पहाड़ी मालानी आग्नेय शैल व जोधपुर बलुआ पत्थर के संपर्क तल को दर्शाती है जिसे GSI ने राष्ट्रीय भू-स्मारक घोषित किया है। अतः सभी चारों कथन सत्य हैं। ⚡ [परीक्षा-उपयोगी सूक्ष्म दृष्टि / RPSC Trap Alert]: कथन C असत्य है क्योंकि इसमें दिए गए तथ्य में त्रुटि है। वास्तविक तथ्य यह है कि जैसलमेर जिले में स्थित है न कि पूर्वी राजस्थान के अलवर में।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133/350</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वर्षा की परिवर्तनशीलता (Variability of Rainfall) एवं अकाल की चक्रीय प्रकृति पर विचार कीजिए: A. राजस्थान में दक्षिण-पूर्व से उत्तर-पश्चिम की ओर बढ़ने पर वर्षा की मात्रा घटती है, जबकि वर्षा की परिवर्तनशीलता (Coefficient of Variation - CV) निरंतर बढ़ती है। B. पश्चिमी राजस्थान (जैसलमेर, बाड़मेर, बीकानेर) में वर्षा की परिवर्तनशीलता 50% से 60% से भी अधिक दर्ज की जाती है। C. पश्चिमी मैदानी भाग में स्थित भरतपुर जिले में वर्षा की निरंतरता के कारण वर्षा की परिवर्तनशीलता सबसे कम दर्ज की जाती है। D. वर्ष 1899-1900 ईस्वी (विक्रम संवत 1956) में पड़ा 'छप्पनिया अकाल' राजस्थान के इतिहास का सबसे भीषण त्रिकाल (अन्न, जल व तृण काल)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036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134/350</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परिवर्तनशीलता एवं अकाल: वर्षा की परिवर्तिता (CV%) दर्शाती है कि वर्षा कितनी अनिश्चित है। पश्चिमी मरुस्थल में वर्षा कम और विचलन सर्वाधिक (&gt;50%) है। पूर्वी मैदानी जिलों (विशेष रूप से भरतपुर) में मानसूनी स्थिरता के कारण वर्षा की परिवर्तिता सबसे कम होती है। राजस्थान में अकाल की चक्रीय प्रकृति पर कहावत है: "तीजो कुरियो, आठवो काल"। छप्पनिया अकाल (1899-1900) अल-नीनो व मानसून विफलता से उपजा सबसे विनाशकारी त्रिकाल था। अतः सभी कथन सत्य हैं। ⚡ [परीक्षा-उपयोगी सूक्ष्म दृष्टि / RPSC Trap Alert]: कथन C असत्य है क्योंकि इसमें दिए गए तथ्य में त्रुटि है। वास्तविक तथ्य यह है कि पूर्वी क्षेत्र से संबंधित है न कि पश्चिमी से। अतः सही उत्तर विकल्प (D)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036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134/350</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मानसूनी वर्षा के वितरण की प्रवणता (Gradient) के संदर्भ में निम्नलिखित कथनों पर विचार कीजिए: A. राजस्थान में वार्षिक वर्षा की मात्रा उत्तर-पश्चिम से दक्षिण-पूर्व की ओर निरंतर बढ़ती जाती है। B. राज्य में मानसूनी वर्षा के दिनों की औसत संख्या दक्षिण-पूर्व में लगभग 40-48 दिन तथा उत्तर-पश्चिम में मात्र 5 दिन पाई जाती है। C. अरावली के पश्चिम में स्थित 12 मरुस्थलीय जिलों में राज्य की लगभग 40% जनसंख्या निवास करती है, जो राज्य के कुल जल का 10% से भी कम प्राप्त करते हैं। D. राजस्थान के दक्षिण-पश्चिमी पठार (हाड़ौती) में औसत वार्षिक वर्षा 80 से 120 सेमी तक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379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135/350</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वर्षा प्रवणता: वर्षा उत्तर-पश्चिम (जैसलमेर 10-15 सेमी) से दक्षिण-पूर्व (झालावाड़ 100 सेमी व माउंट आबू 150 सेमी) की ओर निरंतर बढ़ती है। वर्षा के दिन झालावाड़ में 40 दिन और माउंट आबू में 48 दिन हैं, जबकि जैसलमेर में केवल 5 दिन। अरावली पश्चिम के 12 मरुस्थलीय जिलों में क्षेत्रफल 61% और जनसंख्या 40% है किंतु सतही जल 5% से कम है। हाड़ौती में वर्षा 80-120 सेमी रहती है। अतः सभी चारों कथन सत्य हैं। ⚡ [परीक्षा-उपयोगी सूक्ष्म दृष्टि / RPSC Trap Alert]: कथन D असत्य है क्योंकि इसमें दिए गए तथ्य में त्रुटि है। वास्तविक तथ्य यह है कि पूर्वी क्षेत्र से संबंधित है न कि पश्चिमी से। अतः सही उत्तर विकल्प (A)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379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135/350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वन नीतियों के विकास एवं ऐतिहासिक पृष्ठभूमि के संबंध में निम्नलिखित कथनों पर विचार कीजिए: A. स्वतंत्रता के बाद राजस्थान सरकार द्वारा राज्य की प्रथम वन नीति की घोषणा द्वितीय पंचवर्षीय योजना (1956-61) के दौरान की गई थी। B. राजस्थान राज्य ने अपनी आधुनिक 'नवीन वन नीति' वर्ष 2023 में घोषित की है, जिसमें कुल भू-भाग के 20% भाग को वनाच्छादित करने का लक्ष्य रखा गया है। C. राजस्थान भारत का पहला राज्य था जिसने 2010 में अलग से पर्यावरण नीति जारी की। D. राजस्थान में वन प्रबंधन का कार्य पूर्णतः निजी कंपनियों को सौंप दिया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723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136/350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वनों के सुनियोजित विकास की पहली नीति द्वितीय पंचवर्षीय योजना काल में घोषित की गई थी। इसके पश्चात पर्यावरण संरक्षण हेतु 2010 में पर्यावरण नीति बनी। राज्य सरकार ने वन क्षेत्र में सतत वृद्धि और जलवायु अनुकूलन हेतु 'राजस्थान वन नीति 2023' जारी की है, जिसमें राज्य के 20% भौगोलिक क्षेत्र को हरित आवरण में लाने का दीर्घकालिक लक्ष्य तय किया गया है। कथन D असत्य है क्योंकि वनों का संरक्षण व प्रशासनिक नियंत्रण राजस्थान वन विभाग एवं ग्राम वन सुरक्षा प्रबंधन समितियों (संयुक्त वन प्रबंधन) के हाथों में है, न कि निजी कंपनियों के।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723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136/350</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सूखा एवं मरु विकास कार्यक्रमों (DPAP एवं DDP) के वित्तीय ढांचे एवं संचालन के संदर्भ में निम्नलिखित कथनों पर विचार कीजिए: A. 'सूखा संभाव्य क्षेत्र कार्यक्रम' (DPAP) 1974-75 में केंद्र सरकार द्वारा 8 जिलों के 32 विकास खंडों में शुरू किया गया था। B. 'मरु विकास कार्यक्रम' (DDP) 1977-78 में 16 मरुस्थलीय जिलों के 85 विकास खंडों में प्रारंभ किया गया था। C. 1 अप्रैल 1999 से DPAP एवं DDP दोनों कार्यक्रमों में केंद्र और राज्य सरकार का वित्तीय अनुपात 75:25 निर्धारित है। D. ये दोनों कार्यक्रम वर्तमान में पूर्णतः बंद कर दिए गए हैं और राज्य में सूखा प्रबंधन का कोई कार्यक्रम संचालित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066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137/350</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DPAP 1974-75 में जल, वन और भूमि के विकास तथा सूखे के प्रभाव को कम करने हेतु शुरू किया गया था। DDP 1977-78 में राष्ट्रीय कृषि आयोग की सिफारिश पर थार मरुस्थल के प्रसार को रोकने हेतु 16 मरुस्थलीय जिलों में प्रारंभ हुआ। प्रारंभ में DDP शत-प्रतिशत केंद्र प्रवर्तित था, लेकिन 1999 से दोनों कार्यक्रमों का वित्तीय पोषण 75% केंद्र तथा 25% राज्य सरकार द्वारा वहन किया जाता है। अब इन्हें 'प्रधानमंत्री कृषि सिंचाई योजना-वॉटरशेड विकास' (WDC-PMKSY) के अंतर्गत समेकित कर संचालित किया जा रहा है। कथन D असत्य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066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137/350</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मौसम विज्ञान विभाग (IMD) के मानकों के अनुसार राजस्थान में सूखे के वर्गीकरण एवं मापदंडों के संदर्भ में निम्नलिखित कथनों पर विचार कीजिए: A. जब किसी क्षेत्र में मौसमी वर्षा सामान्य औसत से 25% से कम होती है, तो उसे 'सूखे की स्थिति' नहीं माना जाता है। B. जब वर्षा में 26% से 50% की कमी होती है, तो उसे 'मध्यम सूखा' (Moderate Drought) कहा जाता है। C. जब वर्षा में दीर्घावधि सामान्य औसत से 50% से अधिक की कमी दर्ज की जाती है, तो उसे 'भयंकर / गंभीर सूखा' (Severe Drought) कहा जाता है। D. पूर्वी राजस्थान में 8 वर्षों में औसतन कम से कम एक बार सूखे की पुनरावृत्ति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410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138/350</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IMD द्वारा वर्षा विचलन (Rainfall Deficit) के आधार पर सूखे को वर्गीकृत किया जाता है: 0 से 25% कमी = सामान्य मौसम; 26% से 50% कमी = मध्यम सूखा (Moderate); तथा 50% से अधिक कमी = गंभीर/भयंकर सूखा (Severe Drought)। राजस्थान में जलवायु की अनिश्चितता के कारण अकाल को 'स्थायी अतिथि' कहा जाता है। राज्य के जैसलमेर और बाड़मेर जिलों में औसतन हर 2.5 से 3 वर्ष में तथा पूर्वी राजस्थान में 5 से 8 वर्षों में सूखे की स्थिति बनती है। अतः सभी चारों कथन सत्य हैं। ⚡ [परीक्षा-उपयोगी सूक्ष्म दृष्टि / RPSC Trap Alert]: कथन D असत्य है क्योंकि इसमें दिए गए तथ्य में त्रुटि है। वास्तविक तथ्य यह है कि पश्चिमी मरुस्थलीय भाग से संबंधित है न कि पूर्वी से। अतः सही उत्तर विकल्प (D)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410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138/350</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ग्रीष्मकालीन वायुदाब एवं वर्षा वितरण रेखाओं (Isobars &amp; Isohyets) के संदर्भ में निम्नलिखित कथनों पर विचार कीजिए: A. जुलाई माह में 1000 मिलीबार की समदाब रेखा सिरोही, उदयपुर, प्रतापगढ़ और झालावाड़ जिलों से होकर गुजरती है। B. जुलाई माह में 998 मिलीबार की समदाब रेखा बाड़मेर, जोधपुर, नागौर और चूरू जिलों से होकर गुजरती है। C. 25 सेमी की समवर्षा रेखा राजस्थान के रेतीले शुष्क मरुस्थल को अर्द्ध-शुष्क मरुस्थलीय प्रदेश (बांगर) से पृथक करती है। D. राजस्थान में शीत ऋतु में जनवरी माह में सर्वाधिक तापमान दर्ज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753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139/350</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ग्रीष्म ऋतु (विशेषकर जुलाई) में पश्चिमोत्तर भारत और थार मरुस्थल में अत्यधिक उच्च तापमान के कारण गहरा निम्न वायुदाब केंद्र बनता है। जुलाई में 1000 मिलीबार की समदाब रेखा दक्षिणी राजस्थान (सिरोही, उदयपुर, चित्तौड़गढ़, झालावाड़) से गुजरती है तथा 998 मिलीबार रेखा मध्य-पश्चिमी मरुस्थल (बाड़मेर, जोधपुर, नागौर, चूरू) से गुजरती है। 25 सेमी समवर्षा रेखा महान मरुस्थल (बालुका स्तूप युक्त) को स्टेपी मैदान से विभाजित करती है। जनवरी राज्य का सबसे ठंडा माह होता है जिसमें चुरू और माउंट आबू में तापमान जमाव बिंदु तक गिर जाता है। अतः सभी कथन सत्य हैं। ⚡ [परीक्षा-उपयोगी सूक्ष्म दृष्टि / RPSC Trap Alert]: कथन D असत्य है क्योंकि इसमें दिए गए तथ्य में त्रुटि है। वास्तविक तथ्य यह है कि न्यूनतम स्थिति दर्ज की जाती है न कि सर्वाधिक। अतः सही उत्तर विकल्प (A)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753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139/350</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कृषि सकल राज्य मूल्यवर्धन (GSVA) में पशुधन क्षेत्र के ऐतिहासिक 'संरचनात्मक बदलाव' पर विचार कीजिए: A. राजस्थान के कृषि एवं संबद्ध क्षेत्र के GSVA में पशुधन क्षेत्र का योगदान बढ़कर लगभग 49% से 50% हो गया है, जिसने फसल क्षेत्र (लगभग 42% से 44%) को पीछे छोड़ दिया है। B. पूर्वी राजस्थान के शुष्क व अर्ध-शुष्क क्षेत्रों में बार-बार पड़ने वाले अकाल के समय पशुधन अर्थव्यवस्था एक 'सुरक्षा कवच' (Economic Cushion) का कार्य करती है। C. फसल खराब होने की स्थिति में भी दूध, घी, ऊन एवं गोबर की बिक्री से किसानों को नियमित दैनिक नकद आय प्राप्त होती रहती है। D. पशुपालन क्षेत्र की यह तीव्र वृद्धि राजस्थान की ग्रामीण आजीविका में विविधीकरण को दर्शाती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140/350</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जीएसवीए में पशुधन का प्रभुत्व: राजस्थान के आर्थिक सर्वेक्षण के अनुसार कृषि उप-क्षेत्रों में पशुधन का हिस्सा 49.35% (सर्वाधिक), फसल क्षेत्र 42.61%, वानिकी 7.51% तथा मत्स्य 0.53% है। जलवायु परिवर्तन और अनिश्चित मानसून में मवेशी, भेड़-बकरी पालन ग्रामीण परिवारों की आय का प्राथमिक संबल बन चुका है। अतः सभी चारों कथन सत्य हैं। ⚡ [परीक्षा-उपयोगी सूक्ष्म दृष्टि / RPSC Trap Alert]: कथन B असत्य है क्योंकि इसमें दिए गए तथ्य में त्रुटि है। वास्तविक तथ्य यह है कि पश्चिमी मरुस्थलीय भाग से संबंधित है न कि पूर्वी से।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140/350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संरक्षित क्षेत्रों (Protected Areas) के भौगोलिक क्षेत्रफल के संदर्भ में निम्नलिखित कथनों पर विचार कीजिए: A. 'राष्ट्रीय मरु उद्यान' (डेज़र्ट नेशनल पार्क) का कुल क्षेत्रफल 3162 वर्ग किमी है, जो राजस्थान का सबसे बड़ा संरक्षित क्षेत्र है। B. राष्ट्रीय मरु उद्यान जैसलमेर जिले में 1900 वर्ग किमी तथा बाड़मेर जिले में 1262 वर्ग किमी क्षेत्र में विस्तृत है। C. कैलादेवी अभयारण्य (करौली) का क्षेत्रफल लगभग 676 वर्ग किमी तथा फुलवारी की नाल (चूरू) का क्षेत्रफल लगभग 511 वर्ग किमी है। D. राजस्थान का क्षेत्रफल की दृष्टि से सबसे छोटा वन्यजीव अभयारण्य 'सरिस्का-अ' (3.01 वर्ग किमी)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440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141/350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संरक्षित क्षेत्रों का क्षेत्रफल विश्लेषण: राष्ट्रीय मरु उद्यान कुल 3162 वर्ग किमी (जैसलमेर 1900 + बाड़मेर 1262 वर्ग किमी) के साथ सबसे बड़ा संरक्षित क्षेत्र है। इसकी स्थापना 1981 में हुई और यह गोडावण का मुख्य आवास तथा आकल वुड फॉसिल पार्क का केंद्र है। कैलादेवी अभयारण्य (676.82 वर्ग किमी), फुलवारी की नाल (511.41 वर्ग किमी), दर्रा अभयारण्य (274 वर्ग किमी) हैं। सबसे छोटा अभयारण्य सरिस्का-अ (3.01 वर्ग किमी, अलवर) तथा सबसे छोटा कंजर्वेशन रिजर्व रोटू (0.73 वर्ग किमी, नागौर) है। अतः सभी कथन सत्य हैं। ⚡ [परीक्षा-उपयोगी सूक्ष्म दृष्टि / RPSC Trap Alert]: कथन C असत्य है क्योंकि इसमें दिए गए तथ्य में त्रुटि है। वास्तविक तथ्य यह है कि उदयपुर क्षेत्र से संबंधित है न कि चूरू से।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440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141/350</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ग्रामीण समुदायों द्वारा संरक्षित पारंपरिक पवित्र देववन 'ओरण' (Oran) एवं इनके विधिक संरक्षण के संदर्भ में निम्नलिखित कथनों पर विचार कीजिए: A. राजस्थान में लगभग 25,000 ओरण स्थल हैं जो सामूहिक रूप से 6 लाख हेक्टेयर से अधिक पारिस्थितिकीय क्षेत्र को आच्छादित करते हैं। B. ओरण को स्थानीय बोली में देवरा, मालवन, देवराई, राखत, बणी, देव घाट तथा मंदिर वन भी कहा जाता है। C. ओरण में बड़ी संख्या में खेजड़ी, रोहिड़ा, कैर के वृक्ष तथा काले हिरण, नीलगाय व राज्य पक्षी गोडावण को पारंपरिक धार्मिक संरक्षण प्राप्त होता है। D. ओरण को राजस्व रिकॉर्ड में दर्ज कर विधिक संरक्षण सुनिश्चित करने हेतु राजस्थान सरकार द्वारा जुलाई 2025 में जस्टिस जितेंद्र गोयल की अध्यक्षता में उच्च स्तरीय समिति गठित की गई।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784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142/350</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लोक संस्कृति में 'ओरण' (Oran) स्थानीय देवी-देवताओं या लोक देवताओं (जैसे तेजाजी, गोगाजी, पाबूजी, रामदेवजी, भैरवनाथ) को समर्पित पवित्र उपवन (Sacred Groves) हैं, जहाँ पेड़ काटना, लकड़ी ले जाना और शिकार करना सामाजिक व धार्मिक रूप से पूर्णतः वर्जित होता है। राज्य में लगभग 25,000 ओरण क्षेत्र 6 लाख हेक्टेयर से अधिक भूमि पर फैले हैं जो मरुस्थलीय पारिस्थितिकी में जैव-विविधता, भूजल पुनर्भरण और चारागाह के प्राकृतिक द्वीप हैं। राजस्थान वन नीति 2023 में इन्हें सामुदायिक भूमि माना गया था जिससे इनके अतिक्रमण का खतरा बढ़ गया था। इसके समाधान और ओरण भूमियों को राजस्व अभिलेखों में सुरक्षित गैर-हस्तांतरणीय श्रेणी में दर्ज करने के लिए राजस्थान सरकार द्वारा जुलाई 2025 में सेवानिवृत्त न्यायाधीश जस्टिस जितेंद्र गोयल की अध्यक्षता में उच्च स्तरीय समिति का गठन किया गया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784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142/350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कौन-सा वन्यजीव संरक्षित क्षेत्र 'तेंदुआ संरक्षण' (Leopard Conservation) हेतु देश भर में विख्यात है जहाँ जवाई बाँध के चारों ओर ग्रेनाइट की चट्टानों में तेंदुए और चरवाहे शांतिपूर्ण सह-अस्तित्व (Peaceful Coexistence) में रहते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जवाई बाँध लेपर्ड कंजर्वेशन रिजर्व (पाली)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रणथंभौर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केवलादेव</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मुकुंदरा हिल्स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128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143/350</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जवाई बाँध लेपर्ड कंजर्वेशन रिजर्व (पाली)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रणथंभौर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केवलादेव</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मुकुंदरा हिल्स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जवाई बाँध लेपर्ड कंजर्वेशन रिजर्व (पाली): ग्रेनाइट की गुफाओं व शिलाखंडों में तेंदुओं (Leopards) की भारी आबादी विचरण करती है। स्थानीय रबारी (देवासी) पशुपालक समुदाय के साथ इनका ऐतिहासिक शांतिपूर्ण सह-अस्तित्व वन्यजीव जगत में एक वैश्विक अध्ययन का विषय है। यहाँ निजी व सरकारी लेपर्ड सफारी संचालित होती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128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143/350</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कंजर्वेशन रिजर्व एवं उनके संरक्षित विशिष्ट वन्यजीवों का सही सुमेलन कीजिए: सूची-I (कंजर्वेशन रिजर्व): सूची-I: A. सुंधामाता कंजर्वेशन रिजर्व (जालौर-सिरोही) B. रोटू कंजर्वेशन रिजर्व (नागौर) C. जोड़बीड़ गढ़ेवाल (बीकानेर) D. रणखार कंजर्वेशन रिजर्व (जालौर) सूची-II: 1. जंगली गधा (Wild Ass) 2. गिद्ध (Vultures) एवं मृतोपजीवी पक्षी 3. भालू (Sloth Bear - राज्य का प्रथम भालू अभयारण्य) 4. चिंकारा एवं काला हिरण (राज्य का सबसे छोटा रिजर्व)</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471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144/350</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विशिष्ट संकटग्रस्त जीवों के आवास संरक्षण हेतु कंजर्वेशन रिजर्व घोषित किए गए हैं: (1) सुंधामाता (2010 - 107 वर्ग किमी): जालोर व सिरोही में स्थित राज्य का पहला भालू संरक्षण रिजर्व है। (2) रोटू (नागौर - 0.73 वर्ग किमी): राज्य का सबसे छोटा कंजर्वेशन रिजर्व है जहाँ चिंकारा और काले हिरणों को स्थानीय ग्रामीणों द्वारा संरक्षित किया गया है। (3) जोड़बीड़ गढ़ेवाल (बीकानेर): एशिया का प्रसिद्ध गिद्ध संरक्षण एवं कैरियन-फीडिंग सेंटर है जहाँ प्रवासी व देशी गिद्धों की कई प्रजातियां संरक्षित हैं। (4) रणखार (सांचोर/जालौर - 2022): गुजरात के कच्छ से सटे इस क्षेत्र को एशियाई जंगली गधों (Equus hemionus khur) के प्राकृतिक पर्यावास संरक्षण हेतु राज्य का 16वाँ कंजर्वेशन रिजर्व बनाया गया था। अतः सही कूट A-3, B-4, C-2,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471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144/350</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वन सर्वेक्षण की 18वीं वन स्थिति रिपोर्ट (ISFR 2023) के अनुसार राजस्थान के वन सांख्यिकी आंकड़ों पर विचार कीजिए: A. राजस्थान में कुल वनावरण (Forest Cover) 16,654.96 वर्ग किमी है, जो राज्य के कुल भौगोलिक क्षेत्रफल का 4.84% से 4.87% है। B. राज्य में कुल वृक्षावरण (Tree Cover) लगभग 8,733 वर्ग किमी (लगभग 2.55% से 3.16%) है। C. राज्य में कुल वन एवं वृक्षावरण (Forest &amp; Tree Cover) लगभग 25,387.96 वर्ग किमी (लगभग 7.42% से 8.00%) है। D. वनावरण में अत्यधिक सघन वन (VDF) मात्र 0.02% (लगभग 78.15 वर्ग किमी) तथा खुले वन (Open Forest) न्यूनतम 3.57%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815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145/350</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ISFR 2023 (18वीं वन रिपोर्ट) के प्रामाणिक आंकड़े: राजस्थान का कुल भौगोलिक क्षेत्रफल 3,42,239 वर्ग किमी है। कुल वनावरण 16,654.96 वर्ग किमी (4.84%); वृक्षावरण 8,733 वर्ग किमी (~2.55%-3.16%); कुल हरित आवरण लगभग 7.42%-8% है। घनत्व अनुसार: अति सघन वन (VDF) 78.15 वर्ग किमी (0.02%); मध्यम सघन वन (MDF) 4,368.65 वर्ग किमी (1.28%); खुले वन (OF) 12,208.16 वर्ग किमी (3.57%); तथा झाड़ियां (Scrubs) 4,808.51 वर्ग किमी (1.41%) हैं। अतः सभी कथन सत्य हैं। ⚡ [परीक्षा-उपयोगी सूक्ष्म दृष्टि / RPSC Trap Alert]: कथन D असत्य है क्योंकि इसमें दिए गए तथ्य में त्रुटि है। वास्तविक तथ्य यह है कि सर्वाधिक स्थिति दर्ज की जाती है न कि न्यूनतम।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815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145/350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ISFR 2023 के अनुसार राजस्थान में वनावरण के जिलेवार वितरण के चरम आंकड़ों पर विचार कीजिए: A. क्षेत्रफल एवं प्रतिशत दोनों दृष्टियों से राजस्थान में सर्वाधिक वनावरण वाला जिला उदयपुर (2,753.39 वर्ग किमी / 23.49%) है। B. उदयपुर के पश्चात सर्वाधिक वनावरण वाले जिले क्रमशः अलवर (1,195.91 वर्ग किमी) एवं प्रतापगढ़ (1,033.77 वर्ग किमी) हैं। C. क्षेत्रफल एवं प्रतिशत दोनों दृष्टियों से राजस्थान में न्यूनतम वनावरण वाला जिला चूरू (मात्र 77.69 वर्ग किमी / 0.46%) है। D. चूरू के पश्चात सर्वाधिक वनावरण वाले जिले क्रमशः हनुमानगढ़ (89.69 वर्ग किमी) एवं जोधपुर (109.25 वर्ग किमी)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158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146/350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जिलेवार वनावरण आंकड़े (ISFR 2023): सर्वाधिक वन उदयपुर (2753.39 वर्ग किमी, 23.49%), अलवर (1195.91 वर्ग किमी), प्रतापगढ़ (1033.77 वर्ग किमी), बारां (1010.05 वर्ग किमी) में हैं। न्यूनतम वन चूरू में (77.69 वर्ग किमी, मात्र 0.46%), हनुमानगढ़ (89.69 वर्ग किमी), तथा जोधपुर में हैं। प्रतिशत में सर्वाधिक वन: उदयपुर (23.49%), प्रतापगढ़ (23.24%), सिरोही (17.49%) हैं। प्रतिशत में न्यूनतम वन: जोधपुर (0.48%) व चूरू (0.46%) हैं। अतः सभी कथन सत्य हैं। ⚡ [परीक्षा-उपयोगी सूक्ष्म दृष्टि / RPSC Trap Alert]: कथन D असत्य है क्योंकि इसमें दिए गए तथ्य में त्रुटि है। वास्तविक तथ्य यह है कि न्यूनतम स्थिति दर्ज की जाती है न कि सर्वाधिक।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158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146/350</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प्रशासनिक नियंत्रण की दृष्टि से राजस्थान के वनों के वर्गीकरण के संबंध में निम्नलिखित कथनों पर विचार कीजिए: A. आरक्षित वन (Reserved Forests) पूर्णतः राजकीय नियंत्रण में होते हैं जहाँ वन कटाई एवं पशु चराई पर पूर्ण प्रतिबंध होता है (राज्य के कुल वनों का लगभग 37.05%)। B. संरक्षित / रक्षित वन (Protected Forests) में प्रशासनिक नियमों के अधीन सीमित पशु चराई एवं सूखी लकड़ी एकत्र करने की अनुमति दी जाती है (राज्य के कुल वनों का लगभग 56.5%)। C. अवर्गीकृत वन (Unclassed Forests) वे वन हैं जिन पर सरकार का कोई कड़ा प्रतिबंध नहीं होता तथा ये सर्वाधिक बीकानेर जिले में पाए जाते हैं। D. राजस्थान में आरक्षित वनों का सर्वाधिक क्षेत्रफल बाड़मेर और जैसलमेर जिलों में स्थित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147/350</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प्रशासनिक दृष्टि से राजस्थान के वनों को तीन श्रेणियों में वर्गीकृत किया गया है: (1) आरक्षित वन (37.05%) - पूर्णतः प्रतिबंधित, सर्वाधिक उदयपुर जिले में; (2) संरक्षित/रक्षित वन (56.49%) - सीमित छूट के साथ, सर्वाधिक बारां जिले में; (3) अवर्गीकृत वन (6.46%) - खुले वन, सर्वाधिक बीकानेर जिले में। कथन D असत्य है क्योंकि आरक्षित वनों का सर्वाधिक विस्तार उदयपुर जिले में है, न कि बाड़मेर-जैसलमेर में।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147/350</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वन स्थिति रिपोर्ट (ISFR 2021) एवं राजस्थान वन सांख्यिकी के संदर्भ में निम्नलिखित कथनों पर विचार कीजिए: A. राजस्थान के कुल भौगोलिक क्षेत्रफल का लगभग 9.60% भाग अभिलेखित वन क्षेत्र (Recorded Forest Area) के अंतर्गत आता है। B. राजस्थान में अति सघन वन (Very Dense Forest) का सर्वाधिक विस्तार अलवर जिले में दर्ज किया गया है। C. राजस्थान में झाड़ी वन क्षेत्र (Scrub Area) का सर्वाधिक विस्तार पाली जिले में पाया जाता है। D. राजस्थान में कुल वनावरण 19.50% है जो राष्ट्रीय औसत से काफी अधिक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845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148/350</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ISFR 2021 और राज्य वन प्रतिवेदन के अनुसार राजस्थान का कुल अभिलेखित वन क्षेत्र 32,863 वर्ग किमी है, जो कुल भौगोलिक क्षेत्रफल का 9.60% है (जबकि वास्तविक वनावरण 4.87% तथा वृक्षावरण 2.56% है)। राज्य में सर्वाधिक अति सघन वन अलवर जिले में पाए जाते हैं तथा सबसे अधिक झाड़ी क्षेत्र पाली जिले में दर्ज किया गया है। कथन D पूर्णतः असत्य है क्योंकि राजस्थान का कुल वनावरण 19.5% नहीं, बल्कि 9.6% (अभिलेखित) है और यह राष्ट्रीय लक्ष्य (33%) से काफी कम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845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148/350</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जलवायु क्षेत्रों में वनस्पति के प्राकृतिक वितरण के संबंध में निम्नलिखित कथनों पर विचार कीजिए: A. BWhw (शुष्क मरुस्थल) में मरुद्भिद वनस्पति (कैर, बेर, नागफनी, खेजड़ी, सेवण) पाई जाती है जिनकी पत्तियां छोटी व कांटेदार होती हैं। B. BShw (अर्द्ध-शुष्क स्टेपी) में घास के मैदान, रोहिड़ा, बबूल और ढाक के विरल वन पाए जाते हैं। C. Cwg (उप-आर्द्र पश्चिमी मैदान) में उष्णकटिबंधीय शुष्क पर्णपाती / धोकड़ा वन पाए जाते हैं। D. Aw (अति-आर्द्र दक्षिण) में सवाना तुल्य सघन वनस्पति तथा सागवान (Teak) और बांस के वन पाए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189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149/350</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जलवायु और वनस्पति का प्राकृतिक अंतर्संबंध: कोपेन ने वनस्पति को जलवायु का दर्पण माना है। शुष्क मरुस्थल में ज़ीरोफाइट्स (कांटेदार मरुद्भिद); स्टेपी क्षेत्र में छोटी घासें व झाड़ियां; पूर्वी उप-आर्द्र मैदान में धोकड़ा मिश्रित मानसूनी पतझड़ वन; तथा आर्द्र दक्षिणी राजस्थान (बांसवाड़ा/डूंगरपुर/प्रतापगढ़) में उष्णकटिबंधीय शुष्क सागवान वन विस्तृत हैं। अतः सभी कथन सत्य हैं। ⚡ [परीक्षा-उपयोगी सूक्ष्म दृष्टि / RPSC Trap Alert]: कथन C असत्य है क्योंकि इसमें दिए गए तथ्य में त्रुटि है। वास्तविक तथ्य यह है कि पूर्वी क्षेत्र से संबंधित है न कि पश्चिमी से।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189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149/350</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ऐतिहासिक 'खेजड़ली वृक्ष रक्षा आंदोलन' (1730 ई.) एवं अमृता देवी विश्नोई पुरस्कार पर विचार कीजिए: A. विक्रम संवत 1787 (भाद्रपद शुक्ल दशमी, 1730 ई.) में जोधपुर के खेजड़ली गाँव में हरे खेजड़ी वृक्षों की रक्षा हेतु अमृता देवी विश्नोई के नेतृत्व में 363 स्त्री-पुरुषों ने आत्मबलिदान दिया। B. इस आंदोलन का मूल अमर मंत्र था- "सिर साठे रूख रहे तो भी सस्तो जाण"। C. इस ऐतिहासिक बलिदान की स्मृति में प्रतिवर्ष भाद्रपद शुक्ल दशमी को खेजड़ली में 'विश्व का एकमात्र वृक्ष मेला' आयोजित होता है। D. राजस्थान सरकार द्वारा 1994 से 'अमृता देवी विश्नोई वन्यजीव संरक्षण पुरस्कार' प्रारंभ किया गया, जिसमें संस्थागत श्रेणी में ₹1,00,000 तथा व्यक्तिगत श्रेणी में ₹50,000 की राशि दी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532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150/350</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खेजड़ली बलिदान (1730 ई.): जोधपुर महाराजा अभय सिंह के समय गिरधारी दास हाकिम द्वारा मेहरानगढ़ में चूना पकाने हेतु खेजड़ी वृक्ष कटवाए जा रहे थे। अमृता देवी विश्नोई, उनकी 3 पुत्रियों व 363 विश्नोई शहीदों ने पेड़ों से लिपटकर प्राण दिए। यह आधुनिक चिपको आंदोलन का मूल प्रेरक बना। भाद्रपद शुक्ल दशमी को तेजा दशमी व वृक्ष मेला होता है। 1994 से वन विभाग अमृता देवी पुरस्कार देता है (संस्थागत ₹1 लाख, व्यक्तिगत ₹50,000)।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532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150/350</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सरकार द्वारा राज्य के राज्य वृक्ष 'खेजड़ी' (Prosopis cineraria) तथा राज्य पुष्प 'रोहिड़ा' (Tecomella undulata) को किस वर्ष आधिकारिक राज्य प्रतीक घोषित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1981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1991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1989</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1983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876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151/350</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वर्ष 1983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1981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1991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1989</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द्वारा 31 अक्टूबर 1983 को थार मरुस्थल के गौरव 'खेजड़ी' (जांटी/समी/कजरी) को राज्य वृक्ष घोषित किया गया था। इसी दिन (31 अक्टूबर 1983) मरुस्थल के सुंदर पीले-केसरिया फूलों वाले वृक्ष 'रोहिड़ा' (मरुशोभा/रेगिस्तान का सागवान) के पुष्प को राज्य पुष्प का दर्जा दिया गया था। 1981 में राज्य पशु 'चिंकारा' (वन्यजीव श्रेणी) तथा राज्य पक्षी 'गोडावण' को राज्य प्रतीक घोषित किया गया था, जबकि 2014 में 'ऊंट' को पशुधन श्रेणी में राज्य पशु घोषित किया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876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151/350</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'प्रोजेक्ट टाइगर' (Project Tiger) के 50 वर्षों एवं राज्य के पाँचों बाघ अभयारण्यों पर विचार कीजिए: A. रणथंभौर टाइगर रिजर्व (1973-74) राजस्थान का प्रथम तथा प्रोजेक्ट टाइगर के आरंभिक 9 रिजर्वों में शामिल था; कैलाश सांखला को 'टाइगर मैन ऑफ इंडिया' कहा जाता है। B. सरिस्का टाइगर रिजर्व (अलवर, 1978) में 2008 में रणथंभौर से हेलीकॉप्टर द्वारा बाघों का दुनिया का पहला सफल अंतर-अभयारण्य हवाई स्थानांतरण किया गया था। C. मुकुंदरा हिल्स टाइगर रिजर्व (2013) राज्य का तीसरा तथा रामगढ़ विषधारी (बूंदी, 2022) राज्य का चौथा टाइगर रिजर्व बना। D. धौलपुर-करौली टाइगर रिजर्व (2023) राजस्थान का 5वाँ तथा भारत का 54वाँ टाइगर रिजर्व अधिसूचित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220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152/350</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बाघ परियोजना: वर्तमान में 5 टाइगर रिजर्व कार्यरत हैं: (1) रणथंभौर (1973); (2) सरिस्का (1978 - 2008 में बाघ एसटी-1 व एसटी-2 का एयरलिफ्ट); (3) मुकुंदरा हिल्स (2013); (4) रामगढ़ विषधारी (मई 2022 - 1501 वर्ग किमी, देश का 52वाँ); (5) धौलपुर-करौली (अगस्त 2023 - 1058 वर्ग किमी, देश का 54वाँ)। प्रस्तावित 6ठा टाइगर रिजर्व 'कुंभलगढ़ टाइगर रिजर्व' (राजसमंद, पाली, उदयपुर)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220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152/350</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बाघ अभयारण्यों (Tiger Reserves) के संदर्भ में निम्नलिखित कथनों पर विचार कीजिए: A. रामगढ़ विषधारी वन्यजीव अभयारण्य (बूंदी) को मई 2022 में भारत का 52वाँ एवं राजस्थान का चौथा टाइगर रिजर्व अधिसूचित किया गया। B. दर्रा वन्यजीव अभयारण्य, जवाहर सागर और चम्बल अभयारण्य के भागों को मिलाकर मुकन्दरा हिल्स टाइगर रिजर्व का गठन किया गया था। C. केवलादेव राष्ट्रीय उद्यान राजस्थान की पहली बाघ परियोजना के रूप में शुरू किया गया था। D. धौलपुर-करौली टाइगर रिजर्व को अगस्त 2023 में राजस्थान के 5वें टाइगर रिजर्व के रूप में राष्ट्रीय बाघ संरक्षण प्राधिकरण (NTCA) द्वारा मंजूरी दी गई।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563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153/350</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बाघों के संरक्षण हेतु प्रोजेक्ट टाइगर के अंतर्गत वर्तमान में 5 टाइगर रिजर्व हैं: (1) रणथम्भौर (1973 - राज्य का पहला), (2) सरिस्का (1978), (3) मुकन्दरा हिल्स (2013 - दर्रा, चम्बल, जवाहर सागर को मिलाकर), (4) रामगढ़ विषधारी (16 मई 2022 - राज्य का 4था), तथा (5) धौलपुर-करौली (2023 - राज्य का 5वां)। कथन C असत्य है क्योंकि केवलादेव राष्ट्रीय उद्यान पक्षी अभयारण्य एवं रामसर साइट है, यहाँ कोई बाघ परियोजना संचालित नहीं है। राजस्थान का पहला टाइगर रिजर्व रणथम्भौर (सवाई माधोपुर) है। अतः केवल A, B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563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153/350</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अंतरराष्ट्रीय महत्व के 'रामसर आर्द्रभूमि स्थलों' (Ramsar Wetland Sites) के संदर्भ में निम्नलिखित कथनों पर विचार कीजिए: A. केवलादेव राष्ट्रीय उद्यान (1981) एवं सांभर झील (1990) राजस्थान के प्रारंभिक दो रामसर आर्द्रभूमि स्थल थे। B. वर्ष 2025 में फलौदी जिले के प्रसिद्ध प्रवासी पक्षी केंद्र 'खींचन' तथा चूरू जिले के बर्ड विलेज 'मेनार' को रामसर स्थलों की सूची में आधिकारिक रूप से शामिल किया गया। C. दिसंबर 2025 में अलवर जिले की ऐतिहासिक 'सिलीसेढ़ झील' को भारत का 96वाँ और राजस्थान का 5वाँ रामसर स्थल घोषित किया गया। D. वर्तमान में राजस्थान में कुल 5 अधिसूचित रामसर आर्द्रभूमि स्थल स्थित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154/350</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 फरवरी 1971 को ईरान के रामसर शहर में हस्ताक्षरित 'रामसर अभिसमय' के अंतर्गत अंतरराष्ट्रीय महत्व की आर्द्रभूमियों को संरक्षण प्रदान किया जाता है। राजस्थान में आर्द्रभूमियों की स्थिति का क्रमिक विकास इस प्रकार है: (1) केवलादेव राष्ट्रीय उद्यान, भरतपुर - 1981 में भारत की पहली रामसर साइट घोषित (ओडिशा की चिल्का झील के साथ); (2) सांभर साल्ट लेक, जयपुर/डीडवाना-कुचामन - 1990 में घोषित द्वितीय स्थल; (3) खींचन, फलौदी - कुरजां पक्षियों के प्राकृतिक पड़ाव के रूप में 2025 में रामसर साइट अधिसूचित; (4) मेनार वेटलैंड (बर्ड विलेज), उदयपुर - प्रवासी व स्थानीय जलीय पक्षियों के संरक्षण हेतु 2025 में सम्मिलित; तथा (5) सिलीसेढ़ झील, अलवर - 12 दिसंबर 2025 को भारत के 96वें रामसर स्थल के रूप में दर्जा प्राप्त। इस प्रकार वर्तमान में राजस्थान में कुल 5 अंतरराष्ट्रीय रामसर स्थल अवस्थित हैं। अतः सभी चारों कथन सत्य हैं। ⚡ [परीक्षा-उपयोगी सूक्ष्म दृष्टि / RPSC Trap Alert]: कथन B असत्य है क्योंकि इसमें दिए गए तथ्य में त्रुटि है। वास्तविक तथ्य यह है कि उदयपुर क्षेत्र से संबंधित है न कि चूरू से।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154/350</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रामगढ़ विषधारी टाइगर रिजर्व (Ramgarh Vishdhari TR, बूंदी) के संबंध में विचार कीजिए: A. रामगढ़ विषधारी को मई 2022 में राजस्थान का 4था तथा भारत का 52वाँ टाइगर रिजर्व अधिसूचित किया गया था। B. यह अभयारण्य बूंदी जिले में मेज नदी (चंबल की सहायक) के बेसिन में स्थित है। C. यह रणथंभौर टाइगर रिजर्व और मुकुंदरा हिल्स टाइगर रिजर्व के मध्य एक महत्वपूर्ण 'वन्यजीव गलियारे' (Tiger Corridor) का कार्य करता है। D. इस रिजर्व का कुल क्षेत्रफल लगभग 1501.89 वर्ग किमी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250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155/350</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रामगढ़ विषधारी टाइगर रिजर्व (बूंदी, भीलवाड़ा): मेज नदी बेसिन में स्थित यह रिजर्व रणथंभौर से अतिरिक्त बाघों को मुकुंदरा हिल्स और मध्य प्रदेश के गांधी सागर तक सुरक्षित संचरण मार्ग देता है। इसे 'बाघों का जच्चा घर' भी कहा जाता था। कुल क्षेत्रफल 1501.89 वर्ग किमी (कोर 481.91 वर्ग किमी, बफर 1019.98 वर्ग किमी)।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250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155/350</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राष्ट्रीय बाघ संरक्षण प्राधिकरण (NTCA) द्वारा मान्यता प्राप्त 'बाघ परियोजनाओं' (Project Tiger) के अंतर्गत सम्मिलित क्षेत्रों का सही समूह कौन-सा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रणथम्भौर, सरिस्का, मुकन्दरा हिल्स, रामगढ़ विषधारी, धौलपुर-करौली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रणथम्भौर, सरिस्का, मुकन्दरा हिल्स, केवलादेव, तालछापर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राष्ट्रीय मरु उद्यान, सरिस्का, सज्जनगढ़, नाहरगढ़, सीतामाता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कुम्भलगढ़, सीतामाता, तालछापर, रामसागर, शेरगढ़</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594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156/350</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रणथम्भौर, सरिस्का, मुकन्दरा हिल्स, रामगढ़ विषधारी, धौलपुर-करौली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रणथम्भौर, सरिस्का, मुकन्दरा हिल्स, केवलादेव, तालछापर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राष्ट्रीय मरु उद्यान, सरिस्का, सज्जनगढ़, नाहरगढ़, सीतामाता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कुम्भलगढ़, सीतामाता, तालछापर, रामसागर, शेरगढ़</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वर्तमान में कुल 5 अधिसूचित टाइगर रिजर्व हैं। इनमें सवाई माधोपुर स्थित रणथम्भौर टाइगर रिजर्व (1973-74), अलवर स्थित सरिस्का टाइगर रिजर्व (1978-79), कोटा-झालावाड़-चित्तौड़गढ़ स्थित मुकन्दरा हिल्स टाइगर रिजर्व (2013), बूंदी स्थित रामगढ़ विषधारी टाइगर रिजर्व (2022), तथा धौलपुर-करौली टाइगर रिजर्व (2023) सम्मिलित हैं। केवलादेव, तालछापर, सज्जनगढ़ और सीतामाता टाइगर रिजर्व नहीं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594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156/350</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यूनेस्को की विश्व धरोहर सूची में 2013 में शामिल राजस्थान के 6 पहाड़ी किलों (Hill Forts of Rajasthan) पर विचार कीजिए: A. कंबोडिया के नोम पेन्ह में आयोजित यूनेस्को विश्व धरोहर समिति के 37वें सत्र (2013) में राजस्थान के 6 पहाड़ी दुर्गों को विश्व धरोहर घोषित किया गया। B. इन 6 किलों का सूत्र 'चीकू गाजर आम' है: चित्तौड़गढ़, कुंभलगढ़, गागरोन, जैसलमेर, रणथंभौर एवं आमेर दुर्ग। C. कुंभलगढ़ दुर्ग (राजसमंद) की 36 किमी लंबी सुरक्षा दीवार चीन की विशाल दीवार के बाद विश्व की दूसरी सबसे लंबी दीवार है। D. गागरोन दुर्ग (बीकानेर) आहु एवं कालीसिंध नदियों के संगम पर स्थित राजस्थान का सर्वश्रेष्ठ 'जल दुर्ग' (ओदक दुर्ग)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937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157/350</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यूनेस्को 6 पहाड़ी दुर्ग: चित्तौड़गढ़ (मेवाड़ का गौरव), कुंभलगढ़ (कटारगढ़, 36 किमी दीवार), गागरोन (बिना नींव पर खड़ा जलदुर्ग), जैसलमेर (सोनार किला, त्रिकूट पहाड़ी), रणथंभौर (बख्तरबंद दुर्ग), आमेर (कछवाहा स्थापत्य)। इसके अतिरिक्त केवलादेव (1985), जंतर मंतर (2010) एवं जयपुर परकोटा शहर (2019) यूनेस्को विश्व धरोहर हैं। कालबेलिया नृत्य (2010) अमूर्त धरोहर है। अतः सभी चारों कथन सत्य हैं। ⚡ [परीक्षा-उपयोगी सूक्ष्म दृष्टि / RPSC Trap Alert]: कथन D असत्य है क्योंकि इसमें दिए गए तथ्य में त्रुटि है। वास्तविक तथ्य यह है कि झालावाड़ जिले में स्थित है न कि बीकानेर में।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937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157/350</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वन्यजीव पर्यटन एवं सफारियों (Safari Network) के भौगोलिक वितरण के संदर्भ में निम्नलिखित कथनों पर विचार कीजिए: A. राजस्थान में कुल 6 लेपर्ड सफारी (झालाना, आमागढ़ व बीड़ पापड़ - जयपुर; जवाई - पाली; कुम्भलगढ़; तथा भैरव घाटी - अजमेर) संचालित हैं। B. राज्य में 2 लायन सफारी - नाहरगढ़ (जयपुर) एवं सज्जनगढ़ (चूरू) में संचालित की जा रही हैं। C. राज्य में 5 टाइगर रिजर्व सफारी - रणथम्भौर, सरिस्का, मुकन्दरा हिल्स, रामगढ़ विषधारी और धौलपुर-करौली हैं। D. राजस्थान भारत का पहला राज्य है जहाँ शहरी परिधि में 3 लेपर्ड सफारियाँ (झालाना, आमागढ़, बीड़ पापड़) एक ही शहर (जयपुर) में विकसित की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281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158/350</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वन्यजीव संरक्षण एवं इको-टूरिज्म का एक विस्तृत नेटवर्क विकसित किया गया है। (1) लेपर्ड सफारी (6 इकाइयां): झालाना लेपर्ड सफारी (जयपुर - देश की पहली शहरी लेपर्ड सफारी), आमागढ़ लेपर्ड सफारी (जयपुर), बीड़ पापड़ लेपर्ड सफारी (जयपुर), जवाई लेपर्ड सफारी (पाली - ग्रेनाइट चट्टानों के मध्य तेंदुओं का प्राकृतिक सह-अस्तित्व), कुम्भलगढ़ लेपर्ड सफारी (राजसमंद/पाली), तथा भैरव घाटी लेपर्ड सफारी (अजमेर)। (2) लायन सफारी (2 इकाइयां): नाहरगढ़ बायोलॉजिकल पार्क (जयपुर) तथा सज्जनगढ़ बायोलॉजिकल पार्क (उदयपुर)। (3) टाइगर सफारी (5 टाइगर रिजर्व): रणथम्भौर (सवाई माधोपुर), सरिस्का (अलवर), मुकन्दरा हिल्स (कोटा), रामगढ़ विषधारी (बूंदी) तथा धौलपुर-करौली। कुम्भलगढ़ को 6ठे टाइगर रिजर्व के रूप में सैद्धांतिक स्वीकृति प्राप्त है। अतः सभी कथन सत्य हैं। ⚡ [परीक्षा-उपयोगी सूक्ष्म दृष्टि / RPSC Trap Alert]: कथन B असत्य है क्योंकि इसमें दिए गए तथ्य में त्रुटि है। वास्तविक तथ्य यह है कि उदयपुर क्षेत्र से संबंधित है न कि चूरू से।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281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158/350</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विभिन्न जिलों के 'शुभंकर वन्यजीवों' (District Wildlife Mascots) का सही सुमेलन कीजिए: सूची-I (जिला): सूची-I: A. भीलवाड़ा B. चूरू C. सवाई माधोपुर D. जालौर सूची-II: 1. कृष्णमृग (Blackbuck) 2. बाघ (Tiger) 3. भालू (Sloth Bear) 4. मोर (Peacock)</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624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159/350</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वन विभाग द्वारा घोषित जिला वन्यजीव शुभंकर: (1) भीलवाड़ा - मोर; (2) चूरू - कृष्णमृग (तालछापर); (3) सवाई माधोपुर - बाघ (रणथंभौर); (4) जालौर - भालू (सुंधामाता); जयपुर - चीतल; जोधपुर - कुर्जां; जैसलमेर - गोडावण; अलवर - सांभर; अजमेर - खड़मोर; टोंक - हंस; चित्तौड़गढ़ - चौसिंगा। अतः सही मिलान A-4, B-1, C-2,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624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159/350</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कंजर्वेशन रिजर्व (Conservation Reserves) को उनके संबंधित जिलों से सही सुमेलित कीजिए: सूची-I (कंजर्वेशन रिजर्व): सूची-I: A. बालेश्वर कंजर्वेशन रिजर्व B. रोटू कंजर्वेशन रिजर्व C. बीसलपुर कंजर्वेशन रिजर्व D. रणखार कंजर्वेशन रिजर्व सूची-II: 1. जालोर (जंगली गधों / खुर के संरक्षण हेतु प्रसिद्ध) 2. नीम का थाना / सीकर (क्षेत्रफल में सबसे बड़ा - 221.69 वर्ग किमी) 3. नागौर (क्षेत्रफल में सबसे छोटा - 0.73 वर्ग किमी) 4. टोंक (राजस्थान का प्रथम घोषित कंजर्वेशन रिजर्व - 2008)</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968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160/350</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कंजर्वेशन रिजर्व (संरक्षण आरक्षित क्षेत्र): वन्यजीव संरक्षण अधिनियम 1972 की धारा 36A के तहत राज्य में 40+ कंजर्वेशन रिजर्व हैं। सबसे बड़ा: बालेश्वर (नीम का थाना, 221.69 वर्ग किमी; दूसरा सबसे बड़ा शाहबाद बारां 189.39 वर्ग किमी); सबसे छोटा: रोटू (नागौर, मात्र 0.73 वर्ग किमी); राज्य का प्रथम: बीसलपुर (टोंक, 2008); रणखार (जालोर - जंगली गधा संरक्षण); नवीनतम: खेजड़ली कलां (जोधपुर)। अतः सही मिलान A-2, B-3, C-4,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968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160/350</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वन्यजीव संरक्षण के प्रति जन-जागरूकता बढ़ाने हेतु मार्च 2016 में घोषित राजस्थान के जिलों एवं उनके आधिकारिक 'वन्यजीव शुभंकर' (Wildlife Mascots) को सही सुमेलित कीजिए: सूची-I (जिला): सूची-I: A. जालौर B. जैसलमेर C. भीलवाड़ा D. अजमेर सूची-II: 1. मोर 2. खरमोर पक्षी 3. भालू 4. गोडावण (ग्रेट इंडियन बस्टर्ड)</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161/350</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ने मार्च 2016 में प्रत्येक जिले के लिए एक विशिष्ट वन्यजीव शुभंकर घोषित किया था: 'जालौर' का शुभंकर भालू है (सुंधामाता भालू अभयारण्य के कारण); 'जैसलमेर' का शुभंकर राज्य पक्षी गोडावण है; 'भीलवाड़ा' का शुभंकर राष्ट्रीय पक्षी मोर है; 'अजमेर' का शुभंकर दुर्लभ खरमोर पक्षी है (सवाई माधोपुर का शुभंकर बाघ है)। इसके अतिरिक्त जयपुर का चीतल, जोधपुर का कुरजां और चूरू का कृष्णमृग (काला हिरण) है। अतः सही कूट A-3, B-4, C-1, D-2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161/350</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दक्षिणी राजस्थान के आदिवासी बाहुल्य जिलों (डूंगरपुर, बांसवाड़ा, उदयपुर) में किस वृक्ष को 'कल्पवृक्ष' के समान माना जाता है, जिससे पारंपरिक पेय व तेल प्राप्त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सालर (Boswellia serrata)</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रोहिड़ा (Tecomella undulata)</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खेजड़ी (Prosopis cineraria)</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महुआ (Madhuca longifolia)</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655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162/350</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महुआ (Madhuca longifolia)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सालर (Boswellia serrata)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रोहिड़ा (Tecomella undulata)</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खेजड़ी (Prosopis cineraria)</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महुआ (Madhuca longifolia) दक्षिणी राजस्थान के आदिवासी समुदाय (विशेषकर भील, गरासिया और डामोर) की अर्थव्यवस्था और संस्कृति में केंद्रीय स्थान रखता है। इसके पोषक फूलों से पारंपरिक देशी शराब ('मोकड़ी') बनाई जाती है तथा इसके बीजों (डोलमा) से खाद्य व औषधीय तेल निकाला जाता है। इसी बहुउपयोगिता के कारण आदिवासियों में महुआ को कल्पवृक्ष का दर्जा प्राप्त है। खेजड़ी को 'थार का कल्पवृक्ष' कहा जाता है, जबकि रोहिड़ा राजस्थान का राज्य पुष्प ('मरुशोभा')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655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162/350</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राज्य पक्षी 'गोडावण' (Great Indian Bustard / अर्डीओटिस नाइग्रीसेप्स) मुख्य रूप से किन प्राकृतिक क्षेत्रों में निवास एवं प्रजनन करता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राष्ट्रीय मरु उद्यान (जैसलमेर-बाड़मेर), सोरसन (बारां) एवं सोखलिया (अजमेर)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केवलादेव घाना (भरतपुर)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माउंट आबू अभयारण्य (सिरोही)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मुकन्दरा हिल्स (कोटा)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999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163/350</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राष्ट्रीय मरु उद्यान (जैसलमेर-बाड़मेर), सोरसन (बारां) एवं सोखलिया (अजमेर)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केवलादेव घाना (भरतपुर)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माउंट आबू अभयारण्य (सिरोही)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मुकन्दरा हिल्स (कोटा)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गोडावण (स्थानीय नाम सोहन चिड़िया, हुकना, गुधनमेर) राजस्थान का राज्य पक्षी और अंतरराष्ट्रीय प्रकृति संरक्षण संघ (IUCN) की रेड लिस्ट में 'गंभीर रूप से संकटग्रस्त' (Critically Endangered) प्रजाति है। राजस्थान में इसके तीन प्रमुख प्राकृतिक पर्यावास हैं: (1) राष्ट्रीय मरु उद्यान (जैसलमेर एवं बाड़मेर की सेवण घास पट्टी), (2) सोरसन घास क्षेत्र (बारां), तथा (3) सोखलिया क्षेत्र (अजमेर)। जैसलमेर के रामदेवरा में गोडावण हेतु कृत्रिम प्रजनन केंद्र (Captive Breeding Centre) स्थापित किया गया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999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163/350</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वन्यजीव अभयारण्यों को उनके प्रसिद्ध वन्यजीवों / पहचान के साथ सही सुमेलित कीजिए: सूची-I (अभयारण्य): सूची-I: A. तालछापर अभयारण्य (चूरू) B. राष्ट्रीय चंबल घड़ियाल अभयारण्य C. फुलवारी की नाल अभयारण्य (उदयपुर) D. रामगढ़ विषधारी अभयारण्य (बूंदी) सूची-II: 1. मानसी-वाकल नदियों का उद्गम एवं मानवरूपी वृक्ष 2. घड़ियाल, मगरमच्छ एवं गंगा डॉल्फिन (सूँस) 3. रणथंभौर के बाघों का प्राकृतिक जच्चा-गृह / कॉरिडोर 4. काले हिरण (कृष्णमृग) एवं मोथिया घास</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342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164/350</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B-2,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वन्यजीव अभयारण्य व उनकी पहचान: (1) तालछापर: काले हिरण, प्रवासी पक्षी कुर्जां व मोथिया/साइप्रस रोटंडस घास; (2) राष्ट्रीय चंबल घड़ियाल: देश का एकमात्र जलीय अंतर्राज्यीय अभयारण्य (घड़ियाल व गांगेय डॉल्फिन); (3) फुलवारी की नाल: मानसी-वाकल का उद्गम, टीएसपी वन क्षेत्र; (4) रामगढ़ विषधारी: बाघों का प्राकृतिक विचरण क्षेत्र व राजस्थान का चौथा टाइगर रिजर्व। अतः सही मिलान A-4, B-2, C-1,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342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164/350</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राज्य पक्षी 'गोडावण' (Great Indian Bustard / Ardeotis nigriceps) के पर्यावास एवं संरक्षण पर विचार कीजिए: A. गोडावण को IUCN की रेड लिस्ट (Red Data Book) में 'घोर संकटग्रस्त' (Critically Endangered) श्रेणी में तथा वन्यजीव संरक्षण अधिनियम 1972 की प्रथम शेड्यूल (Schedule-1) में सर्वोच्च विधिक संरक्षण दिया गया है। B. राजस्थान में इसके तीन प्रमुख प्राकृतिक पर्यावास हैं: राष्ट्रीय मरु उद्यान (जैसलमेर-बाड़मेर), सोरसन (बारां) एवं सांखलिया (अजमेर)। C. भारतीय वन्यजीव संस्थान (WII) और वन विभाग द्वारा अलवर के 'सम' एवं 'रामदेवरा' में गोडावण संरक्षण एवं कैप्टिव ब्रीडिंग केंद्र स्थापित किए गए हैं। D. सौर एवं पवन ऊर्जा संयंत्रों की हाई-टेंशन ट्रांसमिशन लाइनों से टकराकर होने वाली मौतों को रोकने हेतु सर्वोच्च न्यायालय के निर्देशानुसार 'बर्ड फ्लाइट डायवर्टर' लगाए जा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686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165/350</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गोडावण (उपनाम: सोहन चिड़िया, गुधनमेर, शर्मिला पक्षी, हुकना, Great Indian Bustard): 1981 में राज्य पक्षी घोषित। अत्यधिक भारी शरीर और कमजोर अग्र-दृष्टि (Poor Frontal Vision) के कारण थार में सोलर-विंड पावर की ओवरहेड हाई-टेंशन बिजली लाइनों से टकराकर करंट लगने से भारी मौतें हुईं। सुप्रीम कोर्ट ने बर्ड डायवर्टर और केबल भूमिगत करने के आदेश दिए। सम व रामदेवरा में कृत्रिम ऊष्मायन (Artificial Incubation) द्वारा चूजों का प्रजनन कराया जा रहा है। प्रोजेक्ट ग्रेट इंडियन बस्टर्ड लागू करने वाला राजस्थान देश का पहला राज्य है। अतः सभी कथन सत्य हैं। ⚡ [परीक्षा-उपयोगी सूक्ष्म दृष्टि / RPSC Trap Alert]: कथन C असत्य है क्योंकि इसमें दिए गए तथ्य में त्रुटि है। वास्तविक तथ्य यह है कि जैसलमेर जिले में स्थित है न कि पूर्वी राजस्थान के अलवर में।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686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165/350</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क्षेत्रफल की दृष्टि से 'सबसे बड़ा वन्यजीव अभयारण्य' तथा 'सबसे बड़ा कंजर्वेशन रिजर्व' क्रमशः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कुम्भलगढ़ अभयारण्य एवं सुंधामाता संरक्षण रिजर्व</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कैलादेवी अभयारण्य एवं शाकम्भरी संरक्षण रिजर्व</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राष्ट्रीय मरु उद्यान (3162 वर्ग किमी) एवं बालेश्वर संरक्षण रिजर्व (221.69 वर्ग किमी)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सरिस्का अभयारण्य एवं बीसलपुर संरक्षण रिजर्व</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029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166/350</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राष्ट्रीय मरु उद्यान (3162 वर्ग किमी) एवं बालेश्वर संरक्षण रिजर्व (221.69 वर्ग किमी)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कुम्भलगढ़ अभयारण्य एवं सुंधामाता संरक्षण रिजर्व</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कैलादेवी अभयारण्य एवं शाकम्भरी संरक्षण रिजर्व</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सरिस्का अभयारण्य एवं बीसलपुर संरक्षण रिजर्व</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सबसे बड़ा वन्यजीव अभयारण्य 'राष्ट्रीय मरु उद्यान' (Desert National Park) है, जो जैसलमेर (1900 वर्ग किमी) और बाड़मेर (1262 वर्ग किमी) में कुल 3162 वर्ग किमी क्षेत्रफल में फैला हुआ है। दूसरी ओर, राजस्थान का क्षेत्रफल की दृष्टि से सबसे बड़ा कंजर्वेशन रिजर्व (संरक्षण आरक्षित क्षेत्र) 'बालेश्वर संरक्षण रिजर्व' (221.69 वर्ग किमी) है जो नीम का थाना/सीकर जिले में स्थित है (दूसरा सबसे बड़ा शाहबाद बारां है - 189.39 वर्ग किमी)। सबसे छोटा अभयारण्य सरिस्का-अ (3.01 वर्ग किमी) तथा सबसे छोटा कंजर्वेशन रिजर्व रोटू नागौर (0.73 वर्ग किमी)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029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166/350</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बारां जिले में स्थित 'शेरगढ़ वन्यजीव अभयारण्य' के संदर्भ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अभयारण्य बारां जिले में परवन नदी के किनारे स्थित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स्थानीय रूप से 'सांपों की शरणस्थली' (Sanctuary of Snakes) भी कहा जाता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वर्ष 1983 में वन्यजीव अभयारण्य घोषित किया गया था</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वर्तमान में राजस्थान का एकमात्र ऐसा राष्ट्रीय उद्यान है जहाँ केवल सफेद बाघ पाए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373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167/350</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वर्तमान में राजस्थान का एकमात्र ऐसा राष्ट्रीय उद्यान है जहाँ केवल सफेद बाघ पाए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अभयारण्य बारां जिले में परवन नदी के किनारे स्थित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स्थानीय रूप से 'सांपों की शरणस्थली' (Sanctuary of Snakes) भी कहा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वर्ष 1983 में वन्यजीव अभयारण्य घोषित किया गया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शेरगढ़ वन्यजीव अभयारण्य (99 वर्ग किमी) बारां जिले में परवन नदी के किनारे स्थित है, जिसकी स्थापना 1983 में हुई थी। यह अभयारण्य विभिन्न प्रकार के सरीसृपों और विषैले सांपों की बहुलता के कारण 'सांपों की शरणस्थली' के नाम से प्रसिद्ध है। यहाँ ऐतिहासिक शेरगढ़ दुर्ग (कोशवर्धन दुर्ग) भी स्थित है। कथन C असत्य है क्योंकि यह कोई राष्ट्रीय उद्यान या सफेद बाघों का केंद्र नहीं है; वर्तमान में यहाँ मुख्य रूप से बघेरा, जरख, सांभर, चीतल और रीछ पाए जाते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373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167/350</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फलौदी (जोधपुर) जिले का प्रसिद्ध 'खींचन' गाँव शीतकाल में किस सुदूर प्रवासी पक्षी के हजारों की संख्या में आगमन एवं संरक्षण हेतु अंतरराष्ट्रीय स्तर पर जाना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कुरजां पक्षी (Demoiselle Crane)</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साइबेरियन क्रेन (श्वेत सारस)</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ग्रेटर फ्लेमिंगो (राजहंस)</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गोडावण (Great Indian Bustard)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168/350</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कुरजां पक्षी (Demoiselle Crane)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साइबेरियन क्रेन (श्वेत सारस)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ग्रेटर फ्लेमिंगो (राजहंस)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गोडावण (Great Indian Bustard)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फलौदी जिले का खींचन गाँव मध्य एशिया, मंगोलिया और यूरेशिया से आने वाले प्रवासी पक्षी 'कुरजां' (Demoiselle Crane) के लिए विश्व प्रसिद्ध है। यहाँ स्थानीय ग्रामीणों द्वारा कुरजां पक्षियों के लिए 'चुग्गाघर' (पक्षियों के दाने का स्थान) बनाया गया है जहाँ प्रतिवर्ष अक्टूबर से मार्च के दौरान हजारों की संख्या में कुरजां पक्षी शरण लेते हैं। राजस्थानी लोकगीतों में कुरजां को विरहणियों का संदेशवाहक माना गया है। खींचन को राज्य का कंजर्वेशन रिजर्व भी घोषित किया गया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168/350</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राज्य आर्द्रभूमि प्राधिकरण (State Wetland Authority) की स्थापना किस वर्ष की गई थी और वर्तमान में राजस्थान में कुल कितने रामसर आर्द्रभूमि स्थल अधिसूचित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वर्ष 2015 में स्थापना, कुल 5 रामसर स्थल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वर्ष 2019 में स्थापना, कुल 2 रामसर स्थल (केवलादेव एवं सांभर)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वर्ष 2010 में स्थापना, कुल 10 रामसर स्थल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वर्ष 2022 में स्थापना, कुल 1 रामसर स्थल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060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169/350</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वर्ष 2019 में स्थापना, कुल 2 रामसर स्थल (केवलादेव एवं सांभर)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2015 में स्थापना, कुल 5 रामसर स्थल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2010 में स्थापना, कुल 10 रामसर स्थल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2022 में स्थापना, कुल 1 रामसर स्थल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के पर्यावरण एवं वन विभाग द्वारा आर्द्रभूमि (संरक्षण एवं प्रबंधन) नियम 2017 के अंतर्गत 'राज्य आर्द्रभूमि प्राधिकरण' (State Wetland Authority) की आधिकारिक अधिसूचना नवंबर 2019 में जारी की गई थी। राजस्थान में वर्तमान में अंतरराष्ट्रीय महत्व के कुल 2 रामसर आर्द्रभूमि स्थल (Ramsar Sites) हैं: (1) केवलादेव राष्ट्रीय उद्यान, भरतपुर (1981 में घोषित प्रथम स्थल), तथा (2) सांभर साल्ट लेक, जयपुर/नागौर (1990 में घोषित द्वितीय स्थल)। राज्य सरकार द्वारा मेनार पक्षी गाँव (उदयपुर) और खींचन (फलौदी) को नए रामसर स्थल के रूप में प्रस्तावित किया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060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169/350</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अलवर जिले में स्थित 'सिलीसेढ़ झील' (Siliserh Lake) को किस उपनाम से जाना जाता है तथा इसे दिसंबर 2025 में क्या विशिष्ट संरक्षण दर्जा प्राप्त हुआ?</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'झीलों की रानी' एवं प्रथम जैव-विविधता विरासत स्थल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'मारवाड़ का अमृतसरोवर' एवं पहला टाइगर रिजर्व</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'राजस्थान का नंदन कानन' एवं राज्य का 5वाँ रामसर आर्द्रभूमि स्थल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'थार का जलमहल' एवं राष्ट्रीय भू-स्मारक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404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170/350</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'राजस्थान का नंदन कानन' एवं राज्य का 5वाँ रामसर आर्द्रभूमि स्थल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'झीलों की रानी' एवं प्रथम जैव-विविधता विरासत स्थल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'मारवाड़ का अमृतसरोवर' एवं पहला टाइगर रिजर्व</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'थार का जलमहल' एवं राष्ट्रीय भू-स्मारक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सिलीसेढ़ झील अलवर जिले में अरावली पहाड़ियों के मध्य स्थित अत्यंत सुरम्य झील है जिसे अपनी प्राकृतिक सुंदरता के कारण 'राजस्थान का नंदन कानन' कहा जाता है। 1845 ई. में महाराजा विनय सिंह ने अपनी रानी शीला हेतु यहाँ छह मंजिला शाही लेक पैलेस बनवाया था। 12 दिसंबर 2025 को इसे भारत का 96वाँ और राजस्थान का 5वाँ अंतरराष्ट्रीय 'रामसर आर्द्रभूमि स्थल' घोषित किया गया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404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170/350</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वन प्रकारों को उनके प्रतिनिधि वृक्षों/पादप प्रजातियों के साथ सही सुमेलित कीजिए: सूची-I (वन प्रकार): सूची-I: A. उष्णकटिबंधीय शुष्क पर्णपाती (धौंक वन) B. उपोष्णकटिबंधीय सदाबहार वन C. उष्णकटिबंधीय कंटीले वन D. शुष्क सागवान वन सूची-II: 1. टेक्टोना ग्रैंडिस (सागवान) 2. एनोजिसस पेंडुला (धौंक) 3. प्रोसोपिस सिनेरिया (खेजड़ी) एवं रोहिड़ा 4. डिकपटेरा आबूऐंसिस एवं जामुन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747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171/350</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C-3,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वन प्रकारों का पादप संयोजन इस प्रकार है: 'धौंक वन' राजस्थान में सर्वाधिक विस्तृत वन हैं (लगभग 58% वन क्षेत्र) जिनका प्रमुख वृक्ष एनोजिसस पेंडुला है। 'उपोष्ण सदाबहार वन' केवल माउंट आबू में 150 सेमी से अधिक वर्षा वाले क्षेत्र में पाए जाते हैं जहाँ अत्यंत दुर्लभ डिकपटेरा आबूऐंसिस, जामुन और बांस मिलते हैं। 'कंटीले वन' पश्चिमी मरुस्थल में खेजड़ी, रोहिड़ा, बेर, थोर के रूप में मिलते हैं। 'सागवान वन' दक्षिणी जिलों (बांसवाड़ा, डूंगरपुर, प्रतापगढ़) में 75-110 सेमी वर्षा वाले क्षेत्र में पाए जाते हैं। अतः सही कूट A-2, B-4, C-3,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747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171/350</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गैर-इमारती वन उत्पादों (NTFP) को उनके प्रमुख उत्पादक जिलों के साथ सही सुमेलित कीजिए: सूची-I (वन उत्पाद): सूची-I: A. सागवान इमारती लकड़ी B. तेंदू पत्ता C. खस घास D. महुआ सूची-II: 1. झालावाड़, कोटा, बारां, बूंदी 2. भरतपुर, सवाई माधोपुर, टोंक 3. बाँसवाड़ा, डूंगरपुर, चित्तौड़गढ़ 4. डूंगरपुर, बाँसवाड़ा, उदयपुर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091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172/350</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वन उत्पादों का क्षेत्रीय वितरण इस प्रकार है: 'सागवान की लकड़ी' दक्षिणी राजस्थान के बांसवाड़ा, डूंगरपुर, चित्तौड़गढ़ में केंद्रित है। 'तेंदू पत्ता' (जिसका उपयोग बीड़ी निर्माण में होता है और 1974 में राष्ट्रीयकरण किया गया) हाड़ौती के झालावाड़, कोटा, बारां में प्रचुरता से मिलता है। 'खस घास' (इत्र व ठंडक हेतु) पूर्वी राजस्थान के भरतपुर, सवाई माधोपुर और टोंक में पाई जाती है। 'महुआ' दक्षिणी आदिवासी बहुल जिलों (डूंगरपुर, बांसवाड़ा, उदयपुर) में शराब और तेल निर्माण हेतु एकत्र किया जाता है। अतः सही कूट A-3, B-1, C-2,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091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172/350</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वन आधारित प्रमुख लघु एवं कुटीर उद्योगों को उनके संबंधित प्रसिद्ध उत्पादक केंद्रों के साथ सही सुमेलित कीजिए: सूची-I (उद्योग): सूची-I: A. सरकारी मयूर बीड़ी कारखाना B. हस्तनिर्मित कागज उद्योग C. स्ट्राबोर्ड (गत्ता) कारखाना D. लकड़ी के खिलौने एवं कलात्मक वस्तुएं सूची-II: 1. टोंक 2. कोटा 3. उदयपुर 4. घोसुंडा (चित्तौड़गढ़) एवं सांगानेर (जयपुर)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434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173/350</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B-4,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वनों से प्राप्त कच्ची सामग्री पर कई परंपरागत कुटीर उद्योग संचालित हैं: 'बीड़ी उद्योग' में तेंदू पत्ते का उपयोग होता है जिसका प्रमुख सरकारी मयूर बीड़ी कारखाना टोंक जिले में स्थित है। 'हस्तनिर्मित कागज' घोसुंडा (चित्तौड़गढ़) तथा सांगानेर (जयपुर) में बनाया जाता है। 'स्ट्राबोर्ड उद्योग' कोटा जिले में स्थित है। 'लकड़ी के खिलौने, कठपुतलियां व नक्काशीदार फर्नीचर' रोहिड़ा, शीशम व खेर की लकड़ी से उदयपुर, जयपुर और जोधपुर में तैयार किए जाते हैं। अतः सही कूट A-1, B-4, C-2,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434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173/350</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वन्यजीव संरक्षण अधिनियम 1972 की धारा 37 के तहत अधिसूचित राजस्थान के 'आखेट निषिद्ध क्षेत्रों' (Hunting Prohibited Areas) को उनके संबंधित जिलों से सुमेलित कीजिए: सूची-I (आखेट निषिद्ध क्षेत्र): सूची-I: A. संथाल एवं महला B. रामदेवरा एवं उज्जला C. सोखलिया एवं तिलोरा D. कनक सागर एवं रानीपुरा सूची-II: 1. अजमेर 2. बूंदी एवं टोंक 3. जैसलमेर 4. जयपुर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778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174/350</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कुल 33 आखेट निषिद्ध क्षेत्र (26,720 वर्ग किमी में) घोषित हैं: जयपुर में 2 क्षेत्र (संथाल एवं महला); जैसलमेर में 2 क्षेत्र (रामदेवरा एवं उज्जला); अजमेर में 3 क्षेत्र (तिलोरा, सोखलिया एवं गंगवाना); बूंदी में कनक सागर तथा टोंक में रानीपुरा स्थित हैं। जोधपुर में सर्वाधिक 7 आखेट निषिद्ध क्षेत्र (डोली, गुड़ा विश्नोई, देचू, साथिन, लोहावट आदि) तथा बीकानेर में 5 (जोड़बीड़, मुकाम, बज्जू आदि) स्थित हैं। अतः सही कूट A-4, B-3, C-1, D-2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778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174/350</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'घर-घर औषधि योजना' (GGAY) एवं 'ट्री आउटसाइड फॉरेस्ट इन राजस्थान' (TOFIR) योजना के प्रावधानों पर विचार कीजिए: A. घर-घर औषधि योजना के तहत राज्य के 1.26 करोड़ से अधिक परिवारों को 4 प्रमुख औषधीय प्रजातियों (तुलसी, गिलोय, अश्वगंधा, कालमेघ) के 2-2 पौधे (कुल 8 पौधे) वितरित किए गए। B. इस योजना का मुख्य उद्देश्य नागरिकों की रोग प्रतिरोधक क्षमता (Immunity) संवर्धन एवं घरेलू स्तर पर सूक्ष्म हरित आवरण बढ़ाना है। C. 'ट्री आउटसाइड फॉरेस्ट इन राजस्थान' (TOFIR) योजना का मुख्य लक्ष्य गैर-वन भूमियों, खेतों की मेड़ों व सार्वजनिक स्थलों पर 5 करोड़ पौधे लगाकर हरित आवरण का विस्तार करना है। D. TOFIR योजना केवल अरावली के आरक्षित वन क्षेत्रों के भीतर विदेशी प्रजातियों के रोपण के लिए शुरू की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175/350</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 की प्रमुख वानिकी योजनाएं: घर-घर औषधि योजना में 4 औषधीय प्रजातियों (तुलसी, गिलोय, अश्वगंधा, कालमेघ) के 8 पौधे प्रति किट निःशुल्क वितरित किए गए। TOFIR योजना वनों से बाहर गैर-वन क्षेत्रों (सड़क, नहर, खेत की मेड़) में 5 करोड़ पौधे लगाकर कार्बन सिंक व वृक्षावरण बढ़ाने हेतु है। कथन D असत्य है क्योंकि TOFIR का नाम ही 'ट्रीज आउटसाइड फॉरेस्ट' है जो गैर-वन भूमि पर देशी प्रजातियों को बढ़ावा देती है। अतः केवल 1, 2 और 3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175/350</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अमेरिकी कृषि विभाग (USDA Soil Taxonomy) के अनुसार राजस्थान के पाँचों मृदा-क्रमों पर विचार कीजिए: A. एंटीसॉल (Entisols) - राजस्थान में सर्वाधिक क्षेत्रफल में पाई जाने वाली अल्प-विकसित पीली-भूरी बलुई/रेतीली मृदा है जो पश्चिमी मरुस्थल में विस्तृत है। B. एरिडीसॉल (Aridisols) - शुष्क एवं अर्ध-शुष्क जलवायु में पाई जाने वाली खनिजयुक्त मरुस्थलीय मृदा है जो शेखावाटी एवं लूनी बेसिन में पाई जाती है। C. अल्फीसॉल (Alfisols) - पूर्वी मैदानी प्रदेश (जयपुर, दौसा, अलवर, भरतपुर) में पाई जाने वाली मध्यम से उच्च उर्वरता वाली परिपक्व जलोढ़ दोमट मृदा है। D. वर्टीसॉल (Vertisols) - दक्षिण-पश्चिमी हाड़ौती पठार (कोटा, बूंदी, बारां, झालावाड़) में पाई जाने वाली अत्यधिक क्ले युक्त काली रेगुर मृदा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465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176/350</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USDA मृदा टैक्सोनॉमी के 5 ऑर्डर्स: (1) Entisols: राज्य में सर्वाधिक विस्तृत (पश्चिमी मरुस्थल); (2) Aridisols: शुष्क-अर्द्धशुष्क मरुस्थलीय मृदा; (3) Alfisols: उप-आर्द्र जलोढ़ मृदा (पूर्वी मैदान); (4) Inceptisols: अरावली की पहाड़ी ढलानों वाली आंशिक विकसित पर्वतीय मृदा (सिरोही, राजसमंद, उदयपुर); (5) Vertisols: दक्कन बेसाल्ट जनित क्ले-युक्त काली मृदा (हाड़ौती)। अतः सभी कथन सत्य हैं। ⚡ [परीक्षा-उपयोगी सूक्ष्म दृष्टि / RPSC Trap Alert]: कथन D असत्य है क्योंकि इसमें दिए गए तथ्य में त्रुटि है। वास्तविक तथ्य यह है कि पूर्वी क्षेत्र से संबंधित है न कि पश्चिमी से। अतः सही उत्तर विकल्प (A)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465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176/350</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मक्का (Maize) उत्पादन हेतु आवश्यक भौगोलिक दशाओं एवं उन्नत किस्मों पर विचार कीजिए: A. मक्का के अंकुरण एवं विकास के लिए 21°C से 27°C तापमान तथा 50 से 100 सेमी की वार्षिक वर्षा उपयुक्त होती है। B. इसकी खेती के लिए जल-निकासी वाली लाल-चिकनी, दोमट तथा लाल-काली मृदा सर्वोत्तम मानी जाती है। C. राजस्थान में मक्का का न्यूनतम संकेंद्रण मेवाड़ क्षेत्र (भीलवाड़ा, चित्तौड़गढ़, उदयपुर, राजसमंद, प्रतापगढ़) में पाया जाता है। D. 'माही कंचन' (पीले दाने वाली) एवं 'माही धवल' (सफेद दाने वाली) कृषि अनुसंधान केंद्र, बांसवाड़ा द्वारा विकसित मक्का की उन्नत संकर किस्में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808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177/350</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मक्का उत्पादन (खरीफ खाद्यान्न): मेवाड़ और वागड़ अंचल का प्रमुख खाद्यान्न है। लाल-दोमट मृदा और 50-100 सेमी वर्षा में उत्तम पैदावार होती है। कृषि अनुसंधान केंद्र, बांसवाड़ा (महाराणा प्रताप कृषि एवं प्रौद्योगिकी विश्वविद्यालय) द्वारा विकसित 'माही कंचन' और 'माही धवल' विख्यात किस्में हैं (अन्य: नवजोत, दक्कन-103, गंगा-11)। अतः सभी चारों कथन सत्य हैं। ⚡ [परीक्षा-उपयोगी सूक्ष्म दृष्टि / RPSC Trap Alert]: कथन C असत्य है क्योंकि इसमें दिए गए तथ्य में त्रुटि है। वास्तविक तथ्य यह है कि सर्वाधिक स्थिति दर्ज की जाती है न कि न्यूनतम।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808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177/350</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हाड़ौती पठार की बेसाल्ट लावा-निर्मित 'मध्यम काली मृदा' (Vertisols) एवं 'स्वतः जुताई' (Self-Ploughing) परिघटना पर विचार कीजिए: A. इस मृदा में क्ले (चीका) की उच्च मात्रा (40-50% या अधिक) तथा 'मोंटमोरिलोनाइट' (Montmorillonite) क्ले खनिज की प्रधानता होती है। B. बारीक कणों और सूक्ष्म रंध्रावकाशों के कारण इसकी जल-धारण क्षमता (Water Retention Capacity) राज्य की सभी मृदाओं में न्यूनतम होती है। C. गीली होने पर यह फूलकर चिपचिपी हो जाती है, किंतु ग्रीष्म ऋतु में शुष्क होने पर इसमें 10 से 15 सेमी चौड़ी व कई फीट गहरी दरारें पड़ जाती हैं। D. दरारों में ऊपरी भुरभुरी मिट्टी गिरने तथा वर्षा में पुनः फैलने से मृदा का स्वतः चक्रीय मंथन (Pedoturbation) होता है जिसे 'स्वतः जुताई' कहा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152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178/350</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वर्टीसॉल / रेगुर काली मिट्टी: दक्कन ट्रैप लावा अपक्षय से निर्मित। मोंटमोरिलोनाइट खनिज के सिकुड़ने-फैलने (Shrink-Swell) के गुण से शुष्क मौसम में गहरी दरारें बनती हैं जिनसे गहराई तक वायु-संचार (Aeration) होता है और मिट्टी की परतें स्वतः मंथित होती रहती हैं, अतः इसे 'स्वतः जुताई वाली मृदा' कहते हैं। इसमें लोहा, चूना, पोटाश प्रचुर है परंतु नाइट्रोजन, फास्फोरस व ह्यूमस की कमी होती है। कपास व सोयाबीन हेतु सर्वोत्तम है। अतः सभी चारों कथन सत्य हैं। ⚡ [परीक्षा-उपयोगी सूक्ष्म दृष्टि / RPSC Trap Alert]: कथन B असत्य है क्योंकि इसमें दिए गए तथ्य में त्रुटि है। वास्तविक तथ्य यह है कि सर्वाधिक स्थिति दर्ज की जाती है न कि न्यूनतम।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152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178/350</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मिश्रित लाल-काली मृदा एवं लैटेराइट मृदा की रासायनिक विशेषताओं के संदर्भ में निम्नलिखित कथनों पर विचार कीजिए: A. मिश्रित लाल और काली मिट्टी में पोटाश पर्याप्त मात्रा में मिलता है, किन्तु नाइट्रोजन, फास्फोरस और ह्यूमस की कमी पाई जाती है। B. लैटेराइट मिट्टी का लाल रंग लौह तत्व (Iron Oxide) की अत्यधिक उपस्थिति के कारण होता है। C. लाल-पीली मृदा में ग्रेनाइट, शिस्ट और नीस चट्टानों के विखंडन से उपजाऊ तत्वों की प्रचुरता पाई जाती है। D. मिश्रित लाल-काली मिट्टी मुख्य रूप से बांसवाड़ा, डूंगरपुर, चित्तौड़गढ़ और भीलवाड़ा जिलों में पाई जाती है जहाँ कपास व मक्का उगाया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496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179/350</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विभिन्न मृदाओं के रासायनिक गुण उनकी मूल चट्टानों पर निर्भर करते हैं। मिश्रित लाल-काली मिट्टी बांसवाड़ा, चित्तौड़गढ़, डूंगरपुर में मिलती है; इसमें चीका मिट्टी की अधिकता तथा पोटाश प्रचुर होता है, लेकिन नाइट्रोजन व फास्फोरस कम होता है। लैटेराइट मिट्टी डूंगरपुर और उदयपुर में पाई जाती है, जिसका लाल रंग लौह तत्वों के कारण होता है। कथन C असत्य है क्योंकि लाल-पीली मिट्टी (सवाई माधोपुर, सिरोही, भीलवाड़ा) में चूना, नाइट्रोजन और जैविक ह्यूमस तत्वों की अत्यधिक 'कमी' (अभाव) पाई जाती है, प्रचुरता नहीं। अतः केवल A, B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496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179/350</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पूर्वी मैदानों की 'जलोढ़ / कछारी मृदा' (Alluvial Soil / Alfisols) के संबंध में कथनों पर विचार कीजिए: A. यह नदियों (चंबल, बनास, बाणगंगा) द्वारा बहाकर लाए गए बारीक अवसादों व कांप मिट्टी के निक्षेपण से निर्मित है। B. इसमें पोटाश, फास्फोरिक अम्ल, चूना एवं कैल्शियम कार्बोनेट पर्याप्त मात्रा में पाए जाते हैं। C. यह राजस्थान की सबसे अधिक उपजाऊ एवं कृषि उत्पादक मृदा मानी जाती है। D. इस मृदा का विस्तार मुख्य रूप से जैसलमेर, बीकानेर और बाड़मेर जिलों में पाया जाता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839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180/350</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जलोढ़ कछारी मृदा (Alfisols): जयपुर, दौसा, अलवर, भरतपुर, धौलपुर, टोंक में विस्तृत सबसे उपजाऊ मिट्टी। गेहूं, सरसों, गन्ना, कपास हेतु आदर्श। कथन D असत्य है क्योंकि जैसलमेर-बीकानेर में रेतीली एरिडीसोल्स मिलती है, जलोढ़ नहीं। अतः केवल 1, 2 और 3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839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180/350</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सवाई माधोपुर, टोंक एवं भीलवाड़ा जिलों में बनास नदी बेसिन में ग्रेनाइट और नीस चट्टानों के अपक्षय से निर्मित कौन-सी विशिष्ट मृदा पाई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जिप्सीफेरस मृदा</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लाल-पीली मृदा (Red and Yellow Soil)</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लवणीय नेहड़ मृदा</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उपोष्ण सदाबहार मृदा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183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181/350</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लाल-पीली मृदा (Red and Yellow Soil)</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जिप्सीफेरस मृदा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लवणीय नेहड़ मृदा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उपोष्ण सदाबहार मृदा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बनास बेसिन (सवाई माधोपुर, टोंक, भीलवाड़ा, अजमेर) में अरावली के ग्रेनाइट, शिस्ट और नीस शैलों के निरंतर अपक्षय से लाल-पीली मृदा बनती है। लौह-ऑक्साइड के जलयोजन (Hydration) से इसका रंग पीला-भूरा हो जाता है। यह मूंगफली, मक्का व तिलहन हेतु अनुकूल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183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181/350</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किस प्रकार की मिट्टी में नाइट्रोजन स्थिरीकरण क्षमता बढ़ाने हेतु दलहनी फसलों (मूंग, मोठ, उड़द, चना) की फसल चक्र में अनिवार्य बुवाई की सिफारिश की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नक्की झील के जलोढ़ 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हाड़ौती की काली मृदा 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बलुई रेतीली एवं भूरी मृदा 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सिरोही के उपोष्ण वनों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182/350</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बलुई रेतीली एवं भूरी मृदा 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नक्की झील के जलोढ़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हाड़ौती की काली मृदा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सिरोही के उपोष्ण वनों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पश्चिमी व मध्य राजस्थान की बलुई रेतीली तथा भूरी मृदा में जैविक कार्बन व नाइट्रोजन का घोर अभाव होता है। दलहनी फसलों की जड़ों में 'राइजोबियम' जीवाणु की ग्रंथियां वायुमंडलीय नाइट्रोजन को नाइट्रेट में बदलकर मृदा में प्राकृतिक रूप से स्थिर करती हैं, जिससे भूमि की उर्वरा शक्ति बिना रासायनिक खादों के बढ़ जाती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182/350</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'खान एवं खनिज (विकास और विनियमन) संशोधन अधिनियम 2023-2025' के तहत राजस्थान में खोजे गए महत्वपूर्ण/रणनीतिक खनिजों पर विचार कीजिए: A. सीकर जिले के 'रोहिल' (खंडेला) में यूरेनियम (Uranium) के विशाल व्यावसायिक भंडारों की खोज हुई है जहाँ खनन परियोजना विकसित की जा रही है। B. धौलपुर जिले के 'सिवाना रिंग कॉम्प्लेक्स' एवं 'कामथाई' में दुर्लभ मृदा तत्वों (Rare Earth Elements - REE / नियोडिमियम, डिस्प्रोसियम) के भंडार मिले हैं। C. भीलवाड़ा एवं राजसमंद के पेग्मेटाइट चट्टानों में लिथियम (Lithium), बेरिलियम एवं टैंटलम जैसे क्रिटिकल खनिजों के अन्वेषण चल रहे हैं। D. इन रणनीतिक खनिजों का उपयोग इलेक्ट्रिक वाहन (EV) बैटरी, सौर पैनल, रक्षा उपकरण एवं सेमीकंडक्टर निर्माण में अनिवार्य रूप से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870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183/350</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क्रिटिकल एवं स्ट्रैटेजिक मिनरल्स: रोहिल (सीकर) झारखंड के जादूगोड़ा के बाद देश का दूसरा बड़ा यूरेनियम खनन क्षेत्र बन रहा है। सिवाना (बाड़मेर) व कामथाई में REE भंडार रक्षा व हाई-टेक इलेक्ट्रॉनिक्स में भारत को चीन पर निर्भरता से मुक्ति दिलाएंगे। MMDR संशोधन के तहत केंद्र सरकार ने इन 24 महत्वपूर्ण खनिजों की नीलामी को सुगम बनाया है। अतः सभी चारों कथन सत्य हैं। ⚡ [परीक्षा-उपयोगी सूक्ष्म दृष्टि / RPSC Trap Alert]: कथन B असत्य है क्योंकि इसमें दिए गए तथ्य में त्रुटि है। वास्तविक तथ्य यह है कि बाड़मेर जिले में स्थित है न कि धौलपुर में। अतः सही उत्तर विकल्प (D)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870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183/350</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विभिन्न संभागों एवं उनकी प्रधान मृदा प्रकारों का सही सुमेलन कीजिए: सूची-I (संभाग): सूची-I: A. कोटा संभाग B. जोधपुर संभाग C. जयपुर संभाग D. उदयपुर संभाग सूची-II: 1. जलोढ़ कछारी (अल्फीसॉल) मृदा 2. मध्यम काली (वर्टिसोल) मृदा 3. रेतीली बलुई (एरिडीसॉल / एंटीसॉल) मृदा 4. लाल-दोमट एवं लाल-काली (इनसेप्टीसॉल) मृदा</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213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184/350</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संभागवार मृदा वितरण: (1) कोटा संभाग - हाड़ौती की मध्यम काली मृदा; (2) जोधपुर संभाग - थार मरुस्थल की रेतीली बलुई मृदा; (3) जयपुर संभाग - ढूंढाड़ की उपजाऊ जलोढ़ दोमट मृदा; (4) उदयपुर संभाग - मेवाड़-वागड़ की लाल-दोमट व लाल-काली मिश्रित मृदा। अतः सही मिलान A-2, B-3, C-1,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213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184/350</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सबसे बड़ा मिट्टी से बना कच्चा बाँध (Earthen Dam) कौन-सा है और यह किस नदी पर स्थित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पांचना बाँध - करौली (भद्रावती, बरखेड़ा, अटा, माची, भैंसावट)</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मोरेल बाँध - दौसा (मोरेल नदी)</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बीसलपुर बाँध - टोंक (बनास नदी)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जवाई बाँध - पाली (जवाई नदी)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557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185/350</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पांचना बाँध - करौली (भद्रावती, बरखेड़ा, अटा, माची, भैंसावट)</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मोरेल बाँध - दौसा (मोरेल नदी)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बीसलपुर बाँध - टोंक (बनास नदी)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जवाई बाँध - पाली (जवाई नदी)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मिट्टी से बना सबसे बड़ा बाँध 'पांचना बाँध' (Panchna Dam) है जो करौली जिले के गुढ़ा गाँव के पास स्थित है। यह 5 स्थानीय नदियों-भद्रावती, बरखेड़ा, अटा, माची और भैंसावट के संगम पर अमेरिका के आर्थिक सहयोग से बनाया गया कच्चा बाँध है। मोरेल बाँध (दौसा) भी एक विशाल कच्चा बाँध है, लेकिन पांचना बाँध राजस्थान का सबसे प्रमुख एवं प्रसिद्ध मिट्टी का बाँध माना जाता है। बीसलपुर बाँध कंक्रीट का गुरुत्व बाँध है तथा जवाई बाँध ग्रेनाइट पत्थरों से निर्मित 'मारवाड़ का अमृत सरोवर' कहलाता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557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185/350</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राज्य कृषि विभाग द्वारा किए गए 14 प्रकार के विशिष्ट वैज्ञानिक मृदा वर्गीकरण के अनुसार मृदाओं को उनके संबंधित जिलों के साथ सही सुमेलित कीजिए: सूची-I (मृदा का प्रकार): सूची-I: A. जिप्सीफेरस (Gypsiferous Soil) B. रेवेरिना (Reverina Soil) C. साइरोज़म (Sirozems) D. नॉन-कैल्सी ब्राउन (Non-Calcic Brown) सूची-II: 1. जयपुर, सीकर, झुंझुनूं, अलवर व अजमेर 2. श्रीगंगानगर 3. बीकानेर 4. श्रीगंगानगर एवं अनूपगढ़</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900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186/350</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B-2,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 कृषि विभाग ने रासायनिक व भौतिक विशेषताओं के आधार पर राजस्थान की मिट्टियों को 14 विशिष्ट समूहों में वर्गीकृत किया है: (1) जिप्सीफेरस मृदा - बीकानेर जिले में पाई जाती है जहाँ मिट्टी के नीचे जिप्सम की अभेद्य परत होती है। (2) रेवेरिना मृदा - श्रीगंगानगर जिले में घग्घर नदी के तलछटों से निर्मित कछारी मिट्टी है। (3) साइरोज़म मृदा - श्रीगंगानगर व अनूपगढ़ में पाई जाने वाली धूसर उपजाऊ मिट्टी है। (4) नॉन-कैल्सी ब्राउन मृदा - जयपुर, दौसा, अलवर, सीकर, झुंझुनूं और अजमेर में पाई जाती है; इसमें चूने की मात्रा कम लेकिन नाइट्रोजन व फास्फोरस का अभाव होता है। इसके अतिरिक्त: कैल्सी ब्राउन (मरुस्थलीय) - जैसलमेर व बीकानेर; नवीन भूरी मृदा - अजमेर व भीलवाड़ा; पीली-भूरी मृदा - जयपुर, टोंक, सवाई माधोपुर; लाल-दोमट मृदा - डूंगरपुर व बांसवाड़ा में पाई जाती है। अतः सही मिलान A-3, B-2, C-4,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900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186/350</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हाड़ौती पठार (दक्षिण-पूर्वी पठारी प्रदेश) की भू-आकृतिक एवं भूगर्भीय विशेषताओं पर विचार कीजिए: A. यह क्षेत्र भूगर्भिक दृष्टि से प्रायद्वीपीय भारत के दक्कन के पठार एवं विंध्यन कगार भूमि का उत्तरी-पश्चिमी विस्तार है। B. इसका निर्माण मेसोज़ोइक महाकल्प के क्रिटेशियस काल में दरारी ज्वालामुखी उद्भेदन (Fissure Eruption) से निकले क्षारीय बेसाल्ट लावे के जमने से हुआ है। C. बेसाल्टिक लावे के निरंतर अपक्षय एवं अपरदन से यहाँ अत्यधिक उपजाऊ मध्यम काली (रेगुर / एंटीसॉल) मृदा का विकास हुआ है। D. बारां जिले के रामगढ़ क्षेत्र में घोड़े की नाल के आकार की वलयाकार पहाड़ी संरचना स्थित है जो उल्कापिंड के संघात से निर्मित क्रेटर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244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187/350</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हाड़ौती का पठार राज्य के लगभग 6.89% से 9% भूभाग पर विस्तृत है। यह विंध्यन कगार और दक्कन लावा पठार का सम्मिश्रण है। क्रिटेशियस काल में दरारी उद्भेदन से निकले बेसाल्ट लावे के अपक्षय से मध्यम काली (रेगुर) मिट्टी बनी है, जो नमी धारण करने की उच्च क्षमता रखती है तथा सोयाबीन, कपास व संतरे हेतु उत्तम है। बारां के रामगढ़ में 3.2 किमी व्यास का उल्कापिंडीय क्रेटर (Astrobleme) स्थित है। अतः सभी कथन सत्य हैं। ⚡ [परीक्षा-उपयोगी सूक्ष्म दृष्टि / RPSC Trap Alert]: कथन C असत्य है क्योंकि इसमें दिए गए तथ्य में त्रुटि है। वास्तविक तथ्य यह है कि वर्टीसॉल (काली क्ले मृदा) है न कि एंटीसॉल।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244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187/350</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प्रमुख 'भौगोलिक संकेतक' (GI Tags) प्राप्त हस्तशिल्प एवं हथकरघा उत्पादों पर विचार कीजिए: A. बगरू प्रिंट, सांगानेरी प्रिंट एवं कोटा डोरिया साड़ी - अंतरराष्ट्रीय ख्याति प्राप्त वस्त्र उत्पाद हैं। B. ब्लू पॉटरी (जयपुर) एवं थेवा कला (प्रतापगढ़ - कांच पर सोने का सूक्ष्म चित्रांकन) - प्रतिष्ठित जीआई टैग हस्तशिल्प हैं। C. मोलेला मिट्टी के खिलौने व मृण्मूर्तियां (राजसमंद) तथा पोकरण पॉटरी (अलवर) - प्रसिद्ध मृदा शिल्प उत्पाद हैं। D. बीकानेरी भुजिया एवं जोधपुरी बंधेज - प्रसिद्ध खाद्य व परिधान उत्पाद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587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188/350</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GI टैग उत्पाद: सांगानेरी प्रिंट, बगरू प्रिंट, कोटा डोरिया, ब्लू पॉटरी, थेवा कला, मोलेला क्ले वर्क, कठपुतली, पोकरण पॉटरी, फुलकारी, बीकानेरी भुजिया, जोधपुरी बंधेज, उस्ता कला (बीकानेर), कशीदाकारी (बीकानेर), कोफ्तगारी धातु शिल्प (उदयपुर), नक्काशीदार काष्ठ कला (बस्सी)। ये उत्पाद राजस्थान के हस्तशिल्प पर्यटन का मुख्य आकर्षण हैं। अतः सभी कथन सत्य हैं। ⚡ [परीक्षा-उपयोगी सूक्ष्म दृष्टि / RPSC Trap Alert]: कथन C असत्य है क्योंकि इसमें दिए गए तथ्य में त्रुटि है। वास्तविक तथ्य यह है कि जैसलमेर जिले में स्थित है न कि पूर्वी राजस्थान के अलवर में।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587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188/350</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भारत के कुल 'फेल्सपार' (Felspar) उत्पादन का लगभग 60% उत्पादित करता है; राज्य में फेल्सपार का सर्वाधिक खनन किस जिले से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कोटा</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डूंगरपुर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बाड़मेर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अजमेर (मकरेड़ा एवं दांदड़ा)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189/350</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अजमेर (मकरेड़ा एवं दांदड़ा)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डूंगरपुर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बाड़मेर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फेल्सपार एक महत्वपूर्ण अधात्विक खनिज है जिसका व्यापक उपयोग कांच (Glass), चीनी मिट्टी के बर्तन, सिरेमिक टाइल्स और इंसुलेटर उद्योग में सिलिका के साथ गालक (Flux) के रूप में किया जाता है। राजस्थान देश का 60% फेल्सपार उत्पादित करके शीर्ष पर है। राज्य का 90% से अधिक फेल्सपार अजमेर और नवगठित ब्यावर जिले (मकरेड़ा, दांदड़ा, तारागढ़, जवाजा) से निकाला जाता है। इसके अतिरिक्त पाली, भीलवाड़ा, सीकर और टोंक में भी फेल्सपार के छोटे भंडार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189/350</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मृदा स्वास्थ्य संवर्धन हेतु अपनाए जा रहे 'बायोचार' (Biochar) एवं फसल अवशेष प्रबंधन पर विचार कीजिए: A. बायोचार कृषि अपशिष्टों (जैसे सरसों की तूड़ी, कपास की पराली) को ऑक्सीजन की अनुपस्थिति में उच्च तापमान (पायरोलिसिस) पर जलाकर तैयार किया गया जैविक कार्बन है। B. बायोचार को मिट्टी में मिलाने से यह सैकड़ों वर्षों तक कार्बन सिंक का कार्य करता है तथा मृदा की जलधारण क्षमता बढ़ाता है। C. इससे किसानों द्वारा खेतों में पराली जलाने से होने वाले वायु प्रदूषण पर रोक लगती है। D. बायोचार मिट्टी को अत्यधिक अम्लीय बनाकर कृषि भूमि को हमेशा के लिए बंजर कर देता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275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190/350</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बायोचार (Biochar): पायरोलिसिस विधि से निर्मित छिद्रयुक्त कार्बन जो मिट्टी में नमी व पोषक तत्व रोककर रखता है और कार्बन सीक्वेस्ट्रेशन करता है। कथन D असत्य है क्योंकि यह मिट्टी की उर्वरता व माइक्रोबायोम को सुधारता है, बंजर नहीं बनाता। अतः केवल 1, 2 और 3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275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190/350</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राज्य कृषि विभाग द्वारा स्थानीय सर्वेक्षण के आधार पर वर्गीकृत 14 विशिष्ट मृदाओं को उनके प्रतिनिधि जिलों से सुमेलित कीजिए: सूची-I (विशिष्ट वैज्ञानिक मृदा): सूची-I: A. रेवरिना मृदा (Reverina) B. जिप्सीफेरस मृदा (Gypsiferous) C. लाल-लोम मृदा (Red-Loam) D. साइरोज़म मृदा (Sierozem) सूची-II: 1. बीकानेर जिला (जिप्सम युक्त संस्तर) 2. श्रीगंगानगर, अनूपगढ़ एवं नागौर की पीली-भूरी मरुस्थलीय मृदा 3. श्रीगंगानगर एवं अनूपगढ़ (घग्घर बेसिन नहरी क्षेत्र) 4. डूंगरपुर, बांसवाड़ा एवं दक्षिणी प्रतापगढ़ (मक्का हेतु उपयुक्त)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618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191/350</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कृषि विभाग का 14-मृदा वर्गीकरण: (1) रेवरिना: श्रीगंगानगर नहरी क्षेत्र में महीन उपजाऊ कांप मिट्टी; (2) जिप्सीफेरस: बीकानेर में जिप्सम संस्तरों वाली मिट्टी; (3) लाल-लोम (रेड लोम): डूंगरपुर-बांसवाड़ा में लौह तत्वों से युक्त मक्का-चावल हेतु उपयुक्त मिट्टी; (4) साइरोज़म: गंगानगर-नागौर की अर्द्ध-शुष्क धूसर मृदा। अन्य: कैल्सी ब्राउन (जैसलमेर-बीकानेर), नॉन-कैल्सी ब्राउन (जयपुर, सीकर, झुंझुनूं)। अतः सही मिलान A-3, B-1, C-4, D-2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618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191/350</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वर्षा के वार्षिक एवं दैनिक वितरण की विषमताओं पर विचार कीजिए: A. राजस्थान में राज्य की औसत वार्षिक वर्षा लगभग 57.5 सेमी (575 मिमी) है। B. राज्य में सर्वाधिक वर्षा वाला जिला झालावाड़ (औसत लगभग 100 सेमी) तथा न्यूनतम वर्षा वाला जिला जैसलमेर (10-15 सेमी) है। C. राज्य में सर्वाधिक वर्षा वाला स्थान माउंट आबू (लगभग 150 सेमी) तथा न्यूनतम वर्षा वाला स्थान 'सम' (जैसलमेर, 5 सेमी से कम) है। D. राज्य में न्यूनतम दैनिक तापांतर जैसलमेर में तथा सर्वाधिक वार्षिक तापांतर चूरू जिले में दर्ज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962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192/350</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व तापमान की विषमताएं: राज्य औसत वर्षा 575 मिमी। झालावाड़ सर्वाधिक वर्षा (40 दिन) वाला जिला, माउंट आबू सर्वाधिक वर्षा (48 दिन) वाला स्थान। जैसलमेर न्यूनतम वर्षा (5 दिन) वाला जिला तथा सम वनस्पतिविहीन न्यूनतम वर्षा वाला स्थान। दैनिक तापांतर जैसलमेर में रेतीली मिट्टी के शीघ्र गर्म/ठंडा होने से सर्वाधिक होता है, जबकि वार्षिक तापांतर चूरू में (ग्रीष्म में 50°C व शीत में -1°C) सर्वाधिक होता है। अतः सभी कथन सत्य हैं। ⚡ [परीक्षा-उपयोगी सूक्ष्म दृष्टि / RPSC Trap Alert]: कथन D असत्य है क्योंकि इसमें दिए गए तथ्य में त्रुटि है। वास्तविक तथ्य यह है कि सर्वाधिक स्थिति दर्ज की जाती है न कि न्यूनतम।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962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192/350</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नहरी सिंचित क्षेत्रों में मृदा की लवणीयता (Salinity / रेह, कल्लर) एवं क्षारीयता की समस्या पर विचार कीजिए: A. अत्यधिक सिंचाई एवं जलभराव के कारण शुष्क मौसम में केशिकत्व क्रिया (Capillary Action) द्वारा भूमिगत लवण सतह पर आकर जम जाते हैं, जिसे 'रेह' या 'कल्लर' कहते हैं। B. विनिमेय सोडियम प्रतिशत (ESP &gt; 15) बढ़ने तथा सोडियम कार्बोनेट के निर्माण से मृदा का pH मान 8.5 से अधिक हो जाता है, जिससे मृदा क्षारीय हो जाती है। C. क्षारीय भूमि के रासायनिक सुधार एवं उपचार हेतु 'यूरिया' (CaSO4·2H2O) सबसे प्रभावी एवं सस्ता संशोधक है। D. अम्लीय मृदा (pH &lt; 7) के उपचार हेतु खेतों में 'चूना पत्थर' (रॉक फॉस्फेट) का प्रयोग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305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193/350</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मृदा लवणता व क्षारीयता उपचार: केशिकत्व क्रिया से सोडियम, कैल्शियम, मैग्नीशियम के लवण सतह पर आकर सफेद परत बनाते हैं। क्षारीय मृदा (pH &gt; 8.5) में जिप्सम डालने पर जिप्सम का कैल्शियम आयन (Ca2+) मिट्टी के हानिकारक सोडियम आयनों (Na+) को प्रतिस्थापित कर देता है और बनने वाला सोडियम सल्फेट पानी के साथ घुलकर नीचे बह जाता है (लीचिंग)। अम्लीय मृदा में चूने व रॉकफॉस्फेट का प्रयोग होता है। अतः सभी कथन सत्य हैं। ⚡ [परीक्षा-उपयोगी सूक्ष्म दृष्टि / RPSC Trap Alert]: कथन C असत्य है क्योंकि इसमें दिए गए तथ्य में त्रुटि है। वास्तविक तथ्य यह है कि जिप्सम व पाइराइट्स का उपयोग होता है न कि यूरिया का।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305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193/350</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पूर्वी भाग में 'गंभीर (उटांगन) नदी' एवं इस पर निर्मित ऐतिहासिक 'पाँचना बाँध' के संदर्भ में निम्नलिखित कथनों पर विचार कीजिए: A. गंभीर नदी का उद्गम करौली जिले की सपोटरा पहाड़ियों से होता है तथा यह भरतपुर और धौलपुर होकर उत्तर प्रदेश में यमुना में मिलती है। B. अटा, माची, भद्रावती, भैंसावट और बरखेड़ा - ये 5 छोटी नदियाँ गंभीर नदी की सहायक नदियाँ हैं। C. इन पांचों नदियों के संगम पर करौली जिले में अमेरिका के आर्थिक सहयोग से राजस्थान का सबसे बड़ा मिट्टी का 'पाँचना बाँध' बनाया गया है। D. केवलादेव राष्ट्रीय उद्यान के 'अजान बाँध' में जलापूर्ति की कमी होने पर पाँचना बाँध से गंभीर नदी के मार्ग द्वारा पानी छोड़ा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649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194/350</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गंभीर नदी (उटांगन नदी - कुल लम्बाई 288 किमी) पूर्वी राजस्थान की एक प्रमुख नदी है। (1) यह करौली की सपोटरा तहसील से निकलकर करौली, सवाई माधोपुर, भरतपुर, धौलपुर तथा यूपी के मैनपुरी (मुरादगंज के पास) में यमुना में विलीन होती है। (2) गंभीर नदी की 5 सहायक नदियों को याद रखने का सूत्र 'अ मा भदावरी भैंस बहारखाड़ी' है: अटा, माची, भद्रावती, भैंसावट और बरखेड़ा। (3) इन पाँचों नदियों के संगम पर करौली के गुढ़ा गाँव में लाल मिट्टी से निर्मित 'पाँचना बाँध' एशिया का विख्यात मिट्टी का बाँध है जो अमेरिकी तकनीकी व वित्तीय सहायता से बना था। (4) भरतपुर में स्थित केवलादेव घना पक्षी अभयारण्य की जीवन रेखा 'अजान बाँध' (महाराजा सूरजमल द्वारा बाणगंगा व गंभीर के दोआब पर निर्मित) को पाँचना बाँध और रूपारेल नदी के सीकरी बाँध से जलापूर्ति की जाती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649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194/350</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मिट्टियों में पाए जाने वाले विशिष्ट रासायनिक दोषों एवं उनके वैज्ञानिक उपचार उपायों को सही सुमेलित कीजिए: सूची-I (मृदा दोष): सूची-I: A. क्षारीय मृदा (Alkaline Soil, pH &gt; 8.5) B. अम्लीय मृदा (Acidic Soil, pH &lt; 6.5) C. सेम ग्रस्त जलाक्रांत मृदा (Waterlogged Soil) D. नाइट्रोजन विहीन बलुई मृदा सूची-II: 1. यूकेलिप्टस आधारित बायो-ड्रेनेज एवं सब-सरफेस जल निकासी 2. जिप्सम (Gypsum) का प्रयोग एवं निक्षालन (Leaching) 3. दलहनी फसलों (मूंग, मोठ, ढैंचा) द्वारा हरी खाद व नाइट्रोजन स्थिरीकरण 4. चूना पत्थर (कली चूना) अथवा रॉक फॉस्फेट का उपयोग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992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195/350</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मृदा सुधार तकनीकें: (1) क्षारीय मृदा हेतु जिप्सम ($CaSO_4 \cdot 2H_2O$); (2) अम्लीय मृदा हेतु चूना/रॉकफॉस्फेट; (3) सेम ग्रस्त भूमि हेतु बायो-ड्रेनेज (सफेदा रोपण); (4) नाइट्रोजन कमी दूर करने हेतु राइजोबियम युक्त दलहनी फसलें व हरी खाद (ढैंचा/सनई)। अतः सही मिलान A-2, B-4, C-1,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992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195/350</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सूरतगढ़ (श्रीगंगानगर) से 19 फरवरी 2015 को प्रधानमंत्री द्वारा प्रारंभ 'मृदा स्वास्थ्य कार्ड योजना' (Soil Health Card Scheme) पर विचार कीजिए: A. इस योजना का मुख्य राष्ट्रीय ध्येय वाक्य "स्वस्थ धरा, खेत हरा" है। B. मृदा स्वास्थ्य कार्ड में मिट्टी की उर्वरता का वैज्ञानिक आकलन कुल 12 प्रमुख पोषक तत्व एवं भौतिक-रासायनिक मापदंडों के आधार पर किया जाता है। C. इन 12 मानकों में 3 प्राथमिक (N, P, K), 1 द्वितीयक (सल्फर - S), 5 सूक्ष्म पोषक तत्व (Zn, Fe, Cu, Mn, B) तथा 3 भौतिक मानक (pH, EC, जैविक कार्बन) शामिल हैं। D. यह योजना किसानों को केवल रासायनिक यूरिया के अंधाधुंध उपयोग को बढ़ाने के उद्देश्य से प्रारंभ की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196/350</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मृदा स्वास्थ्य कार्ड योजना (सूरतगढ़, 19 फरवरी 2015): 12 मापदंडों पर मृदा परीक्षण कर संतुलित उर्वरक सिफारिश की जाती है ताकि यूरिया व डीएपी के असंतुलित उपयोग में 8-10% कमी आए और फसलों की उत्पादकता बढ़े। कथन D असत्य है क्योंकि यह रासायनिक खादों की अंधाधुंध खपत को नियंत्रित कर संतुलित पोषण हेतु है। अतः केवल 1, 2 और 3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196/350</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संयुक्त राज्य कृषि विभाग (USDA) की व्यापक मृदा वर्गीकरण प्रणाली (Soil Taxonomy) के अनुसार राजस्थान की मृदाओं को कितने प्रमुख ऑर्डर्स (Orders) में वर्गीकृत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3 ऑर्डर्स</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5 ऑर्डर्स (एरिडीसोल्स, वर्टीसोल्स, एंटिसोल्स, अल्फीसोल्स, इन्सेप्टीसोल्स)</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7 ऑर्डर्स</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9 ऑर्डर्स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679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197/350</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5 ऑर्डर्स (एरिडीसोल्स, वर्टीसोल्स, एंटिसोल्स, अल्फीसोल्स, इन्सेप्टीसोल्स)</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 ऑर्डर्स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7 ऑर्डर्स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 ऑर्डर्स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वैज्ञानिक पद्धति (USDA मृदा टैक्सोनॉमी) के अनुसार राजस्थान की मृदाओं को 5 प्रमुख ऑर्डर्स में वर्गीकृत किया गया है: (1) एरिडीसोल्स (Aridisols) - शुष्क एवं अर्द्ध-शुष्क मरुस्थलीय मृदा; (2) एंटिसोल्स (Entisols) - पीली-भूरी रेतीली अपपरिवाक्व मृदा जो पश्चिमी राजस्थान में सर्वाधिक विस्तृत है; (3) अल्फीसोल्स (Alfisols) - पूर्वी मैदानों की परिपक्व जलोढ़ मृदा; (4) वर्टीसोल्स (Vertisols) - हाड़ौती की अत्यधिक संकुचन व फैलाव वाली काली चिकनी मृदा; तथा (5) इन्सेप्टीसोल्स (Inceptisols) - अरावली के पहाड़ी ढलानों व उप-आर्द्र भागों में पाई जाने वाली आद्र मृदा।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679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197/350</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राज्य कृषि विभाग के क्षेत्रीय मृदा सर्वेक्षण वर्गीकरण के अनुसार 'जिप्सीफेरस' (Gypsiferous) एवं 'रेवेरिना' (Reverina) मृदा क्रमशः किन जिलों में पाई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कोटा एवं झालावाड़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जैसलमेर एवं बाड़मेर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बीकानेर एवं श्रीगंगानगर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जयपुर एवं अलवर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023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198/350</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बीकानेर एवं श्रीगंगानगर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 एवं झालावाड़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जैसलमेर एवं बाड़मेर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एवं अलवर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कृषि विभाग द्वारा राज्य की मिट्टियों को 14 विशिष्ट वैज्ञानिक समूहों में बांटा गया है। इनमें 'जिप्सीफेरस मृदा' (जिसमें जिप्सम की अत्यधिक परत होती है) मुख्य रूप से बीकानेर जिले में पाई जाती है। 'रेवेरिना मृदा' तथा 'सीरोज़ेम मृदा' श्रीगंगानगर और अनूपगढ़ जिलों में पाई जाती है जो घग्घर नदी के कछारी तलछटों से बनी है। जालौर और पाली जिलों में 'ग्रे-ब्राउन जलोढ़ मृदा' (धूसर भूरी कांप मिट्टी) की प्रधानता पाई जाती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023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198/350</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किसानों को मृदा परीक्षण, उन्नत बीज, फसल प्रबंधन तथा कीट/रोग उपचार संबंधी विशेषज्ञ परामर्श सेवाएं उपलब्ध कराने हेतु राज्य सरकार द्वारा किस संस्थान का गठन/स्थापना की जा रही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कृषि विज्ञान केंद्र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किसान कॉल सेंटर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ग्राम सेवा सहकारी समिति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कृषि क्लीनिक (Krishi Clinics)</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367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199/350</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कृषि क्लीनिक (Krishi Clinics)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कृषि विज्ञान केंद्र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किसान कॉल सेंटर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ग्राम सेवा सहकारी समिति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द्वारा राज्य के किसानों को एक ही छत के नीचे आधुनिक वैज्ञानिक कृषि सेवाएं, डिजिटल मृदा परीक्षण, फसल रोग निदान और विशेषज्ञ उपचार उपलब्ध करवाने के लिए सभी जिला मुख्यालयों पर 'कृषि क्लीनिक' (Krishi Clinics) स्थापित किए जा रहे हैं। वर्ष 2024-25 में 20 जिला मुख्यालयों पर कृषि क्लीनिक स्थापित किए जा चुके हैं तथा वर्ष 2025-26 में शेष 13 जिला मुख्यालयों पर नए क्लीनिकों की स्थापना का कार्य प्रगति पर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367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199/350</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अधिकांश मिट्टियों में किन प्राथमिक पोषक तत्वों एवं कार्बनिक पदार्थों का सामान्य अभाव पाया जाता है? A. राजस्थान की लगभग सभी मिट्टियों (विशेषकर पश्चिमी व मध्यवर्ती क्षेत्रों) में 'नाइट्रोजन' (N) का व्यापक अभाव पाया जाता है। B. उच्च तापमान एवं शुष्कता के कारण सूक्ष्मजीवों के तीव्र अपघटन से मिट्टियों में 'ह्यूमस' (जैविक कार्बन / Organic Carbon) की भारी कमी होती है। C. पश्चिमी रेतीली मृदा में कैल्शियम लवणों और कार्बोनेट्स की प्रचुरता पाई जाती है जिससे इसकी प्रकृति क्षारीय होती है। D. राजस्थान की सभी मिट्टियों में नाइट्रोजन और ह्यूमस की मात्रा 80% से अधिक पाई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710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200/350</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राजस्थान की मृदा का रासायनिक लक्षण: उष्ण-शुष्क जलवायु के कारण जैविक पदार्थ (ह्यूमस) और नाइट्रोजन की भारी कमी पाई जाती है। फास्फेट और पोटाश मध्यम मात्रा में मिलते हैं तथा चूना/कैल्शियम प्रचुर होता है। कथन D असत्य है क्योंकि नाइट्रोजन व ह्यूमस का प्रचुर नहीं बल्कि घोर अभाव है। अतः केवल 1, 2 और 3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710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200/350</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सोयाबीन (Soyabean) उत्पादन की भौगोलिक दशाओं एवं क्षेत्रीय वितरण पर विचार कीजिए: A. सोयाबीन प्रोटीन (लगभग 40%) और तेल (लगभग 20%) से भरपूर खरीफ की प्रमुख तिलहन व दलहन फसल है। B. राजस्थान में सोयाबीन की खेती मुख्य रूप से हाड़ौती के पठार (गंगानगर, बारां, झालावाड़, बूंदी) तथा चित्तौड़गढ़ व प्रतापगढ़ में केंद्रित है। C. हाड़ौती की मध्यम काली (रेगुर) मिट्टी की उच्च जलधारण क्षमता सोयाबीन की फसल के लिए अत्यंत अनुकूल है। D. सोयाबीन के कुल उत्पादन में राजस्थान का भारत में तृतीय स्थान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054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201/350</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सोयाबीन उत्पादन: हाड़ौती अंचल व मेवाड़ में काली मिट्टी की प्रचुरता के कारण केंद्रित है। मध्य प्रदेश व महाराष्ट्र के बाद राजस्थान का देश में तीसरा स्थान है (राष्ट्रीय हिस्सेदारी ~8%)। कोटा व बारां में सोयाबीन आधारित तेल निष्कर्षण संयंत्र व खाद्य प्रसंस्करण इकाइयां स्थापित हैं। अतः सभी कथन सत्य हैं। ⚡ [परीक्षा-उपयोगी सूक्ष्म दृष्टि / RPSC Trap Alert]: कथन B असत्य है क्योंकि इसमें दिए गए तथ्य में त्रुटि है। वास्तविक तथ्य यह है कि हाड़ौती/कोटा संभाग से संबंधित है न कि गंगानगर से।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054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201/350</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लवणीय मृदा (Solonchak Soil) के क्षेत्रीय विस्तार के संबंध में विचार कीजिए: A. लवणीय मृदा मुख्य रूप से बाड़मेर, जालोर (सांचौर नेहड़ क्षेत्र) तथा बीकानेर, अनूपगढ़ के नहरी कमान क्षेत्रों में पाई जाती है। B. सांचौर के निकट कच्छ के रण से आने वाले समुद्री ज्वार के पानी व लवणों के जमाव से 'नेहड़' का दलदली लवणीय क्षेत्र बना है। C. लवणीय मृदा में घुलनशील सोडियम लवणों की अत्यधिक सांद्रता के कारण सामान्य बीजों का अंकुरण नहीं हो पाता। D. लवणीय झाड़ियों (जैसे साल्वाडोरा/खारा जाल एवं लानो) के रोपण से लवणीय मृदा का पारिस्थितिक स्थिरीकरण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397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202/350</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लवणीय मृदा परिदृश्य: जालोर-सांचौर का नेहड़ क्षेत्र, बाड़मेर, बीकानेर व गंगानगर के नहरी क्षेत्र जहाँ लवण संकेंद्रण उच्च है। उच्च ऑस्मोटिक दबाव के कारण पौधे पानी नहीं सोख पाते। खारा जाल (पीलू/साल्वाडोरा) व लानो जैसी लवण-सहनशील वनस्पतियां यहाँ प्राकृतिक रूप से पनपती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397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202/350</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रासायनिक उर्वरक उपयोग की असंतुलित NPK अनुपात समस्या पर विचार कीजिए: A. कृषि वैज्ञानिकों के अनुसार आदर्श NPK (नाइट्रोजन: फास्फोरस: पोटाश) का अनुपात 4:2:1 होना चाहिए। B. राजस्थान में सब्सिडी विसंगतियों के कारण यूरिया का अत्यधिक उपयोग होने से यह अनुपात गंभीर रूप से बिगड़ चुका है। C. अत्यधिक यूरिया के प्रयोग से मिट्टी में सूक्ष्म पोषक तत्वों (जिंक, लोहा, बोरॉन) की भारी कमी उत्पन्न हो रही है। D. संतुलित उर्वरक उपयोग हेतु नैनो यूरिया एवं नैनो डीएपी के उपयोग को प्रोत्साहित किया जा रहा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203/350</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उर्वरक संतुलन चुनौतियां: आदर्श अनुपात 4:2:1 के मुकाबले यूरिया का अत्यधिक उपयोग मृदा स्वास्थ्य बिगाड़ रहा है। इसके समाधान हेतु इफ्को (IFFCO) के नैनो यूरिया व नैनो डीएपी का छिड़काव (ड्रोन दीदी योजना सहित) और मृदा स्वास्थ्य कार्ड की सिफारिशों का अनुपालन कराया जा रहा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203/350</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केंचुए की विशिष्ट प्रजाति 'आइसिनिया फेटिडा' (Eisenia fetida) के वर्मीकम्पोस्ट निर्माण में उपयोग पर विचार कीजिए: A. आइसिनिया फेटिडा केंचुए की एक एपिजीक (सतही अपशिष्ट भक्षक) प्रजाति है जो गोबर और कृषि अपशिष्ट को तेजी से खाकर जैविक खाद में बदलती है। B. वर्मीकम्पोस्ट में सामान्य गोबर की खाद की तुलना में नाइट्रोजन, फास्फोरस व पोटाश की मात्रा 2 से 3 गुना अधिक होती है। C. केंचुआ खाद में एक्टिनोमाइसिटीज और लाभकारी सूक्ष्मजीव प्रचुर मात्रा में होते हैं जो पौधों की रोग प्रतिरोधक क्षमता बढ़ाते हैं। D. वर्मीकम्पोस्ट के निरंतर प्रयोग से मृदा की जल-धारण क्षमता और रंध्रता (Porosity) में उल्लेखनीय सुधार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084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204/350</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वर्मीकम्पोस्ट (केंचुआ खाद): आइसिनिया फेटिडा (रेड वर्म) गोबर और बायोमास को 45-60 दिन में पोषक तत्वों से भरपूर वर्मीकम्पोस्ट (वर्मीकास्ट) में बदल देता है। गोवर्धन योजना के तहत 50,000 इकाइयों में इसी वैज्ञानिक विधि का प्रसार किया जा रहा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084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204/350</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करौली जिले में स्थित मिट्टी से निर्मित प्रसिद्ध 'पाँचना बाँध' किन पाँच स्थानीय नदियों के संगम पर बना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बनास, बेड़च, मेनाल, खारी एवं डाई</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अटा, माची, भद्रावती, भैंसावट एवं बरखेड़ा</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कालीसिंध, आहू, परवन, निवाज एवं चंबल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पार्वती, अंधेरी, रेतड़ी, कुल एवं लासी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428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205/350</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अटा, माची, भद्रावती, भैंसावट एवं बरखेड़ा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बनास, बेड़च, मेनाल, खारी एवं डाई</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कालीसिंध, आहू, परवन, निवाज एवं चंबल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पार्वती, अंधेरी, रेतड़ी, कुल एवं लासी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पाँचना बाँध करौली जिले के गुड़ला गाँव के पास स्थित राजस्थान में मिट्टी से बना सबसे बड़ा बाँध (Earthen Dam) है। यह गंभीर नदी की 5 छोटी सहायक नदियों-अटा, माची, भद्रावती, भैंसावट और बरखेड़ा (याद रखने का सूत्र: 'अ मा भदावरी भैंस बहारखाड़ी') के संगम पर अमेरिका के आर्थिक सहयोग से बनाया गया था।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428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205/350</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10 कृषि-जलवायु खंडों (Agro-Climatic Zones) के भौगोलिक विस्तार एवं फसल प्रारूप के संदर्भ में निम्नलिखित कथनों पर विचार कीजिए: A. खंड I-C (अति-शुष्क आंशिक सिंचित पश्चिमी मैदान) राजस्थान का क्षेत्रफल की दृष्टि से सबसे बड़ा कृषि-जलवायु खंड है (बीकानेर, जैसलमेर, चूरू)। B. खंड IV-B (आर्द्र दक्षिणी मैदान) राजस्थान का क्षेत्रफल की दृष्टि से सबसे छोटा कृषि-जलवायु खंड है (बांसवाड़ा, डूंगरपुर, प्रतापगढ़, सलूंबर)। C. खंड V (आर्द्र दक्षिण-पूर्वी मैदान) हाड़ौती के चार जिलों (कोटा, बूंदी, बारां, झालावाड़) को समाहित करता है जहाँ सोयाबीन, धनिया, संतरा व काली मिट्टी पाई जाती है। D. खंड I-B (सिंचित उत्तर-पूर्वी मैदान) श्रीगंगानगर व हनुमानगढ़ जिलों में कपास, गेहूं, सरसों व किन्नू उत्पादन का प्रमुख केंद्र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771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206/350</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कृषि अनुसंधान परिषद (ICAR) द्वारा राजस्थान को 10 कृषि-जलवायु खंडों में विभक्त किया गया है: (1) Zone I-A: शुष्क पश्चिमी मैदान (जोधपुर, बाड़मेर, बालोतरा, फलौदी - बाजरा, मोठ, तिल)। (2) Zone I-B: सिंचित उत्तर-पश्चिमी मैदान (श्रीगंगानगर, हनुमानगढ़ - कपास, गेहूं, सरसों)। (3) Zone I-C: अति-शुष्क आंशिक सिंचित मैदान (बीकानेर, जैसलमेर, चूरू - राज्य का सबसे बड़ा कृषि खंड)। (4) Zone II-A: अंतःप्रवाही शुष्क प्रदेश (नागौर, सीकर, झुंझुनूं)। (5) Zone II-B: लूनी बेसिन संक्रांति मैदान (जालौर, पाली - जीरा, इसबगोल)। (6) Zone III-A: अर्द्ध-शुष्क पूर्वी मैदान (जयपुर, अजमेर, दौसा, टोंक)। (7) Zone III-B: बाढ़ संभावित पूर्वी मैदान (अलवर, भरतपुर, धौलपुर, करौली - सरसों, बाजरा)। (8) Zone IV-A: उप-आर्द्र दक्षिणी मैदान (भीलवाड़ा, राजसमंद, चित्तौड़गढ़)। (9) Zone IV-B: आर्द्र दक्षिणी मैदान (बांसवाड़ा, डूंगरपुर, प्रतापगढ़ - राज्य का सबसे छोटा कृषि खंड, मक्का, चावल)। (10) Zone V: आर्द्र दक्षिण-पूर्वी मैदान (कोटा, बूंदी, बारां, झालावाड़ - सोयाबीन, धनिया, उड़द)। अतः सभी कथन सत्य हैं। ⚡ [परीक्षा-उपयोगी सूक्ष्म दृष्टि / RPSC Trap Alert]: कथन D असत्य है क्योंकि इसमें दिए गए तथ्य में त्रुटि है। वास्तविक तथ्य यह है कि पश्चिमी मरुस्थलीय भाग से संबंधित है न कि पूर्वी से।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771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206/350</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कृषि-जलवायु खंडों (Agro-Climatic Zones) को उनके सही प्रतीकों एवं प्रतिनिधि जिलों के साथ सुमेलित कीजिए: सूची-I: सूची-I: A. खंड I-C (अति-शुष्क आंशिक सिंचित पश्चिमी मैदान) B. खंड II-B (लूनी बेसिन का संक्रांति मैदान / गोडवाड़) C. खंड III-B (बाढ़ संभावित पूर्वी मैदान) D. खंड V (आर्द्र दक्षिण-पूर्वी मैदान) सूची-II: 1. कोटा, बूंदी, बारां एवं झालावाड़ 2. अलवर, भरतपुर, धौलपुर, करौली व सवाई माधोपुर 3. जालौर, पाली एवं सिरोही 4. बीकानेर, जैसलमेर एवं चूरू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115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207/350</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कुल 10 कृषि-जलवायु खंडों में विभाजित किया गया है। खंड I-C क्षेत्रफल की दृष्टि से सबसे बड़ा खंड है (बीकानेर, जैसलमेर, चूरू)। खंड II-B लूनी बेसिन का गोडवाड़ क्षेत्र (जालौर, पाली) है। खंड III-B चम्बल व बाणगंगा से प्रभावित पूर्वी बाढ़ मैदान (अलवर, भरतपुर, धौलपुर) है। खंड V हाड़ौती का उपजाऊ काली मिट्टी वाला क्षेत्र (कोटा, बूंदी, बारां, झालावाड़) है जहाँ सोयाबीन व धनिया प्रमुख फसलें हैं। सबसे छोटा कृषि-जलवायु खंड IV-B (आर्द्र दक्षिणी मैदान - डूंगरपुर, बांसवाड़ा)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115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207/350</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तिलहन, दलहन एवं मसाला फसलों के उत्पादन एवं भारत में उनकी स्थिति के संदर्भ में निम्नलिखित कथनों पर विचार कीजिए: A. राजस्थान भारत में 'सरसों' (Mustard) एवं 'बाजरा' दोनों के कुल उत्पादन में प्रथम स्थान पर है। B. राजस्थान भारत में पोषक अनाजों (Nutri-Cereals / Millets) तथा कुल दलहन उत्पादन में देश के शीर्ष राज्यों में शामिल है। C. जालौर, बाड़मेर और सिरोही जिले विश्व प्रसिद्ध औषधीय फसल 'ईसबगोल' (घोड़ा जीरा) के अग्रणी उत्पादक हैं। D. राजस्थान में संतरा (Orange) का न्यूनतम उत्पादन झालावाड़ जिले में होता है, जिसे 'राजस्थान का नागपुर' कहा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459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208/350</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कृषि सांख्यिकी 2023-24 के अनुसार, देश के कुल सरसों उत्पादन का 45% से अधिक अकेले राजस्थान में पैदा होता है। बाजरा उत्पादन में भी राज्य प्रथम (41% से अधिक) है। राज्य चना और दलहन उत्पादन में शीर्ष पर है। ईसबगोल (Plantago ovata) का 80% उत्पादन जालौर, बाड़मेर और सिरोही में होता है। झालावाड़ जिले में भवानीमंडी व आसपास उत्कृष्ट संतरे पैदा होने के कारण इसे राजस्थान का छोटा नागपुर कहा जाता है। इसके अतिरिक्त रामगंजमंडी (कोटा) धनिया की एशिया की सबसे बड़ी मंडी है। अतः सभी कथन सत्य हैं। ⚡ [परीक्षा-उपयोगी सूक्ष्म दृष्टि / RPSC Trap Alert]: कथन D असत्य है क्योंकि इसमें दिए गए तथ्य में त्रुटि है। वास्तविक तथ्य यह है कि सर्वाधिक स्थिति दर्ज की जाती है न कि न्यूनतम। अतः सही उत्तर विकल्प (D)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459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208/350</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आर्थिक समीक्षा 2024-25 एवं 2025-26 के अग्रिम आंकड़ों के अनुसार भारत के कुल कृषि उत्पादन में राजस्थान की स्थिति के संदर्भ में निम्नलिखित कथनों पर विचार कीजिए: A. राजस्थान सरसों एवं राई (Mustard) के उत्पादन में देश में 46.13% योगदान के साथ प्रथम स्थान पर है। B. बाजरा (Bajra) के कुल राष्ट्रीय उत्पादन में राजस्थान 44.66% हिस्सेदारी के साथ देश में शीर्ष स्थान पर है। C. कुल तिलहन (Oilseeds) उत्पादन में 22.78% तथा ग्वार (Guar) उत्पादन में 90.36% के साथ राजस्थान भारत में तृतीय स्थान पर है। D. मूंगफली (Groundnut) उत्पादन में राजस्थान गुजरात के बाद देश में द्वितीय स्थान पर तथा सोयाबीन व चना उत्पादन में तृतीय स्थान पर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802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209/350</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आधिकारिक आर्थिक समीक्षा के कृषि सांख्यिकी आंकड़ों के अनुसार राष्ट्रीय स्तर पर राजस्थान का प्रमुख फसलों में विशिष्ट स्थान है: (1) प्रथम स्थान वाली फसलें: सरसों एवं राई (46.13% योगदान - देश में 1st), बाजरा (44.66% - 1st), कुल तिलहन (22.78% - 1st), ग्वार (90.36% - 1st), तथा पोषक अनाज/न्यूट्री-सीरियल्स (15.66% - 1st)। (2) द्वितीय स्थान वाली फसलें: मूंगफली (18.76% - गुजरात के बाद 2nd)। (3) तृतीय स्थान वाली फसलें: कुल दलहन (13.88% - एमपी और महाराष्ट्र के बाद 3rd), चना (14.75% - 3rd), सोयाबीन (8.05% - एमपी व महाराष्ट्र के बाद 3rd), तथा ज्वार (14.87% - महाराष्ट्र व कर्नाटक के बाद 3rd)। अतः सभी चारों कथन पूर्णतः प्रामाणिक एवं सत्य हैं। ⚡ [परीक्षा-उपयोगी सूक्ष्म दृष्टि / RPSC Trap Alert]: कथन C असत्य है क्योंकि इसमें दिए गए तथ्य में त्रुटि है। वास्तविक तथ्य यह है कि राजस्थान प्रथम स्थान पर है न कि तृतीय स्थान पर। अतः सही उत्तर विकल्प (A)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802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209/350</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देश में प्रथम स्थान प्राप्त प्रमुख कृषि उत्पादों एवं उनकी उन्नत किस्मों पर विचार कीजिए: A. बाजरा (Pearl Millet) उत्पादन में राजस्थान का भारत में प्रथम स्थान (लगभग 41% से 44% राष्ट्रीय हिस्सेदारी) है; प्रमुख किस्म: HHB-67, RHB-177। B. राई एवं सरसों (Mustard) उत्पादन में राजस्थान देश में तृतीय स्थान (लगभग 43% से 46%) पर है; प्रमुख किस्म: पूसा जय किसान (Bio-902), वरुणा (T-59)। C. ग्वार (Cluster Bean) उत्पादन में राजस्थान का देश में लगभग एकाधिकार (88% से 90% हिस्सेदारी) है; प्रमुख किस्म: RGC-936, RGC-1002। D. कुल तिलहन (Total Oilseeds) उत्पादन में भी राजस्थान भारत का शीर्ष उत्पादक राज्य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210/350</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प्रमुख फसलों में राजस्थान का प्रथम स्थान: बाजरा (41-44%), राई-सरसों (43-46%), ग्वार (88-90%), कुल तिलहन (22%), तथा ईसबगोल, जीरा, मेथी, सौंफ। बायो-902 (पूसा जय किसान) सरसों की विख्यात किस्म है जिसे डॉ. वी.एल. चोपड़ा ने विकसित किया था। ग्वार गम का उपयोग तेल निष्कर्षण व खाद्य उद्योग में होता है। अतः सभी कथन सत्य हैं। ⚡ [परीक्षा-उपयोगी सूक्ष्म दृष्टि / RPSC Trap Alert]: कथन B असत्य है क्योंकि इसमें दिए गए तथ्य में त्रुटि है। वास्तविक तथ्य यह है कि राजस्थान प्रथम स्थान पर है न कि तृतीय स्थान पर।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210/350</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कृषि फसलों को उनकी उच्च उपज वाली उन्नत किस्मों के साथ सही सुमेलित कीजिए: सूची-I (फसल): सूची-I: A. गेहूं B. बाजरा C. मक्का D. कपास सूची-II: 1. आर.एच.बी.-30, आर.सी.बी.-911, राज-171 2. कल्याण सोना, सोनालिका, राज-3077 3. बीकानेरी नरमा, वरलक्ष्मी, गंगानगर अगेती 4. माही कंचन, माही धवल, मोती कम्पोजिट</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489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211/350</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कृषि उत्पादन बढ़ाने हेतु प्रमुख फसलों की उन्नत किस्में इस प्रकार हैं: 'गेहूं' (रबी की प्रमुख खाद्यान्न फसल) की किस्में कल्याण सोना, सोनालिका, राज-3077 और मैक्सिकन हैं। 'बाजरा' (खरीफ की मुख्य मरुस्थलीय फसल) की किस्में RHB-30, RCB-911, राज-171 और MH-पूसा हैं। 'मक्का' (लाल-लोमी मृदा की फसल) की किस्में माही कंचन, माही धवल और मोती कम्पोजिट हैं (कृषि अनुसंधान केंद्र बांसवाड़ा द्वारा विकसित)। 'कपास' (प्रमुख नगदी रेशा फसल) की किस्में बीकानेरी नरमा, वरलक्ष्मी, शंकर-4 और गंगानगर अगेती हैं। अतः सही 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489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211/350</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बाजरा की कृषि एवं इसके आर्थिक महत्व के संदर्भ में निम्नलिखित कथनों पर विचार कीजिए: A. बाजरा राजस्थान के शुष्क एवं अर्द्ध-शुष्क मरुस्थलीय प्रदेश की सबसे प्रमुख खरीफ खाद्यान्न फसल है। B. राजस्थान भारत में बाजरे का सबसे बड़ा उत्पादक राज्य है, जो देश के कुल उत्पादन का लगभग 1/5 से 1/3 भाग पैदा करता है। C. राजस्थान में बाजरे का सर्वाधिक उत्पादन अलवर जिले में तथा सर्वाधिक बोया गया क्षेत्रफल बाड़मेर जिले में पाया जाता है। D. बाजरे की फसल के लिए अत्यधिक जल भराव और 150 सेमी से अधिक वर्षा की आवश्यकता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833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212/350</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बाजरा राजस्थान के रेतीले भू-भाग की मुख्य फसल है जो 20 से 35 सेमी की अल्प वर्षा तथा उच्च तापमान (25°C से 35°C) में अच्छी उपज देती है। राजस्थान भारत में बाजरा उत्पादन और क्षेत्रफल दोनों में प्रथम स्थान पर है। वर्तमान कृषि सांख्यिकी के अनुसार बाजरे का सर्वाधिक उत्पादन और उत्पादकता अलवर तथा जयपुर में दर्ज होती है, जबकि सबसे बड़ा बोया गया क्षेत्रफल बाड़मेर जिले में है। कथन D असत्य है क्योंकि बाजरा शुष्क प्रदेश की अल्प जल वाली फसल है; अत्यधिक जल भराव से इसकी फसल नष्ट हो जाती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833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212/350</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द्वितीय सबसे बड़ी जनजाति 'भील' (Bhil) की सामाजिक संरचना एवं पारंपरिक शब्दावली पर विचार कीजिए: A. भीलों के घरों को 'कू' (Ku) या 'टापरा' तथा घर के बरामदे को 'ढालिया' कहा जाता है। B. कई घरों के समूह या मोहल्ले को 'फला' (Phala) तथा पूरे गाँव को 'पाल' (Pal) और गाँव के मुखिया को 'गमेती' (Gameti) कहा जाता है। C. विवाह में वर पक्ष द्वारा वधु के पिता को दी जाने वाली कन्या मूल्य की राशि को 'दापा' (Dapa) कहा जाता है। D. भील समाज में पति द्वारा अपनी पगड़ी का किनारा फाड़कर पत्नी को देना 'छेड़ा फाड़ना' (तलाक) कहलाता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176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213/350</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भील जनजाति की सामाजिक शब्दावली: कर्नल टॉड ने इन्हें 'वनपुत्र' कहा। कू/टापरा (घर), ढालिया (बरामदा), फला (मोहल्ला), पाल (गाँव), गमेती (मुखिया), दापा (कन्या मूल्य), छेड़ा फाड़ना (तलाक), नातरा (पुनर्विवाह), हाथीमना (विवाह पर तलवार लेकर नृत्य), गवरी/राई (नाट्य), पाखरिया (सैनिक का घोड़ा मारने वाला शूरवीर), भराड़ी (वैवाहिक लोकदेवी)।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176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213/350</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अफीम (Opium / काला सोना) की खेती के संबंध में निम्नलिखित कथनों पर विचार कीजिए: A. अफीम की खेती केंद्र सरकार के नारकोटिक्स नियंत्रण ब्यूरो (Central Bureau of Narcotics - CBN) के कड़े विनियामक लाइसेंस के तहत की जाती है। B. राजस्थान में अफीम का न्यूनतम उत्पादन चित्तौड़गढ़, झालावाड़, भीलवाड़ा एवं प्रतापगढ़ जिलों में होता है। C. अफीम के पौधे के अपरिपक्व फल (डोडा) पर चीरा लगाकर निकलने वाले दूधिया रस को सुखाकर कच्ची अफीम प्राप्त की जाती है। D. अफीम के पके बीजों को 'खसखस' (Poppy seeds) कहा जाता है जो पोषण एवं मिठाई उद्योग में प्रयुक्त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520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214/350</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अफीम (काला सोना / Papaver somniferum): केंद्रीय नारकोटिक्स विभाग के लाइसेंस पर मालवा-मेवाड़ पट्टी (चित्तौड़गढ़, झालावाड़, प्रतापगढ़, भीलवाड़ा) में उगाई जाती है। इसके डोडे पर चीरा लगाकर लेटेक्स (अफीम) निकालते हैं जिससे मॉर्फिन/कोडीन दवाएं बनती हैं। पके बीज 'खसखस' कहलाते हैं। अफीम का आवरण 'डोडा पोस्त' कहलाता है। अतः सभी कथन सत्य हैं। ⚡ [परीक्षा-उपयोगी सूक्ष्म दृष्टि / RPSC Trap Alert]: कथन B असत्य है क्योंकि इसमें दिए गए तथ्य में त्रुटि है। वास्तविक तथ्य यह है कि सर्वाधिक स्थिति दर्ज की जाती है न कि न्यूनतम। अतः सही उत्तर विकल्प (A)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520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214/350</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कृषि अनुसंधान केंद्र बांसवाड़ा द्वारा विकसित प्रसिद्ध सुगंधित चावल की किस्म 'माही सुगंधा' तथा मक्का की उच्च उपज किस्म 'प्रभात' क्रमशः किन फसलों से संबंधित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गेहूं एवं बाजरा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चावल (धान) एवं मक्का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मक्का एवं सोयाबीन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कपास एवं गन्ना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863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215/350</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चावल (धान) एवं मक्का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गेहूं एवं बाजरा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मक्का एवं सोयाबीन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कपास एवं गन्ना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 सुगंधा' राजस्थान के दक्षिणी भाग (बांसवाड़ा, डूंगरपुर, हाड़ौती) में उगाई जाने वाली बासमती श्रेणी की एक सुगंधित चावल (Paddy) की उन्नत किस्म है, जिसे कृषि अनुसंधान केंद्र बांसवाड़ा द्वारा विकसित किया गया है। 'प्रभात' मक्का (Corn/Maize) की एक उच्च उपज देने वाली और जल्दी पकने वाली लोकप्रिय संकर किस्म है। मक्का की अन्य प्रसिद्ध किस्में माही कंचन और माही धवल हैं, जबकि चावल की अन्य किस्में कावेरी और चम्बल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863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215/350</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व्यापारिक नकदी फसल कपास (सफेद सोना / बणीयां) के तीनों प्रकारों एवं उत्पादन दशाओं पर विचार कीजिए: A. कपास की खेती के लिए 200 से 210 पाला-रहित दिन, उच्च तापमान (20°-35°C) तथा काली रेगुर अथवा गहरी दोमट मृदा आवश्यक होती है। B. अमेरिकन कपास (बीकानेरी नरमा) - लंबे रेशे वाली उच्च गुणवत्ता की सिंचित कपास है जो मुख्य रूप से श्रीगंगानगर एवं हनुमानगढ़ में उगाई जाती है। C. देशी कपास - राजस्थान की पारंपरिक मध्यम रेशे वाली किस्म है जो उदयपुर, चित्तौड़गढ़, भीलवाड़ा एवं बांसवाड़ा में उत्पादित होती है। D. मालवी कपास - हाड़ौती क्षेत्र (गंगानगर, बूंदी, झालावाड़) एवं बांसवाड़ा में मध्यम रेशे के रूप में उत्पादित की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207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216/350</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कपास उत्पादन (सफेद सोना / बणीयां): 3 श्रेणियां: (1) अमेरिकन कपास (बीकानेरी नरमा): नहरी सिंचित उत्तरी राजस्थान (गंगानगर/हनुमानगढ़); (2) देशी कपास: मेवाड़ व वागड़ अंचल; (3) मालवी कपास: मालवा सीमावर्ती हाड़ौती व बांसवाड़ा। डोडों के खिलते समय खिली धूप आवश्यक होती है। अतः सभी कथन सत्य हैं। ⚡ [परीक्षा-उपयोगी सूक्ष्म दृष्टि / RPSC Trap Alert]: कथन D असत्य है क्योंकि इसमें दिए गए तथ्य में त्रुटि है। वास्तविक तथ्य यह है कि हाड़ौती/कोटा संभाग से संबंधित है न कि गंगानगर से।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207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216/350</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सरसों की तूड़ी (Husk) एवं विलायती बबूल (Juliflora) पर आधारित 207.5 मेगावाट क्षमता के 28 से अधिक संयंत्र किस ऊर्जा के अंतर्गत कार्यरत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परमाणु ऊर्जा</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भूतापीय ऊर्जा</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ज्वारीय ऊर्जा</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बायोमास ऊर्जा (Biomass Energy)</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217/350</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बायोमास ऊर्जा (Biomass Energy)</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परमाणु ऊर्जा</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भूतापीय ऊर्जा</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ज्वारीय ऊर्जा</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कृषि अपशिष्ट (विशेष रूप से सरसों की तूड़ी) एवं जंगलों में फैले विलायती बबूल (प्रोसोपिस जूलीफ्लोरा) की लकड़ी का गैसीकरण कर 'बायोमास ऊर्जा' का उत्पादन किया जाता है। खेड़ली (अलवर), पदमपुर (गंगानगर), देवली (टोंक), सिरोही, जालोर आदि में बायोमास आधारित विद्युत संयंत्र सफलतापूर्वक विद्युत ग्रिड को आपूर्ति कर रहे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217/350</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बाजरा अनुसंधान केंद्र (Millet Research Center) कहाँ स्थित है तथा वर्ष 2023 को संयुक्त राष्ट्र द्वारा किस रूप में मनाया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बाड़मेर / जोधपुर एवं 'अंतरराष्ट्रीय मिलेट्स वर्ष 2023' (IYM 2023)</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कोटा एवं अंतरराष्ट्रीय चावल वर्ष</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भरतपुर एवं अंतरराष्ट्रीय दलहन वर्ष</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झालावाड़ एवं अंतरराष्ट्रीय फल वर्ष</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894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218/350</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बाड़मेर / जोधपुर एवं 'अंतरराष्ट्रीय मिलेट्स वर्ष 2023' (IYM 2023)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 एवं अंतरराष्ट्रीय चावल वर्ष</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भरतपुर एवं अंतरराष्ट्रीय दलहन वर्ष</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झालावाड़ एवं अंतरराष्ट्रीय फल वर्ष</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राजस्थान में बाजरा अनुसंधान केंद्र बाड़मेर में तथा बाजरा उत्कृष्टता केंद्र जोधपुर में स्थित है। भारत के प्रस्ताव पर संयुक्त राष्ट्र महासभा (UNGA) द्वारा वर्ष 2023 को 'अंतरराष्ट्रीय मिलेट्स वर्ष' (IYM 2023 / श्रीअन्न वर्ष) घोषित किया गया था, जिसमें राजस्थान बाजरा उत्पादन में देश का सिरमौर राज्य रहा।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894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218/350</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प्रमुख पर्वतीय शिखरों एवं उनकी स्थलाकृतिक विशेषताओं के संदर्भ में निम्नलिखित कथनों पर विचार कीजिए: A. सिरोही जिले का आबू पर्वत खंड (Abu Block) भू-वैज्ञानिक दृष्टि से एक विशाल गुंबदाकार 'बैथोलिथ' (Batholith) संरचना का उदाहरण है। B. बालोतरा जिले के सिवाना क्षेत्र में स्थित 'पीपलूद' (Piplud) की पहाड़ियों को अपनी ठंडी आबोहवा के कारण 'मारवाड़ का लघु माउंट आबू' कहा जाता है। C. सिवाना की 56 पहाड़ियों के मध्य स्थित ऐतिहासिक जैन तीर्थ नाकोड़ा पर्वत को 'राजस्थान का मेवानगर' कहा जाता है। D. जालोर जिले में जसवंतपुरा की पहाड़ियों का सर्वोच्च शिखर 'डोरा पर्वत' (869 मीटर) पूर्वी राजस्थान की सबसे ऊँची पर्वत चोटी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238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219/350</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पश्चिमी और दक्षिणी अरावली से जुड़ी विशिष्ट पर्वत स्थलाकृतियाँ: (1) आबू ब्लॉक: सिरोही में स्थित 1200 मीटर ऊँचा आबू पठार पृथ्वी के भीतर मैग्मा के जमने से बनी विशाल ग्रेनाइटिक प्लूटोनिक गुंबद (बैथोलिथ) है। (2) पीपलूद: सिवाना (बालोतरा) में 56 की पहाड़ियों के बीच हल्देश्वर महादेव मंदिर स्थित है; ऊँचाई और वनाच्छादित हरियाली के कारण इसे मारवाड़ का मिनी/लघु माउंट आबू कहा जाता है। (3) नाकोड़ा पर्वत: बालोतरा में स्थित प्राचीन जैन तीर्थ पार्श्वनाथ नाकोड़ा को ऐतिहासिक ग्रंथों में 'मेवानगर' कहा गया है। (4) डोरा पर्वत: 869 मीटर ऊँची चोटी जसवंतपुरा पहाड़ियों (जालोर) में स्थित है जो अरावली की मुख्य अक्षीय श्रृंखला के बाहर पश्चिमी राजस्थान की सबसे ऊँची पर्वत चोटी मानी जाती है। अतः सभी चारों कथन सत्य हैं। ⚡ [परीक्षा-उपयोगी सूक्ष्म दृष्टि / RPSC Trap Alert]: कथन D असत्य है क्योंकि इसमें दिए गए तथ्य में त्रुटि है। वास्तविक तथ्य यह है कि पश्चिमी मरुस्थलीय भाग से संबंधित है न कि पूर्वी से।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238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219/350</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औद्योगिक एवं निर्माण क्षेत्र में प्रयुक्त 'चूना पत्थर' (Limestone) के तीनों विशिष्ट ग्रेडों के क्षेत्रीय वितरण के संदर्भ में निम्नलिखित कथनों पर विचार कीजिए: A. 'केमिकल ग्रेड चूना पत्थर' का मुख्य भंडार जोधपुर (सोजत, बिलाड़ा, बोरुंदा बेल्ट) तथा नागौर (गोटन, मूंडवा बेल्ट) में पाया जाता है। B. 'सीमेंट ग्रेड चूना पत्थर' के प्रचुर भंडार चित्तौड़गढ़ (कपासन, निम्बाहेड़ा), बूंदी (लाखेरी, सत्तूर) एवं सवाई माधोपुर में केंद्रित हैं। C. 'स्टील ग्रेड (SMS Grade) चूना पत्थर' राजस्थान में मुख्य रूप से अलवर जिले के 'सानू' (Sanu) क्षेत्र में बहुतायत में पाया जाता है। D. राजस्थान भारत में सीमेंट ग्रेड और स्टील ग्रेड चूना पत्थर का एक प्रमुख आपूर्तिकर्ता राज्य है जहाँ से भिलाई, राउरकेला इस्पात संयंत्रों को चूना भेजा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581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220/350</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चूना पत्थर (कैल्शियम कार्बोनेट - CaCO3) अवसादी चट्टानों में पाया जाने वाला राजस्थान का अत्यंत महत्वपूर्ण खनिज है, जिसे उपयोग के आधार पर 3 श्रेणियों में बांटा जाता है: (1) केमिकल ग्रेड: रासायनिक उद्योगों और ब्लीचिंग हेतु प्रयुक्त; प्रमुख क्षेत्र: बिलाड़ा, बोरुंदा (जोधपुर) तथा गोटन (नागौर - जहाँ लाइम डस्ट व केमिकल चूना बनता है)। (2) सीमेंट ग्रेड: पोर्टलैंड सीमेंट निर्माण हेतु प्रयुक्त; प्रमुख क्षेत्र: चित्तौड़गढ़ (अंजनीखेड़ा, निम्बाहेड़ा), बूंदी (लाखेरी, सत्तूर, मेज नदी घाटी), सवाई माधोपुर, सिरोही (पिंडवाड़ा) तथा जैसलमेर (सम)। (3) स्टील ग्रेड (Steel Melting Shop - SMS Grade): लोहा-इस्पात भट्टियों में अशुद्धियां हटाने हेतु फ्लक्स के रूप में प्रयुक्त; इसका भारत का सबसे बड़ा और शुद्ध भंडार जैसलमेर के 'सानू' क्षेत्र में स्थित है, जहाँ से देश भर के सेल (SAIL) और टाटा स्टील कारखानों को आपूर्ति की जाती है। अतः सभी कथन सत्य हैं। ⚡ [परीक्षा-उपयोगी सूक्ष्म दृष्टि / RPSC Trap Alert]: कथन C असत्य है क्योंकि इसमें दिए गए तथ्य में त्रुटि है। वास्तविक तथ्य यह है कि जैसलमेर जिले में स्थित है न कि पूर्वी राजस्थान के अलवर में।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581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220/350</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सतही जल संरक्षण एवं जल सुरक्षा हेतु 'जल शक्ति अभियान: कैच द रेन' एवं अमृत सरोवर योजना पर विचार कीजिए: A. 'कैच द रेन' (Catch the Rain) अभियान के तहत "जहाँ गिरे जब गिरे, वर्षा जल संचित करें" के मंत्र के साथ भूजल पुनर्भरण संरचनाओं का निर्माण किया गया है। B. 'अमृत सरोवर मिशन' के अंतर्गत राजस्थान के प्रत्येक जिले में न्यूनतम 75-75 अमृत सरोवरों (तालाबों) का निर्माण एवं पुनरुद्धार किया गया है। C. इन सरोवरों का उपयोग ग्रामीण पेयजल, पशु पेयजल, भूजल रिचार्ज और सामुदायिक वृक्षारोपण के एकीकृत केंद्र के रूप में किया जा रहा है। D. यह योजना केवल शहरी क्षेत्रों में कंक्रीट के बड़े बाँध बनाने के उद्देश्य से संचालित की जा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925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221/350</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 व राज्य के संयुक्त जल संरक्षण अभियान: (1) कैच द रेन अभियान में वर्षा जल संचयन व वाटरशेड विकास किया गया; (2) आजादी के अमृत महोत्सव के तहत प्रत्येक जिले में कम से कम 75 अमृत सरोवर विकसित किए गए जिनकी पाल पर ध्वजारोहण व पौधारोपण होता है। कथन D असत्य है क्योंकि यह ग्रामीण तालाबों व पारंपरिक जल संरचनाओं के पुनरुद्धार की योजना है, शहरी कंक्रीट बाँधों की नहीं। अतः केवल 1, 2 और 3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925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221/350</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'मोठ' (Moth Bean) एवं 'ग्वार' की शुष्क कृषि अनुकूलता पर विचार कीजिए: A. मोठ पश्चिमी राजस्थान की अत्यधिक सूखा-सहनशील खरीफ दलहन फसल है जो न्यूनतम वर्षा में भी पक जाती है। B. बीकानेर जिला मोठ उत्पादन में राज्य में अग्रणी है जहाँ 'बीकानेरी भुजिया' उद्योग में मोठ के बेसन का बड़े पैमाने पर उपयोग होता है। C. ग्वार की फलियों से 'ग्वार गम' (Guar Gum) निकाला जाता है जिसका उपयोग पेट्रोलियम शेल गैस फ्रैक्चरिंग एवं खाद्य उद्योग में होता है। D. मोठ और ग्वार दोनों फसलों की खेती केवल अधिक वर्षा वाले आर्द्र हाड़ौती क्षेत्र में ही संभव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268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222/350</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मोठ व ग्वार की शुष्क प्रकृति: पश्चिमी मरुस्थल (बीकानेर, चूरू, नागौर, बाड़मेर) की बलुई मिट्टी में अल्प वर्षा में उगती हैं। बीकानेरी भुजिया का GI टैग मोठ की दाल पर आधारित है। ग्वार गम का वैश्विक निर्यात अमेरिका को शेल गैस निष्कर्षण हेतु होता है। कथन D असत्य है क्योंकि ये अत्यधिक शुष्क मरुस्थलीय फसलें हैं, आर्द्र हाड़ौती की नहीं। अतः केवल 1, 2 और 3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268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222/350</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श्वेत क्रांति (ऑपरेशन फ्लड) के तहत त्रि-स्तरीय सहकारी डेयरी संरचना के शीर्ष निकाय के रूप में 'राजस्थान सहकारी डेयरी फेडरेशन' (RCDF) की स्थापना किस वर्ष की गई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1985 ई. 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1977-78 ई. 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1991 ई. 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1969 ई.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612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223/350</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वर्ष 1977-78 ई. 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1985 ई.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1991 ई.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1969 ई.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डेयरी विकास का व्यवस्थित आरंभ 1975 में राजस्थान राज्य डेयरी विकास निगम (RDDCL) के गठन से हुआ। तत्पश्चात आनंद (अमूल) मॉडल की तर्ज पर त्रि-स्तरीय सहकारी ढांचे (ग्राम स्तर पर प्राथमिक दुग्ध उत्पादक सहकारी समिति -&gt; जिला स्तर पर जिला दुग्ध उत्पादक सहकारी संघ -&gt; राज्य स्तर पर शीर्ष फेडरेशन) के संचालन हेतु वर्ष 1977-78 में 'राजस्थान सहकारी डेयरी फेडरेशन' (RCDF) की स्थापना जयपुर में की गई। RCDF द्वारा 'सरस' (SARAS) ब्रांड नाम से दूध एवं दुग्ध उत्पादों का विपणन किया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612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223/350</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पूर्वी मैदानी भागों में वर्षा की प्रकृति एवं कृषि अनुकूलता पर विचार कीजिए: A. पूर्वी मैदानों में औसत वार्षिक वर्षा 60 से 80 सेमी होती है जो कृषि उत्पादन के लिए अत्यंत संतुलित मानी जाती है। B. यह वर्षा मुख्यतः बंगाल की खाड़ी शाखा द्वारा जून के अंतिम सप्ताह से सितंबर के मध्य तक प्राप्त होती है। C. यहाँ पर्याप्त वर्षा और जलोढ़ दोमट मिट्टी के कारण खरीफ (बाजरा, मक्का, मूंगफली) और रबी (गेहूँ, सरसों, चना) दोनों फसलें सफलतापूर्वक ली जाती हैं। D. पूर्वी मैदानों में वर्षा की उच्च विश्वसनीयता के कारण पश्चिमी मरुस्थल की तुलना में अकाल की संभावना सर्वाधिक रहती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224/350</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पूर्वी मैदानी प्रदेश की कृषि-जलवायु: चंबल, बनास और बाणगंगा के मैदानों में अनुकूल वर्षा, कछारी मिट्टी और नहरी/नलकूप सिंचाई से द्विफसली चक्र चलता है। बंगाल की खाड़ी शाखा की पुरवाइयां यहाँ नियमित वर्षा कराती हैं जिससे फसल विफलता का जोखिम न्यूनतम रहता है। अतः सभी चारों कथन सत्य हैं। ⚡ [परीक्षा-उपयोगी सूक्ष्म दृष्टि / RPSC Trap Alert]: कथन D असत्य है क्योंकि इसमें दिए गए तथ्य में त्रुटि है। वास्तविक तथ्य यह है कि न्यूनतम स्थिति दर्ज की जाती है न कि सर्वाधिक।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224/350</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'जीरो बजट प्राकृतिक खेती' (ZBNF), 'मुख्यमंत्री बीज स्वावलंबन योजना' एवं 'नमो ड्रोन दीदी' के समन्वित प्रभाव पर विचार कीजिए: A. ZBNF के चार प्रमुख आधार स्तंभ हैं: बीजामृत (बीज उपचार), जीवामृत (मृदा पोषण), आच्छादन/मल्चिंग (नमी संरक्षण) एवं वाफसा (हवा-पानी संतुलन)। B. मुख्यमंत्री बीज स्वावलंबन योजना का मुख्य उद्देश्य कृषकों द्वारा अपने ही खेतों में शुष्क जलवायु अनुकूल फसलों के प्रमाणित बीजों का उत्पादन करना है। C. नमो ड्रोन दीदी योजना के तहत महिला स्वयं सहायता समूहों (SHGs) द्वारा नैनो उर्वरकों व जैविक घोलों का ड्रोन द्वारा सटीक छिड़काव किया जा रहा है। D. ड्रोन द्वारा छिड़काव करने से पारंपरिक पद्धति की तुलना में 80% से 90% जल की बचत होती है तथा श्रम व समय घटता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299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225/350</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टिकाऊ कृषि नवाचार: ZBNF बाह्य इनपुट लागत शून्य करती है; बीज स्वावलंबन योजना से किसान स्वयं उन्नत बीज उत्पादक बनते हैं; नमो ड्रोन दीदी प्रिसिजन फार्मिंग द्वारा सटीक छिड़काव कर पानी की भारी बचत करती है और महिलाओं को आर्थिक रूप से सशक्त बनाती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299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225/350</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स्थित प्रमुख राष्ट्रीय एवं राज्य स्तरीय कृषि अनुसंधान संस्थानों को उनके मुख्यालयों के साथ सही सुमेलित कीजिए: सूची-I (अनुसंधान संस्थान): सूची-I: A. केंद्रीय शुष्क क्षेत्र अनुसंधान संस्थान (CAZRI - काजरी) B. शुष्क वन अनुसंधान संस्थान (AFRI - आफरी) C. राष्ट्रीय सरसों अनुसंधान निदेशालय (DRMR) D. राष्ट्रीय बीजीय मसाला अनुसंधान केंद्र (NRCSS) सूची-II: 1. तबीजी, अजमेर (स्थापना 2000) 2. सेवर, भरतपुर (स्थापना 1993) 3. जोधपुर (स्थापना 1959) 4. जोधपुर (स्थापना 1988)</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643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226/350</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स्थित प्रमुख केंद्रीय कृषि संस्थानों की स्थिति इस प्रकार है: 'काजरी' (CAZRI) 1959 में जोधपुर में स्थापित हुआ जो शुष्क भूमि अनुसंधान का शीर्ष केंद्र है। 'आफरी' (AFRI) 1988 में जोधपुर में वानिकी अनुसंधान हेतु स्थापित हुआ। 'राष्ट्रीय सरसों अनुसंधान निदेशालय' 1993 में सेवर (भरतपुर) में स्थापित हुआ। 'राष्ट्रीय बीजीय मसाला अनुसंधान केंद्र' 2000 में तबीजी (अजमेर) में जीरा, धनिया, सौंफ, मेथी के अनुसंधान हेतु स्थापित हुआ। इसके अतिरिक्त 'केंद्रीय शुष्क बागवानी संस्थान' (CIAH) बीछवाल (बीकानेर) में 1993 में स्थापित हुआ। अतः सही कूट A-3, B-4, C-2,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643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226/350</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सरकार द्वारा विभिन्न विशिष्ट फसलों एवं बागवानी संवर्धन हेतु स्थापित 'उत्कृष्टता केंद्रों' (Centers of Excellence) को संबंधित जिलों से सही सुमेलित कीजिए: सूची-I (उत्कृष्टता केंद्र): सूची-I: A. सिट्रिक फल (नींबू वर्गीय) उत्कृष्टता केंद्र B. अनार, जैतून एवं ड्रैगन फ्रूट उत्कृष्टता केंद्र C. खजूर (Date Palm) उत्कृष्टता केंद्र D. अमरूद (Guava) उत्कृष्टता केंद्र सूची-II: 1. बस्सी (जयपुर) 2. सागर भोजका (जैसलमेर) 3. देवड़ावास (टोंक) 4. नांता (कोटा)</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986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227/350</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इजरायल और नीदरलैंड के कृषि सहयोग से उन्नत बागवानी हेतु कई सेंटर ऑफ एक्सीलेंस स्थापित किए गए हैं: (1) सिट्रिक फल उत्कृष्टता केंद्र - नांता (कोटा); (2) अनार, जैतून एवं ड्रैगन फ्रूट उत्कृष्टता केंद्र - बस्सी (जयपुर); (3) खजूर उत्कृष्टता केंद्र - सागर भोजका (जैसलमेर); (4) अमरूद उत्कृष्टता केंद्र - देवड़ावास (टोंक); (5) संतरा/संतरा वर्गीय उत्कृष्टता केंद्र - झालावाड़; (6) आम उत्कृष्टता केंद्र - खेमरी (धौलपुर); (7) सब्जी उत्कृष्टता केंद्र - बूंदी; (8) पुष्प उत्कृष्टता केंद्र - सवाई माधोपुर; (9) सीताफल उत्कृष्टता केंद्र - चित्तौड़गढ़; (10) औषधीय व मसाला उत्कृष्टता केंद्र - बारां (लहसुन) एवं सोजत, पाली (मेहंदी); तथा (11) बाजरा सेंटर ऑफ एक्सीलेंस - जोधपुर। अतः सही कूट A-4, B-1, C-2,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986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227/350</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सीमावर्ती जिलों एवं पड़ोसी राज्यों के संदर्भ में निम्नलिखित कथनों पर विचार कीजिए: A. राजस्थान की कुल स्थलीय सीमा 5920 किमी है, जिसमें 1070 किमी अंतरराष्ट्रीय तथा 4850 किमी अंतर्राज्यीय सीमा है। B. राजस्थान की सर्वाधिक लंबी अंतर्राज्यीय सीमा मध्य प्रदेश (1600 किमी, 10 जिले) के साथ तथा सबसे छोटी सीमा पंजाब (89 किमी, 2 जिले) के साथ लगती है। C. झालावाड़ जिला मध्य प्रदेश के साथ न्यूनतम लंबी अंतर्राज्यीय सीमा (लगभग 520 किमी) बनाता है। D. भीलवाड़ा जिला मध्य प्रदेश के साथ सबसे छोटी अंतर्राज्यीय सीमा (लगभग 16 किमी) बनाता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330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228/350</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सीमा संरचना: कुल स्थलीय सीमा 5920 किमी (अंतरराष्ट्रीय 1070 किमी, अंतर्राज्यीय 4850 किमी)। 5 पड़ोसी राज्यों से सीमा लगती है: पंजाब (89 किमी - न्यूनतम), हरियाणा (1262 किमी), उत्तर प्रदेश (877 किमी), मध्य प्रदेश (1600 किमी - सर्वाधिक), गुजरात (1022 किमी)। अंतर्राज्यीय सीमा पर स्थित जिलों में सर्वाधिक लंबी सीमा झालावाड़ (लगभग 520 किमी) तथा सबसे छोटी सीमा भीलवाड़ा (लगभग 16 किमी) बनाता है। अंतर्राज्यीय और अंतरराष्ट्रीय दोनों सीमाओं पर केवल 2 जिले (श्रीगंगानगर व बाड़मेर) स्थित हैं। अतः सभी चारों कथन सत्य हैं। ⚡ [परीक्षा-उपयोगी सूक्ष्म दृष्टि / RPSC Trap Alert]: कथन C असत्य है क्योंकि इसमें दिए गए तथ्य में त्रुटि है। वास्तविक तथ्य यह है कि सर्वाधिक स्थिति दर्ज की जाती है न कि न्यूनतम। अतः सही उत्तर विकल्प (A)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330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228/350</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जिलों के गठन के ऐतिहासिक कालक्रम एवं 7 अगस्त 2023 के पुनर्गठन के संदर्भ में निम्नलिखित कथनों पर विचार कीजिए: A. 15 अप्रैल 1982 को धौलपुर को भरतपुर से अलग कर राजस्थान का 27वाँ जिला बनाया गया था। B. 10 अप्रैल 1991 को एक साथ तीन नए जिलों - बारां (कोटा से), दौसा (जयपुर से) और राजसमंद (चूरू से) का गठन किया गया। C. 12 जुलाई 1994 को हनुमानगढ़ (31वाँ) तथा 19 जुलाई 1997 को करौली (32वाँ) जिले का गठन हुआ। D. 26 जनवरी 2008 को प्रतापगढ़ 33वाँ जिला बना, तथा 7 अगस्त 2023 को राज्य में नए जिलों की अधिसूचना प्रभावी हुई।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673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229/350</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एकीकरण के समय 1 नवंबर 1956 को अजमेर-मेरवाड़ा के विलय के साथ 26 जिले थे। इसके पश्चात जिला निर्माण का ऐतिहासिक कालक्रम इस प्रकार रहा है: (1) 27वाँ जिला धौलपुर - 15 अप्रैल 1982 (भरतपुर से अलग); (2) 28वाँ, 29वाँ और 30वाँ जिला - 10 अप्रैल 1991 को एक साथ तीन जिले बारां (कोटा से), दौसा (जयपुर से), और राजसमंद (उदयपुर से) गठित हुए (स्मरण सूत्र: BDR); (3) 31वाँ जिला हनुमानगढ़ - 12 जुलाई 1994 (श्रीगंगानगर से अलग); (4) 32वाँ जिला करौली - 19 जुलाई 1997 (सवाई माधोपुर से अलग); (5) 33वाँ जिला प्रतापगढ़ - 26 जनवरी 2008 (परमेशचंद समिति की सिफारिश पर चित्तौड़गढ़, उदयपुर व बांसवाड़ा की तहसीलों को मिलाकर)। इसके पश्चात रामलुभाया समिति की अंतरिम रिपोर्ट के आधार पर राज्य सरकार द्वारा 7 अगस्त 2023 को नए जिलों (जैसे बालोतरा, फलौदी, सलूंबर, डीडवाना-कुचामन, ब्यावर, कोटपूतली-बहरोड़, खैरथल-तिजारा, डीग आदि) का औपचारिक गठन प्रभावी किया गया। अतः सभी चारों कथन पूर्णतः सत्य हैं। ⚡ [परीक्षा-उपयोगी सूक्ष्म दृष्टि / RPSC Trap Alert]: कथन B असत्य है क्योंकि इसमें दिए गए तथ्य में त्रुटि है। वास्तविक तथ्य यह है कि उदयपुर क्षेत्र से संबंधित है न कि चूरू से।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673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229/350</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मानसूनी वर्षा के 'विच्छेद' (Monsoon Break / Gap of Monsoon) के संदर्भ में विचार कीजिए: A. मानसून प्रस्फोट (Monsoon Burst) के पश्चात जुलाई-अगस्त के महीनों में 2 से 3 सप्ताह तक वर्षा का अचानक रुक जाना 'मानसून विच्छेद' कहलाता है। B. इसका मुख्य कारण मानसूनी द्रोणी (Monsoon Trough) का हिमालय की तलहटी की ओर विस्थापित हो जाना होता है। C. मानसूनी विच्छेद के दौरान तेज धूप और उमस से रबी की खड़ी फसलों (बाजरा, मूंग, मोठ) में मुरझान (Wilting) आ जाती है। D. राजस्थान के शुष्क क्षेत्रों में इस अंतराल से निपटने हेतु 'खेत तलाई' (Farm Pond) द्वारा जीवनरक्षक सिंचाई दी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017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230/350</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मानसून विच्छेद (Monsoon Break): दक्षिण-पश्चिम मानसून की सक्रियता के बीच जब मानसूनी गर्त हिमालय की ओर खिसक जाता है, तो मैदानी भागों में बारिश बंद हो जाती है। यह 2-3 सप्ताह का शुष्क काल बारानी खरीफ फसलों के लिए अत्यधिक संकटपूर्ण होता है। खेत तलाई व डिग्गी में संचित वर्षा जल से इस दौरान स्प्रिंकलर द्वारा जीवनरक्षक सिंचाई की जाती है। अतः सभी कथन सत्य हैं। ⚡ [परीक्षा-उपयोगी सूक्ष्म दृष्टि / RPSC Trap Alert]: कथन C असत्य है क्योंकि इसमें दिए गए तथ्य में त्रुटि है। वास्तविक तथ्य यह है कि खरीफ ऋतु की फसल है न कि रबी की।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017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230/350</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विभिन्न कृषि फसलों एवं उनकी प्रसिद्ध उन्नत किस्मों का सही सुमेलन कीजिए: सूची-I (फसल): सूची-I: A. गेहूँ (Wheat) B. जौ (Barley) C. चना (Gram) D. सरसों (Mustard) सूची-II: 1. वरुणा (T-59), पूसा जय किसान, गिरिराज (DRMRIJ-31) 2. राज-3077, राज-3765, राज-4037, लोक-1 3. आरडी-2035, आरडी-2552, ज्योति, आजाद 4. सम्राट (GNG-469), गणगौर (GNG-1581), अपर्णा</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231/350</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फसलों की उन्नत किस्में: (1) गेहूँ - राज-3077, राज-3765, कल्याण सोना; (2) जौ - आरडी-2035, ज्योति (माल्ट उद्योग में प्रयुक्त); (3) चना - सम्राट, गणगौर (श्रीगंगानगर अनुसंधान केंद्र); (4) सरसों - वरुणा, पूसा जय किसान, गिरिराज। अतः सही मिलान A-2, B-3, C-4,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231/350</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शीतकाल में पाला (Frost / तुषार) पड़ने के कारणों एवं इससे प्रभावित फसलों पर विचार कीजिए: A. शीतकाल में जनवरी माह में जब रात का तापमान 0°C या उससे नीचे गिर जाता है, तो पौधों की कोशिकाओं में स्थित जल जम जाता है, जिसे 'पाला पड़ना' कहते हैं। B. खुले आकाश, अत्यधिक पार्थिव विकिरण और शांत हवाओं के कारण चूरू, सीकर एवं झुंझुनूं जिलों में पाला पड़ने की सर्वाधिक संभावना रहती है। C. पाले से न्यूनतम नुकसान रबी की दलहनी फसलों (चना) एवं तिलहनी फसलों (सरसों) तथा सब्जियों (टमाटर/मिर्च) को होता है। D. पाले से फसलों की सुरक्षा हेतु खेतों की उत्तर-पश्चिम दिशा में धुआं करना अथवा 0.1% गंधक के तेजाब (H2SO4) का छिड़काव करना वैज्ञानिक उपाय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704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232/350</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पाला (Frost) परिघटना: मरुस्थलीय क्षेत्रों में तापमान जमाव बिंदु पर पहुंचने से पौधों के ऊतक फट जाते हैं। चने के फूल व फलियां झुलस जाती हैं। बचाव हेतु रात में उत्तर-पश्चिम दिशा में कचरा जलाकर धुआं करना, हल्की सिंचाई करना तथा 0.1% सल्फ्यूरिक एसिड (H2SO4) या थायोयूरिया का छिड़काव अनुशंसित है। अतः सभी चारों कथन सत्य हैं। ⚡ [परीक्षा-उपयोगी सूक्ष्म दृष्टि / RPSC Trap Alert]: कथन C असत्य है क्योंकि इसमें दिए गए तथ्य में त्रुटि है। वास्तविक तथ्य यह है कि सर्वाधिक स्थिति दर्ज की जाती है न कि न्यूनतम। अतः सही उत्तर विकल्प (D)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704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232/350</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लाल-काली मृदा (Red and Black Soil) के भौगोलिक वितरण एवं रासायनिक लक्षणों पर विचार कीजिए: A. यह मृदा अरावली की ग्रेनाइट चट्टानों तथा मालवा पठार के बेसाल्ट लावे के मिलन क्षेत्र (भीलवाड़ा, चित्तौड़गढ़, प्रतापगढ़, बांसवाड़ा) में पाई जाती है। B. इसमें लौह तत्व, पोटाश एवं चूना पर्याप्त मात्रा में होता है, किंतु नाइट्रोजन व फास्फोरस की कमी पाई जाती है। C. इस मृदा में मक्का, कपास, अफीम (Opium), गेहूँ और चने की उत्कृष्ट खेती की जाती है। D. यह मृदा पूर्णतः अनुपजाऊ होती है और इसमें किसी भी फसल का उत्पादन संभव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047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233/350</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लाल-काली मिश्रित मृदा: मेवाड़ व मालवा सीमा पर भीलवाड़ा, चित्तौड़गढ़, प्रतापगढ़ में विस्तृत। लाल मृदा (लौह-ऑक्साइड) और काली मृदा (चीका/नमी संचयन) का मिश्रण होने से यह अत्यधिक उत्पादक है और अफीम, मक्का, कपास हेतु विख्यात है। कथन D असत्य है। अतः केवल 1, 2 और 3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047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233/350</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ग्रीष्मकालीन संवहनीय बादलों एवं तड़ित झंझा (Thunderstorms) की आवृत्ति के संदर्भ में विचार कीजिए: A. राजस्थान में तड़ित झंझा (वज्रपात / बादलों की गरज व चमक) की सर्वाधिक वार्षिक आवृत्ति जयपुर एवं झालावाड़ जिलों में (लगभग 40-45 दिन) पाई जाती है। B. राज्य में तड़ित झंझा की सर्वाधिक आवृत्ति बाड़मेर एवं बीकानेर जिलों में (मात्र 10 दिन से कम) पाई जाती है। C. मरुस्थलीय शुष्क हवा में आर्द्रता की कमी के कारण कपासी-वर्षी बादलों (Cumulonimbus) का निर्माण सीमित होता है। D. आकाशीय बिजली से जन-धन की सुरक्षा हेतु राज्य आपदा प्रबंधन प्राधिकरण द्वारा 'दामिनी ऐप' (Damini App) के माध्यम से पूर्व चेतावनी दी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391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234/350</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तड़ित झंझा (Thunderstorms): पूर्वी व दक्षिणी राजस्थान में मानसूनी आर्द्रता और संवहन के कारण तड़ित झंझा अधिक (जयपुर/झालावाड़ में 40-45 दिन) होते हैं, जबकि पश्चिमी मरुस्थल में न्यून होते हैं। भारतीय उष्णकटिबंधीय मौसम विज्ञान संस्थान (IITM) का 'दामिनी ऐप' वज्रपात की 20-30 किमी के दायरे में पूर्व चेतावनी जारी करता है। अतः सभी कथन सत्य हैं। ⚡ [परीक्षा-उपयोगी सूक्ष्म दृष्टि / RPSC Trap Alert]: कथन B असत्य है क्योंकि इसमें दिए गए तथ्य में त्रुटि है। वास्तविक तथ्य यह है कि न्यूनतम स्थिति दर्ज की जाती है न कि सर्वाधिक।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391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234/350</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'रेरा राजस्थान' (Real Estate Regulatory Authority - RERA) के उपभोक्ता संरक्षण प्रावधानों पर विचार कीजिए: A. राजस्थान में 2019 में स्वतंत्र रेरा प्राधिकरण गठित किया गया जिसका मुख्य उद्देश्य रियल एस्टेट क्षेत्र में पारदर्शिता एवं उपभोक्ता हितों की रक्षा करना है। B. नियम के तहत प्रमोटर/बिल्डर को खरीदारों से एकत्र की गई कुल राशि का 70% एक अलग 'एस्क्रो बैंक खाते' (Escrow Account) में जमा कराना अनिवार्य है। C. इस 70% राशि का उपयोग केवल उसी विशिष्ट परियोजना के निर्माण एवं भूमि लागत के लिए ही किया जा सकता है। D. बिल्डरों द्वारा सुपर बिल्ट-अप एरिया के भ्रामक प्रचार पर रोक लगाकर केवल 'कारपेट एरिया' (Carpet Area) के आधार पर ही फ्लैट बेचना अनिवार्य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734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235/350</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रेरा (RERA राजस्थान): बिल्डरों द्वारा धन के डायवर्जन और प्रोजेक्ट विलंब को रोकने हेतु 70% एस्क्रो खाता नियम कड़ाई से लागू है। कारपेट एरिया की स्पष्ट परिभाषा, त्रैमासिक प्रोजेक्ट प्रगति रिपोर्ट और प्रोजेक्ट पूर्णता प्रमाण पत्र रेरा पोर्टल पर अनिवार्य है। इससे होम बायर्स के अधिकारों की रक्षा हुई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734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235/350</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पर्यटन इकाई नीति 2024' (Rajasthan Tourism Unit Policy 2024) के प्रमुख प्रोत्साहनों पर विचार कीजिए: A. इस नीति के तहत हेरिटेज होटल, रिसॉर्ट, कन्वेंशन सेंटर, वेलनेस टूरिज्म, कैंपिंग साइट्स, इको-टूरिज्म सहित कुल 24 प्रकार की पर्यटन इकाइयों को परिभाषित किया गया है। B. पर्यटन इकाइयों को 'राजस्थान निवेश प्रोत्साहन योजना' (RIPS 2024) के तहत विशेष विनिर्माण उद्योग के समकक्ष पूंजीगत सब्सिडी व ब्याज छूट देय है। C. पर्यटन आधारभूत संरचना के त्वरित विकास हेतु ₹5,000 करोड़ का 'राजस्थान पर्यटन अवसंरचना कोष' (RTICBF) स्थापित किया गया है। D. इस नीति का उद्देश्य राजस्थान में पर्यटन को 12 महीने चलने वाला सतत एवं रोजगार-सर्जक उद्योग बनाना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078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236/350</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पर्यटन इकाई नीति 2024: पर्यटन को सर्विस सेक्टर का इंजन बनाने हेतु 24 श्रेणियों में भूमि रूपांतरण शुल्क में 100% छूट, स्टांप ड्यूटी छूट, तथा हरित पहलों पर इंसेंटिव दिया गया है। RTICBF के ₹5000 करोड़ से विरासत स्मारकों, पहुंच मार्गों व पर्यटन सुविधाओं का आधुनिकीकरण किया जा रहा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078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236/350</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कृषि प्रसंस्करण, व्यवसाय एवं निर्यात संवर्धन नीति 2019' के वित्तीय एवं बाजार प्रावधानों पर विचार कीजिए: A. इस नीति के तहत कृषि प्रसंस्करण इकाइयां स्थापित करने हेतु कृषकों एवं कृषक उत्पादक संगठनों (FPOs) को परियोजना लागत का 50% (अधिकतम ₹1 करोड़) पूंजीगत अनुदान दिया जाता है। B. अन्य पात्र उद्यमियों को प्रसंस्करण इकाइयों हेतु 25% (अधिकतम ₹50 लाख) तक का पूंजीगत अनुदान देय है। C. इसके परिणामस्वरूप पश्चिमी राजस्थान से जीरा, ईसबगोल, सौंफ एवं ग्वार गम के मूल्य संवर्धन और अंतरराष्ट्रीय निर्यात में भारी वृद्धि हुई है। D. यह नीति केवल विदेशी बहुराष्ट्रीय कंपनियों को राजस्थान में चावल आयात करने की अनुमति देने हेतु बनाई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422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237/350</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कृषि प्रसंस्करण नीति 2019: FPOs को 50% अनुदान, जैविक व निर्यात फसलों पर मालभाड़ा अनुदान, ब्याज छूट (5-6%)। पश्चिमी राजस्थान के मिलेट्स, मसालों व ईसबगोल की ग्रेडिंग/पैकेजिंग को बढ़ावा मिला। कथन D असत्य है क्योंकि यह स्थानीय किसानों के मूल्य संवर्धन और निर्यात संवर्धन हेतु है। अतः केवल 1, 2 और 3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422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237/350</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घोड़े (Equine) एवं गधे-खच्चरों की प्रमुख नस्लों एवं मेलों पर विचार कीजिए: A. मालानी नस्ल का घोड़ा (बाड़मेर/जालोर) - काठियावाड़ी व अरबी घोड़ों का संकर है जो अपनी चाल, राजसी कद-काठी एवं स्वामिभक्ति हेतु प्रसिद्ध है। B. मारवाड़ी घोड़ा - कान के घुमावदार सिरे (अंदर मुड़े हुए) एवं युद्ध भूमि में वीरता हेतु ऐतिहासिक रूप से विख्यात है। C. राष्ट्रीय अश्व अनुसंधान केंद्र (NRCE) का उप-परिसर बीकानेर में स्थित है। D. गधों का ऐतिहासिक प्रसिद्ध मेला 'लूणियावास' (जयपुर ग्रामीण) तथा 'सोरसन' (बारां) में आयोजित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238/350</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अश्व एवं इक्वाइन संसाधन: मारवाड़ी व मालानी घोड़ों का वैश्विक नाम है। चेतक घोड़ा मारवाड़ी/काठियावाड़ी नस्ल का प्रतीक था। बीकानेर में अश्व प्रजनन केंद्र है। लूणियावास (जयपुर) में शीतला माता मेले पर तथा सोरसन (बारां) में ब्राह्मणी माता मेले पर गधों का विशाल मेला भरता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238/350</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राज्य जल नीति 2010' (State Water Policy 2010) के मुख्य प्राथमिक सिद्धांतों पर विचार कीजिए: A. जल आवंटन की प्राथमिकताओं में सर्वप्रथम A. मानव पेयजल, द्वितीय B. पशुधन पेयजल, तृतीय C. कृषि/सिंचाई, तथा चतुर्थ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109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239/350</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राज्य जल नीति 2010: जल संकट से निपटने हेतु 18 फरवरी 2010 को अधिसूचित। प्राथमिकता क्रम: 1. घरेलू/पेयजल, 2. पशुधन, 3. सिंचाई, 4. अन्य (उद्योग/बिजली)। वाटर ग्रिड निर्माण, नदी बेसिन आधारित योजना, तथा जल उपयोगकर्ता संगमों (WUA) की भागीदारी इसके मुख्य स्तंभ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109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239/350</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जैविक प्रमाणीकरण (Organic Certification) एवं 'जैविक जिला' के संदर्भ में विचार कीजिए: A. राजस्थान राज्य जैविक प्रमाणीकरण संस्था (ROCA) राज्य में जैविक कृषि उत्पादों के प्रमाणीकरण की आधिकारिक एजेंसी है। B. डूंगरपुर को राजस्थान का प्रथम 'पूर्ण जैविक कृषि जिला' घोषित किया गया था। C. बांसवाड़ा एवं प्रतापगढ़ के जनजातीय क्षेत्रों में पारंपरिक रूप से रासायनिक खादों का प्रयोग सर्वाधिक होने के कारण प्राकृतिक खेती को बढ़ावा दिया जा रहा है। D. जैविक उत्पादों की बिक्री हेतु राज्य के बड़े शहरों में 'ऑर्गेनिक फार्मर्स मार्केट्स' स्थापित किए गए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452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240/350</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जैविक खेती पहल: सिक्किम की तर्ज पर डूंगरपुर को राजस्थान का पहला पूर्ण जैविक जिला बनाने का अभियान चला। राजस्थान जैविक प्रमाणीकरण एजेंसी (ROCA) NPOP मानकों के अनुसार प्रमाणन करती है। जैविक उत्पादों पर किसानों को प्रीमियम मूल्य मिलता है। अतः सभी चारों कथन सत्य हैं। ⚡ [परीक्षा-उपयोगी सूक्ष्म दृष्टि / RPSC Trap Alert]: कथन C असत्य है क्योंकि इसमें दिए गए तथ्य में त्रुटि है। वास्तविक तथ्य यह है कि न्यूनतम स्थिति दर्ज की जाती है न कि सर्वाधिक। अतः सही उत्तर विकल्प (D)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452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240/350</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स्थित प्रमुख केंद्रीय एवं राज्य पशु अनुसंधान व प्रजनन केंद्रों को सुमेलित कीजिए: सूची-I: सूची-I: A. केंद्रीय भेड़ एवं ऊन अनुसंधान संस्थान (CSWRI) B. राष्ट्रीय ऊंट अनुसंधान केंद्र (NRCC) C. केंद्रीय अश्व प्रजनन केंद्र D. राष्ट्रीय पशु आनुवंशिक संसाधन ब्यूरो उपकेंद्र सूची-II: 1. जोहड़बीड़ (बीकानेर) 2. नोहर (हनुमानगढ़) 3. अविकानगर (मालपुरा, टोंक) 4. जोहड़बीड़ (बीकानेर)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796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241/350</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अविकानगर (टोंक) में 1962 में स्थापित CSWRI भेड़ व ऊन अनुसंधान का देश का शीर्ष संस्थान है जहाँ 'अविलीन' व 'अविवस्त्र' संकर भेड़ें विकसित की गईं। जोहड़बीड़ (बीकानेर) में 1984 में राष्ट्रीय ऊंट अनुसंधान केंद्र तथा यहीं केंद्रीय अश्व प्रजनन केंद्र (अश्व फार्म) स्थित हैं। हनुमानगढ़ के नोहर में राठी व थारपारकर गोवंश का क्षेत्रीय केंद्र है। इसके अलावा झालावाड़ के डग में मालवी गोवंश तथा कुम्हेर (भरतपुर) में मुर्रा भैंस प्रजनन केंद्र स्थापित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796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241/350</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20वीं पशुगणना (2019) के अनुसार राजस्थान के पशुधन सांख्यिकी एवं परिवर्तनों पर विचार कीजिए: A. राजस्थान में कुल पशुधन संख्या 56.8 मिलियन (5.68 करोड़) दर्ज की गई, जो 19वीं पशुगणना (2012) की तुलना में 1.66% कम है। B. कुल पशुधन की दृष्टि से राजस्थान का उत्तर प्रदेश के बाद पूरे भारत में दूसरा स्थान (लगभग 10.60% राष्ट्रीय हिस्सेदारी) है। C. गोवंश (गाय) की संख्या में 4.41% तथा भैंसों की संख्या में 5.53% की सकारात्मक वृद्धि दर्ज की गई। D. बकरियों की संख्या (20.84 मिलियन) में राजस्थान का भारत में तृतीय स्थान (लगभग 14% राष्ट्रीय हिस्सेदारी)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139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242/350</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20वीं पशुगणना 2019: कुल पशुधन 5.68 करोड़ (देश का 10.60%, द्वितीय स्थान)। गोवंश: 1.39 करोड़ (+4.41%, छठा स्थान); भैंस: 1.37 करोड़ (+5.53%, दूसरा स्थान); बकरी: 2.08 करोड़ (प्रथम स्थान, -3.81%); भेड़: 7.9 मिलियन (चौथा स्थान, -12.95%); ऊंट: 2.13 लाख (देश का 84%, प्रथम स्थान, -34.69%)। गधों में 71% की भारी गिरावट दर्ज हुई। अतः सभी चारों कथन सत्य हैं। ⚡ [परीक्षा-उपयोगी सूक्ष्म दृष्टि / RPSC Trap Alert]: कथन D असत्य है क्योंकि इसमें दिए गए तथ्य में त्रुटि है। वास्तविक तथ्य यह है कि राजस्थान प्रथम स्थान पर है न कि तृतीय स्थान पर। अतः सही उत्तर विकल्प (A)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139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242/350</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भेड़ों की किस विशिष्ट नस्ल को 'भारतीय मेरिनो' (Indian Merino) कहा जाता है क्योंकि इसकी ऊन अत्यंत महीन एवं विश्वस्तरीय मानी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जैसलमेरी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चोखला (शेखावाटी)</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मालपुरा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सोनाड़ी (चनोथर)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483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243/350</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चोखला (शेखावाटी)</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जैसलमेरी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मालपुरा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सोनाड़ी (चनोथर)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चोखला नस्ल की भेड़ मुख्यतः शेखावाटी क्षेत्र (सीकर, झुंझुनूं, चूरू) तथा नागौर में पाई जाती है। इसके ऊन का रेशा अत्यंत महीन, कोमल व उच्च गुणवत्ता वाला होता है, जिससे उत्कृष्ट कोटि के ऊनी वस्त्र व गलीचे बनते हैं, अतः इसे 'भारत की मेरिनो' (Indian Merino) कहा जाता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483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243/350</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गोवंश (Cattle) की प्रमुख देशी नस्लों को उनके विशिष्ट प्रजनन क्षेत्रों के साथ सही सुमेलित कीजिए: सूची-I: सूची-I: A. राठी (कामधेनु) B. थारपारकर (मालाणी) C. गिर (अजमेरा / रेण्डा) D. कांकरेज (सांचोरी) सूची-II: 1. अजमेर, भीलवाड़ा व चित्तौड़गढ़ 2. बाड़मेर व जैसलमेर (पश्चिमी सीमांत) 3. जालोर, सांचोर, पाली व सिरोही 4. बीकानेर, श्रीगंगानगर व जैसलमेर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826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244/350</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B-2,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राठी गाय लाल सिंधी और साहीवाल की संकर नस्ल है जो अत्यधिक दूध देने के कारण 'राजस्थान की कामधेनु' कहलाती है (बीकानेर, गंगानगर)। थारपारकर पाकिस्तान के सिंध प्रांत से जुड़ी मूल नस्ल है जो बाड़मेर के मालाणी क्षेत्र में शुद्ध रूप से मिलती है। गिर गाय गुजरात के गिर जंगलों से संबंधित है जिसे राजस्थान में अजमेरा या रेण्डा कहते हैं। कांकरेज द्विप्रयोजनीय (दूध व भारवाही) भारी नस्ल है जो सवाई चाल के लिए प्रसिद्ध है और सांचोर-जालोर क्षेत्र में पाई जाती है। इसके अलावा मालवी नस्ल हाड़ौती में तथा नागौरी बैल विश्व प्रसिद्ध भारवाही नस्ल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826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244/350</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राज्य धरोहर पशु 'ऊँट' (Camel) के संरक्षण, कानून एवं कल्याणकारी योजनाओं पर विचार कीजिए: A. राजस्थान सरकार द्वारा ऊँटों के अवैध वध एवं राज्य से बाहर अनधिकृत निकासी पर रोक हेतु 'राजस्थान ऊँट संरक्षण अधिनियम 2015' लागू किया गया। B. 'उष्ट्र संरक्षण योजना' (Camel Conservation Scheme) के तहत मादा ऊँट के प्रसव पर प्रति टोरडिया (ऊँट का बच्चा) पालक को ₹20,000 की प्रोत्साहन राशि तीन किश्तों में दी जाती है। C. राष्ट्रीय उष्ट्र अनुसंधान केंद्र (NRCC) जोहड़बीड़ (बीकानेर) में 1984 से कार्यरत है। D. एनआरसीसी द्वारा ऊँटनी के दूध से निर्मित विभिन्न उत्पाद, चॉकलेट एवं मधुमेह (डायबिटीज) व ऑटिज्म थैरेपी पर शोध किया जा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245/350</a:t>
            </a: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ऊँट संरक्षण एवं संवर्धन: 2014 में राज्य पशु (पशुधन) घोषित; 2015 में वध व पलायन निषेध अधिनियम लागू। घटती आबादी को रोकने हेतु उष्ट्र संरक्षण योजना में ₹20,000 (पूर्व में ₹10,000) प्रोत्साहन राशि दी जा रही है। जोहड़बीड़ (बीकानेर) का NRCC ऊंटनी के दूध की प्रसंस्करण डेयरी संचालित करता है जिसमें इंसुलिन जैसी प्रोटीन होने से डायबिटीज हेतु लाभकारी माना गया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245/350</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आधुनिक संगठित उद्योग के रूप में प्रथम सूती वस्त्र मिल 'द कृष्णा मिल्स लिमिटेड' वर्ष 1889 में निजी क्षेत्र में कहाँ स्थापित की गई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किशनगढ़</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भीलवाड़ा</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पाली (महाराजा उम्मेद सिंह द्वारा)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ब्यावर (सेठ दामोदर दास राठी द्वारा)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514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246/350</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ब्यावर (सेठ दामोदर दास राठी द्वारा)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किशनगढ़</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भीलवाड़ा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पाली (महाराजा उम्मेद सिंह द्वारा)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 वस्त्र उद्योग राजस्थान का सबसे प्राचीन, संगठित और सर्वाधिक रोजगार देने वाला पारंपरिक कृषि आधारित उद्योग है। राज्य की पहली सूती वस्त्र मिल 'द कृष्णा मिल्स लिमिटेड' की स्थापना 1889 ई. में ब्यावर शहर (अजमेर/ब्यावर) में स्वतंत्रता सेनानी सेठ दामोदर दास राठी और कर्नल डिक्सन द्वारा निजी क्षेत्र में की गई थी। इसके पश्चात ब्यावर में ही 1906 में एडवर्ड मिल्स तथा 1925 में श्री महालक्ष्मी मिल्स स्थापित हुईं। 1942 में पाली में 'महाराजा उम्मेद मिल्स' बनी जो राज्य की सबसे बड़ी सूती वस्त्र मिल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514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246/350</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श्रेष्ठ देशी दुधारू गोवंश नस्ल 'राठी' (Rathi - राजस्थान की कामधेनु) पर विचार कीजिए: A. राठी गाय साहीवाल, लाल सिंधी एवं थारपारकर नस्लों का प्राकृतिक संकर (त्रिसंकर) मानी जाती है। B. इसका मूल विस्तार क्षेत्र उत्तर-पश्चिमी राजस्थान का 'राठ क्षेत्र' (बीकानेर, श्रीगंगानगर, अनूपगढ़ एवं जैसलमेर) है। C. यह शुष्क जलवायु, अत्यधिक गर्मी तथा सीमित चारे में भी प्रति ब्यांत 1500 से 2500 लीटर उच्च वसायुक्त दूध देने में सक्षम है। D. मालवी नस्ल के संरक्षण एवं वैज्ञानिक संवर्धन हेतु नोहर (हनुमानगढ़) एवं बीकानेर में प्रजनन केंद्र स्थापित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857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247/350</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राठी नस्ल (राजस्थान की कामधेनु): बीकानेर, गंगानगर व जैसलमेर के सिंचित/शुष्क राठ अंचल में पाई जाती है। साहीवाल (दुग्ध क्षमता) व लाल सिंधी (सहनशीलता) का मिश्रण। उच्च दुग्ध व रोग प्रतिरोधक क्षमता के कारण पशुपालकों की प्रिय नस्ल है। नोहर (हनुमानगढ़) में राठी प्रजनन फार्म कार्यरत है। अतः सभी चारों कथन सत्य हैं। ⚡ [परीक्षा-उपयोगी सूक्ष्म दृष्टि / RPSC Trap Alert]: कथन D असत्य है क्योंकि इसमें दिए गए तथ्य में त्रुटि है। वास्तविक तथ्य यह है कि राठी गाय को राजस्थान की कामधेनु कहा जाता है। अतः सही उत्तर विकल्प (A)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857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247/350</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प्राचीन ऐतिहासिक एवं भौगोलिक क्षेत्रों के विशिष्ट युग्मों को उनकी सटीक भौगोलिक विशेषताओं के साथ सही सुमेलित कीजिए: सूची-I (क्षेत्र युग्म): सूची-I: A. राठ बनाम राठी B. मरु बनाम मेरु C. थली बनाम तल्ली D. तोरावाटी बनाम शेखावाटी सूची-II: 1. कांतली नदी का अपवाह बेसिन (सीकर-झुंझुनूं) बनाम शेखावत वंशजों का ऐतिहासिक प्रदेश (सीकर-चूरू-झुंझुनूं) 2. अहीरवाट (कोटपूतली-बहरोड़) बनाम 25 सेमी से कम वर्षा वाला मरुक्षेत्र (बीकानेर-जैसलमेर) 3. मरुस्थल का बालूका स्तूप मुक्त उच्च भूभाग (बीकानेर-चूरू) बनाम बालुका स्तूपों के मध्य निम्न गर्त/प्लाया 4. थार का मरुस्थल बनाम अरावली पर्वतमाला</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201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248/350</a:t>
            </a: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C-3,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भूगोल में समान ध्वनि वाले विशिष्ट भौगोलिक युग्मों का सटीक अंतर इस प्रकार है: (1) 'राठ' अहीर (यादव) शासकों का क्षेत्र (कोटपूतली-बहरोड़ का बहरोड़ व नीमराना अंचल) कहलाता है, जबकि 'राठी' 25 सेमी से कम वर्षा वाला शुष्क पश्चिमी प्रदेश (जैसलमेर, बीकानेर, गंगानगर) है जहाँ राठी गाय पाई जाती है। (2) 'मरु' पश्चिमी रेतीले मरुस्थल को और 'मेरु' अरावली की वलित प्राचीन पर्वतमाला को कहा जाता है। (3) 'थली' मरुस्थल के ऊँचे उठे हुए बालूकाविहीन कठोर भूभाग को कहते हैं (बीकानेर व चूरू, जहाँ कोई नदी नहीं बहती), जबकि 'तल्ली' दो समानांतर बालुका स्तूपों के मध्य स्थित निम्न भूमि/गर्त को कहते हैं जहाँ वर्षा का जल भरने से अस्थाई प्लाया झीलें बनती हैं। (4) 'तोरावाटी' कांतली नदी के प्रवाह क्षेत्र को कहते हैं (सीकर, झुंझुनूं, नीम का थाना), जबकि 'शेखावाटी' राव शेखा के वंशजों द्वारा शासित सांस्कृतिक प्रदेश (सीकर, चूरू, झुंझुनूं)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201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248/350</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पशु नस्लों को उनके विशिष्ट पहचान लक्षणों एवं विशेषताओं के साथ सही सुमेलित कीजिए: सूची-I (पशु नस्ल): सूची-I: A. राठी गाय B. नाचना ऊंट C. चोकला भेड़ D. भदावरी भैंस सूची-II: 1. सुंदर बनावट, मध्यम कद, तेज दौड़ने व सवारी हेतु विश्व प्रसिद्ध 2. महीन रेशा, 'भारत की मेरीनो', कालीन व ऊनी वस्त्रों हेतु सर्वश्रेष्ठ 3. लाल सिंधी व साहीवाल की संकर, 'राजस्थान की कामधेनु' (सर्वाधिक दुग्ध उत्पादक) 4. तांबे जैसा बादामी रंग, दूध में सर्वाधिक वसा (12-13% फैट) की मात्रा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544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249/350</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समृद्ध पशुधन की विशिष्ट नस्लों का वैज्ञानिक विवरण: (1) राठी गाय: बीकानेर, श्रीगंगानगर और अनूपगढ़ में पाई जाने वाली सर्वश्रेष्ठ स्वदेशी दुग्ध नस्ल है जो लाल सिंधी और साहीवाल के संकरण से विकसित हुई है। (2) नाचना ऊंट: जैसलमेर के नाचना गाँव की विश्व प्रसिद्ध नस्ल है जिसकी पतली टांगें, फुर्तीलापन और आकर्षक चाल सीमा सुरक्षा बल (BSF) के गश्ती कार्यों और दौड़ प्रतियोगिताओं हेतु अद्वितीय मानी जाती है। (3) चोकला भेड़: शेखावाटी (सीकर, चूरू, झुंझुनूं) में पाई जाने वाली भारतीय मेरीनो है जो 1 से 1.5 किग्रा अत्यधिक महीन ऊन प्रतिवर्ष देती है। (4) भदावरी भैंस: उत्तर प्रदेश के आगरा/इटावा मूल की तांबई-बादामी रंग की भैंस है, जिसके दूध में देश की सभी भैंसों में सर्वाधिक वसा (फैट प्रतिशत) पाई जाती है। अतः सही कूट A-3, B-1, C-2,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544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249/350</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विभिन्न देशी पशुधन नस्लों को उनकी सही प्रजाति से सुमेलित कीजिए: सूची-I (देशी नस्ल): सूची-I: A. थारपारकर (Tharparkar) B. मुर्राह (Murrah / खुंडी) C. मारवाड़ी (Marwari) D. नाचना (Nachna) सूची-II: 1. गोवंश (गाय) - पश्चिमी मरुस्थल की उच्च दुधारू नस्ल 2. भेड़ एवं बकरी (Sheep &amp; Goat) - अत्यधिक रोग प्रतिरोधक व लंबी दूरी तय करने वाली नस्ल 3. ऊँट (Camel) - जैसलमेर का सुंदरता एवं तेज दौड़ने हेतु प्रसिद्ध ऊँट 4. भैंस (Buffalo) - काले रंग की जलेबीनुमा मुड़े सींगों वाली श्रेष्ठ दुधारू नस्ल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888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250/350</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B-4,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पशुधन नस्लों का मिलान: (1) थारपारकर: बाड़मेर-जैसलमेर की सफेद दुधारू गाय (प्रजनन केंद्र: चांदन, जैसलमेर); (2) मुर्राह: जयपुर, अलवर, भरतपुर की प्रसिद्ध भैंस; (3) मारवाड़ी: जोधपुर, नागौर की रोग-प्रतिरोधक भेड़ व बकरी नस्ल; (4) नाचना: जैसलमेर का प्रसिद्ध ऊंट जो अपनी चाल व सुंदरता हेतु विख्यात है। गोमठ ऊंट सवारी व बोझा ढोने हेतु विख्यात है। अतः सही मिलान A-1, B-4, C-2,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888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250/350</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जल सुरक्षा रोडमैप एवं सूक्ष्म सिंचाई अनिवार्यता पर विचार कीजिए: A. भूजल के गिरते स्तर को रोकने हेतु राजस्थान भूजल प्राधिकरण (RGWA) का गठन विचाराधीन/प्रक्रियाधीन है। B. सभी नई मध्यम एवं वृहद सिंचाई परियोजनाओं (जैसे परवन, धौलपुर लिफ्ट, ईसरदा) में खुले नालों के स्थान पर 'भूमिगत पाइपलाइन एवं स्प्रिंकलर' अनिवार्य किया गया है। C. किसानों को सौर पंप एवं ड्रिप प्रणाली लगाने पर अधिकतम 75% तक की संयुक्त सब्सिडी प्रदान की जाती है। D. राजस्थान सरकार का लक्ष्य प्रत्येक बूँद से अधिक फसल ('Per Drop More Crop') प्राप्त करना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231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251/350</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जल सुरक्षा व सूक्ष्म सिंचाई: पानी की भारी कमी को देखते हुए राज्य सरकार ने नर्मदा नहर के सफल मॉडल को आगे बढ़ाते हुए धौलपुर लिफ्ट (39,980 हेक्टेयर) व परवन परियोजना में खुली नहरों की जगह प्रेशराइज्ड पाइपलाइन नेटवर्क अनिवार्य किया है ताकि वाष्पीकरण व सीपेज नुकसान शून्य हो सके।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231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251/350</a:t>
            </a:r>
          </a:p>
        </p:txBody>
      </p:sp>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बकरी एवं ऊंट की प्रमुख नस्लों को उनकी विशेषताओं के साथ सही सुमेलित कीजिए: सूची-I: सूची-I: A. जखराना (अलवर) B. बारबरी (बरी) C. नाचना ऊंट D. गोमठ ऊंट सूची-II: 1. जैसलमेर का विश्व प्रसिद्ध तेज दौड़ने व सुंदरता हेतु विख्यात ऊंट 2. फलोदी/जोधपुर का प्रसिद्ध बोझा ढोने (भारवाही) वाला ऊंट 3. सुंदर, शहरी घरों में पालने योग्य, वर्ष में दो बार ब्याने वाली 4. सर्वाधिक दूध देने वाली, बड़ी कद-काठी की बकरी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252/350</a:t>
            </a:r>
          </a:p>
        </p:txBody>
      </p:sp>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जखराना बकरी अलवर जिले के बहरोड़-जखराना क्षेत्र की नस्ल है जो प्रतिदिन 5-6 लीटर तक दूध देती है। बारबरी बकरी सुंदर छोटे आकार और भूरे-सफेद चकत्तों वाली होती है जो डेयरी फार्मिंग के लिए आदर्श है। नाचना (जैसलमेर) अपनी मध्यम कद-काठी, फुर्तीलेपन और आकर्षक बनावट के कारण BSF जवानों की गश्त और सवारी के लिए विश्व प्रसिद्ध है। गोमठ (फलोदी) अपनी भारी ताकत और सहनशीलता के कारण मरुस्थल में भार ढोने के लिए जाना जाता है। बीकानेरी ऊंट सामान्य बोझा ढोने हेतु सबसे लोकप्रिय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252/350</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थार मरुस्थल में पाई जाने वाली स्थानीय चारागाह घासों के संदर्भ में निम्नलिखित कथनों पर विचार कीजिए: A. सेवण (Lasiurus sindicus) जैसलमेर जिले की लाठी सीरीज में पाई जाने वाली सर्वाधिक प्रोटीनयुक्त एवं पौष्टिक घास है जो गोडावण का मुख्य प्रजनन स्थल है। B. धामण (Cenchrus ciliaris) और करड़ (Dichanthium annulatum) पश्चिमी राजस्थान की प्रमुख सूखा-सहनशील दुधारू पशुओं के लिए उत्तम घासें हैं। C. मुरात (Panicum turgidum) बीकानेर और जैसलमेर के रेगिस्तानी टीलों पर भेड़ों के लिए महत्वपूर्ण शुष्क चारा प्रदान करती है। D. ये सभी घासें केवल भारी वर्षा वाले आर्द्र क्षेत्रों में ही उग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918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253/350</a:t>
            </a:r>
          </a:p>
        </p:txBody>
      </p:sp>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पश्चिमी राजस्थान के शुष्क पारिस्थितिकी तंत्र में कई पौष्टिक घासें पाई जाती हैं। सेवण घास जैसलमेर के भू-गर्भीय जल पट्टी (लाठी सीरीज) में विस्तृत है और राज्य पक्षी गोडावण की शरणस्थली है। धामण और करड़ घास में उच्च प्रोटीन होता है जो मवेशियों में दूध उत्पादन बढ़ाता है। मुरात कठोर रेगिस्तानी परिस्थितियों में उगती है। कथन D असत्य है क्योंकि ये सभी घासें मरुस्थलीय (Xerophytic) प्रकृति की हैं जो 10 से 30 सेमी जैसी अल्प वर्षा और अत्यधिक सूखे में भी जीवित रहने के लिए अनुकूलित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918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253/350</a:t>
            </a:r>
          </a:p>
        </p:txBody>
      </p:sp>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इंदिरा गांधी नहर परियोजना (IGNP) के कमांड क्षेत्र में उत्पन्न 'सैम' (Waterlogging) समस्या एवं बड़ोपल के संदर्भ में विचार कीजिए: A. बड़ोपल (हनुमानगढ़) एवं पीलीबंगा क्षेत्र में अत्यधिक नहरी सिंचाई और जल रिसाव के कारण भूजल स्तर सतह के पास आ गया है जिसे स्थानीय भाषा में 'सैम' कहते हैं। B. सैम की इस समस्या का मुख्य भूगर्भीय कारण उपसतह में कुछ ही गहराई पर 'जिप्सम की अभेद्य कठोर तलहटी' (Gypsum Hardpan) का पाया जाना है। C. यह अभेद्य यूरिया परत पानी के गहरे अंतःस्रवण (Percolation) को रोक देती है जिससे जलभराव और दलदल बन जाता है। D. नीदरलैंड के सहयोग से संचालित 'इंडो-डच कार्यक्रम' के तहत यूकेलिप्टस (सफेदा) के वृक्ष लगाकर जैविक जल निकासी (Bio-Drainage) समाधान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262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254/350</a:t>
            </a:r>
          </a:p>
        </p:txBody>
      </p:sp>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IGNP में सेम समस्या: बड़ोपल (हनुमानगढ़) में भूगर्भ में कठोर जिप्सम परत जल रिसाव रोकती है जिससे भूमि दलदली व लवणीय हो गई। इंडो-डच ड्रेनेज प्रोजेक्ट के तहत यूकेलिप्टस (सफेदा) के गहरे जड़ों वाले वृक्ष लगाए गए जो 'जैविक पंप' (Biological Pump) की तरह कार्य कर भूजल को सोखकर वाष्पोत्सर्जित करते हैं। साथ ही सब-सरफेस ड्रेनेज पाइपलाइन डाली गई। अतः सभी कथन सत्य हैं। ⚡ [परीक्षा-उपयोगी सूक्ष्म दृष्टि / RPSC Trap Alert]: कथन C असत्य है क्योंकि इसमें दिए गए तथ्य में त्रुटि है। वास्तविक तथ्य यह है कि जिप्सम व पाइराइट्स का उपयोग होता है न कि यूरिया का। अतः सही उत्तर विकल्प (D)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262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254/350</a:t>
            </a:r>
          </a:p>
        </p:txBody>
      </p:sp>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इंदिरा गांधी नहर परियोजना (IGNP) की प्रमुख लिफ्ट नहरों को उनके संबंधित वर्तमान नाम/स्थानों के साथ सही सुमेलित कीजिए: सूची-I: सूची-I: A. वीर तेजाजी लिफ्ट नहर B. गुरु जम्भेश्वर लिफ्ट नहर C. डॉ. करणी सिंह लिफ्ट नहर D. जयनारायण व्यास लिफ्ट नहर सूची-II: 1. कोलायत (बीकानेर/जोधपुर) 2. बांगड़सर (बीकानेर) 3. फलौदी (जोधपुर/फलौदी) 4. पोकरण (जैसलमेर/जोधपुर)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606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255/350</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इंदिरा गांधी नहर के पूर्वी भाग में धरातल ऊँचा होने के कारण जल को लिफ्ट करके पहुंचाने के लिए 7 प्रमुख लिफ्ट नहरें बनाई गई हैं: (1) वीर तेजाजी लिफ्ट नहर (सबसे छोटी) - बांगड़सर क्षेत्र (बीकानेर); (2) गुरु जम्भेश्वर लिफ्ट नहर - फलौदी क्षेत्र (जोधपुर, बीकानेर, जैसलमेर); (3) डॉ. करणी सिंह लिफ्ट नहर - कोलायत क्षेत्र (बीकानेर, जोधपुर); (4) जयनारायण व्यास लिफ्ट नहर - पोकरण क्षेत्र (जैसलमेर, जोधपुर)। इसके अतिरिक्त चौधरी कुम्भाराम (नोहर-साहवा), कँवर सेन (बीकानेर-लूणकरणसर) तथा पन्नालाल बारूपाल (गजनेर) अन्य लिफ्ट नहरें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606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255/350</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मध्यम एवं लघु सिंचाई परियोजनाओं को उनके संबंधित जिलों के साथ सही सुमेलित कीजिए: सूची-I: सूची-I: A. मेजा बाँध परियोजना B. सोम-कमला-अम्बा परियोजना C. मोरेल बाँध परियोजना D. जाखम बाँध परियोजना सूची-II: 1. प्रतापगढ़ (जाखम नदी) 2. डूंगरपुर (सोम नदी) 3. भीलवाड़ा (कोठारी नदी) 4. दौसा (मोरेल नदी)</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949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256/350</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B-2,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प्रमुख मध्यम परियोजनाओं की स्थिति इस प्रकार है: 'मेजा बाँध' भीलवाड़ा जिले के माण्डलगढ़ में कोठारी नदी पर बना है, जिसके पाल पर मेजा पार्क (ग्रीन माउण्ट) विकसित है। 'सोम-कमला-अम्बा परियोजना' डूंगरपुर और उदयपुर के आदिवासी क्षेत्र को सिंचित करती है। 'मोरेल बाँध' दौसा जिले के लालसोट के पास मोरेल नदी पर स्थित एशिया का सबसे बड़ा कच्चा मिट्टी का बाँध है। 'जाखम बाँध' प्रतापगढ़ जिले के अनूपपुरा में जाखम नदी पर स्थित राजस्थान का सबसे ऊँचा बाँध (ऊँचाई 81 मीटर) है। अतः सही कूट A-3, B-2, C-4,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949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256/350</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राज्य स्तरीय पशु मेलों को उनके आयोजक स्थलों व जिलों से सही सुमेलित कीजिए: सूची-I: सूची-I: A. श्री मल्लीनाथ पशु मेला B. श्री वीर तेजाजी पशु मेला C. श्री बलदेव पशु मेला D. चंद्रभागा पशु मेला सूची-II: 1. परबतसर (डीडवाना-कुचामन/नागौर) 2. झालरापाटन (झालावाड़) 3. तिलवाड़ा (बालोतरा/बाड़मेर) 4. मेड़ता सिटी (नागौर)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293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257/350</a:t>
            </a:r>
          </a:p>
        </p:txBody>
      </p:sp>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पशुपालन विभाग द्वारा 10 राज्य स्तरीय पशु मेलों का आयोजन किया जाता है। मल्लीनाथ पशु मेला तिलवाड़ा में लूनी नदी के किनारे चैत्र कृष्ण एकादशी से भरता है जहाँ थारपारकर व कांकरेज नस्लें आती हैं। वीर तेजाजी पशु मेला परबतसर में श्रावण पूर्णिमा से भाद्रपद अमावस्या तक नागौरी बैलों की बिक्री हेतु लगता है (आय की दृष्टि से सबसे बड़ा मेला)। बलदेव पशु मेला मेड़ता सिटी में चैत्र शुक्ल एकम से भरता है। चंद्रभागा पशु मेला झालरापाटन में कार्तिक पूर्णिमा को मालवी नस्ल के पशुओं हेतु आयोजित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293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257/350</a:t>
            </a: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'इंदिरा गांधी नहर परियोजना' (IGNP - मरुगंगा) के संपूर्ण ले-आउट, मुख्य नहर एवं लिफ्ट नहरों पर विचार कीजिए: A. IGNP का उद्गम पंजाब में सतलुज एवं ब्यास नदियों के संगम पर स्थित 'हरिके बैराज' से होता है। B. 'राजस्थान फीडर' (Rajasthan Feeder) की कुल लंबाई 204 किमी (पंजाब व हरियाणा में 170 किमी तथा राजस्थान में 34 किमी) है, जिससे कोई सिंचाई नहीं होती। C. मुख्य नहर (Main Canal) की लंबाई मसीतावाली हेड (हनुमानगढ़) से मोहनगढ़ (अलवर) तक 445 किमी है (तथा आगे बाबा रामदेव उपशाखा गडरा रोड तक जाती है)। D. नहर के बाएं किनारे पर ऊंचाई अधिक होने के कारण जल को ऊपर उठाने हेतु 7 प्रमुख 'लिफ्ट नहरें' निर्मित की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636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258/350</a:t>
            </a:r>
          </a:p>
        </p:txBody>
      </p:sp>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IGNP (मरुगंगा): परिकल्पना 1948 में इंजीनियर कंवर सैन द्वारा। 31 मार्च 1958 को शिलान्यास। राजस्थान फीडर 204 किमी + मुख्य नहर 445 किमी = 649 किमी। ढलान पश्चिम की ओर होने से दाएं किनारे पर 9 शाखाएं (अनूपगढ़, सूरतगढ़, पूगल, चारणवाला, दांताेर, बिरसलपुर आदि) प्रवाह से चलती हैं; जबकि पूर्व की ओर ऊंचाई होने से 7 लिफ्ट नहरें (चौधरी कुंभाराम, कंवर सैन, पन्नालाल बारूपाल, वीर तेजाजी, डॉ. करणी सिंह, गुरु जंभेश्वर, जय नारायण व्यास) बनाई गईं। अतः सभी कथन सत्य हैं। ⚡ [परीक्षा-उपयोगी सूक्ष्म दृष्टि / RPSC Trap Alert]: कथन C असत्य है क्योंकि इसमें दिए गए तथ्य में त्रुटि है। वास्तविक तथ्य यह है कि जैसलमेर जिले में स्थित है न कि पूर्वी राजस्थान के अलवर में। अतः सही उत्तर विकल्प (A)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636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258/350</a:t>
            </a:r>
          </a:p>
        </p:txBody>
      </p:sp>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अंतरराज्यीय सीमावर्ती क्षेत्रों से जुड़े ऐतिहासिक विवादों के संदर्भ में निम्नलिखित कथनों पर विचार कीजिए: A. '200 बीघा भूमि विवाद' राजस्थान (उदयपुर-सिरोही-जालोर सीमांत) तथा गुजरात (बनासकांठा जिला) के मध्य स्थित सीमा विवाद है। B. 'मानगढ़ पहाड़ी विवाद' राजस्थान के बांसवाड़ा जिले तथा गुजरात के दाहोद जिले के मध्य अवस्थित है। C. मानगढ़ पहाड़ी 17 नवंबर 1913 को गुरु गोविंदगिरि के नेतृत्व में हुए ऐतिहासिक भील हत्याकांड (राजस्थान का जलियांवाला बाग) के लिए प्रसिद्ध है। D. राजस्थान का पंजाब राज्य के साथ सीमांकन को लेकर कोई सीमा विवाद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259/350</a:t>
            </a:r>
          </a:p>
        </p:txBody>
      </p:sp>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अंतरराज्यीय सीमाओं पर पड़ोसी राज्यों के साथ कुछ विशिष्ट भू-भागों को लेकर ऐतिहासिक सीमांकन विवाद रहे हैं: (1) 200 बीघा विवाद: राजस्थान के दक्षिणी-पश्चिमी सीमावर्ती जिलों (उदयपुर, सिरोही, जालोर) और गुजरात के बनासकांठा जिले के मध्य सीमा निर्धारण से संबंधित 200 बीघा जमीन का पुराना विवाद है। (2) मानगढ़ पहाड़ी विवाद: बांसवाड़ा के आनंदपुरी क्षेत्र में स्थित ऐतिहासिक मानगढ़ पहाड़ी की सीमा रेखा को लेकर राजस्थान और गुजरात (दाहोद जिला) के मध्य क्षेत्राधिकार विवाद रहा है। मानगढ़ धाम पर 17 नवंबर 1913 (मार्गशीर्ष पूर्णिमा) को ब्रिटिश सेना और मेवाड़ भील कोर (MBC) ने अंधाधुंध गोलियां चलाकर 1500 से अधिक निर्दोष भील आदिवासियों का नरसंहार किया था, जिसे इतिहास में 'राजस्थान का जलियांवाला बाग' कहा जाता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259/350</a:t>
            </a: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इंदिरा गांधी नहर परियोजना (IGNP) के दोनों चरणों के भौगोलिक विस्तार एवं कमान क्षेत्र के संदर्भ में निम्नलिखित कथनों पर विचार कीजिए: A. प्रथम चरण के तहत 204 किमी लम्बी राजस्थान फीडर तथा 189 किमी लम्बी मुख्य नहर (मसीतावाली से पूगल, बीकानेर तक) का निर्माण किया गया। B. द्वितीय चरण के तहत 256 किमी लम्बी मुख्य नहर (पूगल से मोहनगढ़, जैसलमेर तक) तथा वितरिका तंत्र का निर्माण संपन्न हुआ। C. मोहनगढ़ (जैसलमेर) से आगे बाड़मेर जिले के गडरा रोड (रामदेव उपशाखा) तक नहर का अंतिम विस्तार किया गया है। D. इस परियोजना से पूर्वी राजस्थान के 10 से अधिक मरुस्थलीय जिलों में 16 लाख हेक्टेयर से अधिक क्षेत्र में सिंचाई और पेयजल सुविधा उपलब्ध हुई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323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260/350</a:t>
            </a: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इंदिरा गांधी नहर परियोजना (IGNP) विश्व की सबसे बड़ी मरुस्थलीय सिंचाई परियोजना है: (1) प्रथम चरण: पंजाब में हरिके बैराज से हनुमानगढ़ के मसीतावाली हेड तक 204 किमी राजस्थान फीडर (पंजाब/हरियाणा में 170 किमी + राजस्थान में 34 किमी) तथा मसीतावाली से पूगल (बीकानेर) तक 189 किमी मुख्य नहर का निर्माण हुआ। (2) द्वितीय चरण: पूगल से मोहनगढ़ (जैसलमेर) तक 256 किमी मुख्य नहर तथा 5000 किमी से अधिक वितरिका प्रणाली बनाई गई। (3) टेल प्वॉइंट: मुख्य नहर मोहनगढ़ पर समाप्त होती है, जहाँ से आगे बाबा रामदेव उपशाखा (बरकतुल्लाह खान उपशाखा) निकालकर इसे बाड़मेर के गडरा रोड तक ले जाया गया है। इस प्रकार नहर की कुल लम्बाई 649 किमी (204 + 445) है। इसने थार मरुस्थल की बंजर भूमि को देश के अन्न भंडार में बदल दिया है। अतः सभी चारों कथन सत्य हैं। ⚡ [परीक्षा-उपयोगी सूक्ष्म दृष्टि / RPSC Trap Alert]: कथन D असत्य है क्योंकि इसमें दिए गए तथ्य में त्रुटि है। वास्तविक तथ्य यह है कि पश्चिमी मरुस्थलीय भाग से संबंधित है न कि पूर्वी से।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323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260/350</a:t>
            </a: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विभिन्न कृषि क्रांतियों (Agricultural Revolutions) को उनके संबंधित उत्पाद क्षेत्रों से सही सुमेलित कीजिए: सूची-I (कृषि क्रांति): सूची-I: A. पीली क्रांति (Yellow Revolution) B. श्वेत क्रांति (White Revolution) C. लाल क्रांति (Red Revolution) D. गोल क्रांति (Round Revolution) सूची-II: 1. टमाटर एवं मांस उत्पादन 2. सरसों एवं तिलहन उत्पादन 3. आलू (Potato) उत्पादन 4. दुग्ध एवं डेयरी उत्पादन (ऑपरेशन फ्लड)</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667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261/350</a:t>
            </a: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कृषि क्रांतियां: (1) पीली क्रांति - सरसों व तिलहन; (2) श्वेत क्रांति - दुग्ध उत्पादन (वर्गीज कुरियन, सरस डेयरी); (3) लाल क्रांति - टमाटर व मांस; (4) गोल क्रांति - आलू; नीली क्रांति - मत्स्य; भूरी क्रांति - खाद्य प्रसंस्करण/उर्वरक; रजत क्रांति - अंडा/पोल्ट्री। अतः सही मिलान A-2, B-4, C-1,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667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261/350</a:t>
            </a:r>
          </a:p>
        </p:txBody>
      </p:sp>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'नर्मदा नहर परियोजना' (Narmada Canal Project) की विशिष्ट तकनीकी विशेषताओं पर विचार कीजिए: A. नर्मदा नहर सरदार सरोवर बाँध (गुजरात) से निकलती है तथा राजस्थान में इसका प्रवेश सांचौर (जालोर) के 'सीलु' गाँव से होता है। B. राजस्थान में इस मुख्य नहर की कुल लंबाई 74 किमी है और इससे जालोर (सांचौर) एवं धौलपुर जिले लाभान्वित होते हैं। C. यह भारत की पहली ऐसी वृहद सिंचाई परियोजना है जिसमें 'शत-प्रतिशत सूक्ष्म सिंचाई' (फव्वारा / स्प्रिंकलर एवं ड्रिप) अनिवार्य की गई है। D. इस परियोजना में भादरड़ा, पनोरिया एवं सांचौर नामक तीन प्रमुख लिफ्ट नहरें शामिल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010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262/350</a:t>
            </a:r>
          </a:p>
        </p:txBody>
      </p:sp>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नर्मदा नहर परियोजना: राजस्थान का आवंटित जल 0.50 MAF। सीलु गाँव (सांचौर) से 27 मार्च 2008 को जल प्रवेश हुआ। 74 किमी मुख्य नहर। 2.46 लाख हेक्टेयर कमान क्षेत्र में केवल स्प्रिंकलर/ड्रिप से ही सिंचाई की अनुमति है (प्रवाह सिंचाई प्रतिबंधित)। इससे पानी की बर्बादी 60% घटी और अनार, इसबगोल, जीरे की खेती संभव हुई। अतः सभी चारों कथन सत्य हैं। ⚡ [परीक्षा-उपयोगी सूक्ष्म दृष्टि / RPSC Trap Alert]: कथन B असत्य है क्योंकि इसमें दिए गए तथ्य में त्रुटि है। वास्तविक तथ्य यह है कि बाड़मेर जिले में स्थित है न कि धौलपुर में। अतः सही उत्तर विकल्प (D)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010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262/350</a:t>
            </a:r>
          </a:p>
        </p:txBody>
      </p:sp>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राज्य पक्षी, राज्य पशु एवं राज्य धरोहर पशु के संदर्भ में निम्नलिखित कथनों पर विचार कीजिए: A. गोडावण (Great Indian Bustard) को 1981 में राजस्थान का राज्य पक्षी घोषित किया गया था। B. चिंकारा (Gazella bennettii) को 1981 में वन्यजीव श्रेणी में राजस्थान का राज्य पशु घोषित किया गया था। C. ऊँट (Camelus dromedarius) को 30 जून 2014 को पशुधन श्रेणी में राजस्थान का राज्य धरोहर पशु घोषित किया गया था। D. रोहिड़ा (Tecomella undulata) को 1983 में राजस्थान का राज्य पुष्प घोषित किया गया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354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263/350</a:t>
            </a:r>
          </a:p>
        </p:txBody>
      </p:sp>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राजस्थान के राजकीय प्रतीक: राज्य पक्षी - गोडावण (1981); राज्य पशु (वन्यजीव) - चिंकारा (1981); राज्य पशु (पशुधन धरोहर) - ऊँट (30 जून 2014, अधिसूचना 19 सितंबर 2014); राज्य वृक्ष - खेजड़ी (1983); राज्य पुष्प - रोहिड़ा (1983); राज्य खेल - बास्केटबॉल (1948); राज्य गीत - केसरिया बालम आवो नी पधारो म्हारे देस।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354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263/350</a:t>
            </a:r>
          </a:p>
        </p:txBody>
      </p:sp>
    </p:spTree>
  </p:cSld>
  <p:clrMapOvr>
    <a:masterClrMapping/>
  </p:clrMapOvr>
</p:sld>
</file>

<file path=ppt/slides/slide5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एशिया की सबसे बड़ी मानव निर्मित बहुउद्देशीय नहर परियोजना 'इंदिरा गांधी नहर परियोजना' (IGNP) का उद्गम स्थल एवं कुल लम्बाई कितनी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भाखड़ा बाँध (हिमाचल प्रदेश) - कुल लम्बाई 450 किमी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हरिके बैराज (पंजाब) - कुल लम्बाई 649 किमी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पोंग बाँध (पंजाब) - कुल लम्बाई 550 किमी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ओखला बैराज (दिल्ली) - कुल लम्बाई 700 किमी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698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264/350</a:t>
            </a:r>
          </a:p>
        </p:txBody>
      </p:sp>
    </p:spTree>
  </p:cSld>
  <p:clrMapOvr>
    <a:masterClrMapping/>
  </p:clrMapOvr>
</p:sld>
</file>

<file path=ppt/slides/slide5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हरिके बैराज (पंजाब) - कुल लम्बाई 649 किमी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भाखड़ा बाँध (हिमाचल प्रदेश) - कुल लम्बाई 450 किमी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पोंग बाँध (पंजाब) - कुल लम्बाई 550 किमी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ओखला बैराज (दिल्ली) - कुल लम्बाई 700 किमी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इंदिरा गांधी नहर परियोजना (पूर्व नाम राजस्थान नहर) को थार मरुस्थल की 'जीवन रेखा' और 'मरुगंगा' कहा जाता है। इस परियोजना की परिकल्पना 1948 में सुप्रसिद्ध इंजीनियर कँवर सेन ने की थी। इसका उद्गम पंजाब में सतलुज और व्यास नदियों के संगम पर स्थित 'हरिके बैराज' के बाईं ओर से होता है। परियोजना की कुल लम्बाई 649 किलोमीटर है (जिसमें 204 किमी लम्बी राजस्थान फीडर नहर तथा 445 किमी लम्बी मुख्य नहर शामिल है)। 2 नवंबर 1984 को इसका नाम बदलकर इंदिरा गांधी नहर परियोजना किया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698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264/350</a:t>
            </a:r>
          </a:p>
        </p:txBody>
      </p:sp>
    </p:spTree>
  </p:cSld>
  <p:clrMapOvr>
    <a:masterClrMapping/>
  </p:clrMapOvr>
</p:sld>
</file>

<file path=ppt/slides/slide5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इंदिरा गांधी नहर परियोजना (IGNP) की कुल 9 शाखा नहरों (Branch Canals) में से एकमात्र ऐसी कौन-सी शाखा है जो मुख्य नहर के बाईं ओर (Left Bank) से निकाली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सूरतगढ़ शाखा</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अनूपगढ़ शाखा</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रावतसर शाखा</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पूंगल शाखा</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041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265/350</a:t>
            </a:r>
          </a:p>
        </p:txBody>
      </p:sp>
    </p:spTree>
  </p:cSld>
  <p:clrMapOvr>
    <a:masterClrMapping/>
  </p:clrMapOvr>
</p:sld>
</file>

<file path=ppt/slides/slide5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रावतसर शाखा</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सूरतगढ़ शाखा</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अनूपगढ़ शाखा</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पूंगल शाखा</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इंदिरा गांधी नहर के पश्चिमी (दाएं) किनारे का सामान्य ढाल प्राकृतिक रूप से ढालू होने के कारण अधिकांश 8 शाखाएं (सूरतगढ़, अनूपगढ़, पूंगल, दातौड़, बिरसलपुर, चारणवाला, शहीद बीरबल, सागरमल गोपा) दाईं ओर से गुरुत्वाकर्षण प्रवाह (Flow system) द्वारा निकाली गई हैं। केवल 'रावतसर शाखा' (Rawatsar Branch - हनुमानगढ़ जिला) एकमात्र ऐसी शाखा नहर है जो मुख्य नहर के बाईं ओर (Left Bank) से निकाली गई है, क्योंकि यहाँ का धरातल मुख्य नहर से नीचा है और पानी बिना लिफ्ट किए सीधे प्रवाहित हो जाता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041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265/350</a:t>
            </a:r>
          </a:p>
        </p:txBody>
      </p:sp>
    </p:spTree>
  </p:cSld>
  <p:clrMapOvr>
    <a:masterClrMapping/>
  </p:clrMapOvr>
</p:sld>
</file>

<file path=ppt/slides/slide5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'नर्मदा नहर परियोजना' के संबंध में निम्नलिखित में से कौन-सी एक विशिष्ट तकनीकी अनिवार्यता लागू की गई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पूर्णतः सौर ऊर्जा चालित लिफ्ट परियोजना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इसमें केवल खुली नहरों द्वारा पारंपरिक बाढ़ सिंचाई की अनुमति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औद्योगिक इकाइयों को जल आपूर्ति करती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इसमें संपूर्ण कमान क्षेत्र में केवल फव्वारा (स्प्रिंकलर) एवं ड्रिप सूक्ष्म सिंचाई पद्धति ही अनिवार्य की गई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266/350</a:t>
            </a:r>
          </a:p>
        </p:txBody>
      </p:sp>
    </p:spTree>
  </p:cSld>
  <p:clrMapOvr>
    <a:masterClrMapping/>
  </p:clrMapOvr>
</p:sld>
</file>

<file path=ppt/slides/slide5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इसमें संपूर्ण कमान क्षेत्र में केवल फव्वारा (स्प्रिंकलर) एवं ड्रिप सूक्ष्म सिंचाई पद्धति ही अनिवार्य की गई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पूर्णतः सौर ऊर्जा चालित लिफ्ट परियोजना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इसमें केवल खुली नहरों द्वारा पारंपरिक बाढ़ सिंचाई की अनुमति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औद्योगिक इकाइयों को जल आपूर्ति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नर्मदा नहर परियोजना गुजरात के सरदार सरोवर बाँध से निकाली गई 458 किमी लम्बी नहर है, जो राजस्थान में जालोर जिले के सीलू गाँव से प्रवेश करती है। यह राजस्थान के जालोर (सांचोर) और बाड़मेर जिलों के अत्यंत शुष्क क्षेत्रों को सिंचित करती है। इस परियोजना की भारत में सबसे अनूठी और ऐतिहासिक विशेषता यह है कि इसके पूरे कमान क्षेत्र (लगभग 2.46 लाख हेक्टेयर) में किसानों के लिए 'फव्वारा (Sprinkler) एवं बूंद-बूंद (Drip) सिंचाई प्रणाली' को अनिवार्य (Mandatory) किया गया है। इससे जल की 40-50% बचत होती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266/350</a:t>
            </a:r>
          </a:p>
        </p:txBody>
      </p:sp>
    </p:spTree>
  </p:cSld>
  <p:clrMapOvr>
    <a:masterClrMapping/>
  </p:clrMapOvr>
</p:sld>
</file>

<file path=ppt/slides/slide5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अनार (Pomegranate) उत्पादन की 'सिंदूरी' किस्म एवं जालोर-बाड़मेर क्षेत्र के उभार पर विचार कीजिए: A. नर्मदा नहर के आने के बाद जालोर (सांचौर) एवं बाड़मेर के सिवाना क्षेत्र में 'अनार की बंपर खेती' प्रारंभ हुई है। B. यहाँ मुख्य रूप से अनार की गहरे लाल रंग वाली मीठी 'सिंदूरी किस्म' (भगवा किस्म) उगाई जाती है जिसकी भारी निर्यात मांग है। C. अनार की खेती में शत-प्रतिशत ड्रिप (बूंद-बूंद) सिंचाई पद्धति अपनाई जाती है। D. बस्सी (जयपुर) में अनार उत्कृष्टता केंद्र स्थापित किया गया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728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267/350</a:t>
            </a:r>
          </a:p>
        </p:txBody>
      </p:sp>
    </p:spTree>
  </p:cSld>
  <p:clrMapOvr>
    <a:masterClrMapping/>
  </p:clrMapOvr>
</p:sld>
</file>

<file path=ppt/slides/slide5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अनार क्रांति: नर्मदा नहर के स्प्रिंकलर/ड्रिप पानी से जालोर व बाड़मेर अनार उत्पादन के प्रमुख केंद्र बने हैं। 'सिंदूरी/भगवा' अनार का निर्यात खाड़ी देशों में होता है। बस्सी (जयपुर) में सेंटर ऑफ एक्सीलेंस फॉर अनार कार्यरत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728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267/350</a:t>
            </a:r>
          </a:p>
        </p:txBody>
      </p:sp>
    </p:spTree>
  </p:cSld>
  <p:clrMapOvr>
    <a:masterClrMapping/>
  </p:clrMapOvr>
</p:sld>
</file>

<file path=ppt/slides/slide5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कौन-सा जिला 'किन्नू' (Kinnow) एवं माल्टा जैसे रसदार सिट्रस फलों के सर्वाधिक उत्पादन के कारण 'राजस्थान का फल-उद्यान' कहलाता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झालावाड़</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श्रीगंगानगर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बाड़मेर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सवाई माधोपुर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072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268/350</a:t>
            </a:r>
          </a:p>
        </p:txBody>
      </p:sp>
    </p:spTree>
  </p:cSld>
  <p:clrMapOvr>
    <a:masterClrMapping/>
  </p:clrMapOvr>
</p:sld>
</file>

<file path=ppt/slides/slide5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श्रीगंगानगर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झालावाड़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बाड़मेर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सवाई माधोपुर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श्रीगंगानगर जिला गंग नहर और IGNP की प्रचुर सिंचाई, रेवरिना उपजाऊ मृदा व अनुकूल तापमान के कारण किन्नू, माल्टा, मौसमी का विशाल उत्पादक है, अतः इसे 'राजस्थान का अन्नागार' और 'फलों का बगीचा' कहा जाता है। दूसरी ओर झालावाड़ को संतरे के कारण 'राजस्थान का नागपुर' कहते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072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268/350</a:t>
            </a:r>
          </a:p>
        </p:txBody>
      </p:sp>
    </p:spTree>
  </p:cSld>
  <p:clrMapOvr>
    <a:masterClrMapping/>
  </p:clrMapOvr>
</p:sld>
</file>

<file path=ppt/slides/slide5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किस स्थान को 'राजस्थान का शिमला' कहा जाता है क्योंकि यह राज्य का न्यूनतम तापमान एवं सर्वाधिक ऊंचाई वाला पर्वतीय स्थल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झालावाड़</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कुंभलगढ़ (राजसमंद)</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माउंट आबू (सिरोही)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सज्जनगढ़ (उदयपुर)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415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269/350</a:t>
            </a:r>
          </a:p>
        </p:txBody>
      </p:sp>
    </p:spTree>
  </p:cSld>
  <p:clrMapOvr>
    <a:masterClrMapping/>
  </p:clrMapOvr>
</p:sld>
</file>

<file path=ppt/slides/slide5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माउंट आबू (सिरोही)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झालावाड़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कुंभलगढ़ (राजसमंद)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सज्जनगढ़ (उदयपुर)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माउंट आबू समुद्र तल से लगभग 1200 से 1722 मीटर ऊंचाई पर स्थित राजस्थान का एकमात्र हिल स्टेशन है। ऊंचाई के साथ सामान्य ताप ह्रास दर (Normal Lapse Rate: प्रति 165 मीटर पर 1°C गिरावट) के कारण यह ग्रीष्म ऋतु में भी शीतल रहता है, अतः इसे 'राजस्थान का शिमला' कहा जाता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415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269/350</a:t>
            </a:r>
          </a:p>
        </p:txBody>
      </p:sp>
    </p:spTree>
  </p:cSld>
  <p:clrMapOvr>
    <a:masterClrMapping/>
  </p:clrMapOvr>
</p:sld>
</file>

<file path=ppt/slides/slide5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अंतर्राज्यीय बहुउद्देशीय सिंचाई परियोजनाओं को उनके सहयोगी राज्यों के साथ सुमेलित कीजिए: सूची-I: सूची-I: A. भाखड़ा-नांगल परियोजना B. चम्बल घाटी परियोजना C. माही बजाज सागर परियोजना D. व्यास परियोजना सूची-II: 1. राजस्थान, पंजाब और हरियाणा 2. राजस्थान और गुजरात 3. राजस्थान और मध्य प्रदेश 4. राजस्थान, पंजाब और हरियाणा</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759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270/350</a:t>
            </a:r>
          </a:p>
        </p:txBody>
      </p:sp>
    </p:spTree>
  </p:cSld>
  <p:clrMapOvr>
    <a:masterClrMapping/>
  </p:clrMapOvr>
</p:sld>
</file>

<file path=ppt/slides/slide5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प्रमुख अंतर्राज्यीय नदी घाटी परियोजनाओं की भागीदारी इस प्रकार है: 'भाखड़ा-नांगल परियोजना' पंजाब, हरियाणा और राजस्थान (हिस्सेदारी 15.22%) की संयुक्त परियोजना है। 'चम्बल परियोजना' राजस्थान (50%) और मध्य प्रदेश (50%) की संयुक्त परियोजना है। 'माही बजाज सागर परियोजना' राजस्थान (45%) और गुजरात (55%) की संयुक्त परियोजना है (विद्युत का 100% हिस्सा राजस्थान को मिलता है)। 'व व्यास परियोजना' पंजाब, हरियाणा और राजस्थान की संयुक्त परियोजना है जिसमें देहर और पोंग बाँध बने हैं। अतः सही कूट A-4, B-3, C-2,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759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270/350</a:t>
            </a:r>
          </a:p>
        </p:txBody>
      </p:sp>
    </p:spTree>
  </p:cSld>
  <p:clrMapOvr>
    <a:masterClrMapping/>
  </p:clrMapOvr>
</p:sld>
</file>

<file path=ppt/slides/slide5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राज्य सहकारी डेयरी फेडरेशन (RCDF) के अधीन संचालित प्रमुख ऐतिहासिक व क्षेत्रीय दुग्ध संघों (डेयरी ब्रांड्स) को उनके संबंधित मुख्यालयों से सुमेलित कीजिए: सूची-I (डेयरी संघ / उपक्रम): सूची-I: A. पद्मा डेयरी (राज्य की प्रथम डेयरी, 1938) B. उरमूल (URMUL - उत्तरी राजस्थान दुग्ध संघ) C. वरमूल (WRMOL - पश्चिमी राजस्थान दुग्ध संघ) D. गंगमूल (Gangmul - गंगनहर दुग्ध संघ) सूची-II: 1. बीकानेर 2. अजमेर 3. हनुमानगढ़ 4. जोधपुर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102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271/350</a:t>
            </a:r>
          </a:p>
        </p:txBody>
      </p:sp>
    </p:spTree>
  </p:cSld>
  <p:clrMapOvr>
    <a:masterClrMapping/>
  </p:clrMapOvr>
</p:sld>
</file>

<file path=ppt/slides/slide5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दुग्ध क्रांति (ऑपरेशन फ्लड) के तहत आनंद पैटर्न पर त्रि-स्तरीय सहकारी डेयरी व्यवस्था कार्यरत है। (1) पद्मा डेयरी (1938) - राजस्थान की सबसे पुरानी और पहली डेयरी है जो अजमेर में स्थापित की गई थी। (2) उरमूल (URMUL - Uttar Rajasthan Milk Union Ltd.) - इसका मुख्यालय बीकानेर में स्थित है। (3) वरमूल (WRMOL - Western Rajasthan Milk Union Ltd.) - इसका मुख्यालय जोधपुर में स्थित है। (4) गंगमूल (Gangmul) - इसका मुख्यालय हनुमानगढ़ में स्थित है जो उत्तरी नहरी क्षेत्र के दुग्ध उत्पादकों को संगठित करता है। (5) रानीवाड़ा डेयरी (जालौर/सांचोर) - राज्य की सबसे बड़ी दुग्ध संग्रहण डेयरी मानी जाती है। (6) मेट्रो डेयरी - बस्सी (जयपुर) में स्थापित आधुनिक दुग्ध प्रसंस्करण संयंत्र है। शीर्ष स्तर पर RCDF (जयपुर, 1977-78) 'सरस' ब्रांड नाम से राज्य भर में उत्पादों का विपणन करता है। अतः सही कूट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102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271/350</a:t>
            </a:r>
          </a:p>
        </p:txBody>
      </p:sp>
    </p:spTree>
  </p:cSld>
  <p:clrMapOvr>
    <a:masterClrMapping/>
  </p:clrMapOvr>
</p:sld>
</file>

<file path=ppt/slides/slide5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विभिन्न पर्यटन महोत्सवों (Tourism Festivals) को उनके आयोजन स्थलों से सही सुमेलित कीजिए: सूची-I (पर्यटन महोत्सव): सूची-I: A. मरु महोत्सव (Desert Festival) B. ऊँट महोत्सव (Camel Festival) C. थार महोत्सव (Thar Festival) D. हाथी महोत्सव (Elephant Festival) सूची-II: 1. जयपुर (आमेर) 2. बाड़मेर 3. जैसलमेर (सम के टीलों पर) 4. बीकानेर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446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272/350</a:t>
            </a:r>
          </a:p>
        </p:txBody>
      </p:sp>
    </p:spTree>
  </p:cSld>
  <p:clrMapOvr>
    <a:masterClrMapping/>
  </p:clrMapOvr>
</p:sld>
</file>

<file path=ppt/slides/slide5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प्रमुख पर्यटन उत्सव: (1) मरु महोत्सव - जैसलमेर (जनवरी-फरवरी, मिस्टर डेजर्ट व मिस मूमल); (2) ऊँट महोत्सव - बीकानेर (जनवरी); (3) थार महोत्सव - बाड़मेर (मार्च); (4) हाथी महोत्सव - जयपुर (फाल्गुन/होली); शरद/ग्रीष्म महोत्सव - माउंट आबू; मीरा महोत्सव - चित्तौड़गढ़; मारवाड़ महोत्सव - जोधपुर; ब्रज महोत्सव - भरतपुर; बेणेश्वर मेला - डूंगरपुर। अतः सही मिलान A-3, B-4, C-2,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446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272/350</a:t>
            </a:r>
          </a:p>
        </p:txBody>
      </p:sp>
    </p:spTree>
  </p:cSld>
  <p:clrMapOvr>
    <a:masterClrMapping/>
  </p:clrMapOvr>
</p:sld>
</file>

<file path=ppt/slides/slide5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माही बजाज सागर बहुउद्देशीय परियोजना (राजस्थान एवं गुजरात) के संबंध में निम्नलिखित कथनों पर विचार कीजिए: A. यह राजस्थान (45%) एवं गुजरात (55%) की संयुक्त जल-विद्युत एवं सिंचाई परियोजना है। B. परियोजना के तहत बांसवाड़ा के बोरखेड़ा गाँव के पास 'माही बजाज सागर बाँध' बनाया गया है जो 3109 मीटर लंबाई के साथ राजस्थान का सबसे लंबा बाँध है। C. बाँध से 8 किमी नीचे सिंचाई नहरों के संचालन हेतु 'कागदी पिकअप बाँध' (Kagdi Pickup Dam) बनाया गया है। D. इस परियोजना से उत्पादित शत-प्रतिशत (100%) विद्युत (140 MW) केवल राजस्थान राज्य को प्राप्त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273/350</a:t>
            </a:r>
          </a:p>
        </p:txBody>
      </p:sp>
    </p:spTree>
  </p:cSld>
  <p:clrMapOvr>
    <a:masterClrMapping/>
  </p:clrMapOvr>
</p:sld>
</file>

<file path=ppt/slides/slide5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 बजाज सागर परियोजना: 1966 के समझौते अनुसार जल व्यय व लागत अनुपात राजस्थान 45% व गुजरात 55% है। बोरखेड़ा (बांसवाड़ा) में बना मुख्य बाँध 3109 मीटर लंबा है जो राज्य का सबसे लंबा बाँध है। कागदी पिकअप बाँध से दाईं व बाईं मुख्य नहरें (आनंदपुरी व सागवाड़ा लिफ्ट) निकलती हैं। समझौते की विशेष शर्त अनुसार परियोजना से उत्पन्न समस्त 140 MW जल-विद्युत पर 100% अधिकार राजस्थान का है। गुजरात में कड़ाना बाँध निर्मित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273/350</a:t>
            </a:r>
          </a:p>
        </p:txBody>
      </p:sp>
    </p:spTree>
  </p:cSld>
  <p:clrMapOvr>
    <a:masterClrMapping/>
  </p:clrMapOvr>
</p:sld>
</file>

<file path=ppt/slides/slide5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जल संसाधनों के प्रबंधन एवं 'केंद्रीय भूजल बोर्ड' (CGWB) के वर्गीकरण के संदर्भ में विचार कीजिए: A. राजस्थान में देश की 5.5% जनसंख्या और 10.60% पशुधन निवास करता है, किंतु उपलब्ध जल मात्र 1% के आसपास है। B. राज्य के कुल 302 भूजल ब्लॉकों में से 216 ब्लॉक (लगभग 71%) 'अति-दोहित' (Over-exploited) श्रेणी में हैं। C. केवल 38 ब्लॉक सुरक्षित (Safe) श्रेणी में बचे हैं, जो अधिकांशतः नहरी सिंचित क्षेत्रों में स्थित हैं। D. 'अटल भूजल योजना' विश्व बैंक के सहयोग से राज्य के अति-दोहित ब्लॉकों में मांग-पक्षीय भूजल प्रबंधन हेतु संचालित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133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274/350</a:t>
            </a:r>
          </a:p>
        </p:txBody>
      </p:sp>
    </p:spTree>
  </p:cSld>
  <p:clrMapOvr>
    <a:masterClrMapping/>
  </p:clrMapOvr>
</p:sld>
</file>

<file path=ppt/slides/slide5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भूजल रिपोर्ट (Dynamic Groundwater Resources): राजस्थान में भूजल का दोहन पुनर्भरण दर की तुलना में 150% से अधिक हो चुका है। 302 ब्लॉकों में से 216 अति-दोहित (डार्क जोन), 32 क्रिटिकल, 11 सेमी-क्रिटिकल तथा मात्र 38 सुरक्षित श्रेणी में हैं। अत्यधिक दोहन से निपटने हेतु विश्व बैंक व केंद्र के 50:50 सहयोग से 17 जिलों की 38 पंचायत समितियों में 'अटल भूजल योजना' लागू है जहाँ समुदाय द्वारा जल सुरक्षा योजनाएं (WSPs) बनाई जाती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133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274/350</a:t>
            </a:r>
          </a:p>
        </p:txBody>
      </p:sp>
    </p:spTree>
  </p:cSld>
  <p:clrMapOvr>
    <a:masterClrMapping/>
  </p:clrMapOvr>
</p:sld>
</file>

<file path=ppt/slides/slide5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आर्थिक समीक्षा / अग्रिम अनुमान (2025-26) के अनुसार कृषि एवं सम्बद्ध क्षेत्र के प्रचलित मूल्यों पर क्षेत्रवार योगदान (GVA Share) पर विचार कीजिए: A. कृषि एवं सम्बद्ध क्षेत्र में सर्वाधिक योगदान 'पशुधन' (Livestock) उप-क्षेत्र का 49.35% है। B. द्वितीय सबसे बड़ा योगदान 'फसल' (Crops) उप-क्षेत्र का 42.61% है। C. 'वानिकी एवं लॉगिंग' (Forestry) का योगदान 7.49% तथा 'मत्स्य पालन' (Fisheries) का योगदान 0.54% है। D. प्रचलित मूल्यों पर कृषि एवं सम्बद्ध क्षेत्र का कुल सकल राज्य मूल्यवर्धन (GSVA) लगभग ₹4.41 लाख करोड़ अनुमानित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477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275/350</a:t>
            </a:r>
          </a:p>
        </p:txBody>
      </p:sp>
    </p:spTree>
  </p:cSld>
  <p:clrMapOvr>
    <a:masterClrMapping/>
  </p:clrMapOvr>
</p:sld>
</file>

<file path=ppt/slides/slide5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अर्थव्यवस्था में कृषि एवं सम्बद्ध क्षेत्र की संरचना अत्यधिक विशिष्ट है जहाँ फसलों से अधिक योगदान पशुधन का रहता है। 2025-26 के आधिकारिक अग्रिम अनुमानों के अनुसार ₹4.41 लाख करोड़ के कुल कृषि GVA में: पशुधन का हिस्सा 49.35% (प्रथम स्थान), फसलों का हिस्सा 42.61% (द्वितीय स्थान), वानिकी एवं लकड़ी कटाई 7.49% (तृतीय स्थान), तथा मत्स्य पालन 0.54% (चतुर्थ स्थान) है। यह आँकड़ा स्पष्ट करता है कि राज्य के ग्रामीण सकल घरेलू उत्पाद में दुग्ध, ऊन, मांस आदि पशु उत्पादों का योगदान फसलों से भी अधिक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477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275/350</a:t>
            </a:r>
          </a:p>
        </p:txBody>
      </p:sp>
    </p:spTree>
  </p:cSld>
  <p:clrMapOvr>
    <a:masterClrMapping/>
  </p:clrMapOvr>
</p:sld>
</file>

<file path=ppt/slides/slide5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2011 की जनगणना के अनुसार राजस्थान की कुल जनजातीय जनसंख्या में सर्वाधिक तथा द्वितीय सर्वाधिक प्रतिशत हिस्सा किन दो जनजातियों का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प्रथम सहरिया एवं द्वितीय मीणा</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प्रथम भील एवं द्वितीय गरासिया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प्रथम मीणा (लगभग 53%) एवं द्वितीय भील (लगभग 39%)</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प्रथम गरासिया एवं द्वितीय डामोर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820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276/350</a:t>
            </a:r>
          </a:p>
        </p:txBody>
      </p:sp>
    </p:spTree>
  </p:cSld>
  <p:clrMapOvr>
    <a:masterClrMapping/>
  </p:clrMapOvr>
</p:sld>
</file>

<file path=ppt/slides/slide5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प्रथम मीणा (लगभग 53%) एवं द्वितीय भील (लगभग 39%)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प्रथम सहरिया एवं द्वितीय मीणा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प्रथम भील एवं द्वितीय गरासिया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प्रथम गरासिया एवं द्वितीय डामोर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2011 की जनगणना के अनुसार राजस्थान की कुल जनजातीय जनसंख्या 92.38 लाख है। इसमें अकेले 'मीणा' जनजाति का हिस्सा लगभग 53.4% (सर्वाधिक) है जो पूर्वी व मध्य राजस्थान में निवास करते हैं। द्वितीय स्थान पर 'भील' जनजाति है जो कुल जनजातीय आबादी का लगभग 39.2% है और दक्षिणी अरावली में केंद्रित है। इन दोनों जनजातियों को मिलाकर राजस्थान की कुल जनजातीय आबादी का 92% से अधिक भाग बनता है। इसके बाद गरासिया (लगभग 3.5%), सहरिया (लगभग 1.2%), डामोर और अन्य जनजातियों का स्थान आता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820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276/350</a:t>
            </a:r>
          </a:p>
        </p:txBody>
      </p:sp>
    </p:spTree>
  </p:cSld>
  <p:clrMapOvr>
    <a:masterClrMapping/>
  </p:clrMapOvr>
</p:sld>
</file>

<file path=ppt/slides/slide5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जनसंख्या प्रवृत्तियों (1901 से 2011) के ऐतिहासिक रुझानों के संदर्भ में निम्नलिखित कथनों पर विचार कीजिए: A. 1901 से 2011 के 110 वर्षों के इतिहास में केवल 1911-1921 का दशक ऐसा रहा जब जनसंख्या वृद्धि दर ऋणात्मक (-6.29%) दर्ज की गई। B. राजस्थान में जनसंख्या घनत्व वर्ष 1901 के 26 व्यक्ति/वर्ग किमी से बढ़कर 2011 में 200 व्यक्ति/वर्ग किमी हो गया (लगभग 7.7 गुना वृद्धि)। C. राजस्थान में साक्षरता दर वर्ष 1951 के मात्र 8.02% से बढ़कर 2011 में 66.11% हो गई (8 गुना से अधिक वृद्धि)। D. राज्य में लिंगानुपात की प्रवृत्ति 1901 से 2011 के दौरान पूर्णतः स्थिर और एक समान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164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277/350</a:t>
            </a:r>
          </a:p>
        </p:txBody>
      </p:sp>
    </p:spTree>
  </p:cSld>
  <p:clrMapOvr>
    <a:masterClrMapping/>
  </p:clrMapOvr>
</p:sld>
</file>

<file path=ppt/slides/slide5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जनांकिकीय यात्रा में 1911-1921 का दशक 'छप्पनिया अकाल' और प्लेग/इन्फ्लूएंजा महामारी के कारण ऋणात्मक वृद्धि (-6.29%) वाला रहा जिसे जनांकिकीय विभाजक वर्ष कहा जाता है। 1901 में 26 घनत्व से 2011 में 200 घनत्व (7.7 गुना) हुआ तथा साक्षरता में 8 गुना से अधिक वृद्धि हुई। कथन D गलत है क्योंकि राज्य का लिंगानुपात स्थिर नहीं रहा बल्कि इसमें लगातार उतार-चढ़ाव आए हैं (1901 में 905, 1941 में 907, 1991 में 910, 2001 में 921 तथा 2011 में 928 हुआ)।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164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277/350</a:t>
            </a:r>
          </a:p>
        </p:txBody>
      </p:sp>
    </p:spTree>
  </p:cSld>
  <p:clrMapOvr>
    <a:masterClrMapping/>
  </p:clrMapOvr>
</p:sld>
</file>

<file path=ppt/slides/slide5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जनगणना 2011 के अनुसार राजस्थान में 'अनुसूचित जनजाति' (ST) के वितरण एवं विशेषताओं के संदर्भ में निम्नलिखित कथनों पर विचार कीजिए: A. राजस्थान में अनुसूचित जनजाति (ST) की कुल जनसंख्या 92.38 लाख है, जो राज्य की कुल जनसंख्या का 13.48% है। B. राज्य में ST जनसंख्या का सर्वाधिक प्रतिशत बांसवाड़ा (76.38%), डूंगरपुर (70.82%) और प्रतापगढ़ (63.42%) जिलों में पाया जाता है। C. बीकानेर (0.33%) और नागौर (0.31%) जिलों में ST जनसंख्या का प्रतिशत 1% से भी कम है। D. राजस्थान में मीणा जनजाति न्यूनतम जनसंख्या वाली तथा भील जनजाति दूसरी सबसे बड़ी जनजाति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507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278/350</a:t>
            </a:r>
          </a:p>
        </p:txBody>
      </p:sp>
    </p:spTree>
  </p:cSld>
  <p:clrMapOvr>
    <a:masterClrMapping/>
  </p:clrMapOvr>
</p:sld>
</file>

<file path=ppt/slides/slide5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अनुसूचित जनजाति (ST) 2011 की जनगणना के अनुसार 13.48% है। यह मुख्य रूप से दक्षिणी एवं पूर्वी राजस्थान में संकेंद्रित है। बांसवाड़ा (76.38%) और डूंगरपुर (70.82%) सर्वाधिक जनजातीय अनुपात वाले जिले हैं, जबकि पश्चिमी और उत्तरी जिलों (नागौर 0.31%, बीकानेर 0.33%, चूरू 0.55%, गंगानगर 0.68%) में इनकी संख्या नगण्य है। संख्या की दृष्टि से राज्य की सबसे बड़ी जनजाति मीणा (मुख्यतः जयपुर, दौसा, सवाई माधोपुर) है और दूसरी बड़ी जनजाति भील (उदयपुर, बांसवाड़ा) है। अतः सभी कथन सत्य हैं। ⚡ [परीक्षा-उपयोगी सूक्ष्म दृष्टि / RPSC Trap Alert]: कथन D असत्य है क्योंकि इसमें दिए गए तथ्य में त्रुटि है। वास्तविक तथ्य यह है कि सर्वाधिक स्थिति दर्ज की जाती है न कि न्यूनतम। अतः सही उत्तर विकल्प (A)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507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278/350</a:t>
            </a:r>
          </a:p>
        </p:txBody>
      </p:sp>
    </p:spTree>
  </p:cSld>
  <p:clrMapOvr>
    <a:masterClrMapping/>
  </p:clrMapOvr>
</p:sld>
</file>

<file path=ppt/slides/slide5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2011 की जनगणना के अनुसार राजस्थान राज्य का 'कुल लिंगानुपात' तथा 0 से 6 वर्ष आयु वर्ग के बच्चों का 'शिशु लिंगानुपात' क्रमशः कितना दर्ज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940 एवं 914</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928 एवं 888</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928 एवं 933</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910 एवं 874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851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279/350</a:t>
            </a:r>
          </a:p>
        </p:txBody>
      </p:sp>
    </p:spTree>
  </p:cSld>
  <p:clrMapOvr>
    <a:masterClrMapping/>
  </p:clrMapOvr>
</p:sld>
</file>

<file path=ppt/slides/slide5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928 एवं 888</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940 एवं 914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928 एवं 933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910 एवं 874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जनगणना 2011 के अनुसार राजस्थान का कुल लिंगानुपात (प्रति 1000 पुरुषों पर महिलाओं की संख्या) 928 है (जो 2001 के 921 से 7 अंक सुधरा है)। ग्रामीण लिंगानुपात 933 तथा नगरीय लिंगानुपात 914 है। सर्वाधिक लिंगानुपात डूंगरपुर (994) और राजसमंद (990) में है, जबकि सबसे कम धौलपुर (846) में है। दूसरी ओर, 0 से 6 वर्ष आयु वर्ग का 'शिशु लिंगानुपात' मात्र 888 दर्ज किया गया है (ग्रामीण 892, नगरीय 874)। सबसे कम शिशु लिंगानुपात झुंझुनूं (837) तथा सीकर (848) में दर्ज किया गया था।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851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279/350</a:t>
            </a:r>
          </a:p>
        </p:txBody>
      </p:sp>
    </p:spTree>
  </p:cSld>
  <p:clrMapOvr>
    <a:masterClrMapping/>
  </p:clrMapOvr>
</p:sld>
</file>

<file path=ppt/slides/slide5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समग्र लिंगानुपात (Sex Ratio 2011) के चरम आंकड़ों पर विचार कीजिए: A. राजस्थान का कुल लिंगानुपात 928 महिलाएं प्रति 1000 पुरुष है (ग्रामीण 933 तथा शहरी 914)। B. सर्वाधिक लिंगानुपात वाले शीर्ष जिले क्रमशः डूंगरपुर (994), राजसमंद (990) तथा पाली (987) हैं। C. सर्वाधिक लिंगानुपात वाला जिला धौलपुर (846) है, जिसके बाद जैसलमेर (852) एवं करौली (861) आते हैं। D. पाली जिले का ग्रामीण लिंगानुपात (1003) 2011 की जनगणना में 1000 से अधिक (महिलाओं की संख्या पुरुषों से अधिक) दर्ज किया गया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280/350</a:t>
            </a:r>
          </a:p>
        </p:txBody>
      </p:sp>
    </p:spTree>
  </p:cSld>
  <p:clrMapOvr>
    <a:masterClrMapping/>
  </p:clrMapOvr>
</p:sld>
</file>

<file path=ppt/slides/slide5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लिंगानुपात 2011: राज्य औसत 928 (2001 में 921 से 7 अंक सुधार)। दक्षिणी राजस्थान में लिंगानुपात श्रेष्ठ है (डूंगरपुर 994, राजसमंद 990)। चंबल/डांग क्षेत्र में न्यूनतम (धौलपुर 846)। पाली के ग्रामीण क्षेत्रों में पुरुषों के रोजगार हेतु पलायन (प्रवासन) के कारण ग्रामीण लिंगानुपात 1003 दर्ज हुआ। अतः सभी कथन सत्य हैं। ⚡ [परीक्षा-उपयोगी सूक्ष्म दृष्टि / RPSC Trap Alert]: कथन C असत्य है क्योंकि इसमें दिए गए तथ्य में त्रुटि है। वास्तविक तथ्य यह है कि न्यूनतम स्थिति दर्ज की जाती है न कि सर्वाधिक।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280/350</a:t>
            </a:r>
          </a:p>
        </p:txBody>
      </p:sp>
    </p:spTree>
  </p:cSld>
  <p:clrMapOvr>
    <a:masterClrMapping/>
  </p:clrMapOvr>
</p:sld>
</file>

<file path=ppt/slides/slide5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जनगणना 2011 के अनुसार राजस्थान में 0 से 6 वर्ष आयु वर्ग के 'शिशु लिंगानुपात' (Child Sex Ratio) के चरम जिलों को सुमेलित कीजिए: सूची-I: सूची-I: A. सर्वाधिक शिशु लिंगानुपात वाला जिला B. द्वितीय सर्वाधिक शिशु लिंगानुपात वाला जिला C. न्यूनतम शिशु लिंगानुपात वाला जिला D. द्वितीय न्यूनतम शिशु लिंगानुपात वाला जिला सूची-II: 1. प्रतापगढ़ (933) 2. झुंझुनूं (837) 3. सीकर (848) 4. बांसवाड़ा (934)</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538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281/350</a:t>
            </a:r>
          </a:p>
        </p:txBody>
      </p:sp>
    </p:spTree>
  </p:cSld>
  <p:clrMapOvr>
    <a:masterClrMapping/>
  </p:clrMapOvr>
</p:sld>
</file>

<file path=ppt/slides/slide5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2011 की जनगणना में राजस्थान का कुल शिशु लिंगानुपात (0-6 वर्ष) मात्र 888 दर्ज हुआ जो 2001 (909) की तुलना में 21 अंकों की चिंताजनक गिरावट थी। सर्वाधिक बाल लिंगानुपात आदिवासी बहुल दक्षिणी जिलों में दर्ज हुआ: बांसवाड़ा (934) प्रथम तथा प्रतापगढ़ (933) द्वितीय स्थान पर रहा (डूंगरपुर 922 के साथ तृतीय)। इसके विपरीत सबसे खराब स्थिति शेखावाटी अंचल में देखी गई जहाँ झुंझुनूं (837) सबसे नीचे तथा सीकर (848) दूसरे सबसे निचले स्थान पर रहा। ग्रामीण शिशु लिंगानुपात 892 तथा नगरीय शिशु लिंगानुपात 874 दर्ज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538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281/350</a:t>
            </a:r>
          </a:p>
        </p:txBody>
      </p:sp>
    </p:spTree>
  </p:cSld>
  <p:clrMapOvr>
    <a:masterClrMapping/>
  </p:clrMapOvr>
</p:sld>
</file>

<file path=ppt/slides/slide5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2011 की जनगणना के अनुसार राजस्थान के साक्षरता संबंधी आंकड़ों एवं संबंधित अग्रणी/न्यूनतम जिलों को सही सुमेलित कीजिए: सूची-I (साक्षरता सूचकांक): सूची-I: A. सर्वाधिक पुरुष साक्षरता वाला जिला B. न्यूनतम पुरुष साक्षरता वाला जिला C. सर्वाधिक महिला साक्षरता वाला जिला D. न्यूनतम महिला साक्षरता वाला जिला सूची-II: 1. जालौर (38.5%) 2. झुंझुनूं (86.9%) 3. प्रतापगढ़ एवं बांसवाड़ा (69.5%) 4. कोटा (65.9%)</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881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282/350</a:t>
            </a:r>
          </a:p>
        </p:txBody>
      </p:sp>
    </p:spTree>
  </p:cSld>
  <p:clrMapOvr>
    <a:masterClrMapping/>
  </p:clrMapOvr>
</p:sld>
</file>

<file path=ppt/slides/slide5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2011 की जनगणना के अनुसार राजस्थान के साक्षरता आंकड़े इस प्रकार हैं: 'पुरुष साक्षरता' (राज्य औसत 79.19%) में शीर्ष जिला झुंझुनूं (86.9%) तथा न्यूनतम जिला प्रतापगढ़ व बांसवाड़ा (69.5%) है। ' महिला साक्षरता' (राज्य औसत 52.12%) में शीर्ष जिला कोटा (65.9%) तथा न्यूनतम जिला जालौर (38.5%) है। कुल साक्षरता में कोटा प्रथम तथा जालौर अंतिम है। अतः सही मिलान A-2, B-3, C-4,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881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282/350</a:t>
            </a:r>
          </a:p>
        </p:txBody>
      </p:sp>
    </p:spTree>
  </p:cSld>
  <p:clrMapOvr>
    <a:masterClrMapping/>
  </p:clrMapOvr>
</p:sld>
</file>

<file path=ppt/slides/slide5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पूर्वी मैदानी प्रदेश के भौगोलिक उप-विभाजनों के संबंध में निम्नलिखित कथनों पर विचार कीजिए: A. पूर्वी मैदानी प्रदेश राज्य के लगभग 23.03% क्षेत्रफल पर विस्तृत है और यहाँ लगभग 39% जनसंख्या निवास करती है। B. इसे तीन प्रमुख बेसिनों- चंबल बेसिन, बनास-बाणगंगा बेसिन तथा 56 बेसिन (मध्य माही बेसिन) में वर्गीकृत किया जाता है। C. बनास बेसिन को पुनः दो भागों- दक्षिणी 'मेवाड़ का मैदान' (चित्तौड़, भीलवाड़ा, राजसमंद) तथा दक्षिणी 'मालपुरा-करौली का मैदान' (टोंक, सवाई माधोपुर) में बांटा जाता है। D. देवगढ़ (राजसमंद) के समीप स्थित अवशिष्ट पहाड़ियों युक्त टीलेनुमा अपरदित भूभाग को 'पीडमांट का मैदान' कहा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225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283/350</a:t>
            </a:r>
          </a:p>
        </p:txBody>
      </p:sp>
    </p:spTree>
  </p:cSld>
  <p:clrMapOvr>
    <a:masterClrMapping/>
  </p:clrMapOvr>
</p:sld>
</file>

<file path=ppt/slides/slide5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पूर्वी मैदानी प्रदेश टेथिस सागर का अवशेष है जो नदियों के कांप/जलोढ़ निक्षेपों से बना अत्यधिक उपजाऊ समतल मैदान है। क्षेत्रफल 23.03%, जनसंख्या 39%। 3 मुख्य बेसिन: (1) चंबल बेसिन (बीहड़ व उत्खात भूमि); (2) बनास-बाणगंगा बेसिन: मेवाड़ मैदान व मालपुरा-करौली मैदान; देवगढ़ (राजसमंद) के आसपास का समप्राय मैदान पीडमांट मैदान कहलाता है; (3) 56 का मैदान: बांसवाड़ा व प्रतापगढ़ के मध्य 56 गांवों/नालों का समूह (माही बेसिन)। अतः सभी चारों कथन सत्य हैं। ⚡ [परीक्षा-उपयोगी सूक्ष्म दृष्टि / RPSC Trap Alert]: कथन C असत्य है क्योंकि इसमें दिए गए तथ्य में त्रुटि है। वास्तविक तथ्य यह है कि उत्तरी भाग में स्थित है न कि दक्षिणी में। अतः सही उत्तर विकल्प (D)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225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283/350</a:t>
            </a:r>
          </a:p>
        </p:txBody>
      </p:sp>
    </p:spTree>
  </p:cSld>
  <p:clrMapOvr>
    <a:masterClrMapping/>
  </p:clrMapOvr>
</p:sld>
</file>

<file path=ppt/slides/slide5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जनगणना 2011 में राजस्थान के बाल लिंगानुपात (0-6 आयु वर्ग) में आई तीव्र गिरावट एवं इसके कारणों पर विचार कीजिए: A. राजस्थान में 0-6 आयु वर्ग का बाल लिंगानुपात 2001 के 909 से घटकर 2011 में 888 हो गया (अर्थात् 21 अंकों की भारी गिरावट दर्ज हुई)। B. राज्य में न्यूनतम बाल लिंगानुपात शेखावाटी के झुंझुनूं (837) एवं सीकर (848) जिलों में दर्ज किया गया। C. राज्य में न्यूनतम बाल लिंगानुपात दक्षिणी जनजातीय जिलों बाँसवाड़ा (934) एवं प्रतापगढ़ (933) में दर्ज किया गया। D. कन्या भ्रूण हत्या रोकथाम हेतु 'PCPNDT अधिनियम' का कड़ाई से क्रियान्वयन तथा 'मुखबिर योजना' के तहत ₹3 लाख तक की प्रोत्साहन राशि दी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569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284/350</a:t>
            </a:r>
          </a:p>
        </p:txBody>
      </p:sp>
    </p:spTree>
  </p:cSld>
  <p:clrMapOvr>
    <a:masterClrMapping/>
  </p:clrMapOvr>
</p:sld>
</file>

<file path=ppt/slides/slide5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बाल लिंगानुपात (0-6 वर्ष): 2001 में 909 से घटकर 2011 में 888 रह गया। ग्रामीण बाल लिंगानुपात 892 तथा शहरी 874 है। झुंझुनूं (837) व सीकर (848) में सोनोग्राफी द्वारा लिंग चयन मुख्य कारण रहा, जिसके कारण 'बेटी बचाओ बेटी पढ़ाओ' अभियान सर्वप्रथम यहीं से सघन किया गया। आदिवासी क्षेत्रों (बांसवाड़ा 934) में प्रकृति पूजक व लैंगिक समानता से अनुपात श्रेष्ठ है। डिकॉय ऑपरेशन व मुखबिर योजना से भ्रूण लिंग जांच पर अंकुश लगाया गया है। अतः सभी कथन सत्य हैं। ⚡ [परीक्षा-उपयोगी सूक्ष्म दृष्टि / RPSC Trap Alert]: कथन C असत्य है क्योंकि इसमें दिए गए तथ्य में त्रुटि है। वास्तविक तथ्य यह है कि सर्वाधिक स्थिति दर्ज की जाती है न कि न्यूनतम। अतः सही उत्तर विकल्प (A)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569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284/350</a:t>
            </a:r>
          </a:p>
        </p:txBody>
      </p:sp>
    </p:spTree>
  </p:cSld>
  <p:clrMapOvr>
    <a:masterClrMapping/>
  </p:clrMapOvr>
</p:sld>
</file>

<file path=ppt/slides/slide5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जनगणना 2011 के अनुसार राजस्थान में साक्षरता दर (Literacy Rate) एवं लैंगिक विषमता पर विचार कीजिए: A. राजस्थान की कुल साक्षरता दर 66.11% है (पुरुष साक्षरता 79.19% तथा महिला साक्षरता 52.12%)। B. राज्य में पुरुष एवं महिला साक्षरता दर के मध्य लगभग 27.07% का विशाल लैंगिक अंतराल (Gender Gap) पाया जाता है, जो पूरे भारत में सर्वाधिक है। C. सर्वाधिक साक्षरता वाले शीर्ष तीन जिले क्रमशः कोटा (76.6%), जयपुर (75.5%) तथा झुंझुनूं (74.1%) हैं। D. सर्वाधिक साक्षरता वाला जिला जालौर (54.9%) है, जहाँ महिला साक्षरता भी राज्य में न्यूनतम (38.5%) दर्ज की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912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285/350</a:t>
            </a:r>
          </a:p>
        </p:txBody>
      </p:sp>
    </p:spTree>
  </p:cSld>
  <p:clrMapOvr>
    <a:masterClrMapping/>
  </p:clrMapOvr>
</p:sld>
</file>

<file path=ppt/slides/slide5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साक्षरता 2011: कुल 66.11% (देश में 33वां स्थान)। पुरुष 79.19% (झुंझुनूं 86.9% सर्वाधिक, प्रतापगढ़ 69.5% न्यूनतम); महिला 52.12% (कोटा 65.9% सर्वाधिक, जालौर 38.5% न्यूनतम)। पुरुष-महिला साक्षरता का 27.07% अंतर राष्ट्रीय स्तर (16.68%) की तुलना में अत्यधिक चिंताजनक है। न्यूनतम कुल साक्षरता: जालौर (54.9%), सिरोही (55.3%), प्रतापगढ़ (56.0%)। अतः सभी चारों कथन सत्य हैं। ⚡ [परीक्षा-उपयोगी सूक्ष्म दृष्टि / RPSC Trap Alert]: कथन D असत्य है क्योंकि इसमें दिए गए तथ्य में त्रुटि है। वास्तविक तथ्य यह है कि न्यूनतम स्थिति दर्ज की जाती है न कि सर्वाधिक।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912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285/350</a:t>
            </a:r>
          </a:p>
        </p:txBody>
      </p:sp>
    </p:spTree>
  </p:cSld>
  <p:clrMapOvr>
    <a:masterClrMapping/>
  </p:clrMapOvr>
</p:sld>
</file>

<file path=ppt/slides/slide5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वर्ष 2011 की जनगणना के अनुसार राजस्थान में 'न्यूनतम महिला साक्षरता' (Female Literacy) वाले 5 जिलों का सही आरोही (बढ़ते हुए) क्रम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जालौर &lt; बाड़मेर &lt; जैसलमेर &lt; सिरोही &lt; डूंगरपुर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सिरोही &lt; जालौर &lt; बाड़मेर &lt; जैसलमेर &lt; बांसवाड़ा</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जालौर (38.5%) &lt; सिरोही (39.7%) &lt; जैसलमेर (39.7%) &lt; बाड़मेर (40.6%) &lt; प्रतापगढ़ (42.4%)</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प्रतापगढ़ &lt; जालौर &lt; सिरोही &lt; बाड़मेर &lt; जैसलमेर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256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286/350</a:t>
            </a:r>
          </a:p>
        </p:txBody>
      </p:sp>
    </p:spTree>
  </p:cSld>
  <p:clrMapOvr>
    <a:masterClrMapping/>
  </p:clrMapOvr>
</p:sld>
</file>

<file path=ppt/slides/slide5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जालौर (38.5%) &lt; सिरोही (39.7%) &lt; जैसलमेर (39.7%) &lt; बाड़मेर (40.6%) &lt; प्रतापगढ़ (42.4%)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जालौर &lt; बाड़मेर &lt; जैसलमेर &lt; सिरोही &lt; डूंगरपुर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सिरोही &lt; जालौर &lt; बाड़मेर &lt; जैसलमेर &lt; बांसवाड़ा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प्रतापगढ़ &lt; जालौर &lt; सिरोही &lt; बाड़मेर &lt; जैसलमेर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2011 की जनगणना के अनुसार राजस्थान में महिला साक्षरता दर 52.12% है, जो राष्ट्रीय औसत से काफी कम है। राज्य में न्यूनतम महिला साक्षरता वाले 5 जिलों का आरोही (बढ़ता हुआ) क्रम इस प्रकार है: (1) जालौर - 38.5% (राज्य में सबसे कम), (2) सिरोही - 39.7%, (3) जैसलमेर - 39.7%, (4) बाड़मेर - 40.6%, तथा (5) प्रतापगढ़ - 42.4%। सर्वाधिक महिला साक्षरता कोटा (65.9%) और जयपुर (64.0%) में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256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286/350</a:t>
            </a:r>
          </a:p>
        </p:txBody>
      </p:sp>
    </p:spTree>
  </p:cSld>
  <p:clrMapOvr>
    <a:masterClrMapping/>
  </p:clrMapOvr>
</p:sld>
</file>

<file path=ppt/slides/slide5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2011 की जनगणना के अनुसार राजस्थान का 'सर्वाधिक साक्षरता' वाला जिला तथा 'न्यूनतम साक्षरता' वाला जिला क्रमशः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कोटा (76.6%) एवं बाड़मेर (56.5%)</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जयपुर (75.5%) एवं सिरोही (55.3%)</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झुंझुनूं (74.1%) एवं प्रतापगढ़ (56.0%)</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कोटा (76.6%) एवं जालौर (54.9%)</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287/350</a:t>
            </a:r>
          </a:p>
        </p:txBody>
      </p:sp>
    </p:spTree>
  </p:cSld>
  <p:clrMapOvr>
    <a:masterClrMapping/>
  </p:clrMapOvr>
</p:sld>
</file>

<file path=ppt/slides/slide5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कोटा (76.6%) एवं जालौर (54.9%)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 (76.6%) एवं बाड़मेर (56.5%)</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(75.5%) एवं सिरोही (55.3%)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झुंझुनूं (74.1%) एवं प्रतापगढ़ (56.0%)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जनगणना 2011 के अनुसार राजस्थान की कुल साक्षरता दर 66.11% है। राज्य का सर्वाधिक साक्षरता वाला जिला 'कोटा' है, जहाँ साक्षरता दर 76.6% दर्ज की गई है (इसके बाद जयपुर 75.5%, झुंझुनूं 74.1%, सीकर 71.9% हैं)। राज्य का सबसे कम साक्षरता वाला जिला 'जालौर' है, जहाँ साक्षरता दर मात्र 54.9% है (इसके बाद सिरोही 55.3%, प्रतापगढ़ 56.0%, बांसवाड़ा 56.3%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287/350</a:t>
            </a:r>
          </a:p>
        </p:txBody>
      </p:sp>
    </p:spTree>
  </p:cSld>
  <p:clrMapOvr>
    <a:masterClrMapping/>
  </p:clrMapOvr>
</p:sld>
</file>

<file path=ppt/slides/slide5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2011 की जनगणना के अनुसार राजस्थान के प्रमुख जिलों को उनके संबंधित जनसंख्या घनत्व (व्यक्ति प्रति वर्ग किमी) के साथ सही सुमेलित कीजिए: सूची-I (जिला): सूची-I: A. जयपुर B. भरतपुर C. जैसलमेर D. बीकानेर सूची-II: 1. 17 2. 78 3. 595 4. 503</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943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288/350</a:t>
            </a:r>
          </a:p>
        </p:txBody>
      </p:sp>
    </p:spTree>
  </p:cSld>
  <p:clrMapOvr>
    <a:masterClrMapping/>
  </p:clrMapOvr>
</p:sld>
</file>

<file path=ppt/slides/slide5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2011 में राजस्थान के जिलों के जनसंख्या घनत्व के आँकड़े इस प्रकार हैं: 'जयपुर' 595 व्यक्ति प्रति वर्ग किमी के साथ राज्य का सर्वोच्च घनत्व वाला जिला है। 'भरतपुर' 503 व्यक्ति प्रति वर्ग किमी के साथ दूसरे स्थान पर है। 'जैसलमेर' मात्र 17 व्यक्ति प्रति वर्ग किमी के साथ भारत में अरुणाचल प्रदेश के बराबर राज्य का सबसे कम घनत्व वाला जिला है। 'बीकानेर' 78 व्यक्ति प्रति वर्ग किमी के साथ दूसरा न्यूनतम घनत्व वाला जिला है। अतः सही मिलान A-3, B-4, C-1, D-2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943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288/350</a:t>
            </a:r>
          </a:p>
        </p:txBody>
      </p:sp>
    </p:spTree>
  </p:cSld>
  <p:clrMapOvr>
    <a:masterClrMapping/>
  </p:clrMapOvr>
</p:sld>
</file>

<file path=ppt/slides/slide5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जनगणना 2011 के अनुसार राजस्थान में 'दशकीय जनसंख्या वृद्धि दर' (Decadal Growth Rate) के संदर्भ में निम्नलिखित कथनों पर विचार कीजिए: A. 2001-2011 के दशक में राजस्थान की औसत दशकीय जनसंख्या वृद्धि दर 21.31% रही है। B. राज्य में सर्वाधिक दशकीय जनसंख्या वृद्धि दर बाड़मेर (32.5%) तथा जैसलमेर (31.8%) जिलों में दर्ज की गई। C. राज्य में न्यूनतम दशकीय जनसंख्या वृद्धि दर श्रीगंगानगर (10.0%) तथा झुंझुनूं (11.7%) जिलों में दर्ज की गई। D. राजस्थान के सभी 33 जिलों में जनसंख्या वृद्धि दर 30% से अधिक रही।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286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289/350</a:t>
            </a:r>
          </a:p>
        </p:txBody>
      </p:sp>
    </p:spTree>
  </p:cSld>
  <p:clrMapOvr>
    <a:masterClrMapping/>
  </p:clrMapOvr>
</p:sld>
</file>

<file path=ppt/slides/slide5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जनगणना 2011 के अनुसार राजस्थान की दशकीय वृद्धि दर 21.31% थी (जो 1991-2001 की 28.41% से लगभग 7% कम थी)। राज्य में केवल दो जिले-बाड़मेर (32.5%) और जैसलमेर (31.8%) ही ऐसे थे जहाँ वृद्धि दर 30% से अधिक रही (जोधपुर 27.7% के साथ तीसरे स्थान पर था)। सबसे कम वृद्धि दर श्रीगंगानगर (10.0%) और झुंझुनूं (11.7%) में रही। कथन D असत्य है क्योंकि अधिकांश जिलों में वृद्धि दर 30% से कम थी।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286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289/350</a:t>
            </a:r>
          </a:p>
        </p:txBody>
      </p:sp>
    </p:spTree>
  </p:cSld>
  <p:clrMapOvr>
    <a:masterClrMapping/>
  </p:clrMapOvr>
</p:sld>
</file>

<file path=ppt/slides/slide5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कार्य सहभागिता दर (WPR) एवं नगरीय जनसंख्या संकेंद्रण के संदर्भ में निम्नलिखित कथनों पर विचार कीजिए: A. 2011 की जनगणना के अनुसार राजस्थान में कुल कार्य सहभागिता दर (Work Participation Rate) 43.60% दर्ज की गई थी। B. राज्य में सर्वाधिक कार्य सहभागिता दर प्रतापगढ़ जिले (55.46%) में तथा न्यूनतम जयपुर जिले (37.33%) में दर्ज की गई। C. जनगणना 2011 के अनुसार राजस्थान में 1 लाख से अधिक जनसंख्या वाले कुल 30 शहर/नगर (Cities) थे। D. राज्य में 5 लाख से अधिक जनसंख्या वाले 3 प्रमुख नगर जयपुर, जोधपुर और गंगानगर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630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290/350</a:t>
            </a:r>
          </a:p>
        </p:txBody>
      </p:sp>
    </p:spTree>
  </p:cSld>
  <p:clrMapOvr>
    <a:masterClrMapping/>
  </p:clrMapOvr>
</p:sld>
</file>

<file path=ppt/slides/slide5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2011 की जनगणना के अनुसार राजस्थान की 43.6% आबादी कामकाजी (मुख्य व सीमांत श्रमिक) है। आदिवासी बहुल प्रतापगढ़, डूंगरपुर और बांसवाड़ा में कृषि व वनोपज संग्रहण में महिलाओं की उच्च भागीदारी के कारण कार्य सहभागिता दर सर्वाधिक (प्रतापगढ़ 55.46% के साथ शीर्ष) है, जबकि नगरीकृत जयपुर में यह न्यूनतम (37.3%) है। 2011 में राज्य में 1 लाख से अधिक जनसंख्या वाले 30 शहर थे तथा 5 लाख से अधिक आबादी वाले नगर निगम शहर जयपुर (30.4 लाख), जोधपुर (10.3 लाख) और कोटा (10.0 लाख) हैं। अतः सभी कथन सत्य हैं। ⚡ [परीक्षा-उपयोगी सूक्ष्म दृष्टि / RPSC Trap Alert]: कथन D असत्य है क्योंकि इसमें दिए गए तथ्य में त्रुटि है। वास्तविक तथ्य यह है कि हाड़ौती/कोटा संभाग से संबंधित है न कि गंगानगर से।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630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290/350</a:t>
            </a:r>
          </a:p>
        </p:txBody>
      </p:sp>
    </p:spTree>
  </p:cSld>
  <p:clrMapOvr>
    <a:masterClrMapping/>
  </p:clrMapOvr>
</p:sld>
</file>

<file path=ppt/slides/slide5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सबसे बड़ी एवं सर्वाधिक शिक्षित जनजाति 'मीणा' (Meena) के सामाजिक एवं ऐतिहासिक संदर्भों पर विचार कीजिए: A. मीणा राजस्थान की जनसंख्या में सबसे बड़ी (राज्य की कुल ST आबादी का लगभग 53%) एवं सबसे समृद्ध व शिक्षित जनजाति है। B. वर्ष 1944 में नीम का थाना (सीकर) में जैन मुनि मगन सागर की अध्यक्षता में 'मीणा क्षेत्रीय महासभा' का ऐतिहासिक सम्मेलन हुआ जहाँ 'मीन पुराण' रचित हुआ। C. मीणा समाज पारंपरिक रूप से दो प्रमुख वर्गों में बंटा है: (1) जमींदार मीणा (कृषक व पशुपालक) तथा (2) चौकीदार मीणा (राजमहलों व खजानों के रक्षक)। D. अंग्रेजों द्वारा 1930 में लागू किए गए अपमानजनक 'जरायम पेशा कानून' (दांडिक जनजाति अधिनियम) को 1952 में पूर्णतः समाप्त कराया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973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291/350</a:t>
            </a:r>
          </a:p>
        </p:txBody>
      </p:sp>
    </p:spTree>
  </p:cSld>
  <p:clrMapOvr>
    <a:masterClrMapping/>
  </p:clrMapOvr>
</p:sld>
</file>

<file path=ppt/slides/slide5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मीणा जनजाति: मत्स्य (भगवान विष्णु के मत्स्य अवतार) से उत्पत्ति। ढूंढाड़ व हाड़ौती (जयपुर, दौसा, सवाई माधोपुर, करौली) में प्रधानता। 1930 का जरायम पेशा कानून जिसमें 12 वर्ष से ऊपर के स्त्री-पुरुषों को थाने में हाजिरी देनी होती थी, 1944 के नीम का थाना सम्मेलन व बावा लक्ष्मीनारायण झरवाल आदि के प्रयासों से 1952 में रद्द हुआ।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973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291/350</a:t>
            </a:r>
          </a:p>
        </p:txBody>
      </p:sp>
    </p:spTree>
  </p:cSld>
  <p:clrMapOvr>
    <a:masterClrMapping/>
  </p:clrMapOvr>
</p:sld>
</file>

<file path=ppt/slides/slide5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'माडा योजना' (MADA) एवं जनजातीय विकास के विशिष्ट दृष्टिकोणों पर विचार कीजिए: A. टीएसपी क्षेत्र (TSP Area) - 50% से अधिक जनजातीय आबादी वाले सघन ब्लॉक (बांसवाड़ा, डूंगरपुर, प्रतापगढ़ आदि)। B. माडा पॉकेट्स (MADA - Modified Area Development Approach) - गैर-टीएसपी जिलों में 10,000 की कुल जनसंख्या में 50% या अधिक एसटी वाले बिखरे गाँव समूह। C. माडा क्लस्टर्स (MADA Clusters) - 5,000 की आबादी में 50% एसटी वाले लघु गाँव समूह। D. बिखरी जनजाति विकास कार्यक्रम (Scattered Tribal Development) - उन आदिवासियों हेतु जो टीएसपी या माडा क्षेत्र के बाहर एकाकी रूप से निवास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317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292/350</a:t>
            </a:r>
          </a:p>
        </p:txBody>
      </p:sp>
    </p:spTree>
  </p:cSld>
  <p:clrMapOvr>
    <a:masterClrMapping/>
  </p:clrMapOvr>
</p:sld>
</file>

<file path=ppt/slides/slide5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जनजातीय विकास कार्यक्रम संरचना: (1) टीएसपी (सघन आदिवासी क्षेत्र - 8 जिले); (2) माडा पॉकेट्स (44 पॉकेट्स 18 जिलों में); (3) माडा क्लस्टर (8 क्लस्टर); (4) सहरिया क्षेत्र (बारां की 2 तहसीलें); (5) बिखरी जनजाति योजना (शेष सभी जिलों में)। इस बहुस्तरीय रणनीति से अंतिम छोर के आदिवासी तक विकास लाभ पहुंचाया जाता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317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292/350</a:t>
            </a:r>
          </a:p>
        </p:txBody>
      </p:sp>
    </p:spTree>
  </p:cSld>
  <p:clrMapOvr>
    <a:masterClrMapping/>
  </p:clrMapOvr>
</p:sld>
</file>

<file path=ppt/slides/slide5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जनगणना 2011 के अनुसार राजस्थान के सर्वाधिक 'जनसंख्या घनत्व' (Population Density) वाले शीर्ष 4 जिलों का सही अवरोही क्रम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जयपुर (595) &gt; भरतपुर (503) &gt; दौसा (476) &gt; अलवर (438)</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जयपुर (595) &gt; अलवर (438) &gt; भरतपुर (503) &gt; दौसा (476)</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जयपुर (595) &gt; दौसा (476) &gt; भरतपुर (503) &gt; कोटा (374)</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भरतपुर (503) &gt; जयपुर (595) &gt; अलवर (438) &gt; दौसा (476)</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661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293/350</a:t>
            </a:r>
          </a:p>
        </p:txBody>
      </p:sp>
    </p:spTree>
  </p:cSld>
  <p:clrMapOvr>
    <a:masterClrMapping/>
  </p:clrMapOvr>
</p:sld>
</file>

<file path=ppt/slides/slide5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जयपुर (595) &gt; भरतपुर (503) &gt; दौसा (476) &gt; अलवर (438)</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(595) &gt; अलवर (438) &gt; भरतपुर (503) &gt; दौसा (476)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(595) &gt; दौसा (476) &gt; भरतपुर (503) &gt; कोटा (374)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भरतपुर (503) &gt; जयपुर (595) &gt; अलवर (438) &gt; दौसा (476)</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2011 की जनगणना के अनुसार राजस्थान का औसत जनसंख्या घनत्व 200 व्यक्ति प्रति वर्ग किलोमीटर है। सर्वाधिक जनसंख्या घनत्व वाले शीर्ष 4 जिलों का सही अवरोही क्रम इस प्रकार है: (1) जयपुर - 595 व्यक्ति/वर्ग किमी, (2) भरतपुर - 503 व्यक्ति/वर्ग किमी (राज्य में केवल ये दो जिले ही 500 से अधिक घनत्व वाले हैं), (3) दौसा - 476 व्यक्ति/वर्ग किमी, तथा (4) अलवर - 438 व्यक्ति/वर्ग किमी। सबसे कम घनत्व जैसलमेर (17), बीकानेर (78) और बाड़मेर (92) में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661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293/350</a:t>
            </a:r>
          </a:p>
        </p:txBody>
      </p:sp>
    </p:spTree>
  </p:cSld>
  <p:clrMapOvr>
    <a:masterClrMapping/>
  </p:clrMapOvr>
</p:sld>
</file>

<file path=ppt/slides/slide5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वर्ष 2011 की जनगणना के अनुसार राजस्थान के किस जिले में कुल जनसंख्या में 'अनुसूचित जाति' (SC) का 'सर्वाधिक प्रतिशत' दर्ज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हनुमानगढ़ (27.85%)</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श्रीगंगानगर (36.58%)</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करौली (22.28%)</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धौलपुर (20.36%)</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294/350</a:t>
            </a:r>
          </a:p>
        </p:txBody>
      </p:sp>
    </p:spTree>
  </p:cSld>
  <p:clrMapOvr>
    <a:masterClrMapping/>
  </p:clrMapOvr>
</p:sld>
</file>

<file path=ppt/slides/slide5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श्रीगंगानगर (36.58%)</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हनुमानगढ़ (27.85%)</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करौली (22.28%)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धौलपुर (20.36%)</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2011 की जनगणना के अनुसार राजस्थान में अनुसूचित जाति (SC) की जनसंख्या का सर्वाधिक अनुपात (प्रतिशत) 'श्रीगंगानगर' जिले में दर्ज किया गया है, जहाँ कुल आबादी का 36.58% भाग अनुसूचित जाति का है। इसके पश्चात हनुमानगढ़ जिला 27.85% के साथ दूसरे स्थान पर, करौली 22.28% के साथ तीसरे स्थान पर तथा भरतपुर व चूरू आते हैं। संख्या (Numbers) की दृष्टि से सर्वाधिक SC जनसंख्या जयपुर जिले में निवास करती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294/350</a:t>
            </a:r>
          </a:p>
        </p:txBody>
      </p:sp>
    </p:spTree>
  </p:cSld>
  <p:clrMapOvr>
    <a:masterClrMapping/>
  </p:clrMapOvr>
</p:sld>
</file>

<file path=ppt/slides/slide5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जनांकिकीय विकास यात्रा में किस दशक को 'ऋणात्मक जनसंख्या वृद्धि का विभाजक दशक' कहा जाता है तथा किस दशक में सर्वाधिक दशकीय वृद्धि दर दर्ज की गई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1901-1911 विभाजक तथा 1981-1991 सर्वाधिक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1951-1961 विभाजक तथा 2001-2011 सर्वाधिक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1911-1921 दशक (वृद्धि दर -6.29%) विभाजक दशक तथा 1971-1981 दशक (वृद्धि दर +32.97%) सर्वाधिक वृद्धि दशक</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1921-1931 विभाजक तथा 1991-2001 सर्वाधिक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348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295/350</a:t>
            </a:r>
          </a:p>
        </p:txBody>
      </p:sp>
    </p:spTree>
  </p:cSld>
  <p:clrMapOvr>
    <a:masterClrMapping/>
  </p:clrMapOvr>
</p:sld>
</file>

<file path=ppt/slides/slide5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1911-1921 दशक (वृद्धि दर -6.29%) विभाजक दशक तथा 1971-1981 दशक (वृद्धि दर +32.97%) सर्वाधिक वृद्धि दशक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1901-1911 विभाजक तथा 1981-1991 सर्वाधिक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1951-1961 विभाजक तथा 2001-2011 सर्वाधिक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1921-1931 विभाजक तथा 1991-2001 सर्वाधिक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110 वर्षों के जनगणना इतिहास (1901-2011) में 1911-1921 का दशक एकमात्र ऐसा काल था जब राज्य की जनसंख्या बढ़ने के बजाय 6.29% घट गई थी (छप्पनिया अकाल, प्लेग व स्पेनिश फ्लू महामारी के कारण), इसलिए 1921 को 'महान जनांकिकीय विभाजक वर्ष' (Great Demographic Divide) कहा जाता है। इसके विपरीत, आजादी के बाद स्वास्थ्य सेवाओं के विस्तार और मृत्यु दर में भारी कमी के चलते वर्ष 1971-1981 के दशक में राजस्थान में अब तक की सर्वाधिक दशकीय जनसंख्या वृद्धि दर (+32.97%) दर्ज की गई थी। इसके बाद से वृद्धि दर में निरंतर मंदी का रुझान है (2001-2011 में 21.31%)।</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348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295/350</a:t>
            </a:r>
          </a:p>
        </p:txBody>
      </p:sp>
    </p:spTree>
  </p:cSld>
  <p:clrMapOvr>
    <a:masterClrMapping/>
  </p:clrMapOvr>
</p:sld>
</file>

<file path=ppt/slides/slide5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जनगणना 2011 के अनुसार राजस्थान के 400 से अधिक जनघनत्व (Density &gt; 400) वाले चार प्रमुख पूर्वी जिलों पर विचार कीजिए: A. राजस्थान का राज्य औसत जनघनत्व 200 व्यक्ति प्रति वर्ग किमी है (जो 2001 में 165 था)। B. जयपुर जिला 595 व्यक्ति प्रति वर्ग किमी के साथ राजस्थान का सर्वाधिक जनघनत्व वाला जिला है। C. भरतपुर (503 व्यक्ति/वर्ग किमी), दौसा (476 व्यक्ति/वर्ग किमी) तथा अलवर (438 व्यक्ति/वर्ग किमी) अन्य तीन जिले हैं जिनका जनघनत्व 400 से अधिक है। D. पूर्वी मरुस्थल में स्थित जैसलमेर जिले का जनघनत्व मात्र 17 व्यक्ति प्रति वर्ग किमी (भारत के अरुणाचल प्रदेश के समकक्ष)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691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296/350</a:t>
            </a:r>
          </a:p>
        </p:txBody>
      </p:sp>
    </p:spTree>
  </p:cSld>
  <p:clrMapOvr>
    <a:masterClrMapping/>
  </p:clrMapOvr>
</p:sld>
</file>

<file path=ppt/slides/slide5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जनघनत्व 2011: राज्य औसत 200। 400+ घनत्व वाले 4 जिले: जयपुर (595), भरतपुर (503), दौसा (476), अलवर (438)। 100 से कम घनत्व वाले 3 जिले: जैसलमेर (17), बीकानेर (78), बाड़मेर (92)। पूर्वी मैदानों में उपजाऊ जलोढ़ मृदा, समतल भूमि व पर्याप्त वर्षा के कारण जनसंख्या का भारी संकेंद्रण है। अतः सभी चारों कथन सत्य हैं। ⚡ [परीक्षा-उपयोगी सूक्ष्म दृष्टि / RPSC Trap Alert]: कथन D असत्य है क्योंकि इसमें दिए गए तथ्य में त्रुटि है। वास्तविक तथ्य यह है कि पश्चिमी मरुस्थलीय भाग से संबंधित है न कि पूर्वी से। अतः सही उत्तर विकल्प (D)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691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296/350</a:t>
            </a:r>
          </a:p>
        </p:txBody>
      </p:sp>
    </p:spTree>
  </p:cSld>
  <p:clrMapOvr>
    <a:masterClrMapping/>
  </p:clrMapOvr>
</p:sld>
</file>

<file path=ppt/slides/slide5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नगरीकरण के स्तर (Urbanization 2011) एवं क्षेत्रीय विषमताओं पर विचार कीजिए: A. राजस्थान की कुल जनसंख्या का 24.87% भाग शहरों/नगरों में तथा 75.13% भाग ग्रामीण क्षेत्रों में निवास करता है। B. प्रतिशत की दृष्टि से सर्वाधिक नगरीकृत जिला कोटा (60.31%) है, जिसके बाद जयपुर (52.40%) का स्थान है। C. प्रतिशत की दृष्टि से न्यूनतम नगरीकृत जिला डूंगरपुर (मात्र 6.39%) है, जिसके बाद बाड़मेर (6.98%) एवं प्रतापगढ़ (8.27%) आते हैं। D. जनसंख्या के पूर्ण संख्यात्मक आकार की दृष्टि से न्यूनतम शहरी जनसंख्या जयपुर जिले में निवास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035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297/350</a:t>
            </a:r>
          </a:p>
        </p:txBody>
      </p:sp>
    </p:spTree>
  </p:cSld>
  <p:clrMapOvr>
    <a:masterClrMapping/>
  </p:clrMapOvr>
</p:sld>
</file>

<file path=ppt/slides/slide5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नगरीकरण परिदृश्य (2011): राज्य में शहरी आबादी 1.70 करोड़ (24.87%)। कोटा कोचिंग हब व औद्योगिक शहर होने से सर्वाधिक शहरीकृत (60.31%) है। डूंगरपुर, बाड़मेर व प्रतापगढ़ ग्रामीण-जनजातीय अर्थव्यवस्था होने से न्यूनतम नगरीकृत हैं। जयपुर में सर्वाधिक (30+ लाख) शहरी आबादी रहती है। अतः सभी चारों कथन सत्य हैं। ⚡ [परीक्षा-उपयोगी सूक्ष्म दृष्टि / RPSC Trap Alert]: कथन D असत्य है क्योंकि इसमें दिए गए तथ्य में त्रुटि है। वास्तविक तथ्य यह है कि सर्वाधिक स्थिति दर्ज की जाती है न कि न्यूनतम। अतः सही उत्तर विकल्प (A)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035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297/350</a:t>
            </a:r>
          </a:p>
        </p:txBody>
      </p:sp>
    </p:spTree>
  </p:cSld>
  <p:clrMapOvr>
    <a:masterClrMapping/>
  </p:clrMapOvr>
</p:sld>
</file>

<file path=ppt/slides/slide5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नवंबर 2025 में राजस्थान सरकार द्वारा बड़े शहरों के नगर निगमों के संबंध में लिए गए नीतिगत निर्णय पर विचार कीजिए: A. वर्ष 2019 में तत्कालीन सरकार द्वारा जयपुर, जोधपुर एवं कोटा में दो-दो नगर निगम (हेरिटेज एवं ग्रेटर) बना दिए गए थे। B. नवंबर 2025 में राजस्थान मंत्रिमंडल द्वारा प्रशासनिक समन्वय एवं वित्तीय दक्षता बढ़ाने हेतु जयपुर, जोधपुर एवं गंगानगर में पुनः 'एकल एकीकृत नगर निगम' (Unified Municipal Corporation) बनाने का निर्णय लिया गया। C. द्विभाजन से स्वच्छता प्रबंधन, नागरिक सेवाओं तथा विकास कार्यों में दोहराव और समन्वय का भारी अभाव देखा जा रहा था। D. इस निर्णय से इन महानगरों के लिए एक ही महापौर (मेयर) और एकीकृत प्रशासनिक मशीनरी बहाल 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378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298/350</a:t>
            </a:r>
          </a:p>
        </p:txBody>
      </p:sp>
    </p:spTree>
  </p:cSld>
  <p:clrMapOvr>
    <a:masterClrMapping/>
  </p:clrMapOvr>
</p:sld>
</file>

<file path=ppt/slides/slide5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एकल नगर निगम व्यवस्था (नवंबर 2025): 2019 में जयपुर, जोधपुर, कोटा को दो-दो निगमों में बांटने से वार्ड सीमाओं, सफाई टेंडरों और बजट को लेकर अंतहीन विवाद हुए। राज्य सरकार ने 2025 में एकीकृत मास्टर प्लान और सिंगल-विंडो अर्बन गवर्नेंस हेतु तीनों शहरों में एकल नगर निगम प्रणाली की पुनर्स्थापना को मंजूरी दी। अतः सभी चारों कथन सत्य हैं। ⚡ [परीक्षा-उपयोगी सूक्ष्म दृष्टि / RPSC Trap Alert]: कथन B असत्य है क्योंकि इसमें दिए गए तथ्य में त्रुटि है। वास्तविक तथ्य यह है कि हाड़ौती/कोटा संभाग से संबंधित है न कि गंगानगर से।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378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298/350</a:t>
            </a:r>
          </a:p>
        </p:txBody>
      </p:sp>
    </p:spTree>
  </p:cSld>
  <p:clrMapOvr>
    <a:masterClrMapping/>
  </p:clrMapOvr>
</p:sld>
</file>

<file path=ppt/slides/slide5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कौन-सी जनजाति खैर (Acacia catechu) के वृक्षों से हांडी प्रणाली द्वारा पारंपरिक रूप से 'कत्था' तैयार करने में विशेषज्ञ मानी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गरासिया जनजाति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सहरिया जनजाति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काथोड़ी जनजाति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डामोर जनजाति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722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299/350</a:t>
            </a:r>
          </a:p>
        </p:txBody>
      </p:sp>
    </p:spTree>
  </p:cSld>
  <p:clrMapOvr>
    <a:masterClrMapping/>
  </p:clrMapOvr>
</p:sld>
</file>

<file path=ppt/slides/slide5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काथोड़ी जनजाति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गरासिया जनजाति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सहरिया जनजाति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डामोर जनजाति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काथोड़ी जनजाति मूलतः महाराष्ट्र के खानदेश की रहने वाली है, जिसे उदयपुर, डूंगरपुर और बारां के जंगलों में खैर के वृक्षों से कत्था निकालने हेतु लाया गया था। कत्था बनाने के व्यवसाय के कारण ही इन्हें 'काथोड़ी' कहा गया। इस जनजाति की महिलाएं मराठी शैली में साड़ी पहनती हैं जिसे 'फड़का' कहा जाता है। काथोड़ी समाज में पुरुषों और महिलाओं द्वारा मिलकर शराब पीने का सामाजिक रिवाज है। इनके मुखिया को 'नायक' कहा जाता है और यह जनजाति जंगलों में महुआ व कंदमूल पर निर्भर रहती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722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299/350</a:t>
            </a:r>
          </a:p>
        </p:txBody>
      </p:sp>
    </p:spTree>
  </p:cSld>
  <p:clrMapOvr>
    <a:masterClrMapping/>
  </p:clrMapOvr>
</p:sld>
</file>

<file path=ppt/slides/slide5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विभिन्न जनजातियों के सर्वाधिक भौगोलिक संकेन्द्रण वाले जिलों को सही सुमेलित कीजिए: सूची-I: सूची-I: A. सहरिया B. गरासिया C. डामोर D. सांसी सूची-II: 1. डूंगरपुर (सीमलवाड़ा) 2. सिरोही (आबू रोड एवं पिंडवाड़ा) 3. भरतपुर एवं झुंझुनूं 4. बारां (शाहाबाद एवं किशनगंज)</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065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300/350</a:t>
            </a:r>
          </a:p>
        </p:txBody>
      </p:sp>
    </p:spTree>
  </p:cSld>
  <p:clrMapOvr>
    <a:masterClrMapping/>
  </p:clrMapOvr>
</p:sld>
</file>

<file path=ppt/slides/slide6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B-2,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जनजातियों का भौगोलिक वितरण अत्यधिक विशिष्ट क्षेत्रों में केंद्रित है। सहरिया जनजाति बारां जिले की शाहाबाद और किशनगंज तहसीलों में 99% निवास करती है। गरासिया जनजाति सिरोही जिले के भाकर क्षेत्र (आबू रोड व पिंडवाड़ा) तथा समीपवर्ती पाली-उदयपुर में केंद्रित है। डामोर जनजाति डूंगरपुर के सीमलवाड़ा में पाई जाती है। सांसी जनजाति पूर्वी राजस्थान के भरतपुर, धौलपुर तथा झुंझुनूं में प्रमुखता से 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065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300/350</a:t>
            </a:r>
          </a:p>
        </p:txBody>
      </p:sp>
    </p:spTree>
  </p:cSld>
  <p:clrMapOvr>
    <a:masterClrMapping/>
  </p:clrMapOvr>
</p:sld>
</file>

<file path=ppt/slides/slide6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विभिन्न जनजातियों एवं उनके प्रमुख पारंपरिक नृत्यों का सही सुमेलन कीजिए: सूची-I (जनजाति): सूची-I: A. भील जनजाति B. गरासिया जनजाति C. कालबेलिया समुदाय D. मेव समुदाय सूची-II: 1. रणबाजा एवं रतवई नृत्य 2. गवरी (राई), गैर, द्विचक्की एवं युद्ध नृत्य 3. इण्डोणी, पणिहारी, बागड़िया एवं शंकरिया नृत्य 4. वालर, लूर, कूद, मांदल एवं जवारा नृत्य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301/350</a:t>
            </a:r>
          </a:p>
        </p:txBody>
      </p:sp>
    </p:spTree>
  </p:cSld>
  <p:clrMapOvr>
    <a:masterClrMapping/>
  </p:clrMapOvr>
</p:sld>
</file>

<file path=ppt/slides/slide6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C-3,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जनजातीय लोकनृत्य: (1) भील: गवरी (40 दिन चलने वाला शिव-भस्मासुर कथा आधारित धार्मिक नाट्य), गैर (होली पर छड़ियों से), द्विचक्की; (2) गरासिया: वालर (बिना वाद्य का घूमर), लूर (सगाई में), मांदल; (3) कालबेलिया: यूनेस्को धरोहर (गुलाबो सपेरा - इण्डोणी, शंकरिया, बागड़िया); (4) मेव: अलवर-भरतपुर के मेवात क्षेत्र में रणबाजा व रतवई। अतः सही मिलान A-2, B-4, C-3,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301/350</a:t>
            </a:r>
          </a:p>
        </p:txBody>
      </p:sp>
    </p:spTree>
  </p:cSld>
  <p:clrMapOvr>
    <a:masterClrMapping/>
  </p:clrMapOvr>
</p:sld>
</file>

<file path=ppt/slides/slide6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उदयपुर अंचल में निवास करने वाली 'कथोड़ी' (Kathodi) जनजाति की जीवन-शैली पर विचार कीजिए: A. कथोड़ी जनजाति मूलतः महाराष्ट्र के खानदेश की निवासी थी जिसे खैर के पेड़ों से 'कत्था' (Kattha) तैयार करने हेतु मेवाड़ लाया गया था। B. यह जनजाति मुख्यतः उदयपुर जिले की कोटड़ा, झाड़ोल एवं सराड़ा तहसीलों में निवास करती है। C. हांडी प्रणाली (Handi System) द्वारा खैर (Acacia catechu) की लकड़ी को पानी में उबालकर पारंपरिक विधि से कत्था तैयार किया जाता है। D. कथोड़ी समाज में महिलाएं पुरुषों के साथ शराब का सेवन करती हैं तथा ममालवी अंदाज में 'फड़का साड़ी' (Fadka) पहनती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753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302/350</a:t>
            </a:r>
          </a:p>
        </p:txBody>
      </p:sp>
    </p:spTree>
  </p:cSld>
  <p:clrMapOvr>
    <a:masterClrMapping/>
  </p:clrMapOvr>
</p:sld>
</file>

<file path=ppt/slides/slide6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कथोड़ी जनजाति: खैर वृक्ष से कत्था निष्कर्षण की विशेषज्ञ। महिलाएं घुटने तक फड़का साड़ी बांधती हैं। समाज में दूध पीने का निषेध (दूध का प्रयोग वर्जित) माना जाता है तथा बंदर का मांस प्रिय भोजन रहा है। मावलिया (नवरात्र में पुरुषों द्वारा) एवं होली नृत्य इनके प्रमुख लोकनृत्य हैं। मनरेगा में इन्हें अतिरिक्त 100 दिवस का रोजगार मिलता है। अतः सभी कथन सत्य हैं। ⚡ [परीक्षा-उपयोगी सूक्ष्म दृष्टि / RPSC Trap Alert]: कथन D असत्य है क्योंकि इसमें दिए गए तथ्य में त्रुटि है। वास्तविक तथ्य यह है कि राठी गाय को राजस्थान की कामधेनु कहा जाता है। अतः सही उत्तर विकल्प (D)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753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302/350</a:t>
            </a:r>
          </a:p>
        </p:txBody>
      </p:sp>
    </p:spTree>
  </p:cSld>
  <p:clrMapOvr>
    <a:masterClrMapping/>
  </p:clrMapOvr>
</p:sld>
</file>

<file path=ppt/slides/slide6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किस जनजाति में विवाह के अवसर पर दुल्हन के सतीत्व एवं पवित्रता की परीक्षा लेने हेतु 'कूकड़ी की रस्म' (Kukadi Rasam) निभाई जाती है तथा यह जनजाति 'माला' और 'बीजा' नामक दो उप-वर्गों में बंटी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सांसी जनजाति (Sansi)</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डामोर जनजाति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भील जनजाति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मीणा जनजाति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096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303/350</a:t>
            </a:r>
          </a:p>
        </p:txBody>
      </p:sp>
    </p:spTree>
  </p:cSld>
  <p:clrMapOvr>
    <a:masterClrMapping/>
  </p:clrMapOvr>
</p:sld>
</file>

<file path=ppt/slides/slide6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सांसी जनजाति (Sansi)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डामोर जनजाति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भील जनजाति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मीणा जनजाति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सांसी जनजाति मुख्यतः भरतपुर, अजमेर एवं झुंझुनूं में पाई जाती है। यह 'माला' और 'बीजा' दो शाखाओं में बंटी है। इसमें विवाह के समय लड़की के चरित्र की शुचिता परखने हेतु 'कूकड़ी रस्म' निभाई जाती है। सांसी समाज में विवादों का निपटारा इनकी पारंपरिक जाति पंचायत में होता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096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303/350</a:t>
            </a:r>
          </a:p>
        </p:txBody>
      </p:sp>
    </p:spTree>
  </p:cSld>
  <p:clrMapOvr>
    <a:masterClrMapping/>
  </p:clrMapOvr>
</p:sld>
</file>

<file path=ppt/slides/slide6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गरासिया जनजाति के विवाह प्रकारों एवं रीति-रिवाजों को उनकी विशेषताओं के साथ सही सुमेलित कीजिए: सूची-I: सूची-I: A. मोर बांधिया विवाह B. पहरावणा विवाह C. ताणणा विवाह D. हेलरो सूची-II: 1. नाममात्र के फेरे (ब्राह्मण के बिना), वधु को कपड़े-गहने पहनाकर 2. वर पक्ष द्वारा कन्या पक्ष को वधु मूल्य (दापा) देकर विवाह 3. ब्रह्म विवाह के समान, फेरे व तोरण बाँधकर विधिवत विवाह 4. गरासिया समाज की विकास एवं पारस्परिक सहयोग की संस्था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440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304/350</a:t>
            </a:r>
          </a:p>
        </p:txBody>
      </p:sp>
    </p:spTree>
  </p:cSld>
  <p:clrMapOvr>
    <a:masterClrMapping/>
  </p:clrMapOvr>
</p:sld>
</file>

<file path=ppt/slides/slide6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गरासिया जनजाति (तीसरी बड़ी जनजाति, मुख्य रूप से सिरोही के आबू रोड व पिंडवाड़ा) में तीन प्रकार के विवाह मुख्य रूप से प्रचलित हैं: (1) मोर बांधिया - जो हिंदू रीति-रिवाज के अनुसार तोरण व फेरे लेकर संपन्न होता है और सबसे प्रतिष्ठित माना जाता है; (2) पहरावणा - जिसमें नाममात्र के फेरे होते हैं और वर वधु को कपड़े पहनाकर ले जाता है; (3) ताणणा - जिसमें वर पक्ष कन्या पक्ष को दापा (वधु मूल्य) चुकाकर विवाह करता है। 'हेलरो' गरासिया समाज की एक अनूठी सहकारी एवं सामाजिक विकास संस्था है जो सामूहिक कार्यों में सहयोग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440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304/350</a:t>
            </a:r>
          </a:p>
        </p:txBody>
      </p:sp>
    </p:spTree>
  </p:cSld>
  <p:clrMapOvr>
    <a:masterClrMapping/>
  </p:clrMapOvr>
</p:sld>
</file>

<file path=ppt/slides/slide6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भील जनजाति की सामाजिक शब्दावली, वेशभूषा एवं संस्कृति के संदर्भ में निम्नलिखित कथनों पर विचार कीजिए: A. भीलों के घरों को 'कु' या 'टापरा' कहा जाता है तथा अनेक घरों के समूह व बड़े गाँव को 'पाल' कहते हैं। B. पाल के मुखिया को 'गमेती' तथा गाँव के छोटे मुखिया को 'तदवी' या 'पालवी' कहा जाता है। C. भील पुरुषों द्वारा पहनी जाने वाली तंग धोती को 'ठेपाड़ा/देपाड़ा' तथा सिर के साफे को 'पोत्या' कहते हैं। D. 'कछावू' भील पुरुषों द्वारा विवाह के अवसर पर पहना जाने वाला विशेष मांगलिक साफा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783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305/350</a:t>
            </a:r>
          </a:p>
        </p:txBody>
      </p:sp>
    </p:spTree>
  </p:cSld>
  <p:clrMapOvr>
    <a:masterClrMapping/>
  </p:clrMapOvr>
</p:sld>
</file>

<file path=ppt/slides/slide6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भील राजस्थान की प्राचीनतम एवं दूसरी सबसे बड़ी जनजाति है। इनके घरों को कु या टापरा कहते हैं और गाँव/पाल के मुखिया को गमेती कहा जाता है। भील पुरुषों की तंग धोती को देपाड़ा तथा कमर के साफे को फालू कहते हैं। आपातकाल में भील 'फाइरे-फाइरे' रणघोष करते हैं। कथन D असत्य है क्योंकि 'कछावू' पुरुषों का साफा नहीं, बल्कि भील महिलाओं द्वारा घुटनों तक पहना जाने वाला लाल और काले रंग का पारंपरिक घाघरा है। विवाह के अवसर पर दुल्हन द्वारा पहनी जाने वाली पीली साड़ी को 'पीरिया' तथा लाल साड़ी को 'सिंदूरी' कहते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783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305/350</a:t>
            </a:r>
          </a:p>
        </p:txBody>
      </p:sp>
    </p:spTree>
  </p:cSld>
  <p:clrMapOvr>
    <a:masterClrMapping/>
  </p:clrMapOvr>
</p:sld>
</file>

<file path=ppt/slides/slide6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'सहरिया जनजाति' (Sahariya Tribe) की सामाजिक एवं भौगोलिक विशेषताओं के संदर्भ में निम्नलिखित कथनों पर विचार कीजिए: A. सहरिया राजस्थान की एकमात्र ऐसी जनजाति है जिसे भारत सरकार द्वारा 'आदिम जनजाति समूह' (PVTG) में शामिल किया गया है। B. यह जनजाति मुख्य रूप से बारां जिले की शाहाबाद और किशनगंज तहसीलों में 99% से अधिक संकेंद्रित है। C. सहरिया बस्ती को 'सहराना' तथा इनके गाँव के केंद्र में स्थित सामूहिक बैठका/चौपाल को 'हताई' या 'बंगला' कहा जाता है। D. मीणा समाज में मृतक की अस्थियों को विसर्जित करने के बाद 'धारी संस्कार' द्वारा पुनर्जन्म का अनुमान लगाया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127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306/350</a:t>
            </a:r>
          </a:p>
        </p:txBody>
      </p:sp>
    </p:spTree>
  </p:cSld>
  <p:clrMapOvr>
    <a:masterClrMapping/>
  </p:clrMapOvr>
</p:sld>
</file>

<file path=ppt/slides/slide6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सहरिया जनजाति अपनी विशिष्ट सामाजिक संरचना के लिए जानी जाती है। यह राजस्थान की एकमात्र PVTG (Particularly Vulnerable Tribal Group) है जो बारां जिले की शाहाबाद और किशनगंज तहसीलों में निवास करती है। इनकी बस्ती को सहराना, गाँव को सहरोल तथा मुखिया को 'कोतवाल' कहते हैं। सार्वजनिक चौपाल को हताई या बंगला कहते हैं। सहरिया समाज में मृत्यु के तीसरे दिन राख पर पदचिह्न देखकर अगले जन्म का अनुमान लगाने की 'धारी संस्कार' प्रथा अत्यंत प्रसिद्ध है। सीताबाड़ी (केलनवाड़ा, बारां) का मेला सहरिया जनजाति का कुंभ कहलाता है। अतः सभी कथन सत्य हैं। ⚡ [परीक्षा-उपयोगी सूक्ष्म दृष्टि / RPSC Trap Alert]: कथन D असत्य है क्योंकि इसमें दिए गए तथ्य में त्रुटि है। वास्तविक तथ्य यह है कि सहरिया राजस्थान की एकमात्र PVTG जनजाति है।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127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306/350</a:t>
            </a:r>
          </a:p>
        </p:txBody>
      </p:sp>
    </p:spTree>
  </p:cSld>
  <p:clrMapOvr>
    <a:masterClrMapping/>
  </p:clrMapOvr>
</p:sld>
</file>

<file path=ppt/slides/slide6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जनजातियों द्वारा की जाने वाली पारंपरिक 'झूमिंग / स्थानांतरित कृषि' (Shifting Agriculture) के संदर्भ में निम्नलिखित कथनों पर विचार कीजिए: A. दक्षिणी राजस्थान के पहाड़ी एवं आदिवासी अंचलों में स्थानांतरित कृषि को सामान्यतः 'वालरा' (Valra) कहा जाता है। B. भील जनजाति द्वारा वनों को जलाकर मैदानी भागों में की जाने वाली स्थानांतरित कृषि को 'दजिया' (Dajiya) कहते हैं। C. भील जनजाति द्वारा पहाड़ी ढलानों पर वनों को काटकर की जाने वाली कृषि को 'चिमाता' (Chimata) कहते हैं। D. वालरा कृषि राजस्थान के शुष्क मरुस्थलीय जिलों जैसे जैसलमेर व बीकानेर की सबसे प्रमुख वैज्ञानिक कृषि पद्धति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470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307/350</a:t>
            </a:r>
          </a:p>
        </p:txBody>
      </p:sp>
    </p:spTree>
  </p:cSld>
  <p:clrMapOvr>
    <a:masterClrMapping/>
  </p:clrMapOvr>
</p:sld>
</file>

<file path=ppt/slides/slide6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वालरा दक्षिणी राजस्थान (उदयपुर, डूंगरपुर, बांसवाड़ा, प्रतापगढ़) के आदिवासी समुदायों द्वारा वनों को जलाकर की जाने वाली आदिम झूमिंग कृषि है। जब यह कृषि पहाड़ी ढलानों पर की जाती है तो इसे 'चिमाता' कहते हैं, और जब यह वनों को साफ करके समतल मैदानी भागों में की जाती है तो इसे 'दजिया' कहा जाता है। पर्यावरण की दृष्टि से यह वनों के विनाश और मृदा अपरदन का कारण बनती है, अतः सरकार द्वारा इसे हतोत्साहित किया जा रहा है। कथन D असत्य है क्योंकि मरुस्थलीय जिलों में वालरा नहीं, बल्कि शुष्क बारानी खेती की जाती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470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307/350</a:t>
            </a:r>
          </a:p>
        </p:txBody>
      </p:sp>
    </p:spTree>
  </p:cSld>
  <p:clrMapOvr>
    <a:masterClrMapping/>
  </p:clrMapOvr>
</p:sld>
</file>

<file path=ppt/slides/slide6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सरकार द्वारा घोषित राजस्थान की एकमात्र 'विशेष रूप से कमजोर जनजातीय समूह' (PVTG) 'सहरिया' (Sahariya) पर विचार कीजिए: A. सहरिया राजस्थान की एकमात्र आदिम/अत्यंत पिछड़ी जनजाति (PVTG) है जो बारां जिले की शाहबाद एवं किशनगंज तहसीलों में केंद्रित है। B. सहरिया लोग पेड़ों या मचान पर झोपड़ी बनाते हैं जिसे 'गोपना', 'टोपा' या 'कोरुआ' कहा जाता है तथा इनकी बस्ती को 'सहराना' और गाँव को 'सहरोल' कहते हैं। C. इनके कुलदेवता 'तेजाजी' तथा कुलदेवी 'कोड़िया देवी' हैं; सीताबाड़ी (के Kelwara, बारां) का मेला 'सहरियों का कुंभ' कहलाता है। D. केंद्र सरकार द्वारा मीणा बाहुल्य क्षेत्रों के सर्वांगीण विकास हेतु ₹24,104 करोड़ की 'पीएम-जनमन' (PM-JANMAN) योजना संचालित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308/350</a:t>
            </a:r>
          </a:p>
        </p:txBody>
      </p:sp>
    </p:spTree>
  </p:cSld>
  <p:clrMapOvr>
    <a:masterClrMapping/>
  </p:clrMapOvr>
</p:sld>
</file>

<file path=ppt/slides/slide6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सहरिया जनजाति (PVTG): फारसी शब्द 'सहर' (जंगल) से उत्पत्ति। 99% आबादी बारां के किशनगंज व शाहबाद में। वाल्मीकि को आदिगुरु मानते हैं (सीताबाड़ी वाल्मीकि आश्रम)। गोपना/टोपा मचान झोपड़ी। गाँव का मुखिया 'कोतवाल' कहलाता है। तीन पंचायतें: पंचताई, एकादशिया, चौरसिया। पीएम-जनमन योजना में पक्के आवास, सड़क, जल, बिजली, वन-धन केंद्र दिए जा रहे हैं। अतः सभी चारों कथन सत्य हैं। ⚡ [परीक्षा-उपयोगी सूक्ष्म दृष्टि / RPSC Trap Alert]: कथन D असत्य है क्योंकि इसमें दिए गए तथ्य में त्रुटि है। वास्तविक तथ्य यह है कि सहरिया राजस्थान की एकमात्र PVTG जनजाति है। अतः सही उत्तर विकल्प (A)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308/350</a:t>
            </a:r>
          </a:p>
        </p:txBody>
      </p:sp>
    </p:spTree>
  </p:cSld>
  <p:clrMapOvr>
    <a:masterClrMapping/>
  </p:clrMapOvr>
</p:sld>
</file>

<file path=ppt/slides/slide6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244(1) के तहत गठित 'जनजाति सलाहकार परिषद' (Tribal Advisory Council - TAC) पर विचार कीजिए: A. पांचवीं अनुसूची के तहत राजस्थान में अनुसूचित क्षेत्रों के प्रशासन एवं जनजातियों के कल्याण हेतु TAC का गठन किया जाता है। B. इस परिषद में कुल 20 सदस्य होते हैं, जिनमें से तीन-चौथाई (15 सदस्य) राज्य विधानसभा में अनुसूचित जनजातियों के निर्वाचित प्रतिनिधि होते हैं। C. राजस्थान के मुख्यमंत्री इस परिषद के पदेन अध्यक्ष होते हैं तथा जनजाति क्षेत्रीय विकास (TAD) मंत्री इसके उपाध्यक्ष होते हैं। D. यह परिषद राज्यपाल को अनुसूचित क्षेत्रों में शांति, सुशासन और भूमि हस्तांतरण नियंत्रण संबंधी मामलों पर परामर्श देती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157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309/350</a:t>
            </a:r>
          </a:p>
        </p:txBody>
      </p:sp>
    </p:spTree>
  </p:cSld>
  <p:clrMapOvr>
    <a:masterClrMapping/>
  </p:clrMapOvr>
</p:sld>
</file>

<file path=ppt/slides/slide6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जनजाति सलाहकार परिषद (TAC - अनुच्छेद 244(1) व 5वीं अनुसूची): कुल 20 सदस्य (15 एसटी विधायक)। अध्यक्ष मुख्यमंत्री। अनुसूचित क्षेत्रों (टीएसपी क्षेत्र: बांसवाड़ा, डूंगरपुर, प्रतापगढ़, उदयपुर, सिरोही, पाली, राजसमंद, चित्तौड़गढ़ के ब्लॉक) में आदिवासियों के अधिकारों, भूमि गैर-हस्तांतरण व आरक्षण की निगरानी करती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157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309/350</a:t>
            </a:r>
          </a:p>
        </p:txBody>
      </p:sp>
    </p:spTree>
  </p:cSld>
  <p:clrMapOvr>
    <a:masterClrMapping/>
  </p:clrMapOvr>
</p:sld>
</file>

<file path=ppt/slides/slide6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स्वदेश दर्शन 2.0 एवं प्रसाद (PRASHAD) योजनाओं के तहत विकसित किए जा रहे पर्यटन सर्किटों पर विचार कीजिए: A. स्वदेश दर्शन 2.0 के तहत जोधपुर एवं बूंदी को पायलट गंतव्यों के रूप में सतत पर्यटन विकास हेतु चयनित किया गया है। B. प्रसाद (PRASHAD) योजना के तहत अजमेर-पुष्कर, नाथद्वारा (राजसमंद) तथा खाटूश्यामजी (सीकर) में तीर्थयात्री सुविधाओं का विश्वस्तरीय विस्तार किया गया है। C. राज्य बजट में ₹100-100 करोड़ की लागत से 'महाराणा प्रताप टूरिज्म सर्किट' (चावंड, हल्दीघाटी, गोगुंदा, कुंभलगढ़) तथा 'जनजातीय हेरिटेज सर्किट' (मानगढ़ धाम, बेणेश्वर, मातृकुंडिया) स्वीकृत किए गए हैं। D. सीमा पर्यटन (Border Tourism) को बढ़ावा देने हेतु अलवर के तनोट माता मंदिर एवं बाड़मेर के बाखासर में सीमा दर्शन सुविधाएं विकसित की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501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310/350</a:t>
            </a:r>
          </a:p>
        </p:txBody>
      </p:sp>
    </p:spTree>
  </p:cSld>
  <p:clrMapOvr>
    <a:masterClrMapping/>
  </p:clrMapOvr>
</p:sld>
</file>

<file path=ppt/slides/slide6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पर्यटन सर्किट विकास: स्वदेश दर्शन 2.0 (जोधपुर, बूंदी); प्रसाद योजना (धार्मिक पर्यटन: पुष्कर, नाथद्वारा, खाटूश्यामजी); महाराणा प्रताप सर्किट (वीर शिरोमणि प्रताप के ऐतिहासिक स्थलों का संरक्षण); तनोट माता सीमा दर्शन (BSF व पर्यटन विभाग); खाटूश्यामजी व सालासर बालाजी कॉरीडोर। अतः सभी चारों कथन सत्य हैं। ⚡ [परीक्षा-उपयोगी सूक्ष्म दृष्टि / RPSC Trap Alert]: कथन D असत्य है क्योंकि इसमें दिए गए तथ्य में त्रुटि है। वास्तविक तथ्य यह है कि जैसलमेर जिले में स्थित है न कि पूर्वी राजस्थान के अलवर में।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501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310/350</a:t>
            </a:r>
          </a:p>
        </p:txBody>
      </p:sp>
    </p:spTree>
  </p:cSld>
  <p:clrMapOvr>
    <a:masterClrMapping/>
  </p:clrMapOvr>
</p:sld>
</file>

<file path=ppt/slides/slide6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सीसा-जस्ता (Lead-Zinc) एवं चांदी के खनन व शोधन के संबंध में निम्नलिखित कथनों पर विचार कीजिए: A. सीसा और जस्ता प्रकृति में सदैव मिश्रित रूप से गैलेना (Galena) अयस्क के रूप में मिलते हैं, इसलिए इन्हें 'जुड़वा खनिज' (Twin Minerals) कहा जाता है। B. सीसा-जस्ता के शोधन के दौरान उप-उत्पाद के रूप में बहुमूल्य चांदी (Silver) तथा कैडमियम व सुपर फास्फेट प्राप्त होते हैं। C. भीलवाड़ा जिले में स्थित 'रामपुरा-आगूचा' खान वर्तमान में विश्व की सबसे बड़ी और समृद्ध जस्ता उत्पादक खानों में से एक है। D. राजस्थान में सीसा-जस्ता का शत-प्रतिशत खनन कार्य केवल विदेशी निजी कंपनियों द्वारा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845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311/350</a:t>
            </a:r>
          </a:p>
        </p:txBody>
      </p:sp>
    </p:spTree>
  </p:cSld>
  <p:clrMapOvr>
    <a:masterClrMapping/>
  </p:clrMapOvr>
</p:sld>
</file>

<file path=ppt/slides/slide6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सीसा-जस्ता उत्पादन में राजस्थान का भारत में लगभग एकाधिकार (Monopoly) है। यह अरावली की प्री-कैम्ब्रियन अवसादी चट्टानों में गैलेना के रूप में मिलता है। सीसा-जस्ता के प्रमुख क्षेत्र जावर (उदयपुर), राजपुरा-दरीबा व सिंदेसर खुर्द (राजसमंद), रामपुरा-आगूचा (भीलवाड़ा) तथा चौथ का बरवाड़ा (सवाई माधोपुर) हैं। चंदेरिया (चित्तौड़गढ़) में एशिया का सबसे बड़ा सुपर जिंक स्मेल्टर संयंत्र स्थित है। कथन D असत्य है क्योंकि इसका मुख्य खनन और शोधन हिंदुस्तान जिंक लिमिटेड (HZL - वेदांता समूह व भारत सरकार की भागीदारी) द्वारा किया जाता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845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311/350</a:t>
            </a:r>
          </a:p>
        </p:txBody>
      </p:sp>
    </p:spTree>
  </p:cSld>
  <p:clrMapOvr>
    <a:masterClrMapping/>
  </p:clrMapOvr>
</p:sld>
</file>

<file path=ppt/slides/slide6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भूवैज्ञानिक सर्वेक्षण (GSI) द्वारा राजस्थान में घोषित 12 राष्ट्रीय भू-विरासत स्थलों (Geo-Heritage Sites) के संदर्भ में निम्नलिखित कथनों पर विचार कीजिए: A. सेंदड़ा ग्रेनाइट (पाली) तथा बर कॉन्ग्लोमरेट (पाली) अरावली संरचना से जुड़े प्रमुख भू-विरासत स्थल हैं। B. झामर-कोटड़ा (उदयपुर) तथा भोजुंडा (चित्तौड़गढ़) में प्री-कैम्ब्रियन काल के साइनोबैक्टीरिया जीवाश्म 'स्ट्रोमेटोलाइट पार्क' स्थित हैं। C. आकल वुड फॉसिल पार्क (जैसलमेर) 18 करोड़ वर्ष पुराने काष्ठ जीवाश्मों का संरक्षित भू-विरासत स्थल है। D. बारां जिले का सांभर तथा बूंदी में स्थित महान सीमा भ्रंश (GBF) इस सूची में सम्मिलित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188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312/350</a:t>
            </a:r>
          </a:p>
        </p:txBody>
      </p:sp>
    </p:spTree>
  </p:cSld>
  <p:clrMapOvr>
    <a:masterClrMapping/>
  </p:clrMapOvr>
</p:sld>
</file>

<file path=ppt/slides/slide6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भूवैज्ञानिक सर्वेक्षण (Geological Survey of India - GSI) ने पृथ्वी के भू-वैज्ञानिक इतिहास के दुर्लभ साक्ष्यों के संरक्षण हेतु राजस्थान के 12 स्थलों को राष्ट्रीय 'जियो-हेरिटेज साइट' (Geo-heritage Sites) घोषित किया है: (1) सेंदड़ा ग्रेनाइट (पाली - हवा से तराशी गई सर्पाकार आकृतियां); (2) बर कॉन्ग्लोमरेट (पाली - प्राचीन कंकरीली अवसादी शैल); (3) स्ट्रोमेटोलाइट जीवाश्म पार्क (झामरकोटड़ा, उदयपुर); (4) स्ट्रोमेटोलाइट पार्क (भोजुंडा, चित्तौड़गढ़); (5) आकल वुड फॉसिल पार्क (जैसलमेर); (6) राजपुरा-दरीबा गॉसन (राजसमंद); (7) किशनगढ़ नेफेलाइन सायनाइट (अजमेर); (8) जोधपुर ग्रुप - मालानी आग्नेय शैल समूह (जोधपुर); (9) वेल्डेड टफ (जोधपुर); (10) ग्रेट बाउंड्री फॉल्ट (सत्तूर, बूंदी); (11) रामगढ़ उल्कापिंडीय क्रेटर (बारां); तथा (12) जावर प्राचीन सीसा-जस्ता खदानें (उदयपुर)। अतः सभी कथन सत्य हैं। ⚡ [परीक्षा-उपयोगी सूक्ष्म दृष्टि / RPSC Trap Alert]: कथन D असत्य है क्योंकि इसमें दिए गए तथ्य में त्रुटि है। वास्तविक तथ्य यह है कि रामगढ़ उल्कापिंड क्रेटर बारां जिले में स्थित भू-विरासत स्थल है। अतः सही उत्तर विकल्प (A)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188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312/350</a:t>
            </a:r>
          </a:p>
        </p:txBody>
      </p:sp>
    </p:spTree>
  </p:cSld>
  <p:clrMapOvr>
    <a:masterClrMapping/>
  </p:clrMapOvr>
</p:sld>
</file>

<file path=ppt/slides/slide6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'एकाधिकार वाले खनिजों' (100% Monopoly Minerals) के संदर्भ में विचार कीजिए: A. वोलास्टोनाइट (Wollastonite) - भारत का 100% उत्पादन राजस्थान (सिरोही, पाली, अजमेर) से होता है। B. जास्पर (Jasper) - भारत का 100% उत्पादन राजस्थान (जोधपुर) से होता है। C. सेलेनाइट (Selenite / क्रिस्टलीय यूरिया) - भारत का 100% उत्पादन राजस्थान (बीकानेर, बाड़मेर) से होता है। D. सीसा-जस्ता अयस्क एवं गार्नेट (तामड़ा/रक्तमणि) - उत्पादन में भी राजस्थान का भारत में लगभग एकाधिकार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532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313/350</a:t>
            </a:r>
          </a:p>
        </p:txBody>
      </p:sp>
    </p:spTree>
  </p:cSld>
  <p:clrMapOvr>
    <a:masterClrMapping/>
  </p:clrMapOvr>
</p:sld>
</file>

<file path=ppt/slides/slide6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एकाधिकार खनिज (Monopoly Minerals): वोलास्टोनाइट (100%), जास्पर (100%), सेलेनाइट (100%), सीसा-जस्ता (100%), गार्नेट/तामड़ा (राजमहल टोंक - 100%), कैल्साइट (95%+), जिप्सम (95%+), संगमरमर (90%+), रॉकफॉस्फेट (90%+), फेल्सपार (90%+)। खनिजों की इस विविधता (82 प्रकार के खनिज, 57 का उत्खनन) के कारण राजस्थान को 'खनिजों का अजायबघर' (Museum of Minerals) कहा जाता है। अतः सभी कथन सत्य हैं। ⚡ [परीक्षा-उपयोगी सूक्ष्म दृष्टि / RPSC Trap Alert]: कथन C असत्य है क्योंकि इसमें दिए गए तथ्य में त्रुटि है। वास्तविक तथ्य यह है कि जिप्सम व पाइराइट्स का उपयोग होता है न कि यूरिया का।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532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313/350</a:t>
            </a:r>
          </a:p>
        </p:txBody>
      </p:sp>
    </p:spTree>
  </p:cSld>
  <p:clrMapOvr>
    <a:masterClrMapping/>
  </p:clrMapOvr>
</p:sld>
</file>

<file path=ppt/slides/slide6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सीसा-जस्ता (Lead-Zinc) अयस्क के खनन एवं हिंदुस्तान जिंक लिमिटेड (HZL) पर विचार कीजिए: A. भीलवाड़ा जिले के 'रामपुरा-आगूचा' में विश्व की सबसे समृद्ध एवं विशाल खुली सीसा-जस्ता खदान स्थित है। B. राजसमंद जिले के 'राजपुरा-दरीबा' एवं 'सिंदेसर खुर्द' में भूमिगत खदानों से सीसा-जस्ता एवं चांदी निकाली जाती है। C. उदयपुर की ऐतिहासिक 'जावर खानों' में प्राचीन काल (2500 वर्ष पूर्व) से जस्ता प्रगलन के अवशेष प्राप्त हुए हैं। D. हिंदुस्तान जिंक लिमिटेड (HZL) के दो प्रमुख स्मेल्टर संयंत्र चंदेरिया (चित्तौड़गढ़ - एशिया का विशालतम) एवं देबारी (चूरू) में कार्यरत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875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314/350</a:t>
            </a:r>
          </a:p>
        </p:txBody>
      </p:sp>
    </p:spTree>
  </p:cSld>
  <p:clrMapOvr>
    <a:masterClrMapping/>
  </p:clrMapOvr>
</p:sld>
</file>

<file path=ppt/slides/slide6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सीसा-जस्ता व चांदी: गेलेना (सीसा अयस्क) व स्फेलेराइट (जस्ता अयस्क) मिश्रित रूप में मिलते हैं। रामपुरा-आगूचा (भीलवाड़ा) वैश्विक स्तर की खदान है। चंदेरिया (चित्तौड़गढ़) में हाइड्रो व पाइरो स्मेल्टर कार्यरत है। उप-उत्पाद के रूप में कैडमियम, सल्फ्यूरिक एसिड और चांदी प्राप्त होती है। अतः सभी चारों कथन सत्य हैं। ⚡ [परीक्षा-उपयोगी सूक्ष्म दृष्टि / RPSC Trap Alert]: कथन D असत्य है क्योंकि इसमें दिए गए तथ्य में त्रुटि है। वास्तविक तथ्य यह है कि उदयपुर क्षेत्र से संबंधित है न कि चूरू से।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875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314/350</a:t>
            </a:r>
          </a:p>
        </p:txBody>
      </p:sp>
    </p:spTree>
  </p:cSld>
  <p:clrMapOvr>
    <a:masterClrMapping/>
  </p:clrMapOvr>
</p:sld>
</file>

<file path=ppt/slides/slide6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धात्विक खनिजों को उनके सबसे प्रसिद्ध खनन क्षेत्रों के साथ सही सुमेलित कीजिए: सूची-I (खनिज): सूची-I: A. ताँबा B. टंगस्टन C. मैंगनीज D. सीसा-जस्ता सूची-II: 1. खेतड़ी-सिंघाना (झुंझुनूं) एवं खो-दरीबा (अलवर) 2. लीलवानी, कालाखूंटा एवं घाटिया (बांसवाड़ा) 3. जावर (उदयपुर) एवं राजपुरा-दरीबा (राजसमंद) 4. डेगाना-भाकरी (नागौर) एवं बालदा (सिरोही)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315/350</a:t>
            </a:r>
          </a:p>
        </p:txBody>
      </p:sp>
    </p:spTree>
  </p:cSld>
  <p:clrMapOvr>
    <a:masterClrMapping/>
  </p:clrMapOvr>
</p:sld>
</file>

<file path=ppt/slides/slide6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B-4,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प्रमुख धात्विक खनिज क्षेत्रों का मिलान इस प्रकार है: 'ताँबा' झुंझुनूं के खेतड़ी-कोलिहान-चांदमारी (HCL कॉम्प्लेक्स) तथा अलवर के खो-दरीबा में निकाला जाता है। 'टंगस्टन' (वुल्फ्रेमाइट अयस्क) देश की सबसे बड़ी खान डेगाना (नागौर) तथा सिरोही के बालदा में मिलता है। 'मैंगनीज' बांसवाड़ा जिले की 22 किमी लम्बी पेटी (लीलवानी, कालाखूंटा, घाटिया, तलवाड़ा) में पाया जाता है। 'सीसा-जस्ता' उदयपुर के जावर तथा राजसमंद के राजपुरा-दरीबा में प्रचुरता से मिलता है। अतः सही कूट A-1, B-4, C-2,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315/350</a:t>
            </a:r>
          </a:p>
        </p:txBody>
      </p:sp>
    </p:spTree>
  </p:cSld>
  <p:clrMapOvr>
    <a:masterClrMapping/>
  </p:clrMapOvr>
</p:sld>
</file>

<file path=ppt/slides/slide6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सरकार द्वारा 9 दिसंबर 2024 को जारी 'छठी राज्य खनिज नीति 2024' (6th Rajasthan Mineral Policy 2024) के प्रमुख लक्ष्यों एवं विजन 2047 के संदर्भ में निम्नलिखित कथनों पर विचार कीजिए: A. वर्तमान 0.68% खनिज रियायत (खनन पट्टा) क्षेत्र को 2029-30 तक 1.0% तथा 2046-47 तक बढ़ाकर 2.0% करना। B. वर्ष 2046-47 तक राज्य में सक्रिय रूप से खनन किए जाने वाले खनिजों की संख्या को 58 से बढ़ाकर 70 तक ले जाना। C. वर्ष 2029-30 तक 50 लाख तथा 2046-47 तक 1 करोड़ से अधिक लोगों को खनन क्षेत्र में प्रत्यक्ष व अप्रत्यक्ष रोजगार प्रदान करना। D. राज्य के खनिज राजस्व को 2029-30 तक तीन गुना और वर्ष 2046-47 तक ₹1 लाख करोड़ वार्षिक तक बढ़ाना।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562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316/350</a:t>
            </a:r>
          </a:p>
        </p:txBody>
      </p:sp>
    </p:spTree>
  </p:cSld>
  <p:clrMapOvr>
    <a:masterClrMapping/>
  </p:clrMapOvr>
</p:sld>
</file>

<file path=ppt/slides/slide6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ने खनिज संसाधनों के सतत दोहन, पारदर्शी ई-नीलामी, आधुनिक ग्रीन माइनिंग तकनीकों और रोजगार सृजन हेतु 9 दिसंबर 2024 को 'नवीन खनिज नीति 2024' (छठी नीति) अधिसूचित की है। इसके विजन-2047 के प्रमुख लक्ष्य हैं: (1) खनन पट्टा क्षेत्र का विस्तार: वर्तमान 0.68% भौगोलिक क्षेत्र से बढ़ाकर 2030 तक 1% तथा 2047 तक 2% करना; (2) उत्पादक खनिजों की संख्या: वर्तमान 58 खनिजों से बढ़ाकर 2047 तक 70 खनिज करना; (3) रोजगार सृजन: 2029-30 तक 50 लाख तथा 2047 तक 1 करोड़ (10 मिलियन) से अधिक रोजगार; (4) राजस्व लक्ष्य: 2029-30 तक 3 गुना और 2046-47 तक ₹1 लाख करोड़ वार्षिक राजस्व प्राप्त करना; (5) रणनीतिक व महत्वपूर्ण खनिज (Critical &amp; Deep-seated Minerals जैसे लिथियम, यूरेनियम, पोटाश, आरईई) की खोज और नीलामी को सर्वोच्च प्राथमिकता देना।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562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316/350</a:t>
            </a:r>
          </a:p>
        </p:txBody>
      </p:sp>
    </p:spTree>
  </p:cSld>
  <p:clrMapOvr>
    <a:masterClrMapping/>
  </p:clrMapOvr>
</p:sld>
</file>

<file path=ppt/slides/slide6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नदी बजरी के पर्यावरण-अनुकूल और टिकाऊ विकल्प के रूप में 'राजस्थान एम-सैंड नीति' (Manufactured Sand Policy 2020 एवं 2024) के संदर्भ में निम्नलिखित कथनों पर विचार कीजिए: A. एम-सैंड (M-Sand) कठोर ग्रेनाइट, क्वार्टजाइट और बेसाल्ट पत्थरों को क्रशर में पीसकर निर्मित कृत्रिम बजरी है, जो नदी पारिस्थितिकी को क्षति से बचाती है। B. 'राजस्थान एम-सैंड नीति-2020' के पश्चात नवीन 'एम-सैंड नीति-2024' अधिसूचित की गई है। C. नवीन नीति का लक्ष्य वर्तमान उत्पादन में प्रति वर्ष 20% वृद्धि करते हुए 2028-29 तक प्रति वर्ष 30 मिलियन टन उत्पादन क्षमता प्राप्त करना है। D. सरकारी निर्माण कार्यों में नदी बजरी के स्थान पर सर्वाधिक 50% एम-सैंड का उपयोग अनिवार्य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906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317/350</a:t>
            </a:r>
          </a:p>
        </p:txBody>
      </p:sp>
    </p:spTree>
  </p:cSld>
  <p:clrMapOvr>
    <a:masterClrMapping/>
  </p:clrMapOvr>
</p:sld>
</file>

<file path=ppt/slides/slide6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सर्वोच्च न्यायालय द्वारा नदियों से अनियंत्रित बजरी खनन पर रोक लगाए जाने के पश्चात राजस्थान सरकार ने निर्माण उद्योग में निरंतरता बनाए रखने और नदी तंत्र की सुरक्षा हेतु 2020 में प्रथम एम-सैंड नीति और तदुपरांत संशोधित 'एम-सैंड नीति-2024' लागू की। एम-सैंड खनन अपशिष्टों व पत्थरों को 3-स्टेज क्रशर व एयर क्लासिफायर में प्रोसेस करके बनाई जाती है जो कंक्रीट निर्माण में नदी बजरी से अधिक मजबूत और सिल्ट-मुक्त होती है। नीति के मुख्य प्रावधान: (1) उत्पादन में 20% वार्षिक वृद्धि कर 2028-29 तक 30 मिलियन टन वार्षिक उत्पादन का लक्ष्य; (2) सभी राजकीय, अर्ध-राजकीय और स्थानीय निकाय निर्माण कार्यों में एम-सैंड का अनिवार्य उपयोग वर्तमान 25% से बढ़ाकर 2028-29 तक 50% करना; (3) एम-सैंड इकाइयों को 'उद्योग' का दर्जा देकर रिप्स (RIPS) के तहत पूंजीगत सब्सिडी और विद्युत शुल्क में छूट देना। अतः सभी कथन सत्य हैं। ⚡ [परीक्षा-उपयोगी सूक्ष्म दृष्टि / RPSC Trap Alert]: कथन D असत्य है क्योंकि इसमें दिए गए तथ्य में त्रुटि है। वास्तविक तथ्य यह है कि न्यूनतम स्थिति दर्ज की जाती है न कि सर्वाधिक। अतः सही उत्तर विकल्प (A)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906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317/350</a:t>
            </a:r>
          </a:p>
        </p:txBody>
      </p:sp>
    </p:spTree>
  </p:cSld>
  <p:clrMapOvr>
    <a:masterClrMapping/>
  </p:clrMapOvr>
</p:sld>
</file>

<file path=ppt/slides/slide6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प्रसिद्ध इमारती पत्थरों (Dimension Stones) के क्षेत्रीय संकेंद्रण पर विचार कीजिए: A. मकराना (डीडवाना-कुचामन) - विश्वप्रसिद्ध कैल्सीटिक सफेद संगमरमर (जिससे ताजमहल व विक्टोरिया मेमोरियल बने हैं)। B. राजसमंद / राजनगर - भारत की सबसे बड़ी संगमरमर मंडी एवं प्रसंस्करण हब। C. जालौर - विभिन्न रंगों के उच्च कोटि के ग्रेनाइट भंडारों के कारण 'ग्रेनाइट सिटी' (Granite City) कहलाता है। D. जोधपुर का बादामी छितर पत्थर (छितर पैलेस), धौलपुर का लाल पत्थर तथा गंगानगर का 'कोटा स्टोन' (फ्लोरिंग लाइमस्टोन) विश्वविख्यात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249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318/350</a:t>
            </a:r>
          </a:p>
        </p:txBody>
      </p:sp>
    </p:spTree>
  </p:cSld>
  <p:clrMapOvr>
    <a:masterClrMapping/>
  </p:clrMapOvr>
</p:sld>
</file>

<file path=ppt/slides/slide6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इमारती पत्थर संपदा: मकराना मार्बल (सफेद कैल्साइट); ऋषभदेव (उदयपुर) का हरा संगमरमर (सर्पेंटाइन); भैंसलाना (जयपुर) का काला संगमरमर; जैसलमेर का पीला चूना पत्थर; जालौर (मर्करी रेड, ब्लैक, पिंक ग्रेनाइट); धौलपुर लाल सैंडस्टोन (संसद भवन/राष्ट्रपति भवन); कोटा स्टोन (पॉलिश युक्त फर्श पत्थर)। अतः सभी कथन सत्य हैं। ⚡ [परीक्षा-उपयोगी सूक्ष्म दृष्टि / RPSC Trap Alert]: कथन D असत्य है क्योंकि इसमें दिए गए तथ्य में त्रुटि है। वास्तविक तथ्य यह है कि हाड़ौती/कोटा संभाग से संबंधित है न कि गंगानगर से।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249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318/350</a:t>
            </a:r>
          </a:p>
        </p:txBody>
      </p:sp>
    </p:spTree>
  </p:cSld>
  <p:clrMapOvr>
    <a:masterClrMapping/>
  </p:clrMapOvr>
</p:sld>
</file>

<file path=ppt/slides/slide6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एम-सैंड नीति 2024' (Manufactured Sand Policy 2024) के पर्यावरणीय एवं निर्माण महत्व पर विचार कीजिए: A. नदियों के प्राकृतिक पारिस्थितिकी तंत्र को बचाने तथा नदी बजरी (River Sand) के अवैध खनन पर रोक लगाने हेतु एम-सैंड नीति लाई गई है। B. एम-सैंड (M-Sand) खदानों के वेस्ट पत्थरों, कंकड़ों व ग्रेनाइट को क्रशर मशीनों में बारीक पीसकर निर्मित की गई वैज्ञानिक कृत्रिम रेत है। C. सरकारी निर्माण कार्यों में नदी बजरी के स्थान पर सर्वाधिक 25% से 50% तक एम-सैंड का अनिवार्य उपयोग निर्धारित किया गया है। D. एम-सैंड इकाइयों को उद्योग का दर्जा देकर रीको (RIICO) औद्योगिक क्षेत्रों में भूमि आवंटन एवं विद्युत कर में छूट दी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593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319/350</a:t>
            </a:r>
          </a:p>
        </p:txBody>
      </p:sp>
    </p:spTree>
  </p:cSld>
  <p:clrMapOvr>
    <a:masterClrMapping/>
  </p:clrMapOvr>
</p:sld>
</file>

<file path=ppt/slides/slide6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एम-सैंड नीति 2024: सुप्रीम कोर्ट द्वारा नदी बजरी पर रोक के बाद यह वरदान सिद्ध हुई है। खनन अपशिष्टों (Mining Waste) का 100% सदुपयोग होता है, नदियों का जलस्तर व जैव-विविधता बचती है तथा निर्माण लागत सस्ती होती है। एम-सैंड में मिट्टी या जैविक अशुद्धियां नहीं होतीं। अतः सभी चारों कथन सत्य हैं। ⚡ [परीक्षा-उपयोगी सूक्ष्म दृष्टि / RPSC Trap Alert]: कथन C असत्य है क्योंकि इसमें दिए गए तथ्य में त्रुटि है। वास्तविक तथ्य यह है कि न्यूनतम स्थिति दर्ज की जाती है न कि सर्वाधिक।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593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319/350</a:t>
            </a:r>
          </a:p>
        </p:txBody>
      </p:sp>
    </p:spTree>
  </p:cSld>
  <p:clrMapOvr>
    <a:masterClrMapping/>
  </p:clrMapOvr>
</p:sld>
</file>

<file path=ppt/slides/slide6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'जिला खनिज फाउंडेशन ट्रस्ट' (District Mineral Foundation Trust - DMFT) के वित्तीय प्रबंधन पर विचार कीजिए: A. DMFT का गठन खान और खनिज (विकास एवं विनियमन) अधिनियम की धारा 9B के तहत खनन प्रभावित क्षेत्रों के विकास हेतु किया गया है। B. राजस्थान में DMFT फंड के तहत ₹9,393 करोड़ से अधिक की विशाल राशि संग्रहित हो चुकी है (जो देश में शीर्ष राज्यों में है)। C. इस राशि का सर्वाधिक 60% भाग अनिवार्य रूप से उच्च प्राथमिकता क्षेत्रों (पेयजल, स्वास्थ्य, शिक्षा, पर्यावरण संरक्षण, सिलिकोसिस पुनर्वास) में खर्च किया जाना अनिवार्य है। D. शेष 40% राशि अन्य बुनियादी ढांचा (सड़क, सिंचाई, पुल, वैकल्पिक आजीविका) विकास हेतु प्रयुक्त की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937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320/350</a:t>
            </a:r>
          </a:p>
        </p:txBody>
      </p:sp>
    </p:spTree>
  </p:cSld>
  <p:clrMapOvr>
    <a:masterClrMapping/>
  </p:clrMapOvr>
</p:sld>
</file>

<file path=ppt/slides/slide6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डीएमएफटी (DMFT): खनन पट्टाधारकों से रॉयल्टी के अतिरिक्त 10% से 30% अंशदान डीएमएफटी में जमा होता है। पीएमकेकेकेवाई (PMKKKY) दिशानिर्देशों के तहत खनन प्रभावित गांवों में स्वच्छ पेयजल, अस्पताल, स्कूल और सिलिकोसिस पीड़ितों के इलाज पर यह राशि अनिवार्य रूप से खर्च होती है। अतः सभी कथन सत्य हैं। ⚡ [परीक्षा-उपयोगी सूक्ष्म दृष्टि / RPSC Trap Alert]: कथन C असत्य है क्योंकि इसमें दिए गए तथ्य में त्रुटि है। वास्तविक तथ्य यह है कि न्यूनतम स्थिति दर्ज की जाती है न कि सर्वाधिक। अतः सही उत्तर विकल्प (D)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937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320/350</a:t>
            </a:r>
          </a:p>
        </p:txBody>
      </p:sp>
    </p:spTree>
  </p:cSld>
  <p:clrMapOvr>
    <a:masterClrMapping/>
  </p:clrMapOvr>
</p:sld>
</file>

<file path=ppt/slides/slide6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भारी इंजीनियरिंग, खनिज एवं रासायनिक उपक्रमों को उनके स्थापना स्थलों के साथ सही सुमेलित कीजिए: सूची-I (उद्योग / कारखाना): सूची-I: A. सिमको वैगन फैक्ट्री (CIMCO) B. नेशनल इंजीनियरिंग इंडस्ट्रीज (NBC - बॉल बेयरिंग) C. इंस्ट्रूमेंटेशन लिमिटेड D. हिंदुस्तान जिंक लिमिटेड (स्मेल्टर संयंत्र) सूची-II: 1. कोटा 2. देबारी (उदयपुर - स्थापना 1966) 3. जयपुर 4. भरतपुर (स्थापना 1957)</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280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321/350</a:t>
            </a:r>
          </a:p>
        </p:txBody>
      </p:sp>
    </p:spTree>
  </p:cSld>
  <p:clrMapOvr>
    <a:masterClrMapping/>
  </p:clrMapOvr>
</p:sld>
</file>

<file path=ppt/slides/slide6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प्रमुख विनिर्माण उद्योगों की स्थिति इस प्रकार है: 'सिमको वैगन फैक्ट्री' (Central India Machinery Co.) भरतपुर में 1957 में स्थापित हुई जहाँ रेलवे मालगाड़ी के वैगन (डिब्बे) बनाए जाते हैं। 'नेशनल इंजीनियरिंग इंडस्ट्रीज' (NBC) जयपुर में स्थित एशिया की सबसे बड़ी बॉल और रोलर बेयरिंग निर्माता कंपनी है। 'इंस्ट्रूमेंटेशन लिमिटेड' कोटा में स्थित केंद्र सरकार का उपक्रम रहा है जो औद्योगिक नियंत्रण उपकरणों का निर्माण करता था। 'हिंदुस्तान जिंक लिमिटेड' का प्रमुख स्मेल्टर संयंत्र देबारी (उदयपुर) में 1966 में स्थापित हुआ था। अतः सही कूट A-4, B-3, C-1, D-2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280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321/350</a:t>
            </a:r>
          </a:p>
        </p:txBody>
      </p:sp>
    </p:spTree>
  </p:cSld>
  <p:clrMapOvr>
    <a:masterClrMapping/>
  </p:clrMapOvr>
</p:sld>
</file>

<file path=ppt/slides/slide6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पाए जाने वाले रणनीतिक एवं परमाणु खनिजों (Strategic &amp; Atomic Minerals) को उनके संबंधित उत्पादक क्षेत्रों के साथ सही सुमेलित कीजिए: सूची-I (खनिज): सूची-I: A. यूरेनियम B. लिथियम (सफेद सोना) C. पोटाश (Potash) D. थोरियम सूची-II: 1. लखासर (बीकानेर) एवं हनुमानगढ़ बेसिन 2. रोहिल-खंडेला (सीकर), उमरा (उदयपुर) एवं रामगढ़ (बारां) 3. डेगाना (नागौर) की रेवत पहाड़ी 4. भद्रावन (पाली) एवं तख्तपुरा (अजमेर)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322/350</a:t>
            </a:r>
          </a:p>
        </p:txBody>
      </p:sp>
    </p:spTree>
  </p:cSld>
  <p:clrMapOvr>
    <a:masterClrMapping/>
  </p:clrMapOvr>
</p:sld>
</file>

<file path=ppt/slides/slide6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आधुनिक उच्च-तकनीकी एवं परमाणु खनिजों के विशाल भंडार मिले हैं: (1) यूरेनियम: सीकर जिले के खंडेला-रोहिल क्षेत्र में लगभग 1086 हेक्टेयर में यूरेनियम के 12 मिलियन टन से अधिक भंडार प्रमाणित हुए हैं जहाँ यूरेनियम कॉर्पोरेशन ऑफ इंडिया (UCIL) द्वारा खनन संयंत्र स्थापित किया जा रहा है; उदयपुर का उमरा तथा बारां का रामगढ़ अन्य प्रमुख क्षेत्र हैं। (2) लिथियम: नागौर जिले के डेगाना की रेवत पहाड़ी (जहाँ पहले टंगस्टन निकलता था) में जीएसआई द्वारा देश के सबसे बड़े लिथियम भंडारों की खोज की गई है। (3) पोटाश: बीकानेर (लखासर) और हनुमानगढ़ के सतीपुरा बेसिन में देश के 94% से अधिक पोटाश भंडार अवसादी शैलों में मिले हैं। (4) थोरियम: पाली के भद्रावन और अजमेर के तख्तपुरा-जेतपुरा में थोरियम युक्त मोनाजाइट रेत के निक्षेप पाए जाते हैं। अतः सही मिलान A-2, B-3, C-1,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322/350</a:t>
            </a:r>
          </a:p>
        </p:txBody>
      </p:sp>
    </p:spTree>
  </p:cSld>
  <p:clrMapOvr>
    <a:masterClrMapping/>
  </p:clrMapOvr>
</p:sld>
</file>

<file path=ppt/slides/slide6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रॉक फॉस्फेट (Rock Phosphate) के खनन एवं उर्वरक उद्योग में उपयोग पर विचार कीजिए: A. भारत के कुल रॉक फॉस्फेट उत्पादन का लगभग 90% से अधिक भाग राजस्थान से प्राप्त होता है। B. उदयपुर जिले में स्थित 'झामरकोटड़ा' देश की सबसे बड़ी खुली (Open-Cast) रॉक फॉस्फेट खान है जहाँ अत्याधुनिक बेनेफिसिएशन संयंत्र कार्यरत है। C. उदयपुर के डाकन कोटड़ा, नीमच माता तथा बांसवाड़ा के सलोपत एवं अलवर के बिरमानिया व फतेहगढ़ अन्य प्रमुख भंडार हैं। D. रॉक फॉस्फेट का उपयोग रासायनिक उर्वरक उद्योग में सिंगल सुपर फॉस्फेट (SSP) एवं डाई-अमोनियम फॉस्फेट (DAP) बनाने में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967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323/350</a:t>
            </a:r>
          </a:p>
        </p:txBody>
      </p:sp>
    </p:spTree>
  </p:cSld>
  <p:clrMapOvr>
    <a:masterClrMapping/>
  </p:clrMapOvr>
</p:sld>
</file>

<file path=ppt/slides/slide6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रॉक फॉस्फेट संसाधन: राजस्थान स्टेट माइंस एंड मिनरल्स लिमिटेड (RSMM) द्वारा झामरकोटड़ा (उदयपुर) में विशाल खनन व लाभकारीकरण किया जाता है। यह भारत के रासायनिक फॉस्फेटिक उर्वरक उद्योग का आधार है। अम्लीय मृदा सुधार हेतु भी रॉक फॉस्फेट उपयोगी है। अतः सभी चारों कथन सत्य हैं। ⚡ [परीक्षा-उपयोगी सूक्ष्म दृष्टि / RPSC Trap Alert]: कथन C असत्य है क्योंकि इसमें दिए गए तथ्य में त्रुटि है। वास्तविक तथ्य यह है कि जैसलमेर जिले में स्थित है न कि पूर्वी राजस्थान के अलवर में। अतः सही उत्तर विकल्प (A)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967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323/350</a:t>
            </a:r>
          </a:p>
        </p:txBody>
      </p:sp>
    </p:spTree>
  </p:cSld>
  <p:clrMapOvr>
    <a:masterClrMapping/>
  </p:clrMapOvr>
</p:sld>
</file>

<file path=ppt/slides/slide6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तांबा (Copper) एवं लौह-अयस्क (Iron Ore) के प्रमुख खनन क्षेत्रों पर विचार कीजिए: A. खेतड़ी कॉपर बेल्ट (झुंझुनूं) - मधान-कुधान, कोलिहान एवं चांदमारी तांबा खनन हेतु प्रसिद्ध हैं जहाँ हिंदुस्तान कॉपर लिमिटेड (HCL) का संयंत्र है। B. खो-दरीबा (अलवर) एवं देलवाड़ा-केरोवली (उदयपुर) राज्य के अन्य प्रमुख तांबा उत्पादक क्षेत्र हैं। C. मोरीजा-बानोल (जयपुर ग्रामीण) एवं नीमला-रायसेला (दौसा) हेमेटाइट श्रेणी के लौह-अयस्क उत्पादन हेतु विख्यात हैं। D. डाबला-सिंघाना (झुंझुनूं) तथा नाथरा-की-पाल व थूर-हुंडेर (चूरू) अन्य महत्वपूर्ण लौह-अयस्क क्षेत्र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311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324/350</a:t>
            </a:r>
          </a:p>
        </p:txBody>
      </p:sp>
    </p:spTree>
  </p:cSld>
  <p:clrMapOvr>
    <a:masterClrMapping/>
  </p:clrMapOvr>
</p:sld>
</file>

<file path=ppt/slides/slide6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तांबा व लोहा: तांबा उत्पादन में मध्य प्रदेश के बाद राजस्थान दूसरा बड़ा राज्य है (खेतड़ी, खो-दरीबा, भगोनी, विदासर)। लौह-अयस्क में हेमेटाइट श्रेणी का लोहा मोरीजा-बानोल (चौमूं, जयपुर) और नीमला-रायसेला (दौसा) में निकलता है। अतः सभी चारों कथन सत्य हैं। ⚡ [परीक्षा-उपयोगी सूक्ष्म दृष्टि / RPSC Trap Alert]: कथन D असत्य है क्योंकि इसमें दिए गए तथ्य में त्रुटि है। वास्तविक तथ्य यह है कि उदयपुर क्षेत्र से संबंधित है न कि चूरू से।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311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324/350</a:t>
            </a:r>
          </a:p>
        </p:txBody>
      </p:sp>
    </p:spTree>
  </p:cSld>
  <p:clrMapOvr>
    <a:masterClrMapping/>
  </p:clrMapOvr>
</p:sld>
</file>

<file path=ppt/slides/slide6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सीसा-जस्ता के प्रमुख खनन क्षेत्रों को उनके संबंधित जिलों के साथ सही सुमेलित कीजिए: सूची-I: सूची-I: A. रामपुरा-आगूचा B. राजपुरा-दरीबा व सिंदेसर खुर्द C. चौथ का बरवाड़ा D. गुढ़ा किशोरीदास सूची-II: 1. अलवर 2. राजसमंद 3. भीलवाड़ा 4. सवाई माधोपुर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654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325/350</a:t>
            </a:r>
          </a:p>
        </p:txBody>
      </p:sp>
    </p:spTree>
  </p:cSld>
  <p:clrMapOvr>
    <a:masterClrMapping/>
  </p:clrMapOvr>
</p:sld>
</file>

<file path=ppt/slides/slide6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B-2,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 और जस्ता राजस्थान के सबसे समृद्ध खनिज हैं। भीलवाड़ा जिले का रामपुरा-आगूचा विश्व की सबसे समृद्ध ओपन-कास्ट जस्ता खदानों में शुमार है जहाँ उच्च ग्रेड गैलेना और स्फेलेराइट मिलता है। राजसमंद का राजपुरा-दरीबा और सिंदेसर खुर्द भूमिगत खनन का प्रमुख केंद्र है। सवाई माधोपुर का चौथ का बरवाड़ा ऐतिहासिक सीसा-जस्ता खनन क्षेत्र है। अलवर जिले का गुढ़ा किशोरीदास उत्तरी अरावली का प्रमुख सीसा-जस्ता निक्षेप स्थल है। हिंदुस्तान जिंक लिमिटेड द्वारा इन सभी क्षेत्रों से अयस्क प्राप्त कर चंदेरिया व देबारी स्मेल्टर में शुद्ध किया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654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325/350</a:t>
            </a:r>
          </a:p>
        </p:txBody>
      </p:sp>
    </p:spTree>
  </p:cSld>
  <p:clrMapOvr>
    <a:masterClrMapping/>
  </p:clrMapOvr>
</p:sld>
</file>

<file path=ppt/slides/slide6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स्वच्छ ऊर्जा नीति 2024' (Clean Energy Policy 2024) के महत्वाकांक्षी लक्ष्यों पर विचार कीजिए: A. इस नीति के तहत वर्ष 2030 तक राज्य में 125 गीगावाट (1,25,000 मेगावाट) अक्षय ऊर्जा क्षमता स्थापित करने का लक्ष्य रखा गया है। B. इस 125 गीगावाट लक्ष्य में 100 गीगावाट सौर ऊर्जा तथा 25 गीगावाट पवन एवं हाइब्रिड ऊर्जा शामिल है। C. 'राजस्थान ग्रीन हाइड्रोजन नीति 2023' के तहत वर्ष 2030 तक 2000 किलो टन प्रतिवर्ष (KTPA) ग्रीन हाइड्रोजन उत्पादन का लक्ष्य है। D. 'पीएम सूर्य घर मुफ्त बिजली योजना' के तहत घरेलू छतों पर रूफटॉप सोलर लगाने हेतु किसानों व नागरिकों को 300 यूनिट तक मुफ्त बिजली का प्रावधान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998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326/350</a:t>
            </a:r>
          </a:p>
        </p:txBody>
      </p:sp>
    </p:spTree>
  </p:cSld>
  <p:clrMapOvr>
    <a:masterClrMapping/>
  </p:clrMapOvr>
</p:sld>
</file>

<file path=ppt/slides/slide6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स्वच्छ ऊर्जा नीति 2024: राजस्थान सौर ऊर्जा (24,000+ मेगावाट स्थापित) में देश में प्रथम है। 2024 की एकीकृत स्वच्छ ऊर्जा नीति 125 GW का लक्ष्य तय करती है। ग्रीन हाइड्रोजन के लिए व्हीलिंग व ट्रांसमिशन में 50% छूट दी गई है। रूफटॉप सोलर से कार्बन उत्सर्जन में भारी कमी आ रही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998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326/350</a:t>
            </a:r>
          </a:p>
        </p:txBody>
      </p:sp>
    </p:spTree>
  </p:cSld>
  <p:clrMapOvr>
    <a:masterClrMapping/>
  </p:clrMapOvr>
</p:sld>
</file>

<file path=ppt/slides/slide6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विश्व का सबसे बड़ा बहु-चरणीय सौर ऊर्जा संयंत्र 'भादला सोलर पार्क' (2245 मेगावाट क्षमता) राजस्थान के किस जिले में स्थित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जैसलमेर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बाड़मेर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बीकानेर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फलौदी (जोधपुर)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341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327/350</a:t>
            </a:r>
          </a:p>
        </p:txBody>
      </p:sp>
    </p:spTree>
  </p:cSld>
  <p:clrMapOvr>
    <a:masterClrMapping/>
  </p:clrMapOvr>
</p:sld>
</file>

<file path=ppt/slides/slide6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फलौदी (जोधपुर)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जैसलमेर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बाड़मेर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बीकानेर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भादला सोलर पार्क (Bhadla Solar Park) फलौदी जिले (पूर्व में जोधपुर) में लगभग 14,000 एकड़ क्षेत्र में 4 चरणों (Phases) में विकसित 2245 मेगावाट क्षमता का विश्व का सबसे बड़ा चालू सौर पार्क है। इसके अतिरिक्त नोख सोलर पार्क (925 मेगावाट, जैसलमेर) तथा पूगल सोलर पार्क (बीकानेर) अन्य प्रमुख मेगा सोलर पार्क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341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327/350</a:t>
            </a:r>
          </a:p>
        </p:txBody>
      </p:sp>
    </p:spTree>
  </p:cSld>
  <p:clrMapOvr>
    <a:masterClrMapping/>
  </p:clrMapOvr>
</p:sld>
</file>

<file path=ppt/slides/slide6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विशेष आर्थिक क्षेत्र (SEZ) के विकास एवं निर्यात प्रोत्साहन के संदर्भ में निम्नलिखित कथनों पर विचार कीजिए: A. राजस्थान में रत्न एवं आभूषण (Gems and Jewellery) के निर्यात को बढ़ावा देने हेतु राज्य का प्रथम SEZ सीतापुरा (जयपुर) में 2003 में स्थापित किया गया। B. महिंद्रा वर्ल्ड सिटी (जयपुर) बहु-उत्पाद सेज के रूप में RIICO और महिंद्रा समूह के संयुक्त प्रयास से विकसित किया गया है। C. राजस्थान सेज विधेयक राज्य विधानसभा द्वारा पारित किया गया था ताकि निर्यात आधारित उद्योगों को एकल खिड़की मंजूरी व कर छूट दी जा सके। D. राजस्थान में वर्तमान में एक भी SEZ संचालित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685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328/350</a:t>
            </a:r>
          </a:p>
        </p:txBody>
      </p:sp>
    </p:spTree>
  </p:cSld>
  <p:clrMapOvr>
    <a:masterClrMapping/>
  </p:clrMapOvr>
</p:sld>
</file>

<file path=ppt/slides/slide6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निर्यात आधारित औद्योगिक विकास को गति देने हेतु विशेष आर्थिक क्षेत्र (SEZ) स्थापित किए गए हैं। राज्य का पहला सेज सीतापुरा (जयपुर) में जेम्स एंड ज्वेलरी के लिए केंद्र सरकार द्वारा 2003 में स्वीकृत किया गया था। इसके बाद सीतापुरा में दूसरा जेम्स एंड ज्वेलरी सेज तथा महिंद्रा वर्ल्ड सिटी (जयपुर) में आईटी, ऑटोमोबाइल और हैंडीक्राफ्ट्स का विशाल मल्टी-प्रोडक्ट सेज विकसित हुआ। कथन D पूर्णतः असत्य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685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328/350</a:t>
            </a:r>
          </a:p>
        </p:txBody>
      </p:sp>
    </p:spTree>
  </p:cSld>
  <p:clrMapOvr>
    <a:masterClrMapping/>
  </p:clrMapOvr>
</p:sld>
</file>

<file path=ppt/slides/slide6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पश्चिमी मरुस्थलीय प्रदेश में सौर एवं पवन ऊर्जा संसाधनों के भौगोलिक विकास के संदर्भ में निम्नलिखित कथनों पर विचार कीजिए: A. राजस्थान में वर्ष भर में 325 से अधिक दिन तीव्र धूप खिलने के कारण सौर ऊर्जा की कुल उत्पादन क्षमता 142 गीगावाट (GW) आंकी गई है, जो देश में सर्वाधिक है। B. फलौदी जिले में स्थित 'भड़ला सोलर पार्क' (Bhadla Solar Park - क्षमता 2245 मेगावाट) विश्व के सबसे बड़े सौर ऊर्जा पार्कों में शुमार है। C. राजस्थान भारत में स्थापित सौर ऊर्जा क्षमता (20,000 मेगावाट से अधिक) में देश में प्रथम स्थान पर है। D. राजस्थान की प्रथम पवन ऊर्जा परियोजना 14 अगस्त 1999 को अलवर जिले के अमरसागर में स्थापित की गई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329/350</a:t>
            </a:r>
          </a:p>
        </p:txBody>
      </p:sp>
    </p:spTree>
  </p:cSld>
  <p:clrMapOvr>
    <a:masterClrMapping/>
  </p:clrMapOvr>
</p:sld>
</file>

<file path=ppt/slides/slide6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पश्चिमी राजस्थान (जैसलमेर, फलौदी, बीकानेर, बाड़मेर, जोधपुर) नवीन एवं नवीकरणीय ऊर्जा मंत्रालय (MNRE) द्वारा 'सोलर एनर्जी एंटरप्राइज जोन' (SEEZ) के रूप में घोषित किया गया है: (1) सौर ऊर्जा: राजस्थान में सर्वाधिक 142 GW सौर क्षमता है। भड़ला (फलौदी - 2245 MW), नोख सोलर पार्क (जैसलमेर - 925 MW) तथा पूगल सोलर पार्क (बीकानेर) प्रमुख मेगा पार्क हैं। राजस्थान सौर ऊर्जा की कुल स्थापित क्षमता में पूरे भारत में शीर्ष स्थान पर है। (2) पवन ऊर्जा: 14 अगस्त 1999 को अमरसागर (जैसलमेर) में राज्य का पहला 2 MW का पवन संयंत्र लगा। इसके बाद देवगढ़ (प्रतापगढ़, 2004), फलोदी तथा बड़ाबाग में पवन संयंत्र स्थापित हुए। राजस्थान अक्षय ऊर्जा निगम लिमिटेड (RRECL) राज्य में नोडल एजेंसी है। अतः सभी कथन सत्य हैं। ⚡ [परीक्षा-उपयोगी सूक्ष्म दृष्टि / RPSC Trap Alert]: कथन D असत्य है क्योंकि इसमें दिए गए तथ्य में त्रुटि है। वास्तविक तथ्य यह है कि जैसलमेर जिले में स्थित है न कि पूर्वी राजस्थान के अलवर में।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329/350</a:t>
            </a:r>
          </a:p>
        </p:txBody>
      </p:sp>
    </p:spTree>
  </p:cSld>
  <p:clrMapOvr>
    <a:masterClrMapping/>
  </p:clrMapOvr>
</p:sld>
</file>

<file path=ppt/slides/slide6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राज्य औद्योगिक विकास एवं विनियोजन निगम (RIICO) द्वारा विकसित विशिष्ट औद्योगिक पार्कों पर विचार कीजिए: A. बोरानाडा (जोधपुर) एवं सीतापुरा (जयपुर) - प्रमुख विशेष आर्थिक क्षेत्र (SEZ) तथा रत्न एवं आभूषण (Gems &amp; Jewellery) पार्क हैं। B. नीमराणा एवं घिलोठ (कोटपूतली-बहरोड़ / खैरथल) - जापानी औद्योगिक क्षेत्र (Japanese Zone) तथा सिरेमिक व इलेक्ट्रॉनिक मैन्युफैक्चरिंग हब हैं। C. महिंद्रा वर्ल्ड सिटी (जयपुर) - सार्वजनिक-निजी भागीदारी (PPP) आधारित सूचना प्रौद्योगिकी (IT) एवं बहु-उत्पाद सेज है। D. भिवाड़ी (खैरथल-तिजारा) - ऑटोमोबाइल, दवा एवं इंजीनियरिंग उद्योगों का वृहद राष्ट्रीय हब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372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330/350</a:t>
            </a:r>
          </a:p>
        </p:txBody>
      </p:sp>
    </p:spTree>
  </p:cSld>
  <p:clrMapOvr>
    <a:masterClrMapping/>
  </p:clrMapOvr>
</p:sld>
</file>

<file path=ppt/slides/slide6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रीको (RIICO) औद्योगिक क्लस्टर्स: दिल्ली-मुंबई औद्योगिक गलियारा (DMIC) प्रभाव क्षेत्र में नीमराणा में जापानी बहुराष्ट्रीय कंपनियां (Daikin, Havells आदि) कार्यरत हैं। सीतापुरा में जेम्स एंड ज्वैलरी सेज; बोरानाडा में हैंडीक्राफ्ट सेज; भिवाड़ी में होंडा कार्स व ग्लास उद्योग। ये राज्य के विनिर्माण विकास के प्रमुख स्तंभ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372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330/350</a:t>
            </a:r>
          </a:p>
        </p:txBody>
      </p:sp>
    </p:spTree>
  </p:cSld>
  <p:clrMapOvr>
    <a:masterClrMapping/>
  </p:clrMapOvr>
</p:sld>
</file>

<file path=ppt/slides/slide6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चम्बल नदी पर निर्मित प्रमुख बहुउद्देशीय बाँधों का नदी के उद्गम से मुहाने (बहाव की दिशा) की ओर सही क्रम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कोटा बैराज -&gt; जवाहर सागर -&gt; राणा प्रताप सागर -&gt; गांधी सागर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राणा प्रताप सागर -&gt; गांधी सागर -&gt; कोटा बैराज -&gt; जवाहर सागर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गांधी सागर -&gt; जवाहर सागर -&gt; राणा प्रताप सागर -&gt; कोटा बैराज</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गांधी सागर -&gt; राणा प्रताप सागर -&gt; जवाहर सागर -&gt; कोटा बैराज</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716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331/350</a:t>
            </a:r>
          </a:p>
        </p:txBody>
      </p:sp>
    </p:spTree>
  </p:cSld>
  <p:clrMapOvr>
    <a:masterClrMapping/>
  </p:clrMapOvr>
</p:sld>
</file>

<file path=ppt/slides/slide6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गांधी सागर -&gt; राणा प्रताप सागर -&gt; जवाहर सागर -&gt; कोटा बैराज</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 बैराज -&gt; जवाहर सागर -&gt; राणा प्रताप सागर -&gt; गांधी सागर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राणा प्रताप सागर -&gt; गांधी सागर -&gt; कोटा बैराज -&gt; जवाहर सागर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गांधी सागर -&gt; जवाहर सागर -&gt; राणा प्रताप सागर -&gt; कोटा बैराज</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चम्बल नदी घाटी परियोजना के अंतर्गत तीन चरणों में कुल चार विशाल बाँध बनाए गए हैं। नदी के उद्गम (मध्य प्रदेश) से बहाव की दिशा (उत्तर की ओर) में इनका सही क्रम इस प्रकार है: (1) गांधी सागर बाँध - मंदसौर/भानपुरा (मध्य प्रदेश, प्रथम चरण 1960), (2) राणा प्रताप सागर बाँध - रावतभाटा (चित्तौड़गढ़, द्वितीय चरण 1970 - राजस्थान का सर्वाधिक जल भराव क्षमता वाला बाँध), (3) जवाहर सागर बाँध - बोराबास (कोटा-बूंदी सीमा, तृतीय चरण 1972 - पिक-अप बाँध), तथा (4) कोटा बैराज - कोटा शहर के पास (प्रथम चरण 1960 - केवल सिंचाई और नहरों के लिए निर्मित)। अतः विकल्प D सही क्रम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716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331/350</a:t>
            </a:r>
          </a:p>
        </p:txBody>
      </p:sp>
    </p:spTree>
  </p:cSld>
  <p:clrMapOvr>
    <a:masterClrMapping/>
  </p:clrMapOvr>
</p:sld>
</file>

<file path=ppt/slides/slide6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परमाणु ऊर्जा केंद्र 'रावतभाटा' (RAPP, चित्तौड़गढ़) के संबंध में कथनों पर विचार कीजिए: A. राजस्थान परमाणु विद्युत गृह (RAPP) रावतभाटा में राणा प्रताप सागर बाँध के किनारे स्थित है। B. यह 1973 में कनाडा के तकनीकी सहयोग से स्थापित भारत का दूसरा तथा प्रेशराइज्ड हैवी वाटर रिएक्टर (PHWR) तकनीक वाला प्रथम परमाणु संयंत्र था। C. भारी जल (D2O) का उपयोग मंदक (Moderator) एवं शीतलक (Coolant) के रूप में किया जाता है, जिसके लिए यहाँ भारी जल संयंत्र भी कार्यरत है। D. वर्तमान में यहाँ 700-700 मेगावाट की दो नई स्वदेशी दाबित भारी जल इकाइयां (यूनिट 7 व 8) स्थापित की जा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059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332/350</a:t>
            </a:r>
          </a:p>
        </p:txBody>
      </p:sp>
    </p:spTree>
  </p:cSld>
  <p:clrMapOvr>
    <a:masterClrMapping/>
  </p:clrMapOvr>
</p:sld>
</file>

<file path=ppt/slides/slide6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रावतभाटा परमाणु विद्युत गृह (RAPP): तारापुर (महाराष्ट्र) के बाद देश का दूसरा नाभिकीय संयंत्र। कनाडियन CANDU तकनीक पर आधारित। चंबल नदी से प्रचुर शीतल जल मिलता है। कुल क्षमता नई इकाइयों (7 व 8) के पूर्ण होने पर 2600 मेगावाट से अधिक हो जाएगी।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059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332/350</a:t>
            </a:r>
          </a:p>
        </p:txBody>
      </p:sp>
    </p:spTree>
  </p:cSld>
  <p:clrMapOvr>
    <a:masterClrMapping/>
  </p:clrMapOvr>
</p:sld>
</file>

<file path=ppt/slides/slide6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पीएम-कुसुम योजना (PM-KUSUM) एवं 'राजकिसान साथी' सिंगल विंडो पोर्टल पर विचार कीजिए: A. पीएम-कुसुम कंपोनेंट-A व B के तहत ऑफ-ग्रिड एवं ग्रिड-कनेक्टेड सोलर कृषि पंपों की स्थापना से किसानों को दिन के समय सिंचाई हेतु स्वच्छ बिजली मिल रही है। B. सौर ऊर्जा चालित पंपों से किसानों की महंगे डीजल और रात्रि कालीन विद्युत आपूर्ति पर निर्भरता समाप्त हुई है। C. 'राजकिसान साथी' पोर्टल कृषि, उद्यानिकी और पशुपालन से जुड़ी 150+ योजनाओं और अनुदानों का एकल डिजिटल मंच है। D. नहरी क्षेत्रों में जल वितरण की पारंपरिक 'बाराबंदी' व्यवस्था में पारदर्शिता लाने हेतु जल संसाधन विभाग द्वारा 'बाराबंदी ऐप' प्रारंभ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403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333/350</a:t>
            </a:r>
          </a:p>
        </p:txBody>
      </p:sp>
    </p:spTree>
  </p:cSld>
  <p:clrMapOvr>
    <a:masterClrMapping/>
  </p:clrMapOvr>
</p:sld>
</file>

<file path=ppt/slides/slide6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डिजिटल व सौर कृषि गवर्नेंस: कुसुम योजना से अन्नदाता 'ऊर्जादाता' बन रहे हैं। राजकिसान साथी पोर्टल पर जन आधार द्वारा ऑनलाइन आवेदन, जियो-टैगिंग व डीबीटी होता है। बाराबंदी ऐप नहरी टेल-एंड तक पानी की पारदर्शी रोस्टरिंग सुनिश्चित करता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403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333/350</a:t>
            </a:r>
          </a:p>
        </p:txBody>
      </p:sp>
    </p:spTree>
  </p:cSld>
  <p:clrMapOvr>
    <a:masterClrMapping/>
  </p:clrMapOvr>
</p:sld>
</file>

<file path=ppt/slides/slide6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पचपदरा (बालोतरा) में निर्माणाधीन 'एचआरआरएल रिफाइनरी एवं पेट्रोकेमिकल कॉम्प्लेक्स' पर विचार कीजिए: A. HRRL (HPCL राजस्थान रिफाइनरी लिमिटेड) हिंदुस्तान पेट्रोलियम कॉर्पोरेशन लिमिटेड (74%) एवं राजस्थान सरकार (26%) का संयुक्त उपक्रम है। B. यह 9 MMTPA (मिलियन मीट्रिक टन प्रतिवर्ष) क्षमता की देश की पहली एकीकृत 'BS-VI' मानक रिफाइनरी सह पेट्रोकेमिकल परिसर है। C. कच्चे तेल की आपूर्ति हेतु गुजरात के मुंद्रा पोर्ट से पचपदरा तक 487 किमी लंबी क्रूड ऑयल पाइपलाइन बिछाई गई है। D. इसके साथ ही पचपदरा में पेट्रोकेमिकल डाउनस्ट्रीम प्लास्टिक, टेक्सटाइल व फार्मा उद्योग हेतु 'पेट्रोलियम, केमिकल्स एवं पेट्रोकेमिकल्स निवेश क्षेत्र' (PCPIR) विकसित किया जा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746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334/350</a:t>
            </a:r>
          </a:p>
        </p:txBody>
      </p:sp>
    </p:spTree>
  </p:cSld>
  <p:clrMapOvr>
    <a:masterClrMapping/>
  </p:clrMapOvr>
</p:sld>
</file>

<file path=ppt/slides/slide6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पचपदरा रिफाइनरी परियोजना: लागत लगभग ₹72,000+ करोड़। 26:74 साझेदारी। 9 MMTPA क्षमता। पॉलीप्रोपाइलीन, पॉलीइथाइलीन, बेंजीन, ब्यूटाडीन जैसे पेट्रोकेमिकल उत्पाद बनेंगे जो पश्चिमी राजस्थान के औद्योगिक परिदृश्य को पूरी तरह बदल देंगे।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746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334/350</a:t>
            </a:r>
          </a:p>
        </p:txBody>
      </p:sp>
    </p:spTree>
  </p:cSld>
  <p:clrMapOvr>
    <a:masterClrMapping/>
  </p:clrMapOvr>
</p:sld>
</file>

<file path=ppt/slides/slide6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रीको (RIICO) द्वारा राज्य में स्थापित 4 प्रमुख 'एग्रो फूड पार्कों' (Agro Food Parks) को उनके संबंधित जिलों से सुमेलित कीजिए: सूची-I: सूची-I: A. बोरानाड़ा एग्रो फूड पार्क B. रानपुर एग्रो फूड पार्क C. उद्योग विहार एग्रो फूड पार्क D. एम.आई.ए. (मत्स्य) एग्रो फूड पार्क सूची-II: 1. कोटा 2. अलवर 3. जोधपुर 4. श्रीगंगानगर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090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335/350</a:t>
            </a:r>
          </a:p>
        </p:txBody>
      </p:sp>
    </p:spTree>
  </p:cSld>
  <p:clrMapOvr>
    <a:masterClrMapping/>
  </p:clrMapOvr>
</p:sld>
</file>

<file path=ppt/slides/slide6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 में कृषि आधारित उद्योगों, खाद्य प्रसंस्करण (Food Processing) और मूल्य संवर्धन को बढ़ावा देने हेतु रीको द्वारा 4 प्रमुख एग्रो फूड पार्क विकसित किए गए हैं: (1) बोरानाड़ा (जोधपुर) - पश्चिमी शुष्क कृषि उत्पादों हेतु; (2) रानपुर (कोटा) - हाड़ौती के सोयाबीन व मसालों हेतु; (3) उद्योग विहार (श्रीगंगानगर) - गन्ने, गेहूं व किन्नू प्रसंस्करण हेतु; तथा (4) एम.आई.ए. (अलवर) - सरसों व तिलहन प्रसंस्करण हेतु। इसके अतिरिक्त केंद्र सरकार के सहयोग से रूपनगढ़ (अजमेर) में राज्य का पहला 'ग्रीनटेक मेगा फूड पार्क' स्थापित किया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090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335/350</a:t>
            </a:r>
          </a:p>
        </p:txBody>
      </p:sp>
    </p:spTree>
  </p:cSld>
  <p:clrMapOvr>
    <a:masterClrMapping/>
  </p:clrMapOvr>
</p:sld>
</file>

<file path=ppt/slides/slide6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खनन एवं पत्थर पिसाई उद्योगों में कार्यरत श्रमिकों के स्वास्थ्य एवं कल्याण हेतु 'राजस्थान सिलिकोसिस नीति-2019' के प्रमुख वित्तीय एवं सामाजिक सुरक्षा प्रावधानों पर विचार कीजिए: A. सिलिकोसिस रोग के प्रमाणीकरण (डिजिटल सर्टिफिकेट) पर पीड़ित व्यक्ति को पुनर्वास हेतु ₹3 लाख की एकमुश्त सहायता राशि दी जाती है। B. जीवित प्रमाणित सिलिकोसिस पीड़ित को ₹1,500 प्रति माह सामाजिक सुरक्षा विशेष दिव्यांग पेंशन प्रदान की जाती है। C. सिलिकोसिस पीड़ित की मृत्यु होने पर उसके आश्रित परिवार को ₹2 लाख की वित्तीय सहायता एवं अंतिम संस्कार हेतु ₹10,000 की राशि दी जाती है। D. दिवंगत श्रमिक की विधवा को आयु वर्ग के अनुसार ₹1,250 से ₹1,500 प्रति माह विधवा पेंशन तथा बच्चों को पालनहार योजना का लाभ दिया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336/350</a:t>
            </a:r>
          </a:p>
        </p:txBody>
      </p:sp>
    </p:spTree>
  </p:cSld>
  <p:clrMapOvr>
    <a:masterClrMapping/>
  </p:clrMapOvr>
</p:sld>
</file>

<file path=ppt/slides/slide6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सिलिकोसिस (Silicosis) खदानों, पत्थर कटाई, सैंडस्टोन ग्राइंडिंग और क्रशर उद्योगों में सिलिका धूल के फेफड़ों में जमने से होने वाला एक लाइलाज फेफड़ों का व्यावसायिक रोग है। राजस्थान भारत का पहला राज्य है जिसने 3 अक्टूबर 2019 को व्यापक 'सिलिकोसिस नीति' लागू की। मुख्य प्रावधान: (1) न्यूमोकोनियोसिस बोर्ड द्वारा प्रमाणीकरण होते ही पीड़ित के बैंक खाते में ₹3 लाख की पुनर्वास सहायता सीधे डीबीटी द्वारा अंतरित की जाती है; (2) पीड़ित को आजीवन ₹1500 प्रति माह विशेष पेंशन; (3) मृत्यु होने पर आश्रित को ₹2 लाख की एकमुश्त सहायता तथा अंत्येष्टि हेतु ₹10,000; (4) विधवा को ₹1250-₹1500 मासिक पेंशन और खाद्य सुरक्षा (NFSA / आस्था कार्ड) के तहत निःशुल्क राशन; (5) बच्चों को पालनहार योजना में वरीयता। दिसंबर 2025 तक राज्य में ₹614.86 करोड़ की राशि व्यय कर 20,478 से अधिक पीड़ितों व परिवारों को राहत दी जा चुकी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336/350</a:t>
            </a:r>
          </a:p>
        </p:txBody>
      </p:sp>
    </p:spTree>
  </p:cSld>
  <p:clrMapOvr>
    <a:masterClrMapping/>
  </p:clrMapOvr>
</p:sld>
</file>

<file path=ppt/slides/slide6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सिलिकोसिस नीति 2019' (Pneumoconiosis Policy) के मानवीय कल्याण प्रावधानों पर विचार कीजिए: A. खदानों एवं पत्थर पिसाई/घिसाई (सैंडस्टोन, क्वार्ट्ज, मार्बल) में काम करने वाले श्रमिकों में सिलिका धूल फेफड़ों में जमने से होने वाली बीमारी 'सिलिकोसिस' कहलाती है। B. इस नीति के तहत न्यूमोकोनियोसिस बोर्ड द्वारा प्रमाणीकरण होने पर पीड़ित श्रमिक को ₹3 लाख की तात्कालिक वित्तीय सहायता दी जाती है। C. सिलिकोसिस पीड़ित की मृत्यु होने पर परिजनों को ₹2 लाख की एकमुश्त सहायता तथा ₹10,000 अंतिम संस्कार हेतु दिए जाते हैं। D. पीड़ित की विधवा को ₹1500 से ₹4000 तक प्रतिमाह विशेष पेंशन तथा पालनहार योजना के तहत बच्चों को वित्तीय सहायता दी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777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337/350</a:t>
            </a:r>
          </a:p>
        </p:txBody>
      </p:sp>
    </p:spTree>
  </p:cSld>
  <p:clrMapOvr>
    <a:masterClrMapping/>
  </p:clrMapOvr>
</p:sld>
</file>

<file path=ppt/slides/slide6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सिलिकोसिस नीति (3 अक्टूबर 2019): राजस्थान ऐसी समग्र नीति लागू करने वाला देश का पहला राज्य है। डीएमएफटी फंड से इसका वित्तपोषण होता है। खदानों में धूल नियंत्रण हेतु गीली ड्रिलिंग (Wet Drilling) तथा डस्ट एक्सट्रैक्टर मास्क अनिवार्य किए गए हैं। न्यूमोकोनियोसिस पोर्टल पर ऑनलाइन ट्रैकिंग होती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777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337/350</a:t>
            </a:r>
          </a:p>
        </p:txBody>
      </p:sp>
    </p:spTree>
  </p:cSld>
  <p:clrMapOvr>
    <a:masterClrMapping/>
  </p:clrMapOvr>
</p:sld>
</file>

<file path=ppt/slides/slide6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पचपदरा (बालोतरा) में स्थापित की जा रही 'एचपीसीएल राजस्थान रिफाइनरी लिमिटेड' (HRRL) परियोजना में हिंदुस्तान पेट्रोलियम कॉर्पोरेशन लिमिटेड (HPCL) और राजस्थान सरकार की इक्विटी हिस्सेदारी क्रमशः कितनी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50% एवं 50%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74% एवं 26%</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51% एवं 49%</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26% एवं 74%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120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338/350</a:t>
            </a:r>
          </a:p>
        </p:txBody>
      </p:sp>
    </p:spTree>
  </p:cSld>
  <p:clrMapOvr>
    <a:masterClrMapping/>
  </p:clrMapOvr>
</p:sld>
</file>

<file path=ppt/slides/slide6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74% एवं 26%</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50% एवं 50%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51% एवं 49%</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26% एवं 74%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HPCL राजस्थान रिफाइनरी लिमिटेड (HRRL) हिंदुस्तान पेट्रोलियम कॉर्पोरेशन लिमिटेड (HPCL) और राजस्थान सरकार (GoR) का एक संयुक्त उद्यम (JV) है, जिसमें इक्विटी भागीदारी क्रमशः 74% (HPCL) तथा 26% (राजस्थान सरकार) है। यह 9 MMTPA (मिलियन मीट्रिक टन प्रति वर्ष) क्षमता वाली देश की पहली बीएस-VI मानक रिफाइनरी-सह-पेट्रोकेमिकल कॉम्प्लेक्स परियोजना है जो पचपदरा (बालोतरा जिला) में स्थापित की जा रही है। इसकी अनुमानित संशोधित लागत ₹72,937 करोड़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120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338/350</a:t>
            </a:r>
          </a:p>
        </p:txBody>
      </p:sp>
    </p:spTree>
  </p:cSld>
  <p:clrMapOvr>
    <a:masterClrMapping/>
  </p:clrMapOvr>
</p:sld>
</file>

<file path=ppt/slides/slide6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औद्योगिक एवं विशिष्ट थीम पार्कों के संदर्भ में निम्नलिखित कथनों पर विचार कीजिए: A. राज्य का पहला ई-वेस्ट रीसाइक्लिंग केंद्र 'इंटीग्रेटेड रिसोर्स रिकवरी पार्क' थोलाई (जमुवारामगढ़, जयपुर) में स्थापित किया गया है। B. रीको (RIICO) द्वारा सोलर सेल व सोलर पैनल निर्माण हेतु 'कांकाणी औद्योगिक क्षेत्र' (जोधपुर) में डेडिकेटेड पार्क विकसित किया गया है। C. गंगानगर स्टोन के प्रसंस्करण एवं संवर्धन हेतु कोटा जिले के 'गुण्डी-फतेहपुर' क्षेत्र में स्टोन पार्क विकसित किया गया है। D. जोधपुर में बोरानाडा के निकट हैंडीक्राफ्ट और फर्नीचर क्लस्टर पार्क कार्यरत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464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339/350</a:t>
            </a:r>
          </a:p>
        </p:txBody>
      </p:sp>
    </p:spTree>
  </p:cSld>
  <p:clrMapOvr>
    <a:masterClrMapping/>
  </p:clrMapOvr>
</p:sld>
</file>

<file path=ppt/slides/slide6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विशिष्ट थीम आधारित पार्कों का विकास: (1) राजस्थान राज्य प्रदूषण नियंत्रण बोर्ड और रीको द्वारा कचरा प्रबंधन व ई-वेस्ट पुनर्चक्रण हेतु राज्य का पहला 'इंटीग्रेटेड रिसोर्स रिकवरी पार्क' थोलाई (जमुवारामगढ़, जयपुर) में स्थापित किया गया; (2) कांकाणी औद्योगिक क्षेत्र (जोधपुर) में सोलर पैनल मैन्युफैक्चरिंग पार्क विकसित है; (3) गुण्डी-फतेहपुर (कोटा) में कोटा स्टोन पार्क कार्यरत है; (4) बोरानाडा (जोधपुर) में हैंडीक्राफ्ट व फर्नीचर पार्क संचालित है। अतः सभी चारों कथन सत्य हैं। ⚡ [परीक्षा-उपयोगी सूक्ष्म दृष्टि / RPSC Trap Alert]: कथन C असत्य है क्योंकि इसमें दिए गए तथ्य में त्रुटि है। वास्तविक तथ्य यह है कि हाड़ौती/कोटा संभाग से संबंधित है न कि गंगानगर से। अतः सही उत्तर विकल्प (C)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464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339/350</a:t>
            </a:r>
          </a:p>
        </p:txBody>
      </p:sp>
    </p:spTree>
  </p:cSld>
  <p:clrMapOvr>
    <a:masterClrMapping/>
  </p:clrMapOvr>
</p:sld>
</file>

<file path=ppt/slides/slide6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ऐतिहासिक उद्योगों एवं उनकी स्थापना वर्षों को सही सुमेलित कीजिए: सूची-I: सूची-I: A. द कृष्णा मिल्स लिमिटेड (प्रथम सूती वस्त्र मिल) B. प्रथम सीमेंट कारखाना (ACC) C. द मेवाड़ शुगर मिल्स (प्रथम चीनी मिल) D. राजस्थान राज्य औद्योगिक विकास एवं निवेश निगम (RIICO) सूची-II: 1. 1932 ई. (भोपालसागर, चित्तौड़गढ़) 2. 1889 ई. (ब्यावर) 3. 1980 ई. (जयपुर) 4. 1915 ई. (लाखेरी, बूंदी)</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808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340/350</a:t>
            </a:r>
          </a:p>
        </p:txBody>
      </p:sp>
    </p:spTree>
  </p:cSld>
  <p:clrMapOvr>
    <a:masterClrMapping/>
  </p:clrMapOvr>
</p:sld>
</file>

<file path=ppt/slides/slide6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आधुनिक उद्योगों की शुरुआत 1889 में ब्यावर में सेठ दामोदर दास राठी द्वारा 'द कृष्णा मिल्स लिमिटेड' की स्थापना से हुई। 1915 में लाखेरी (बूंदी) में क्लिक निक्सन कंपनी द्वारा राज्य का पहला सीमेंट कारखाना लगा। 1932 में भोपालसागर (चित्तौड़गढ़) में निजी क्षेत्र में राज्य की पहली चीनी मिल स्थापित हुई। रीको (RIICO) मूलतः 1969 में खनिज विकास निगम के साथ बना था, जिसे जनवरी 1980 में स्वतंत्र रूप से 'राजस्थान राज्य औद्योगिक विकास एवं निवेश निगम' का स्वरूप दिया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808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340/350</a:t>
            </a:r>
          </a:p>
        </p:txBody>
      </p:sp>
    </p:spTree>
  </p:cSld>
  <p:clrMapOvr>
    <a:masterClrMapping/>
  </p:clrMapOvr>
</p:sld>
</file>

<file path=ppt/slides/slide6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बारां जिले में स्थित 'रामगढ़ क्रेटर' (Ramgarh Crater) के संबंध में कौन-सा तथ्य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उल्कापिण्ड के पृथ्वी से टकराने (Meteorite Impact) के कारण निर्मित हुआ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आकृति घोड़े की नाल (Horse-Shoe Type) के समान पर्वत श्रेणी के रूप में दिखाई देती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भारतीय भूवैज्ञानिक सर्वेक्षण (GSI) द्वारा देश का पहला अधिसूचित भू-विरासत स्थल घोषित किया गया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थार मरुस्थल के मध्य स्थित एक प्रमुख खारे पानी की झील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151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341/350</a:t>
            </a:r>
          </a:p>
        </p:txBody>
      </p:sp>
    </p:spTree>
  </p:cSld>
  <p:clrMapOvr>
    <a:masterClrMapping/>
  </p:clrMapOvr>
</p:sld>
</file>

<file path=ppt/slides/slide6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यह थार मरुस्थल के मध्य स्थित एक प्रमुख खारे पानी की झील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उल्कापिण्ड के पृथ्वी से टकराने (Meteorite Impact) के कारण निर्मित हुआ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आकृति घोड़े की नाल (Horse-Shoe Type) के समान पर्वत श्रेणी के रूप में दिखाई देती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भारतीय भूवैज्ञानिक सर्वेक्षण (GSI) द्वारा देश का पहला अधिसूचित भू-विरासत स्थल घोषित किया गया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रामगढ़ क्रेटर बारां जिले में स्थित एक दुर्लभ भू-आकृतिक संरचना है, जो उल्कापिण्ड के संघात से बनी है। इसकी बाहरी परिधि घोड़े की नाल के आकार की पहाड़ियों से घिरी हुई है। यह थार मरुस्थल की खारी झील नहीं, बल्कि दक्षिण-पूर्वी राजस्थान (हाड़ौती) के विन्ध्यन बलुआ पत्थर क्षेत्र में स्थित एक उल्कापिंडीय क्रेटर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151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341/350</a:t>
            </a:r>
          </a:p>
        </p:txBody>
      </p:sp>
    </p:spTree>
  </p:cSld>
  <p:clrMapOvr>
    <a:masterClrMapping/>
  </p:clrMapOvr>
</p:sld>
</file>

<file path=ppt/slides/slide6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सरकार के प्रमुख राजकीय औद्योगिक उपक्रमों एवं विकास निगमों को उनके स्थापना वर्ष के साथ सही सुमेलित कीजिए: सूची-I (राजकीय उपक्रम): सूची-I: A. राजस्थान राज्य वित्त निगम (RFC) B. राजस्थान राज्य भण्डारण निगम (RSWC) C. राजस्थान राज्य पथ परिवहन निगम (RSRTC) D. राजस्थान आवासन मंडल (RHB) सूची-II: 1. 1970 ई. 2. 1964 ई. 3. 1957 ई. 4. 1955 ई.</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495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342/350</a:t>
            </a:r>
          </a:p>
        </p:txBody>
      </p:sp>
    </p:spTree>
  </p:cSld>
  <p:clrMapOvr>
    <a:masterClrMapping/>
  </p:clrMapOvr>
</p:sld>
</file>

<file path=ppt/slides/slide6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प्रमुख राज्य निगमों की स्थापना इस प्रकार हुई: 'राजस्थान राज्य वित्त निगम' (RFC) उद्योगों को दीर्घकालिक ऋण देने हेतु 1955 में स्थापित हुआ। 'राजस्थान राज्य भण्डारण निगम' (RSWC) कृषि उपज व आदानों के सुरक्षित भंडारण हेतु 1957 में गठित हुआ। 'राजस्थान राज्य पथ परिवहन निगम' (RSRTC) नागरिकों को सुगम बस सेवाएं देने हेतु 1964 में बना। 'राजस्थान आवासन मंडल' (RHB) आवास योजनाओं हेतु 1970 में गठित हुआ। 'राजस्थान राज्य कृषि विपणन बोर्ड' (RSANB) 1974 में तथा 'रीको' (RIICO) 1980 में स्थापित हुआ। अतः सही मिलान A-4, B-3, C-2,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495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342/350</a:t>
            </a:r>
          </a:p>
        </p:txBody>
      </p:sp>
    </p:spTree>
  </p:cSld>
  <p:clrMapOvr>
    <a:masterClrMapping/>
  </p:clrMapOvr>
</p:sld>
</file>

<file path=ppt/slides/slide6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टंगस्टन एवं बेरिलियम के प्रमुख उत्पादक क्षेत्रों को उनके संबंधित जिलों से सुमेलित कीजिए: सूची-I: सूची-I: A. डेगाना-भाकरी B. बालदा व आबू रोड C. नाना कराब D. चम्पागुड़ा व शिकारबाड़ी सूची-II: 1. सिरोही 2. नागौर (रेवत पहाड़ी) 3. उदयपुर 4. पाली</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343/350</a:t>
            </a:r>
          </a:p>
        </p:txBody>
      </p:sp>
    </p:spTree>
  </p:cSld>
  <p:clrMapOvr>
    <a:masterClrMapping/>
  </p:clrMapOvr>
</p:sld>
</file>

<file path=ppt/slides/slide6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टंगस्टन (वुल्फ्रेमाइट अयस्क) अत्यधिक उच्च गलनांक (3422°C) वाली सामरिक धातु है, जिसका उपयोग बिजली के बल्ब के फिलामेंट और रक्षा उपकरणों में होता है। नागौर के डेगाना की रेवत पहाड़ी भारत की सबसे प्रसिद्ध टंगस्टन खदान रही है। इसके अलावा सिरोही का बालदा तथा पाली का नाना कराब क्षेत्र टंगस्टन के प्रमुख निक्षेप स्थल हैं। बेरिलियम (Beryl) परमाणु ऊर्जा में मॉडरेटर के रूप में प्रयुक्त होने वाला दुर्लभ खनिज है, जो उदयपुर के चम्पागुड़ा, शिकारबाड़ी और बाड़ी सीसारमा तथा जयपुर के गुजरवाड़ा में पाया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343/350</a:t>
            </a:r>
          </a:p>
        </p:txBody>
      </p:sp>
    </p:spTree>
  </p:cSld>
  <p:clrMapOvr>
    <a:masterClrMapping/>
  </p:clrMapOvr>
</p:sld>
</file>

<file path=ppt/slides/slide6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विशिष्ट भौगोलिक आकृतियों एवं ऐतिहासिक महत्त्व वाली पहाड़ियों को उनके संबंधित जिलों से सही सुमेलित कीजिए: सूची-I (पहाड़ी का नाम): सूची-I: A. त्रिकूट पहाड़ी B. त्रिकूट पर्वत C. चिड़ियाटूँक पहाड़ी D. नाकोड़ा पर्वत (छप्पन पहाड़ियाँ) सूची-II: 1. बालोतरा (सिवाना के पास गोलाकार पहाड़ियाँ, राजस्थान का मेवानगर) 2. जोधपुर (जिस पर प्रसिद्ध मेहरानगढ़ दुर्ग स्थित है) 3. जैसलमेर (जिस पर सोनार किला / जैसलमेर दुर्ग बना है) 4. करौली (जिस पर प्रसिद्ध कैला देवी मंदिर स्थित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182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344/350</a:t>
            </a:r>
          </a:p>
        </p:txBody>
      </p:sp>
    </p:spTree>
  </p:cSld>
  <p:clrMapOvr>
    <a:masterClrMapping/>
  </p:clrMapOvr>
</p:sld>
</file>

<file path=ppt/slides/slide6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किलों और मंदिरों से जुड़ी विशिष्ट पहाड़ियों की स्थिति: (1) 'त्रिकूट पहाड़ी' जैसलमेर में स्थित तीन कोणों वाली पहाड़ी है जिस पर 1155 ई. में राव जैसल ने पीले पत्थरों से निर्मित 'सोनार दुर्ग' (स्वर्ण किला) बनवाया था। (2) 'त्रिकूट पर्वत' करौली जिले में कालीसिल नदी के तट पर स्थित विन्ध्यन पर्वत श्रेणी है जिस पर प्रसिद्ध कैला देवी का लक्खी मंदिर स्थित है। (3) 'चिड़ियाटूँक पहाड़ी' जोधपुर शहर में स्थित एक एकाकी पहाड़ी है जिस पर 1459 ई. में राव जोधा ने मयूरध्वजगढ़ (मेहरानगढ़ दुर्ग) का निर्माण करवाया था। (4) 'नाकोड़ा पर्वत' बालोतरा जिले के सिवाना क्षेत्र में स्थित 56 गोलाकार ग्रेनाइट पहाड़ियों का समूह है, जिसे जैन तीर्थ स्थल होने के कारण 'राजस्थान का मेवानगर' कहा जाता है; यहीं पीपलूद गाँव स्थित है जिसे 'मारवाड़ का लघु माउंट आबू' कहते हैं। अतः सही मिलान A-3, B-4, C-2,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182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344/350</a:t>
            </a:r>
          </a:p>
        </p:txBody>
      </p:sp>
    </p:spTree>
  </p:cSld>
  <p:clrMapOvr>
    <a:masterClrMapping/>
  </p:clrMapOvr>
</p:sld>
</file>

<file path=ppt/slides/slide6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'रक्त मणि' के नाम से प्रसिद्ध 'तामड़ा' (Garnet) के उत्पादन में राज्य का देश में एकाधिकार है; विश्व भर में इसके सबसे प्रसिद्ध उत्पादक क्षेत्र कौन-से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राजमहल, जनकपुरा एवं कल्याणपुर (टोंक) तथा सरवाड़ (केकड़ी/अजमेर)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सलादीपुरा (सीकर)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जावर (उदयपुर)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जामसर (बीकानेर)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525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345/350</a:t>
            </a:r>
          </a:p>
        </p:txBody>
      </p:sp>
    </p:spTree>
  </p:cSld>
  <p:clrMapOvr>
    <a:masterClrMapping/>
  </p:clrMapOvr>
</p:sld>
</file>

<file path=ppt/slides/slide6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राजमहल, जनकपुरा एवं कल्याणपुर (टोंक) तथा सरवाड़ (केकड़ी/अजमेर)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सलादीपुरा (सीकर)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जावर (उदयपुर)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जामसर (बीकानेर)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तामड़ा (Garnet) को 'रक्त मणि' अथवा 'गार्नेट' कहा जाता है। यह लाल-कत्थई रंग का पारदर्शी कीमती रत्न है जिसका उपयोग आभूषण निर्माण, कटिंग-पॉलिशिंग तथा अपघर्षक (Abrasive) के रूप में होता है। तामड़ा उत्पादन में राजस्थान का 100% एकाधिकार है। इसके विश्व प्रसिद्ध भंडार टोंक जिले के राजमहल, जनकपुरा, कुशालपुरा, कल्याणपुर और देवखेड़ा में तथा केकड़ी/अजमेर के सरवाड़ क्षेत्र में स्थित हैं। सलादीपुरा (सीकर) पाइराइट्स हेतु तथा जामसर (बीकानेर) जिप्सम हेतु प्रसिद्ध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525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345/350</a:t>
            </a:r>
          </a:p>
        </p:txBody>
      </p:sp>
    </p:spTree>
  </p:cSld>
  <p:clrMapOvr>
    <a:masterClrMapping/>
  </p:clrMapOvr>
</p:sld>
</file>

<file path=ppt/slides/slide6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'प्रथम सुपर थर्मल पावर स्टेशन' (First Super Thermal Power Station) कौन-सा है और यह किस जिले में स्थित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कोटा सुपर थर्मल पावर स्टेशन - कोटा</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सूरतगढ़ सुपर थर्मल पावर स्टेशन - श्रीगंगानगर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छबड़ा सुपर थर्मल पावर स्टेशन - बारां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कालीसिंध थर्मल पावर स्टेशन - झालावाड़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869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346/350</a:t>
            </a:r>
          </a:p>
        </p:txBody>
      </p:sp>
    </p:spTree>
  </p:cSld>
  <p:clrMapOvr>
    <a:masterClrMapping/>
  </p:clrMapOvr>
</p:sld>
</file>

<file path=ppt/slides/slide6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सूरतगढ़ सुपर थर्मल पावर स्टेशन - श्रीगंगानगर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 सुपर थर्मल पावर स्टेशन - कोटा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छबड़ा सुपर थर्मल पावर स्टेशन - बारां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कालीसिंध थर्मल पावर स्टेशन - झालावाड़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सूरतगढ़ सुपर थर्मल पावर स्टेशन (SSTPS) श्रीगंगानगर जिले के ठुकराना गाँव में स्थित है। यह राजस्थान का पहला 'सुपर थर्मल पावर स्टेशन' है (सुपर थर्मल उन विद्युत गृहों को कहा जाता है जिनकी कुल क्षमता 1000 मेगावाट या अधिक होती है)। इसकी प्रारंभिक स्थापित क्षमता 1500 मेगावाट (250 MW की 6 इकाइयां) थी, जिसके बाद यहाँ 660-660 MW की 2 सुपर-क्रिटिकल इकाइयां जोड़कर कुल क्षमता 2820 मेगावाट कर दी गई है। इसे 'राजस्थान का आधुनिक विकास तीर्थ' भी कहा जाता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869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346/350</a:t>
            </a:r>
          </a:p>
        </p:txBody>
      </p:sp>
    </p:spTree>
  </p:cSld>
  <p:clrMapOvr>
    <a:masterClrMapping/>
  </p:clrMapOvr>
</p:sld>
</file>

<file path=ppt/slides/slide6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खादी एवं ग्रामोद्योग को बढ़ावा देने, उच्च गुणवत्ता के खादी वस्त्रों के उत्पादन तथा बुनकरों/कारीगरों को डिजाइन व विपणन सहायता देने हेतु कौन-सी विशिष्ट योजना संचालित की जा रही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बुनकर कल्याण योजना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मुख्यमंत्री युवा स्वरोजगार योजना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फैशन फॉर डेवलपमेंट योजना (Fashion for Development)</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रीको खादी संवर्धन योजना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212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347/350</a:t>
            </a:r>
          </a:p>
        </p:txBody>
      </p:sp>
    </p:spTree>
  </p:cSld>
  <p:clrMapOvr>
    <a:masterClrMapping/>
  </p:clrMapOvr>
</p:sld>
</file>

<file path=ppt/slides/slide6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फैशन फॉर डेवलपमेंट योजना (Fashion for Development)</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बुनकर कल्याण योजना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मुख्यमंत्री युवा स्वरोजगार योजना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रीको खादी संवर्धन योजना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पारंपरिक खादी एवं ग्रामोद्योग को आधुनिक फैशन बाजार से जोड़ने तथा ग्रामीण कारीगरों के उत्पादों को राष्ट्रीय व अंतरराष्ट्रीय मंच पर लोकप्रिय बनाने के उद्देश्य से 'फैशन फॉर डेवलपमेंट योजना' (Fashion for Development Scheme) चलाई जा रही है। इसके तहत प्रसिद्ध फैशन डिजाइनरों के सहयोग से खादी के आकर्षक परिधान तैयार करवाए जाते हैं जिससे खादी बिक्री में भारी वृद्धि हुई है और हथकरघा बुनकरों को लाभकारी मजदूरी मिल रही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212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347/350</a:t>
            </a:r>
          </a:p>
        </p:txBody>
      </p:sp>
    </p:spTree>
  </p:cSld>
  <p:clrMapOvr>
    <a:masterClrMapping/>
  </p:clrMapOvr>
</p:sld>
</file>

<file path=ppt/slides/slide6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पश्चिमी राजस्थान के जालौर-बाड़मेर क्षेत्र में स्थित 56 की गोलाकार पहाड़ियाँ (नाकोड़ा पर्वत) भू-वैज्ञानिक दृष्टि से मुख्यतः किस प्रकार की शैलों से निर्मित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नीस एवं बेसाल्ट शैलें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शिस्ट एवं क्वार्टजाइट शैलें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विन्ध्यन कगार के बलुआ पत्थर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मालानी आग्नेय शैल समूह व जालौर ग्रेनाइट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556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348/350</a:t>
            </a:r>
          </a:p>
        </p:txBody>
      </p:sp>
    </p:spTree>
  </p:cSld>
  <p:clrMapOvr>
    <a:masterClrMapping/>
  </p:clrMapOvr>
</p:sld>
</file>

<file path=ppt/slides/slide6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मालानी आग्नेय शैल समूह व जालौर ग्रेनाइट</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नीस एवं बेसाल्ट शैलें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शिस्ट एवं क्वार्टजाइट शैलें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विन्ध्यन कगार के बलुआ पत्थर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पश्चिमी राजस्थान में सिवाना (बालोतरा/बाड़मेर) से जालौर तक 56 की पहाड़ियाँ गोलाकार गुंबदनुमा पहाड़ियों के रूप में विस्तृत हैं, जिन्हें नाकोड़ा पर्वत भी कहा जाता है। ये पहाड़ियाँ प्री-कैम्ब्रियन काल के मालानी आग्नेय शैल समूह (Malani Igneous Suite) और जालौर ग्रेनाइट/रायलोइट चट्टानों से निर्मित हैं। ये शैलें अत्यधिक कठोर एवं अपक्षय-प्रतिरोधी हैं, जिसके कारण यहाँ 'इन्सेलवर्ग' (Inselberg) जैसी विशिष्ट स्थलाकृतियाँ मिलती हैं। जालौर को इसी कारण 'ग्रेनाइट सिटी' भी कहा जाता है। बेसाल्ट शैलें हाड़ौती पठार में तथा विन्ध्यन बलुआ पत्थर पूर्वी राजस्थान में पाए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556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348/350</a:t>
            </a:r>
          </a:p>
        </p:txBody>
      </p:sp>
    </p:spTree>
  </p:cSld>
  <p:clrMapOvr>
    <a:masterClrMapping/>
  </p:clrMapOvr>
</p:sld>
</file>

<file path=ppt/slides/slide6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'द गंगानगर शुगर मिल्स लिमिटेड' के संदर्भ में निम्नलिखित में से कौन-सा ऐतिहासिक तथ्य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स्थापना 1937 में निजी क्षेत्र में 'बीकानेर इंडस्ट्रियल कॉरपोरेशन' के रूप में हुई थी तथा 1968 में चुकंदर से चीनी बनाने का संयंत्र लगा</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राजस्थान की प्रथम सहकारी चीनी मिल थी जो 1965 में स्थापित हुई</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सौर ऊर्जा उत्पादन करने वाला एक विद्युत उपक्रम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पूर्णतः बंद हो चुकी है और यहाँ कोई उत्पादन नहीं होता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900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349/350</a:t>
            </a:r>
          </a:p>
        </p:txBody>
      </p:sp>
    </p:spTree>
  </p:cSld>
  <p:clrMapOvr>
    <a:masterClrMapping/>
  </p:clrMapOvr>
</p:sld>
</file>

<file path=ppt/slides/slide6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इसकी स्थापना 1937 में निजी क्षेत्र में 'बीकानेर इंडस्ट्रियल कॉरपोरेशन' के रूप में हुई थी तथा 1968 में चुकंदर से चीनी बनाने का संयंत्र लगा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राजस्थान की प्रथम सहकारी चीनी मिल थी जो 1965 में स्थापित हुई</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सौर ऊर्जा उत्पादन करने वाला एक विद्युत उपक्रम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पूर्णतः बंद हो चुकी है और यहाँ कोई उत्पादन नहीं होता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 गंगानगर शुगर मिल्स लिमिटेड' की स्थापना मूल रूप से 1937 में निजी क्षेत्र में 'बीकानेर इंडस्ट्रियल कॉरपोरेशन' के नाम से हुई थी। 1956 में राज्य सरकार ने इसे अपने नियंत्रण में लेकर सार्वजनिक क्षेत्र का उपक्रम बनाया। 1968 में इसमें एशिया का पहला चुकंदर (Beetroot) से चीनी तैयार करने का प्रायोगिक संयंत्र स्थापित किया गया। वर्तमान में यह मिल कमीनपुरा (श्रीगंगानगर) में आधुनिक रूप से स्थानांतरित की गई है जहाँ चीनी, सह-उत्पाद विद्युत तथा एथेनॉल का निर्माण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900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349/350</a:t>
            </a:r>
          </a:p>
        </p:txBody>
      </p:sp>
    </p:spTree>
  </p:cSld>
  <p:clrMapOvr>
    <a:masterClrMapping/>
  </p:clrMapOvr>
</p:sld>
</file>

<file path=ppt/slides/slide6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जैव-विविधता विरासत स्थलों (Biodiversity Heritage Sites - BHS) के संदर्भ में विचार कीजिए: A. जैविक विविधता अधिनियम, 2002 की धारा 37 के तहत अद्वितीय, दुर्लभ एवं संवेदनशील पारिस्थितिकी तंत्रों को BHS घोषित किया जाता है। B. चूरू जिले में स्थित 'आकल' एवं 'बड़ा बाग' को छतरियों व प्राचीन जलस्रोतों के कारण सांस्कृतिक जैव-स्थल माना गया है। C. पाली जिले में स्थित 'सेंदड़ा ग्रेनाइट' तथा अजमेर में 'किशनगढ़ नेफलाइन साइनाइट' प्रमुख भू-वैज्ञानिक विरासत स्थल हैं। D. राजस्थान राज्य जैव-विविधता बोर्ड (RBB) का गठन वर्ष 2010 में किया गया था जो राज्य में स्थानीय जैव-विविधता प्रबंधन समितियों (BMCs) का संचालन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350/350</a:t>
            </a:r>
          </a:p>
        </p:txBody>
      </p:sp>
    </p:spTree>
  </p:cSld>
  <p:clrMapOvr>
    <a:masterClrMapping/>
  </p:clrMapOvr>
</p:sld>
</file>

<file path=ppt/slides/slide7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जैव-विविधता अधिनियम 2002 के तहत राजस्थान राज्य जैव-विविधता बोर्ड (गठन 14 सितंबर 2010) कार्यरत है। राज्य की प्रत्येक ग्राम पंचायत व स्थानीय निकाय में जन जैव-विविधता रजिस्टर (PBR) तैयार किए गए हैं। प्राकृतिक व भू-विरासत स्थलों को बीएचएस व नेशनल मॉन्यूमेंट्स का दर्जा दिया गया है। अतः सभी कथन सत्य हैं। ⚡ [परीक्षा-उपयोगी सूक्ष्म दृष्टि / RPSC Trap Alert]: कथन B असत्य है क्योंकि इसमें दिए गए तथ्य में त्रुटि है। वास्तविक तथ्य यह है कि उदयपुर क्षेत्र से संबंधित है न कि चूरू से। अतः सही उत्तर विकल्प (B) है जिसमें केवल सत्य कथन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350/350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