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320" Type="http://schemas.openxmlformats.org/officeDocument/2006/relationships/slide" Target="slides/slide319.xml"/><Relationship Id="rId321" Type="http://schemas.openxmlformats.org/officeDocument/2006/relationships/slide" Target="slides/slide320.xml"/><Relationship Id="rId322" Type="http://schemas.openxmlformats.org/officeDocument/2006/relationships/slide" Target="slides/slide321.xml"/><Relationship Id="rId323" Type="http://schemas.openxmlformats.org/officeDocument/2006/relationships/slide" Target="slides/slide322.xml"/><Relationship Id="rId324" Type="http://schemas.openxmlformats.org/officeDocument/2006/relationships/slide" Target="slides/slide323.xml"/><Relationship Id="rId325" Type="http://schemas.openxmlformats.org/officeDocument/2006/relationships/slide" Target="slides/slide324.xml"/><Relationship Id="rId326" Type="http://schemas.openxmlformats.org/officeDocument/2006/relationships/slide" Target="slides/slide325.xml"/><Relationship Id="rId327" Type="http://schemas.openxmlformats.org/officeDocument/2006/relationships/slide" Target="slides/slide326.xml"/><Relationship Id="rId328" Type="http://schemas.openxmlformats.org/officeDocument/2006/relationships/slide" Target="slides/slide327.xml"/><Relationship Id="rId329" Type="http://schemas.openxmlformats.org/officeDocument/2006/relationships/slide" Target="slides/slide328.xml"/><Relationship Id="rId330" Type="http://schemas.openxmlformats.org/officeDocument/2006/relationships/slide" Target="slides/slide329.xml"/><Relationship Id="rId331" Type="http://schemas.openxmlformats.org/officeDocument/2006/relationships/slide" Target="slides/slide330.xml"/><Relationship Id="rId332" Type="http://schemas.openxmlformats.org/officeDocument/2006/relationships/slide" Target="slides/slide331.xml"/><Relationship Id="rId333" Type="http://schemas.openxmlformats.org/officeDocument/2006/relationships/slide" Target="slides/slide332.xml"/><Relationship Id="rId334" Type="http://schemas.openxmlformats.org/officeDocument/2006/relationships/slide" Target="slides/slide333.xml"/><Relationship Id="rId335" Type="http://schemas.openxmlformats.org/officeDocument/2006/relationships/slide" Target="slides/slide334.xml"/><Relationship Id="rId336" Type="http://schemas.openxmlformats.org/officeDocument/2006/relationships/slide" Target="slides/slide335.xml"/><Relationship Id="rId337" Type="http://schemas.openxmlformats.org/officeDocument/2006/relationships/slide" Target="slides/slide336.xml"/><Relationship Id="rId338" Type="http://schemas.openxmlformats.org/officeDocument/2006/relationships/slide" Target="slides/slide337.xml"/><Relationship Id="rId339" Type="http://schemas.openxmlformats.org/officeDocument/2006/relationships/slide" Target="slides/slide338.xml"/><Relationship Id="rId340" Type="http://schemas.openxmlformats.org/officeDocument/2006/relationships/slide" Target="slides/slide339.xml"/><Relationship Id="rId341" Type="http://schemas.openxmlformats.org/officeDocument/2006/relationships/slide" Target="slides/slide340.xml"/><Relationship Id="rId342" Type="http://schemas.openxmlformats.org/officeDocument/2006/relationships/slide" Target="slides/slide341.xml"/><Relationship Id="rId343" Type="http://schemas.openxmlformats.org/officeDocument/2006/relationships/slide" Target="slides/slide342.xml"/><Relationship Id="rId344" Type="http://schemas.openxmlformats.org/officeDocument/2006/relationships/slide" Target="slides/slide343.xml"/><Relationship Id="rId345" Type="http://schemas.openxmlformats.org/officeDocument/2006/relationships/slide" Target="slides/slide344.xml"/><Relationship Id="rId346" Type="http://schemas.openxmlformats.org/officeDocument/2006/relationships/slide" Target="slides/slide345.xml"/><Relationship Id="rId347" Type="http://schemas.openxmlformats.org/officeDocument/2006/relationships/slide" Target="slides/slide346.xml"/><Relationship Id="rId348" Type="http://schemas.openxmlformats.org/officeDocument/2006/relationships/slide" Target="slides/slide347.xml"/><Relationship Id="rId349" Type="http://schemas.openxmlformats.org/officeDocument/2006/relationships/slide" Target="slides/slide348.xml"/><Relationship Id="rId350" Type="http://schemas.openxmlformats.org/officeDocument/2006/relationships/slide" Target="slides/slide349.xml"/><Relationship Id="rId351" Type="http://schemas.openxmlformats.org/officeDocument/2006/relationships/slide" Target="slides/slide350.xml"/><Relationship Id="rId352" Type="http://schemas.openxmlformats.org/officeDocument/2006/relationships/slide" Target="slides/slide351.xml"/><Relationship Id="rId353" Type="http://schemas.openxmlformats.org/officeDocument/2006/relationships/slide" Target="slides/slide352.xml"/><Relationship Id="rId354" Type="http://schemas.openxmlformats.org/officeDocument/2006/relationships/slide" Target="slides/slide353.xml"/><Relationship Id="rId355" Type="http://schemas.openxmlformats.org/officeDocument/2006/relationships/slide" Target="slides/slide354.xml"/><Relationship Id="rId356" Type="http://schemas.openxmlformats.org/officeDocument/2006/relationships/slide" Target="slides/slide355.xml"/><Relationship Id="rId357" Type="http://schemas.openxmlformats.org/officeDocument/2006/relationships/slide" Target="slides/slide356.xml"/><Relationship Id="rId358" Type="http://schemas.openxmlformats.org/officeDocument/2006/relationships/slide" Target="slides/slide357.xml"/><Relationship Id="rId359" Type="http://schemas.openxmlformats.org/officeDocument/2006/relationships/slide" Target="slides/slide358.xml"/><Relationship Id="rId360" Type="http://schemas.openxmlformats.org/officeDocument/2006/relationships/slide" Target="slides/slide359.xml"/><Relationship Id="rId361" Type="http://schemas.openxmlformats.org/officeDocument/2006/relationships/slide" Target="slides/slide360.xml"/><Relationship Id="rId362" Type="http://schemas.openxmlformats.org/officeDocument/2006/relationships/slide" Target="slides/slide361.xml"/><Relationship Id="rId363" Type="http://schemas.openxmlformats.org/officeDocument/2006/relationships/slide" Target="slides/slide362.xml"/><Relationship Id="rId364" Type="http://schemas.openxmlformats.org/officeDocument/2006/relationships/slide" Target="slides/slide363.xml"/><Relationship Id="rId365" Type="http://schemas.openxmlformats.org/officeDocument/2006/relationships/slide" Target="slides/slide364.xml"/><Relationship Id="rId366" Type="http://schemas.openxmlformats.org/officeDocument/2006/relationships/slide" Target="slides/slide365.xml"/><Relationship Id="rId367" Type="http://schemas.openxmlformats.org/officeDocument/2006/relationships/slide" Target="slides/slide366.xml"/><Relationship Id="rId368" Type="http://schemas.openxmlformats.org/officeDocument/2006/relationships/slide" Target="slides/slide367.xml"/><Relationship Id="rId369" Type="http://schemas.openxmlformats.org/officeDocument/2006/relationships/slide" Target="slides/slide368.xml"/><Relationship Id="rId370" Type="http://schemas.openxmlformats.org/officeDocument/2006/relationships/slide" Target="slides/slide369.xml"/><Relationship Id="rId371" Type="http://schemas.openxmlformats.org/officeDocument/2006/relationships/slide" Target="slides/slide370.xml"/><Relationship Id="rId372" Type="http://schemas.openxmlformats.org/officeDocument/2006/relationships/slide" Target="slides/slide371.xml"/><Relationship Id="rId373" Type="http://schemas.openxmlformats.org/officeDocument/2006/relationships/slide" Target="slides/slide372.xml"/><Relationship Id="rId374" Type="http://schemas.openxmlformats.org/officeDocument/2006/relationships/slide" Target="slides/slide373.xml"/><Relationship Id="rId375" Type="http://schemas.openxmlformats.org/officeDocument/2006/relationships/slide" Target="slides/slide374.xml"/><Relationship Id="rId376" Type="http://schemas.openxmlformats.org/officeDocument/2006/relationships/slide" Target="slides/slide375.xml"/><Relationship Id="rId377" Type="http://schemas.openxmlformats.org/officeDocument/2006/relationships/slide" Target="slides/slide376.xml"/><Relationship Id="rId378" Type="http://schemas.openxmlformats.org/officeDocument/2006/relationships/slide" Target="slides/slide377.xml"/><Relationship Id="rId379" Type="http://schemas.openxmlformats.org/officeDocument/2006/relationships/slide" Target="slides/slide378.xml"/><Relationship Id="rId380" Type="http://schemas.openxmlformats.org/officeDocument/2006/relationships/slide" Target="slides/slide379.xml"/><Relationship Id="rId381" Type="http://schemas.openxmlformats.org/officeDocument/2006/relationships/slide" Target="slides/slide380.xml"/><Relationship Id="rId382" Type="http://schemas.openxmlformats.org/officeDocument/2006/relationships/slide" Target="slides/slide381.xml"/><Relationship Id="rId383" Type="http://schemas.openxmlformats.org/officeDocument/2006/relationships/slide" Target="slides/slide382.xml"/><Relationship Id="rId384" Type="http://schemas.openxmlformats.org/officeDocument/2006/relationships/slide" Target="slides/slide383.xml"/><Relationship Id="rId385" Type="http://schemas.openxmlformats.org/officeDocument/2006/relationships/slide" Target="slides/slide384.xml"/><Relationship Id="rId386" Type="http://schemas.openxmlformats.org/officeDocument/2006/relationships/slide" Target="slides/slide385.xml"/><Relationship Id="rId387" Type="http://schemas.openxmlformats.org/officeDocument/2006/relationships/slide" Target="slides/slide386.xml"/><Relationship Id="rId388" Type="http://schemas.openxmlformats.org/officeDocument/2006/relationships/slide" Target="slides/slide387.xml"/><Relationship Id="rId389" Type="http://schemas.openxmlformats.org/officeDocument/2006/relationships/slide" Target="slides/slide388.xml"/><Relationship Id="rId390" Type="http://schemas.openxmlformats.org/officeDocument/2006/relationships/slide" Target="slides/slide389.xml"/><Relationship Id="rId391" Type="http://schemas.openxmlformats.org/officeDocument/2006/relationships/slide" Target="slides/slide390.xml"/><Relationship Id="rId392" Type="http://schemas.openxmlformats.org/officeDocument/2006/relationships/slide" Target="slides/slide391.xml"/><Relationship Id="rId393" Type="http://schemas.openxmlformats.org/officeDocument/2006/relationships/slide" Target="slides/slide392.xml"/><Relationship Id="rId394" Type="http://schemas.openxmlformats.org/officeDocument/2006/relationships/slide" Target="slides/slide393.xml"/><Relationship Id="rId395" Type="http://schemas.openxmlformats.org/officeDocument/2006/relationships/slide" Target="slides/slide394.xml"/><Relationship Id="rId396" Type="http://schemas.openxmlformats.org/officeDocument/2006/relationships/slide" Target="slides/slide395.xml"/><Relationship Id="rId397" Type="http://schemas.openxmlformats.org/officeDocument/2006/relationships/slide" Target="slides/slide396.xml"/><Relationship Id="rId398" Type="http://schemas.openxmlformats.org/officeDocument/2006/relationships/slide" Target="slides/slide397.xml"/><Relationship Id="rId399" Type="http://schemas.openxmlformats.org/officeDocument/2006/relationships/slide" Target="slides/slide398.xml"/><Relationship Id="rId400" Type="http://schemas.openxmlformats.org/officeDocument/2006/relationships/slide" Target="slides/slide399.xml"/><Relationship Id="rId401" Type="http://schemas.openxmlformats.org/officeDocument/2006/relationships/slide" Target="slides/slide4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स्थित दुर्गों एवं उनकी स्थापत्य संरचनाओं के संदर्भ में 'सातवीश देवरी' जैन मंदिर समूह किस दुर्ग परिसर में अवस्थित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गागरोण दुर्ग, झालावाड़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चित्तौड़गढ़ दुर्ग, चित्तौड़गढ़</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कुंभलगढ़ दुर्ग, राजसमंद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मेहरानगढ़ दुर्ग, जोधपुर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चित्तौड़गढ़ दुर्ग, चित्तौड़गढ़</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गागरोण दुर्ग, झालावाड़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कुंभलगढ़ दुर्ग, राजसमंद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मेहरानगढ़ दुर्ग, जोधपुर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सातवीश देवरी चित्तौड़गढ़ दुर्ग परिसर में स्थित 27 छोटे-बड़े जैन देवरों (मंदिरों) का एक प्रसिद्ध समूह है, जो मुख्यतः प्रथम जैन तीर्थंकर भगवान आदिनाथ (ऋषभदेव) को समर्पित है। स्थानीय राजस्थानी भाषा में 'सातवीश' का अर्थ सत्ताईस होता है और यह मंदिर समूह 11वीं शताब्दी में मारु-गुर्जर (सोलंकी) स्थापत्य शैली में निर्मित किया गया था। विकल्प A में दिया गया गागरोण दुर्ग आहू और कालीसिंध नदियों के संगम पर स्थित प्रसिद्ध जल (औदक) दुर्ग है। विकल्प C में कुंभलगढ़ दुर्ग का निर्माण महाराणा कुंभा ने करवाया था, जो अपनी 36 किमी लंबी सुदृढ़ प्राचीर और कटारगढ़ के लिए विख्यात है। विकल्प D में मेहरानगढ़ दुर्ग चिड़ियाटूक पहाड़ी पर स्थित राव जोधा द्वारा 1459 ई. में निर्मित गिरि दुर्ग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दुर्गों के वर्गीकरण एवं उनकी भौगोलिक स्थिति के संबंध में निम्नलिखित कथनों पर विचार कीजिए: A. गागरोण दुर्ग और भैंसरोडगढ़ दुर्ग राजस्थान में जल दुर्ग (औदक दुर्ग) के प्रमुख उदाहरण हैं। B. चित्तौड़गढ़ दुर्ग, कुंभलगढ़ दुर्ग एवं रणथंभौर दुर्ग गिरि दुर्ग की श्रेणी में आते हैं। C. कौटिल्य के अर्थशास्त्र तथा शुक्रनीति में दुर्गों को चार प्रमुख श्रेणियों-औदक, पार्वत, धान्वन और वन दुर्ग में बांटा गया है। D. जालौर का सुवर्णगिरि दुर्ग सुकड़ी नदी के किनारे सोनगिरि पहाड़ी पर स्थित एक प्रमुख गिरि दुर्ग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एवं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एवं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दुर्गों की स्थापत्य कला अत्यंत समृद्ध है। गागरोण का किला झालावाड़ में आहू और कालीसिंध नदियों के संगम पर तथा भैंसरोडगढ़ दुर्ग चंबल व बामनी नदियों के संगम पर स्थित होने के कारण जल दुर्ग (औदक दुर्ग) कहलाते हैं। चित्तौड़गढ़, कुंभलगढ़ तथा रणथंभौर पर्वतों पर स्थित होने के कारण गिरि दुर्ग के सर्वोत्तम उदाहरण हैं। भारतीय प्राचीन ग्रंथ शुक्रनीति और कौटिल्य के अर्थशास्त्र में राज्य के सप्तांग सिद्धांत के अंतर्गत दुर्ग को महत्वपूर्ण अंग मानते हुए औदक (जल), पार्वत (गिरि), धान्वन (मरुस्थलीय) तथा वन दुर्ग आदि में वर्गीकृत किया गया है। जालौर दुर्ग सोनगिरि पहाड़ी पर सुकड़ी नदी के तट पर स्थित है, जिसका निर्माण प्रतिहार शासक नागभट्ट प्रथम द्वारा करवाया गया था। अतः चारों कथन पूर्णतः सही हैं और सही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जैसलमेर में स्थित प्रसिद्ध 'नथमल जी की हवेली' का निर्माण महारावल बेरीसाल के शासनकाल में किन दो वास्तुकार भाइयों द्वारा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सोभादेव और ईशर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मंडन और नाथा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हाथी और लालू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देपा और जेता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03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हाथी और लालू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सोभादेव और ईशर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मंडन और नाथा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देपा और जेता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जैसलमेर की नथमल जी की हवेली का निर्माण 19वीं शताब्दी के उत्तरार्ध में तत्कालीन महारावल बेरीसाल के समय दीवान नथमल के निवास हेतु करवाया गया था। इस हवेली के निर्माण का कार्य 'हाथी' और 'लालू' नामक दो मुस्लिम सिलावट वास्तुकार भाइयों को सौंपा गया था, जिन्होंने बिना किसी पूर्व नक्शे के स्वतंत्र रूप से हवेली के दोनों अर्द्धभागों को अलंकृत किया था। विकल्प B में उल्लिखित मंडन महाराणा कुंभा के प्रधान शिल्पी थे जिन्होंने कुंभलगढ़ दुर्ग का निर्माण कराया था। विकल्प C में देपा और जेता चित्तौड़गढ़ के विजय स्तम्भ के निर्माण से जुड़े वास्तुकार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03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ऐतिहासिक मंदिरों एवं उनके संबंधित जिलों का सही मिलान कीजिए: सूची-I: सूची-I: A. कामेश्वर महादेव मंदिर B. शीतलेश्वर महादेव मंदिर C. पीपला माता मंदिर D. नीलकंठ महादेव मंदिर सूची-II: 1. पाली 2. झालावाड़ 3. जोधपुर 4. अलवर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C-3,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पाली जिले के आवां क्षेत्र में स्थित कामेश्वर महादेव मंदिर 8वीं-9वीं शताब्दी का गुर्जर-प्रतिहार कालीन देवालय है, जो 1857 की क्रांति के समय क्रांतिकारियों की आस्था का केंद्र भी रहा था। झालावाड़ में चंद्रभागा नदी के तट पर स्थित शीतलेश्वर (चंद्रमौलेश्वर) महादेव मंदिर राजस्थान का पहला तिथि-युक्त (689 ई.) मंदिर माना जाता है। जोधपुर के पीपाड़ क्षेत्र में पीपला माता का प्राचीन मंदिर अवस्थित है, जो क्षेत्रीय लोक-धार्मिक परंपरा का महत्वपूर्ण केंद्र है। अलवर जिले में सरिस्का के जंगलों के समीप स्थित नीलकंठ महादेव मंदिर बड़गूजर शासक अजयपाल द्वारा 10वीं शताब्दी में प्रतिहार शैली में निर्मित कराया गया था। अतः सही सुमेलन A-1, B-2, C-3, D-4 है और सही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जोधपुर (मारवाड़) के ऐतिहासिक मंदिरों एवं धार्मिक स्थलों के संबंध में निम्नलिखित कथनों पर विचार कीजिए: A. तीजा मांजी के मंदिर का निर्माण जोधपुर नरेश महाराजा मानसिंह की भटियाणी रानी प्रताप कुंवरी ने करवाया था। B. जोधपुर का प्रसिद्ध महामंदिर नाथ संप्रदाय की माननाथी शाखा का प्रमुख तीर्थ स्थल है, जिसमें 84 खंभे हैं। C. कुंज बिहारी मंदिर का निर्माण महाराजा विजयसिंह की पासवान गुलाबराय द्वारा 1847 ई. में कराया गया था। D. मंडोर स्थित एक थंभा महल का निर्माण महाराजा अजीत सिंह के काल में हुआ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एवं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06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एवं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जोधपुर के मंदिर स्थापत्य में राजपरिवार का उल्लेखनीय योगदान रहा है। महाराजा मानसिंह की रानी प्रताप कुंवरी ने पहले से निर्मित मंदिर के भूमि में धंस जाने के कारण 1857 ई. में तीजा मांजी का नवीन मंदिर प्रतिष्ठित करवाया था। महामंदिर का निर्माण 1812 ई. में महाराजा मानसिंह ने अपने गुरु आयस देवनाथ के प्रभाव में नाथ संप्रदाय के प्रधान केंद्र के रूप में करवाया था, जो 84 नक्काशीदार खंभों पर टिका है। कुंज बिहारी मंदिर ठाकुर जी को समर्पित अत्यंत भव्य मंदिर है जिसका निर्माण विजयसिंह की पासवान गुलाबराय ने कराया था। मंडोर का प्रसिद्ध एक थंभा महल प्रस्तर स्थापत्य का अनूठा उदाहरण है जिसे महाराजा अजीत सिंह ने बनवाया था। अतः चारों कथन पूर्णतः सत्य हैं और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06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भरतपुर जिले के बयाना दुर्ग में स्थित 'वरीक विष्णुवर्धन विजय स्तम्भ' किस ऐतिहासिक काल का माना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सल्तनत काल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मौर्य काल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गुप्त काल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मुगल काल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गुप्त काल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सल्तनत काल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मौर्य काल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मुगल काल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बयाना (प्राचीन नाम श्रीपंथ) दुर्ग में स्थित भीम लाट अथवा वरीक विष्णुवर्धन विजय स्तम्भ गुप्त काल का एक अत्यंत महत्वपूर्ण पुरातात्विक स्मारक है। इस लाल बलुआ पत्थर के स्तंभ पर उत्कीर्ण संस्कृत अभिलेख के अनुसार इसका निर्माण गुप्त सम्राट समुद्रगुप्त के समकालीन वरीक वंश के सामंत शासक विष्णुवर्धन ने पुंडरीक यज्ञ के समापन के उपलक्ष्य में 371-372 ई. (विक्रम संवत 428) में करवाया था। इसे राजस्थान का प्रथम विजय स्तम्भ भी माना जाता है। मौर्य काल, सल्तनत काल अथवा मुगल काल से इस स्तम्भ का कोई प्रत्यक्ष संबंध नहीं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ऐतिहासिक एवं पर्यटन स्थलों तथा उनकी भौगोलिक अवस्थिति का सही मिलान कीजिए: सूची-I: सूची-I: A. लालगढ़ पैलेस B. त्रिपुरा सुन्दरी मंदिर C. गागरोन का किला D. नाकोड़ा तीर्थ सूची-II: 1. झालावाड़ 2. बाड़मेर (बालोतरा) 3. बीकानेर 4. बांसवाड़ा</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08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C-3,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बीकानेर स्थित लालगढ़ पैलेस का निर्माण महाराजा गंगासिंह ने अपने पिता महाराजा लालसिंह की स्मृति में 1902 से 1926 के मध्य लाल पत्थरों से इंडो-सारसेनिक शैली में करवाया था। त्रिपुरा सुन्दरी (तुरताई माता) का प्राचीन शक्तिपीठ बांसवाड़ा जिले के तलवाड़ा कस्बे के पास स्थित है। गागरोन का प्रसिद्ध जल दुर्ग झालावाड़ जिले में कालीसिंध और आहू नदियों के तट पर स्थित है जिसे यूनेस्को ने विश्व धरोहर सूची में शामिल किया है। नाकोड़ा तीर्थ बालोतरा (पूर्व में बाड़मेर) जिले में मेवानगर के समीप स्थित प्रसिद्ध जैन तीर्थ है जो भगवान पार्श्वनाथ और भैरव जी को समर्पित है। अतः सही सुमेलन A-3, B-4, C-1, D-2 है और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08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जयपुर चित्रकला शैली के संदर्भ में प्रसिद्ध दरबारी चित्रकार 'मुहम्मद शाह' एवं 'साहिबराम' किस आमेर/जयपुर नरेश के समकालीन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सवाई जयसिंह द्वितीय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सवाई जगतसिंह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सवाई प्रतापसिंह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सवाई रामसिंह द्वितीय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सवाई जयसिंह द्वितीय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सवाई जगतसिंह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सवाई प्रतापसिंह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सवाई रामसिंह द्वितीय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(ढूंढाड़) चित्रकला शैली का व्यवस्थित विकास सवाई जयसिंह द्वितीय (1699-1743 ई.) के शासनकाल में आरंभ हुआ। सवाई जयसिंह के दरबार में मुहम्मद शाह प्रमुख चित्रकार थे, जिन्होंने दरबारी वैभव और धार्मिक विषयों के उत्कृष्ट चित्र बनाए। इसी समय के प्रसिद्ध चित्रकार साहिबराम ने आदमकद (Life-size) व्यक्ति चित्र (पोर्ट्रेट) बनाने की परंपरा शुरू की, जिसे बाद में सवाई ईश्वरीसिंह और सवाई माधवसिंह के समय भी प्रोत्साहन मिला। सवाई प्रतापसिंह के समय (1778-1803 ई.) जयपुर शैली अपने स्वर्णकाल में पहुंची थी।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अलवर चित्रकला शैली एवं उसके प्रमुख चित्रकारों के संबंध में निम्नलिखित कथनों पर विचार कीजिए: A. अलवर शैली में पुरुषों और स्त्रियों के चित्रों के अलावा गणिकाओं (वेश्याओं) के बसलो (हाशिए) चित्रण की विशेष परंपरा रही है। B. जमनादास, बक्साराम, नंदराम और सालिगराम अलवर चित्रकला शैली के प्रसिद्ध चित्रकार रहे हैं। C. महाराजा विनयसिंह का शासनकाल अलवर चित्रकला शैली का स्वर्ण युग माना जाता है। D. नानकराम तथा सीताराम अलवर शैली के नहीं, बल्कि किशनगढ़ चित्रकला शैली के प्रमुख चित्रकार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एवं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10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एवं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अलवर चित्रकला शैली ढूंढाड़ शैली की एक उप-शैली है, जो मुगल और जयपुर शैली के सम्मिश्रण से विकसित हुई। महाराजा प्रतापसिंह के समय यह शैली स्वतंत्र रूप से प्रारंभ हुई तथा महाराजा विनयसिंह का शासनकाल इसका स्वर्ण युग कहलाता है, जिनके समय बलदेव और गुलाम अली ने शेख सादी के प्रसिद्ध ग्रंथ 'गुलिस्तां' का सचित्र निर्माण किया था। अलवर शैली में जमनादास, बक्साराम, नंदराम, छोटेलाल और सालिगराम प्रमुख चित्रकार थे। इस शैली की अनूठी विशेषता गणिकाओं (दरबारी नर्तकियों) का स्वतंत्र व हाशिए (बसलो) पर चित्रण तथा योगासन पर आधारित चित्रों का अंकन है। नानकराम, सीताराम, बदनसिंह और निहालचंद किशनगढ़ शैली के प्रमुख चित्रकार थे। अतः सभी चारों कथन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10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विभिन्न चित्रकला शैलियों तथा उनके सुविख्यात चित्रकारों का सही मिलान कीजिए: सूची-I: सूची-I: A. मेवाड़ शैली B. किशनगढ़ शैली C. देवगढ़ शैली D. कोटा शैली सूची-II: 1. निहालचंद एवं नानकराम 2. साहिबदीन एवं मनोहर 3. डालू एवं लच्छीराम 4. बगता एवं चोखा</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मेवाड़ शैली राजस्थान की मूल एवं प्राचीनतम चित्रकला शैली है, जिसके प्रमुख चित्रकार साहिबदीन (जिन्होंने रागमाला, गीत गोविंद, रसिकप्रिया का चित्रण किया) और मनोहर थे। किशनगढ़ शैली अपनी 'बणी-ठणी' कृति के लिए विश्वविख्यात है जिसके प्रमुख चित्रकार निहालचंद, नानकराम, सीताराम और बदनसिंह थे। देवगढ़ उप-शैली को डॉ. श्रीधर अंधारे ने प्रकाश में लाया, जिसके मुख्य चितेरे बगता, कंवला, हरचंद और चोखा थे। कोटा शैली शिकार के उत्कृष्ट दृश्यों (जिसमें रानियों को भी शिकार करते दिखाया गया) के लिए प्रसिद्ध है और इसके प्रमुख चित्रकार डालू, लच्छीराम और नूर मोहम्मद थे। अतः सही सुमेलन A-2, B-1, C-4, D-3 है और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नाथद्वारा चित्रकला शैली की सबसे प्रमुख और अनूठी विशेषता निम्नलिखित में से कौन 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शिकार के सजीव दृश्य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वेश्याओं का व्यक्तिचित्रण</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कृष्ण लीलाओं पर आधारित पिछवाई चित्रण</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दरबारी शानो-शौकत का मुगलिया अंकन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13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कृष्ण लीलाओं पर आधारित पिछवाई चित्रण</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शिकार के सजीव दृश्य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वेश्याओं का व्यक्तिचित्रण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दरबारी शानो-शौकत का मुगलिया अंकन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नाथद्वारा शैली मेवाड़ चित्रकला शैली की एक प्रमुख उप-शैली है, जिसका उद्भव और विकास वल्लभ संप्रदाय के प्रधान केंद्र श्रीनाथजी मंदिर (राजसमंद) में हुआ। इस शैली की सर्वप्रमुख विशेषता 'पिछवाई' (Pichhwai) कला है, जिसमें भगवान श्रीनाथजी के बाल स्वरूप की प्रतिमा के पीछे पृष्ठभूमि में कपड़े के पर्दों पर कृष्ण की बाल लीलाओं, रासलीला और गोवर्धन धारण के दृश्य चित्रित किए जाते हैं। इस शैली में कमला और इलायची नामक दो महिला चित्रकारों का विशेष योगदान रहा है। शिकार के दृश्य कोटा शैली की तथा वेश्याओं का चित्रण अलवर शैली की विशेषता है। अतः सही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13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बिजोलिया किसान आंदोलन के दूसरे चरण (1916-1922 ई.) से संबंधित निम्नलिखित कथनों पर विचार कीजिए: A. 1916 ई. में विजय सिंह पथिक ने बिजोलिया किसान आंदोलन का नेतृत्व संभाला और 'विद्या प्रचारिणी सभा' तथा 'किसान पंच बोर्ड' का गठन किया। B. प्रयाग के 'अभ्युदय' और कलकत्ता के 'भारत मित्र' तथा कानपुर के 'प्रताप' समाचार पत्रों ने इस आंदोलन को राष्ट्रीय पहचान दिलाई। C. विजय सिंह पथिक आंदोलन के संदर्भ में महात्मा गांधी से विचार-विमर्श करने हेतु वर्धा गए थे। D. 11 फरवरी 1922 को ए.जी.जी. रॉबर्ट हॉलैंड की मध्यस्थता में किसानों और जागीरदार के बीच ऐतिहासिक समझौता हुआ, जिसमें 35 लाग-बागें समाप्त की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बिजोलिया किसान आंदोलन भारत का सबसे लंबा चलने वाला (1897-1941 ई., कुल 44 वर्ष) अहिंसक किसान आंदोलन था। 1916 में साधु सीताराम दास के आग्रह पर भूपसिंह (विजय सिंह पथिक) ने आंदोलन का नेतृत्व संभाला और 1917 में बेरीसाल गांव में हरियाली अमावस्या के दिन 'किसान पंच बोर्ड' की स्थापना की जिसके सरपंच मन्ना पटेल बनाए गए। गणेश शंकर विद्यार्थी के 'प्रताप' (कानपुर), मदन मोहन मालवीय के 'अभ्युदय' (प्रयाग) तथा बाबू अंबिका प्रसाद वाजपेयी के 'भारत मित्र' (कलकत्ता) ने किसानों की मांगों को व्यापक प्रचारित किया। पथिक जी ने वर्धा जाकर गांधी जी से मुलाकात की, जिसके बाद गांधी जी ने अपने निजी सचिव महादेव देसाई को जांच हेतु भेजा। 11 फरवरी 1922 को एजीजी रॉबर्ट हॉलैंड की अध्यक्षता वाली समिति ने समझौता कराकर 35 अनुचित करों को समाप्त किया। अतः चारों कथन सत्य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1889 ई. में अजमेर में गठित 'वाल्टरकृत राजपूत हितकारिणी सभा' का मुख्य उद्देश्य निम्नलिखित में से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किसानों पर लगने वाले चंवरी और तलवार बंधाई करों को समाप्त करवाना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ब्रिटिश नीतियों के विरुद्ध राजपूत राजाओं का एक संयुक्त सैन्य मोर्चा तैयार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राजपूत समाज में विवाह व्यय की सीमा तय करना तथा बाल विवाह व बहुविवाह पर रोक लगाना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अंग्रेजी शिक्षा का प्रसार कर राजपूत युवाओं को राजकीय सेवाओं में प्रवेश दिलाना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15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राजपूत समाज में विवाह व्यय की सीमा तय करना तथा बाल विवाह व बहुविवाह पर रोक लगाना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किसानों पर लगने वाले चंवरी और तलवार बंधाई करों को समाप्त करवाना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ब्रिटिश नीतियों के विरुद्ध राजपूत राजाओं का एक संयुक्त सैन्य मोर्चा तैयार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अंग्रेजी शिक्षा का प्रसार कर राजपूत युवाओं को राजकीय सेवाओं में प्रवेश दिलाना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जनवरी 1889 में राजपूताना के तत्कालीन ए.जी.जी. (Agent to the Governor-General) कर्नल सी.के.एम. वाल्टर के प्रयासों से अजमेर में राजपूत हितकारिणी सभा की स्थापना की गई थी। इस सभा का प्राथमिक उद्देश्य राजपूत समाज में प्रचलित फिजूलखर्ची, त्याग प्रथा (चारण-भाटों को दिया जाने वाला अत्यधिक दान), बाल विवाह तथा बहुविवाह जैसी सामाजिक कुरीतियों को समाप्त करना और लड़के व लड़की की न्यूनतम विवाह आयु (क्रमशः 18 और 14 वर्ष) निर्धारित करना था। इसका कोई राजनीतिक या सैन्य उद्देश्य नहीं था।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15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एकी आंदोलन (भोमट भील आंदोलन) एवं मोतीलाल तेजावत के संबंध में निम्नलिखित कथनों पर विचार कीजिए: A. एकी आंदोलन की शुरुआत 1921 ई. में चित्तौड़गढ़ जिले के मातृकुंडिया (राशमी परगना) नामक स्थान से हुई थी। B. मोतीलाल तेजावत आंदोलन प्रारंभ करने से पूर्व मेवाड़ रियासत के झाड़ोल ठिकाने में कामदार के पद पर कार्यरत थे। C. तेजावत ने मेवाड़ महाराणा के समक्ष किसानों और आदिवासियों की 21 सूत्रीय मांगों का पत्र प्रस्तुत किया, जिसे 'मेवाड़ की पुकार' कहा गया। D. 7 मार्च 1922 को विजयनगर राज्य के नीमड़ा गांव में भील सम्मेलन पर पुलिस गोलीबारी हुई, जिसे 'दूसरा जलियांवाला हत्याकांड'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एकी आंदोलन राजस्थान के आदिवासी समाज में एकता और शोषण-मुक्ति का ऐतिहासिक आंदोलन था। ओसवाल जैन परिवार में जन्मे मोतीलाल तेजावत पहले झाड़ोल ठिकाने के कामदार थे, जिन्होंने बेगार और 84 प्रकार की लाग-बाग के विरोध में 1921 में वैशाख पूर्णिमा को मातृकुंडिया से 'एकी आंदोलन' प्रारंभ किया (मातृकुंडिया को राजस्थान का हरिद्वार कहा जाता है)। उन्होंने महाराणा फतेहसिंह के समक्ष 21 सूत्रीय मांग-पत्र 'मेवाड़ की पुकार' रखा जिसमें से 18 मांगें स्वीकार कर ली गई थीं। 7 मार्च 1922 को नीमड़ा (साबरकांठा एजेंसी) में मेजर सटन के नेतृत्व में एमबीसी की सेना ने अंधाधुंध गोलियां चलाईं जिसमें 1200 से अधिक आदिवासी शहीद हुए। इसे राजस्थान का दूसरा जलियांवाला बाग हत्याकांड कहा जाता है। अतः चारों कथन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1849 ई. में भरतपुर से प्रकाशित होने वाला 'मजहरूल सरूर' समाचार पत्र राजस्थान के पत्रकारिता इतिहास में क्यों महत्वपूर्ण माना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राजस्थान से प्रकाशित होने वाला पहला विशुद्ध हिंदी दैनिक समाचार पत्र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क्रांतिकारी गतिविधियों का समर्थन करने वाला राजस्थान का पहला भूमिगत पत्र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राजस्थान के किसानों की समस्याओं को उठाने वाला पहला कृषक पाक्षिक पत्र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राजपूताना राज्य से प्रकाशित होने वाला पहला समाचार पत्र था जो द्विभाषी (हिंदी व उर्दू)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18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15/200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राजपूताना राज्य से प्रकाशित होने वाला पहला समाचार पत्र था जो द्विभाषी (हिंदी व उर्दू)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राजस्थान से प्रकाशित होने वाला पहला विशुद्ध हिंदी दैनिक समाचार पत्र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क्रांतिकारी गतिविधियों का समर्थन करने वाला राजस्थान का पहला भूमिगत पत्र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राजस्थान के किसानों की समस्याओं को उठाने वाला पहला कृषक पाक्षिक पत्र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'मजहरूल सरूर' समाचार पत्र का प्रकाशन 1849 ई. में भरतपुर रियासत से प्रारंभ हुआ था। इसे राजस्थान (राजपूताना) की धरती से प्रकाशित होने वाला प्रथम समाचार पत्र माना जाता है। यह पत्र पाक्षिक था तथा हिंदी और उर्दू दोनों भाषाओं में एक साथ छपता था (द्विभाषी)। इसका मुख्य उद्देश्य प्रशासनिक सूचनाओं का प्रसार और सामाजिक चेतना जागृत करना था। विकल्प A गलत है क्योंकि यह दैनिक नहीं पाक्षिक था। विकल्प B व D भी गलत हैं क्योंकि यह कोई भूमिगत या विशुद्ध किसान पत्र नहीं था।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18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15/200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1903 ई. में मेवाड़ महाराणा फतेहसिंह को दिल्ली दरबार में जाने से रोकने हेतु डिंगल भाषा में 'चेतावनी रा चूंगट्या' नामक 13 सोरठे किस क्रांतिकारी ने लिखे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जोरावर सिंह बारहठ</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अर्जुन लाल सेठी</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प्रताप सिंह बारहठ</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केसरी सिंह बारहठ</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16/200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केसरी सिंह बारहठ</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जोरावर सिंह बारहठ</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अर्जुन लाल सेठी</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प्रताप सिंह बारहठ</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केसरी सिंह बारहठ (शाहपुरा, भीलवाड़ा) राजस्थान के महान स्वतंत्रता सेनानी और कवि थे। जब 1903 ई. में ब्रिटिश वायसराय लॉर्ड कर्जन द्वारा आयोजित दिल्ली दरबार में मेवाड़ के महाराणा फतेहसिंह शामिल होने जा रहे थे, तब केसरी सिंह ने महाराणा के स्वाभिमान को जगाने हेतु डिंगल भाषा में 13 सोरठों का ऐतिहासिक पत्र 'चेतावनी रा चूंगट्या' भेजा। इसे पढ़कर महाराणा दिल्ली पहुंचकर भी दरबार में उपस्थित नहीं हुए। केसरी सिंह ने 1910 में 'वीर भारत सभा' की स्थापना की थी तथा 1912 में प्रसिद्ध महंत प्यारेलाल हत्याकांड में उन्हें 20 वर्ष के कठोर कारावास की सजा देकर बिहार की हजारीबाग जेल भेजा गया था।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16/200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एकीकरण के विभिन्न चरणों एवं उनके प्रमुख पदाधिकारियों के संबंध में निम्नलिखित कथनों पर विचार कीजिए: A. 25 मार्च 1948 को गठित 'पूर्व राजस्थान' (द्वितीय चरण) में कोटा, बूंदी, झालावाड़, बांसवाड़ा, डूंगरपुर, प्रतापगढ़, किशनगढ़, शाहपुरा और टोंक रियासतें शामिल थीं। B. उदयपुर (मेवाड़) रियासत का विलय 18 अप्रैल 1948 को तृतीय चरण 'संयुक्त राजस्थान' में हुआ था। C. 15 मई 1949 को डॉ. शंकरराव देव समिति की सिफारिशों के आधार पर मत्स्य संघ का वृहद् राजस्थान में विलय कर 'संयुक्त वृहद् राजस्थान' बनाया गया। D. 1 नवंबर 1956 को 7वें संविधान संशोधन के तहत राजप्रमुख का पद समाप्त कर राज्यपाल का पद सृजित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20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17/200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एकीकरण 18 मार्च 1948 से 1 नवंबर 1956 तक कुल 7 चरणों (8 वर्ष, 7 माह, 14 दिन) में संपन्न हुआ। द्वितीय चरण (25 मार्च 1948) में 9 रियासतें और कुशलगढ़ ठिकाना मिलाए गए, जिसमें कोटा के महाराव भीमसिंह राजप्रमुख बने। तृतीय चरण (18 अप्रैल 1948) में मेवाड़ के महाराणा भूपालसिंह राजप्रमुख तथा माणिक्यलाल वर्मा प्रधानमंत्री बने। पंचम चरण (15 मई 1949) में शंकरराव देव समिति (जिसमें आर.के. सिधवा और प्रभुदयाल सदस्य थे) की रिपोर्ट पर मत्स्य संघ को वृहद् राजस्थान में मिलाया गया। 1 नवंबर 1956 को राज्य पुनर्गठन आयोग की सिफारिशों और 7वें संविधान संशोधन के द्वारा अजमेर-मेरवाड़ा, आबू-देलवाड़ा तथा सुनेल टप्पा का विलय कर एकीकरण पूर्ण हुआ और राजप्रमुख का पद समाप्त कर सरदार गुरुमुख निहाल सिंह प्रथम राज्यपाल बने। अतः चारों कथन सत्य हैं और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20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17/200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राजपूताना की देशी रियासतों एवं ब्रिटिश ईस्ट इंडिया कंपनी के मध्य 1817-18 ई. में हुई अधीनस्थ पार्थक्य संधियों का सही मिलान कीजिए: सूची-I (रियासत): सूची-I: A. करौली B. कोटा C. जोधपुर D. मेवाड़ (उदयपुर) सूची-II: 1. झाला जालिमसिंह (प्रशासक) / उम्मेदसिंह 2. हरबक्षपाल सिंह 3. महाराणा भीमसिंह 4. महाराजा मानसिंह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18/200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लॉर्ड हेस्टिंग्स द्वारा प्रवर्तित अधीनस्थ पार्थक्य नीति (Subordinate Isolation) के तहत ब्रिटिश सरकार की ओर से बातचीत करने वाले मुख्य अधिकारी दिल्ली के रेजिडेंट चार्ल्स मेटकॉफ थे। करौली 9 नवंबर 1817 को इस संधि पर हस्ताक्षर करने वाली राजस्थान की पहली रियासत बनी, जिसके शासक हरबक्षपाल सिंह थे। कोटा ने 26 दिसंबर 1817 को संधि की जिसके वास्तविक मुख्तार झाला जालिमसिंह थे (1818 में पूरक संधि कर जालिमसिंह के वंशजों को कोटा का फौजदार/दीवान स्थाई बनाया गया)। जोधपुर नरेश मानसिंह ने 6 जनवरी 1818 को तथा मेवाड़ के महाराणा भीमसिंह ने 13 जनवरी 1818 को अधीनस्थ संधि स्वीकार की। अतः सही सुमेलन A-2, B-1, C-4, D-3 है और सही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18/200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1927 ई. में अजमेर से प्रकाशित गांधीवादी विचारधारा के प्रसिद्ध समाचार पत्र 'त्याग भूमि' के संपादक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हरिभाऊ उपाध्याय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विजय सिंह पथिक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जयनारायण व्यास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ऋषिदत्त मेहता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23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19/200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हरिभाऊ उपाध्याय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विजय सिंह पथिक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जयनारायण व्यास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ऋषिदत्त मेहता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'त्याग भूमि' समाचार पत्र का संपादन और प्रकाशन 1927 ई. में अजमेर के हटूंडी से प्रसिद्ध गांधीवादी नेता हरिभाऊ उपाध्याय द्वारा किया गया था। इस पत्र का मुख्य उद्देश्य गांधीवादी रचनात्मक कार्यक्रमों (खादी, अस्पृश्यता निवारण, महिला शिक्षा) का प्रचार करना और स्वाधीनता संग्राम को जन-जन तक पहुंचाना था। हरिभाऊ उपाध्याय ने हटूंडी में 'गांधी आश्रम' और 'महिला शिक्षा सदन' की भी स्थापना की थी तथा वे अजमेर-मेरवाड़ा (धारा सभा) के एकमात्र मुख्यमंत्री (1952-1956) रहे थे। विकल्प A में जयनारायण व्यास ने 'आगीबाण' (ब्यावर) और 'पीप' का संपादन किया था। विकल्प B में पथिक जी ने 'राजस्थान केसरी' और 'नवीन राजस्थान' निकाला था। विकल्प D में ऋषिदत्त मेहता ने ब्यावर से 'राजस्थान' साप्ताहिक पत्र प्रकाशित किया था।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23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19/200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प्रजामंडल आंदोलनों एवं उनके संस्थापकों के संबंध में निम्नलिखित कथनों पर विचार कीजिए: A. झालावाड़ राज्य प्रजामंडल की स्थापना नवंबर 1946 में मांगीलाल भव्य, कन्हैयालाल मित्तल और मकबूल आलम ने की थी। B. जयपुर प्रजामंडल की स्थापना 1931 में कपूरचंद पाटनी ने की थी, जिसका 1938 में जमनालाल बजाज की अध्यक्षता में पुनर्गठन हुआ। C. मेवाड़ प्रजामंडल की स्थापना 24 अप्रैल 1938 को बलवंत सिंह मेहता की अध्यक्षता में माणिक्यलाल वर्मा द्वारा की गई थी। D. बीकानेर राज्य प्रजामंडल की स्थापना 1936 में मघाराम वैद्य और लक्ष्मण दास स्वामी द्वारा कलकत्ता में की गई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20/200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उत्तरदायी शासन की स्थापना हेतु प्रजामंडल आंदोलन अत्यंत निर्णायक सिद्ध हुए। झालावाड़ प्रजामंडल की स्थापना 25 नवंबर 1946 को मांगीलाल भव्य की अध्यक्षता में हुई, जिसे झालावाड़ के तत्कालीन शासक हरिश्चंद्र ने भी संरक्षण दिया था। जयपुर प्रजामंडल राज्य का पहला प्रजामंडल था जिसकी स्थापना 1931 में कपूरचंद पाटनी ने की तथा 1938 में जमनालाल बजाज और हीरालाल शास्त्री के नेतृत्व में यह सक्रिय हुआ। मेवाड़ प्रजामंडल 1938 में बलवंत सिंह मेहता (अध्यक्ष) और माणिक्यलाल वर्मा (मुख्य कर्ताधर्ता) द्वारा स्थापित हुआ। बीकानेर प्रजामंडल की स्थापना 4 अक्टूबर 1936 को मघाराम वैद्य ने बीकानेर में तथा बाद में कलकत्ता में की थी (राज्य से बाहर गठित होने वाले प्रजामंडलों में सिरोही-बंबई, भरतपुर-रेवाड़ी और बीकानेर-कलकत्ता प्रमुख हैं)। अतः चारों कथन सत्य हैं और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20/200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साहित्य की प्रमुख ऐतिहासिक कृतियों एवं उनके रचयिताओं का सही मिलान कीजिए: सूची-I (ग्रंथ): सूची-I: A. पृथ्वीराज रासो B. बीसलदेव रासो C. खुमाण रासो D. रणमल छंद सूची-II: 1. चंदबरदाई 2. नरपति नाल्ह 3. दलपत विजय 4. श्रीधर व्यास</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625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21/200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'पृथ्वीराज रासो' डिंगल/पिंगल का महाकाव्य है जिसकी रचना पृथ्वीराज चौहान तृतीय के दरबारी कवि चंदबरदाई ने की थी, जिसे उनके पुत्र जल्हण ने पूर्ण किया। 'बीसलदेव रासो' की रचना नरपति नाल्ह ने की, जिसमें अजमेर के चौहान शासक विग्रहराज चतुर्थ (बीसलदेव) और मालवा की राजकुमारी राजमती के प्रेम प्रसंग एवं विरह का वर्णन है। 'खुमाण रासो' की रचना दलपत विजय ने की जिसमें मेवाड़ के बप्पा रावल से लेकर महाराणा राजसिंह तक के शासकों का वर्णन है। 'रणमल छंद' वीर रस की ऐतिहासिक रचना है जिसे ईडर के राव रणमल द्वारा पाटन के सूबेदार जफर खां पर विजय के उपलक्ष्य में श्रीधर व्यास ने लिखा था। अतः सही सुमेलन A-1, B-2, C-3, D-4 है और सही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625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21/200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778 ई. में जालौर में जैन आचार्य उद्योतन सूरि द्वारा रचित प्राकृत कथा-ग्रंथ 'कुवलयमाला' में कितनी देशी भाषाओं का उल्लेख मिलता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16</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22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22/200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आचार्य उद्योतन सूरि ने प्राकृत भाषा के प्रसिद्ध चंपू काव्य 'कुवलयमाला' की रचना 778 ई. (शक संवत 700) में प्रतिहार शासक वत्सराज के शासनकाल में जालौर के प्रसिद्ध जैन मंदिर में की थी। इस ग्रंथ में तत्कालीन भारत में प्रचलित 18 देशी भाषाओं (अट्ठारह देसभासा) का उल्लेख किया गया है, जिसमें मरुदेश की भाषा को 'मरुभाषा' (उद्योतन सूरि ने इसे 'उइले मरुए' कहकर संबोधित किया) कहा गया है। यह राजस्थानी भाषा (मरुभाषा) का पहला स्पष्ट लिखित ऐतिहासिक प्रमाण माना जाता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22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22/200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अजमेर के शाकंभरी चौहान शासक विग्रहराज चतुर्थ (बीसलदेव) की उपलब्धियों के संदर्भ में निम्नलिखित कथनों पर विचार कीजिए: A. विग्रहराज चतुर्थ ने दिल्ली के तोमर शासकों को पराजित कर दिल्ली को अपने साम्राज्य का अंग बनाया था। B. विग्रहराज स्वयं एक उच्च कोटि के विद्वान थे और उन्होंने संस्कृत भाषा में प्रसिद्ध 'हरकेलि' नाटक की रचना की थी। C. इनके दरबारी कवि सोमदेव ने प्रसिद्ध प्रेम-आख्यान नाटक 'ललित विग्रहराज' की रचना की थी। D. जयानक भट्ट ने 'पृथ्वीराज विजय' में विग्रहराज चतुर्थ को उनकी विद्यानुरागिता के कारण 'कवि बांधव' (बांधवों के कवि) की उपाधि से विभूषित किया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828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23/200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विग्रहराज चतुर्थ (1153-1163 ई.) का काल सपादलक्ष (अजमेर) के चौहान साम्राज्य का स्वर्ण युग कहलाता है। उन्होंने गजनी के अमीर हम्मीर (खुसरो शाह) को पीछे धकेला और दिल्ली के तोमरों को हराकर दिल्ली पर अधिकार करने वाले पहले चौहान सम्राट बने। उन्होंने भारवि के 'किरातार्जुनीयम्' पर आधारित संस्कृत नाटक 'हरकेलि' लिखा, जिसकी पंक्तियां अढ़ाई दिन का झोंपड़ा (मूलतः संस्कृत पाठशाला) और ब्रिस्टल में राजा राममोहन राय के स्मारक पर अंकित हैं। सोमदेव उनके दरबारी कवि थे जिन्होंने 'ललित विग्रहराज' लिखा जिसमें विग्रहराज और इंद्रपुरी की राजकुमारी देसलदेवी के प्रेम का वर्णन है। जयानक ने उन्हें विद्वानों का आश्रयदाता होने के कारण 'कवि बांधव' कहा है। अतः चारों कथन सत्य हैं और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828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23/200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सुप्रसिद्ध साहित्यकार विजयदान देथा 'बिज्जी' के संबंध में कौन 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 जोधपुर के बोरुंदा में 1960 में स्थापित 'रूपायन संस्थान' के सह-संस्थापक (कोमल कोठारी के साथ)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उनकी प्रसिद्ध कृति 'बातां री फुलवारी' 14 खंडों में प्रकाशित लोक-कथाओं का अनुपम संग्रह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उन्हें 2012 में मरणोपरांत भारत रत्न से सम्मानित किया गया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उनकी कहानी 'दुविधा' पर अमोल पालेकर ने 'पहेली' तथा मणि कौल ने 'दुविधा' फिल्म का निर्माण किया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24/200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उन्हें 2012 में मरणोपरांत भारत रत्न से सम्मानित किया गया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 जोधपुर के बोरुंदा में 1960 में स्थापित 'रूपायन संस्थान' के सह-संस्थापक (कोमल कोठारी के साथ)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उनकी प्रसिद्ध कृति 'बातां री फुलवारी' 14 खंडों में प्रकाशित लोक-कथाओं का अनुपम संग्रह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उनकी कहानी 'दुविधा' पर अमोल पालेकर ने 'पहेली' तथा मणि कौल ने 'दुविधा' फिल्म का निर्माण किया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विजयदान देथा (1926-2013 ई.), जिन्हें प्यार से 'बिज्जी' कहा जाता है, राजस्थान के मूर्धन्य लोक-साहित्यकार थे। उन्होंने कोमल कोठारी के साथ मिलकर 1960 में बोरुंदा (जोधपुर) में 'रूपायन संस्थान' की स्थापना की थी। उनकी अमर कृति 'बातां री फुलवारी' राजस्थानी लोककथाओं का 14 खंडों में महासंग्रह है जिसके लिए उन्हें केंद्रीय साहित्य अकादमी पुरस्कार (1974) दिया गया। उनकी कहानी 'चरणदास चोर' पर हबीब तनवीर ने प्रसिद्ध नाटक बनाया तथा 'दुविधा' कहानी पर फिल्में बनीं। उन्हें 2007 में पद्मश्री तथा 2012 में राजस्थान सरकार का सर्वोच्च नागरिक सम्मान 'राजस्थान रत्न' प्रदान किया गया था, न कि भारत रत्न। अतः विकल्प D असत्य कथन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24/200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लोक वाद्यों एवं उनके सुविख्यात कलाकारों का सही मिलान कीजिए: सूची-I (लोक वाद्य): सूची-I: A. भपंग B. नड़ C. अलगोजा D. खड़ताल सूची-II: 1. जहूर खां मेवाती 2. पेपे खां / करणा भील 3. रामनाथ चौधरी 4. सदीक खां मांगणियार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030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25/200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भपंग अलवर-मेवात क्षेत्र का एक तत्व वाद्य (डमरूनुमा) है जिसके जादूगर जहूर खां मेवाती और उमर फारूक मेवाती माने जाते हैं। नड़ वाद्य कैर की लकड़ी से बनी एक लंबी सुषिर बांसुरी जैसी होती है जिसे बजाने के लिए जैसलमेर के करणा भील अपनी लंबी मूंछों और वादन कला के लिए विश्व प्रसिद्ध थे। अलगोजा राजस्थान का राज्य लोक वाद्ययंत्र (सुषिर वाद्य) है जिसमें दो बांसुरियां एक साथ मुंह में रखकर बजाई जाती हैं; जयपुर के पद्मपुरा गांव के रामनाथ चौधरी अपनी नाक से अलगोजा बजाने के लिए अंतरराष्ट्रीय स्तर पर विख्यात हैं। खड़ताल शीशम की लकड़ी के टुकड़ों से बना घन वाद्य है जिसके निर्विवाद सम्राट सदीक खां मांगणियार थे। अतः सही सुमेलन A-1, B-2, C-3, D-4 है और सही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030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25/200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बीकानेर के कतरियासर गांव में धधकते अंगारों पर 'फतेह-फतेह' के उद्घोष के साथ किया जाने वाला 'अग्नि नृत्य' किस संप्रदाय के पुरुषों द्वारा किया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विश्नोई संप्रदाय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रामस्नेही संप्रदाय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दादूपंथ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जसनाथी संप्रदाय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631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26/200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जसनाथी संप्रदाय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विश्नोई संप्रदाय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रामस्नेही संप्रदाय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दादूपंथ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अग्नि नृत्य राजस्थान का अत्यंत रोमांचकारी एवं विख्यात लोक नृत्य है, जिसका उद्गम बीकानेर जिले के कतरियासर गांव से हुआ। यह नृत्य जसनाथी संप्रदाय के सिद्ध जाट पुरुषों द्वारा किया जाता है। संत जसनाथ जी (जिन्होंने 36 नियम प्रतिपादित किए) की स्मृति में आयोजित मेलों और जागरणों में नर्तक गुरु के सम्मुख नतमस्तक होकर 'फतेह-फतेह' का रणघोष करते हुए जलते हुए अंगारों (धूणा) में प्रवेश करते हैं तथा अंगारों से मतीरा फोड़ना व हल जोतने के करतब दिखाते हैं। विकल्प A में विश्नोई संप्रदाय जाम्भोजी द्वारा प्रवर्तित है (29 नियम)। विकल्प C दादूपंथ दादू दयाल द्वारा प्रवर्तित है। विकल्प D रामस्नेही संप्रदाय शाहपुरा, मेड़ता, सिंथल व खेड़ापा पीठों से संबंधित है।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631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26/200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प्रसिद्ध लोक नृत्यों एवं उनकी जनजातीय/क्षेत्रीय परंपराओं के संबंध में निम्नलिखित कथनों पर विचार कीजिए: A. लूर, कूद, मांदल, वालर और मोरिया गरासिया जनजाति के प्रमुख लोक नृत्य हैं। B. वालर नृत्य बिना किसी वाद्य यंत्र के केवल लयबद्ध तालियों और पद-संचालन के साथ धीमी गति में किया जाने वाला गरासिया युगल नृत्य है। C. कालबेलिया नृत्य को वर्ष 2010 में यूनेस्को की मानवता की अमूर्त सांस्कृतिक विरासत (ICH) सूची में शामिल किया गया था। D. अलवर-भरतपुर क्षेत्र में फाल्गुन मास में नई फसल आने की खुशी में बड़े नगाड़े की थाप पर 'बम नृत्य'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एवं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232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27/200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एवं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लोक नृत्यों में जनजातीय विविधता अत्यंत समृद्ध है। गरासिया जनजाति के नृत्यों में वालर, लूर, कूद, मांदल, गौर और मोरिया प्रमुख हैं; वालर नृत्य को 'गरासियों का घूमर' कहा जाता है जिसमें किसी वाद्य यंत्र का प्रयोग नहीं होता और स्त्री-पुरुष अर्धवृत्त बनाकर छाते या तलवार की सहायता से नृत्य करते हैं। कालबेलिया जाति के चकरी, संकरिया, पणिहारी और इण्डोणी नृत्यों को अंतरराष्ट्रीय ख्याति दिलाने का श्रेय गुलाबो सपेरा को जाता है और इसे 2010 में यूनेस्को द्वारा अमूर्त सांस्कृतिक धरोहर घोषित किया गया। मेवात (भरतपुर-अलवर) का 'बम नृत्य' एक विशाल नगाड़े (बम) पर पुरुषों द्वारा रसिया गीतों के साथ किया जाने वाला उल्लासपूर्ण नृत्य है। अतः चारों कथन पूर्णतः सत्य हैं और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232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27/200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1544 ई. में लड़े गए ऐतिहासिक 'गिरी-सुमेल के युद्ध' (जैतारण का युद्ध) में राव मालदेव के वीर सेनानायकों जैता और कूंपा के अदम्य पराक्रम को देखकर शेरशाह सूरी ने क्या कहा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मेरे पास ऐसे वीर होते, तो मैं पूरे विश्व पर विजय प्राप्त कर लेता।"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"राजपूतों के शौर्य के सामने अफगान तलवारें झुक गईं।"</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"खुदा का शुक्र है कि किसी तरह फतह हासिल हो गई, वरना मैं एक मुट्ठी बाजरे के लिए पूरे हिंदुस्तान की सल्तनत खो देता।"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"चित्तौड़ का किला जीतना तो आसान था, किंतु मारवाड़ जीतना असंभव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28/200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"खुदा का शुक्र है कि किसी तरह फतह हासिल हो गई, वरना मैं एक मुट्ठी बाजरे के लिए पूरे हिंदुस्तान की सल्तनत खो देता।"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मेरे पास ऐसे वीर होते, तो मैं पूरे विश्व पर विजय प्राप्त कर लेता।"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"राजपूतों के शौर्य के सामने अफगान तलवारें झुक गईं।"</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"चित्तौड़ का किला जीतना तो आसान था, किंतु मारवाड़ जीतना असंभव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जनवरी 1544 ई. में पाली जिले के जैतारण के निकट गिरी-सुमेल का भीषण संग्राम मारवाड़ के राठौड़ शासक राव मालदेव और दिल्ली के अफगान सुल्तान शेरशाह सूरी के बीच हुआ। शेरशाह ने कूटनीति और जाली पत्रों के माध्यम से मालदेव और उनके प्रमुख सरदारों के बीच अविश्वास पैदा कर दिया, जिससे मालदेव युद्ध मैदान छोड़कर पीछे हट गए। किंतु उनके निष्ठावान सेनापति जैता और कूंपा ने मात्र 8,000 से 10,000 वीरों के साथ शेरशाह की 80,000 की विशाल सेना पर आत्मघाती प्रहार किया। इस अप्रत्याशित वीरता से भयभीत होकर शेरशाह ने नमाज पढ़कर जलाल खां जलवानी की आरक्षित टुकड़ी की मदद से किसी तरह युद्ध जीता और जीत के बाद यह ऐतिहासिक वाक्य कहा: "बोल्यो सूरी राज यूं, गिरी सुमेल रे काज। मूठी खातर बाजरी, खो देतो हिंदवाण पतसाज॥"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28/200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प्रमुख पुरातात्विक स्थलों एवं उनकी विशेषताओं के संबंध में निम्नलिखित कथनों पर विचार कीजिए: A. आहड़ (उदयपुर) सभ्यता को ताम्रवती नगरी, धूलकोट और आघाटपुर के नाम से जाना जाता है जहाँ तांबा गलाने की भट्ठियां मिली हैं। B. भीलवाड़ा जिले में कोठारी नदी के तट पर स्थित बागोर से भारत में पशुपालन के प्राचीनतम साक्ष्य (मध्य पाषाण काल) प्राप्त हुए हैं। C. टोंक जिले में ढील नदी के किनारे स्थित 'रैढ़' उत्खनन स्थल से 3075 चांदी की आहत मुद्राएं मिलने के कारण इसे 'प्राचीन भारत का टाटानगर' कहा जाता है। D. बैराठ (विराटनगर, जयपुर) से मौर्य सम्राट अशोक के भाब्रू व बैराठ शिलालेख तथा यूनानी शासक मिनेण्डर के 16 सिक्के प्राप्त हुए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435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29/200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पुरातात्विक स्थल भारतीय इतिहास के विभिन्न युगों की अमूल्य कड़ियां प्रस्तुत करते हैं। आहड़ (आयड़ नदी घाटी) बनास संस्कृति का प्रमुख केंद्र था, जहां तांबे की कुल्हाड़ियां, चूड़ियां और तांबा गलाने की भट्ठियां मिली हैं। बागोर (भीलवाड़ा) का उत्खनन डॉ. वी.एन. मिश्र ने कराया, जहां से मध्य पाषाण कालीन लघु पाषाण उपकरण और पशुपालन के भारत में प्राचीनतम प्रमाण मिले हैं। रैढ़ (टोंक) का उत्खनन दयाराम साहनी और डॉ. के.एन. पुरी ने किया, जहाँ से एशिया का सबसे बड़ा सिक्कों का भंडार (3075 पंचमार्क सिक्के) और लौह सामग्री का विपुल संग्रह मिला। बैराठ (बीजक की पहाड़ी) से 1837 में कैप्टन बर्ट ने भाब्रू शिलालेख खोजा जिसमें अशोक के बौद्ध धम्म-संघ-बुद्ध के प्रति निष्ठा का उल्लेख है तथा बौद्ध स्तूप व इंडो-ग्रीक सिक्के मिले। अतः चारों कथन सत्य हैं और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435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29/200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लोक देवताओं एवं उनके मुख्य पूजा स्थल / मंदिर का सही मिलान कीजिए: सूची-I (लोक देवता): सूची-I: A. रामदेव जी B. पाबू जी C. तेजा जी D. मल्लीनाथ जी सूची-II: 1. कोलू (फलोदी) 2. खड़नाल व परबतसर (डीडवाना-कुचामन) 3. तिलवाड़ा (बालोतरा) 4. रुणिचा / रामदेवरा (जैसलमेर)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036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30/200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देवता बाबा रामदेव जी का प्रमुख समाधि स्थल रामदेवरा (रुणिचा, पोकरण, जैसलमेर) है जहाँ भाद्रपद शुक्ल द्वितीया से एकादशी तक विशाल मेला भरता है, जो सांप्रदायिक सद्भाव का प्रतीक है। पाबू जी (ऊंटों के देवता और प्लेग रक्षक) का मुख्य जन्म एवं पूजा स्थल कोलू मंड (फलोदी) है जहाँ चैत्र अमावस्या को मेला भरता है। तेजा जी (गौ-रक्षक एवं सर्पदंश रक्षक देवता) का जन्म खड़नाल में हुआ तथा उनका मुख्य निर्वाण स्थल सुरसुरा व प्रसिद्ध पशु मेला स्थल परबतसर है। लोक देवता रावल मल्लीनाथ जी का मुख्य मंदिर लूणी नदी के किनारे तिलवाड़ा (बालोतरा) में स्थित है जहाँ चैत्र कृष्ण एकादशी से चैत्र शुक्ल एकादशी तक राज्य का सबसे प्राचीन पशु मेला आयोजित होता है। अतः सही सुमेलन A-4, B-1, C-2, D-3 है और सही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036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30/200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30 मार्च 1949 को वृहद् राजस्थान के गठन के समय राजस्थान के प्रथम एवं एकमात्र 'राजप्रमुख' किन्हें नियुक्त किया गया था, जो 1 नवंबर 1956 तक इस पद पर रहे?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महाराजा सवाई मानसिंह द्वितीय, जयपुर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महाराणा भूपाल सिंह, उदयपुर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महाराव भीमसिंह, कोटा</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महाराजा उम्मेद सिंह, जोधपुर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637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31/200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महाराजा सवाई मानसिंह द्वितीय, जयपुर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महाराणा भूपाल सिंह, उदयपुर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महाराव भीमसिंह, कोटा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महाराजा उम्मेद सिंह, जोधपुर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30 मार्च 1949 को जब चार बड़ी रियासतों-जयपुर, जोधपुर, बीकानेर और जैसलमेर का संयुक्त राजस्थान में विलय कर 'वृहद् राजस्थान' का गठन हुआ, तब जयपुर के तत्कालीन महाराजा सवाई मानसिंह द्वितीय को राजस्थान का आजीवन राजप्रमुख नियुक्त किया गया था। उदयपुर के महाराणा भूपाल सिंह को 'महाराज प्रमुख' का विशेष पद दिया गया था तथा कोटा के महाराव भीमसिंह उप-राजप्रमुख बने थे। 1 नवंबर 1956 को 7वें संविधान संशोधन के क्रियान्वयन के साथ ही राजप्रमुख का पद समाप्त हो गया और राज्यपाल पद की व्यवस्था लागू हुई।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637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31/200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पारंपरिक वेशभूषा, आभूषणों एवं वैवाहिक रीति-रिवाजों के संबंध में निम्नलिखित कथनों पर विचार कीजिए: A. 'टोटी', पीपल पन्ना, ओगण्या, झेला और सूरलिया महिलाओं द्वारा कान में पहने जाने वाले पारंपरिक आभूषण हैं। B. 'आंणौ' (मुकलावा या गौना) विवाह के पश्चात वयस्क होने पर दुल्हन को दूसरी बार ससुराल भेजने की प्रथा को कहा जाता है। C. 'मेमंद', रखड़ी, बोरला और शीशफूल महिलाओं के सिर एवं मस्तक के प्रसिद्ध आभूषण हैं। D. दामणा, अरसी, हथपान और बींठी अंगुलियों तथा हाथ में पहने जाने वाले आभूषण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एवं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32/200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एवं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संस्कृति में लोक आभूषणों और सामाजिक रीति-रिवाजों का विशेष स्थान है। महिलाओं के कान के प्रमुख आभूषणों में टोटी, कर्णफूल, पीपल पन्ना, अंगोठ्या, झेला, टॉप्स, मोरफवर और सूरलिया आते हैं। 'आंणौ' राजस्थान में उस वैवाहिक रस्म को कहते हैं जब बाल-विवाह के बाद वधु के वयस्क होने पर उसे औपचारिक रूप से दूसरी बार विदा कर ससुराल भेजा जाता है, जिसे गौना या मुकलावा भी कहा जाता है। मस्तक के आभूषणों में मेमंद, शीशफूल, बोरलो, रखड़ी, टिकली और सांकली शामिल हैं। हाथ की अंगुलियों में दो-दो अंगुलियों में पहना जाने वाला विशेष आभूषण दामणा तथा अंगूठे में पहना जाने वाला शीशेदार आभूषण अरसी कहलाता है। अतः सभी चारों कथन सत्य हैं और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32/200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उत्तर-पश्चिमी अर्ध-शुष्क मरुस्थलीय प्रदेश (राजस्थान बांगर) को भौतिक विशेषताओं के आधार पर किन चार उप-प्रदेशों में विभक्त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घग्गर का मैदान, शेखावाटी अंतःप्रवाही प्रदेश, नागौरी उच्च भूमि और लूनी बेसिन (गोड़वाड़ प्रदेश)</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राठ क्षेत्र, मालपुरा-करौली मैदान, मेवाड़ मैदान और भोराट का पठार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कांतली बेसिन, साबी बेसिन, बाणगंगा बेसिन और चंबल बीहड़ प्रदेश</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छप्पन का मैदान, कांठल प्रदेश, उपरमाल का पठार और डांग क्षेत्र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840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33/200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घग्गर का मैदान, शेखावाटी अंतःप्रवाही प्रदेश, नागौरी उच्च भूमि और लूनी बेसिन (गोड़वाड़ प्रदेश)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राठ क्षेत्र, मालपुरा-करौली मैदान, मेवाड़ मैदान और भोराट का पठार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कांतली बेसिन, साबी बेसिन, बाणगंगा बेसिन और चंबल बीहड़ प्रदेश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छप्पन का मैदान, कांठल प्रदेश, उपरमाल का पठार और डांग क्षेत्र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25 सेमी से 50 सेमी समवर्षा रेखा के मध्य स्थित पश्चिमी राजस्थान का अर्ध-शुष्क मरुस्थलीय भाग 'राजस्थान बांगर' कहलाता है। इसे भौगोलिक दृष्टि से चार स्पष्ट उप-प्रदेशों में विभाजित किया गया है: 1. घग्गर का मैदान (उत्तरी भाग-गंगानगर, हनुमानगढ़ व अनूपगढ़ का जलोढ़ पाट क्षेत्र), 2. शेखावाटी अंतःप्रवाही प्रदेश (चूरू, सीकर, झुंझुनूं का रेतीला क्षेत्र जहाँ जोहड़ व बीड़ मिलते हैं), 3. नागौरी उच्च भूमि (नमकीन झीलों व फ्लोराइड युक्त कुबड़ पट्टी का क्षेत्र), तथा 4. लूनी बेसिन अथवा गोड़वाड़ प्रदेश (पाली, जालोर, बालोतरा व बाड़मेर में लूनी व उसकी सहायक नदियों का अपवाह क्षेत्र)। विकल्प B, C व D में पूर्वी मैदान व दक्षिण-पूर्वी पठार के भाग दिए गए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840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33/200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दक्षिणी अरावली की प्रमुख पर्वत चोटियों एवं उनकी समुद्र तल से ऊंचाई का सही मिलान कीजिए: सूची-I (पर्वत चोटी): सूची-I: A. गुरुशिखर (सिरोही) B. सेर (सिरोही) C. देलवाड़ा (सिरोही) D. जरगा (उदयपुर) सूची-II: 1. 1597 मीटर 2. 1442 मीटर 3. 1431 मीटर 4. 1722 मीटर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441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34/200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C-3,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अरावली पर्वतमाला की चोटियों में गुरुशिखर (माउंट आबू, सिरोही) 1722 मीटर ऊंचाई के साथ राजस्थान और संपूर्ण मध्य भारत की सर्वोच्च पर्वत चोटी है (कर्नल टॉड ने इसे 'संतों का शिखर' कहा था)। दूसरी सर्वोच्च चोटी 'सेर' (सिरोही) 1597 मीटर ऊंची है। तीसरी सर्वोच्च चोटी 'देलवाड़ा' (सिरोही) 1442 मीटर ऊंची है। चौथी सर्वोच्च चोटी 'जरगा' (उदयपुर-राजसमंद सीमा) 1431 मीटर ऊंची है। इसके बाद अचलगढ़ (1380 मी.), आबू पर्वत (1295 मी.) और कुंभलगढ़ (1224 मी.) का स्थान आता है। अतः सही सुमेलन A-4, B-1, C-2, D-3 है और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441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34/200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मध्य अरावली एवं उत्तरी अरावली की पर्वत चोटियों तथा श्रेणियों के संदर्भ में निम्नलिखित कथनों पर विचार कीजिए: A. उत्तरी अरावली की सर्वोच्च पर्वत चोटी रघुनाथगढ़ (1055 मीटर) सीकर जिले में अवस्थित है। B. मध्य अरावली की सर्वोच्च पर्वत चोटी टॉडगढ़ (मोरारजी / गौरमजी - 934 मीटर) ब्यावर जिले में स्थित है। C. तारागढ़ (873 मीटर) एवं नाग पहाड़ (795 मीटर) अजमेर जिले में मध्य अरावली के प्रमुख पर्वत शिखर हैं। D. खो (920 मीटर) और बरवाड़ा (786 मीटर) उत्तरी अरावली के तहत जयपुर जिले की प्रमुख पर्वत चोटियां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042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35/200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अरावली का मध्य एवं उत्तरी विस्तार रणनीतिक दृष्टि से अत्यंत महत्वपूर्ण है। उत्तरी अरावली में शेखावाटी की पहाड़ियों के अंतर्गत रघुनाथगढ़ (सीकर) 1055 मीटर के साथ सर्वोच्च शिखर है; इसके अलावा मालखेत (1052 मी.), लोहागर्ल (1051 मी.) और हर्षनाथ (820 मी.) सीकर-झुंझुनूं में स्थित हैं। मध्य अरावली मुख्य रूप से अजमेर और ब्यावर में फैली है, जहाँ ब्यावर में स्थित गौरमजी/मोरारजी (टॉडगढ़) 934 मीटर के साथ सर्वोच्च चोटी है। अजमेर का ऐतिहासिक तारागढ़ 873 मीटर तथा लूनी नदी का उद्गम स्थल नाग पहाड़ 795 मीटर ऊंचा है। जयपुर में खो (920 मी.), जयगढ़ (648 मी.), नाहरगढ़ (599 मी.) तथा बरवाड़ा चोटियां उत्तरी अरावली का हिस्सा हैं। अतः चारों कथन सत्य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042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35/200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पहाड़ियों एवं उनके अवस्थिति वाले जिलों का सही मिलान कीजिए: सूची-I (पहाड़ी/पर्वत): सूची-I: A. रोजा भाकर एवं इसराना भाकर B. उदयनाथ एवं हर्षनाथ की पहाड़ियां C. त्रिकूट पहाड़ी (सोनार दुर्ग) D. आडावाला पर्वत सूची-II: 1. अलवर 2. बूंदी 3. जालौर 4. जैसलमेर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36/200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C-3,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जालौर जिले में जसवंतपुरा की पहाड़ियों में डोरा पर्वत (869 मी.), रोजा भाकर (730 मी.), इसराना भाकर (839 मी.) और झारोल भाकर स्थित हैं। अलवर जिले में थानागाजी के निकट उदयनाथ पर्वत (जहाँ से रूपारेल नदी निकलती है) तथा अरावली का उत्तरी विस्तार अवस्थित है (ध्यान रहे सीकर में हर्ष पर्वत है जबकि अलवर में भी हर्षनाथ पहाड़ी है)। जैसलमेर का सुवर्णगिरि दुर्ग (सोनार किला) त्रिकूट पहाड़ी पर स्थित है (जबकि करौली का कैला देवी मंदिर त्रिकूट पर्वत पर है)। बूंदी जिले में अर्धचंद्राकार अरावली पर्वतमाला को स्थानीय रूप से 'आडावाला पर्वत' कहा जाता है जिसकी सर्वोच्च चोटी सत्तूर (353 मी.) है। अतः सही सुमेलन A-3, B-1, C-4, D-2 है और सही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36/200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हाड़ौती के पठार (दक्षिण-पूर्वी पठारी प्रदेश) में मुकंदरा की पहाड़ियों की सर्वोच्च पर्वत चोटी कौन 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सत्तूर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चांदवाड़ी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रामगढ़ क्रेटर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कसनाऊ</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245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37/200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चांदवाड़ी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रामगढ़ क्रेटर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कसनाऊ</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हाड़ौती का पठार (दक्कन लावा पठार व विंध्यन कगार) राजस्थान के दक्षिण-पूर्वी भाग (कोटा, बूंदी, बारां, झालावाड़) में विस्तृत है। इस पठार पर मुकंदरा की पहाड़ियां कोटा और झालावाड़ के मध्य लगभग 120 किमी की लंबाई में उत्तर-पश्चिम से दक्षिण-पूर्व दिशा में फैली हैं। मुकंदरा पर्वत श्रेणी की सर्वोच्च चोटी 'चांदवाड़ी' (517 मीटर) है जो कोटा जिले में स्थित है। विकल्प B में सत्तूर (353 मीटर) बूंदी की पहाड़ियों की सर्वोच्च चोटी है। विकल्प C में बारां का रामगढ़ क्रेटर उल्कापिंड के गिरने से निर्मित खगोलीय क्रेटर संरचना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245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37/200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कोपेन के जलवायु वर्गीकरण के अनुसार राजस्थान के जलवायु प्रदेशों एवं उनके प्रतिनिधि जिलों के संबंध में निम्नलिखित कथनों पर विचार कीजिए: A. Aw (उष्णकटिबंधीय आर्द्र जलवायु) प्रदेश में बांसवाड़ा, डूंगरपुर, प्रतापगढ़, झालावाड़ और माउंट आबू का क्षेत्र शामिल है। B. BWhw (उष्णकटिबंधीय शुष्क मरुस्थलीय जलवायु) प्रदेश में जैसलमेर, बीकानेर, फलौदी तथा पश्चिमी अनूपगढ़ आते हैं। C. BShw (अर्ध-शुष्क या स्टेपी जलवायु) प्रदेश अरावली के पश्चिम में स्थित जालोर, पाली, जोधपुर, नागौर और शेखावाटी में विस्तृत है। D. Cwg (उप-आर्द्र/मानसूनी जलवायु) प्रदेश पूर्वी राजस्थान के जिलों जैसे जयपुर, अलवर, भरतपुर, दौसा, टोंक और सवाई माधोपुर में पाया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846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38/200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 व्लादिमीर कोपेन ने वनस्पति, तापमान और वर्षा के आधार पर राजस्थान की जलवायु को चार प्रमुख प्रदेशों में बांटा: 1. Aw (सवाना तुल्य अति-आर्द्र जलवायु): दक्षिण राजस्थान के वागड़ (बांसवाड़ा-डूंगरपुर) और हाड़ौती (झालावाड़-कोटा) में विस्तृत है। 2. BWhw (मरुद्भिद/कंटीली झाड़ियों युक्त शुष्क मरुस्थल): न्यूनतम वर्षा (10-20 सेमी) वाला पश्चिमी थार मरुस्थल (जैसलमेर, बीकानेर)। 3. BShw (स्टेपी तुल्य अर्ध-शुष्क जलवायु): 20 से 40 सेमी वर्षा वाला अरावली का पश्चिमी संक्रांति क्षेत्र (जालोर, पाली, नागौर, शेखावाटी)। 4. Cwg (शुष्क शीत ऋतु वाली गंगा तुल्य उप-आर्द्र जलवायु): पूर्वी मैदानी जिले (अलवर, भरतपुर, जयपुर, दौसा, टोंक)। अतः चारों कथन पूर्णतः सत्य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846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38/200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दक्षिण-पश्चिम मानसून की बंगाल की खाड़ी शाखा से आने वाली मानसूनी हवाओं को स्थानीय भाषा में क्या कहा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पुरवइयां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मावठ</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बबूconceptual (बभुल्या)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447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39/200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पुरवइयां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मावठ</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बबूconceptual (बभुल्या)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ग्रीष्मकालीन मानसून की दो शाखाएं प्रवेश करती हैं-अरब सागर शाखा और बंगाल की खाड़ी शाखा। बंगाल की खाड़ी की शाखा पूर्व व दक्षिण-पूर्व दिशा से प्रवेश करती है, इसलिए इन आर्द्र मानसूनी हवाओं को स्थानीय भाषा में 'पुरवइयां' (Purvaiyan) कहा जाता है। राज्य में होने वाली अधिकांश मानसूनी वर्षा (लगभग 90%) इन्हीं पुरवइयों से होती है। विकल्प A में 'मावठ' भूमध्यसागरीय पश्चिमी विक्षोभों से शीतकाल (दिसंबर-जनवरी) में होने वाली चक्रवाती वर्षा है जो रबी फसलों (विशेषकर गेहूं व चने) के लिए 'गोल्डन ड्रॉप्स' कहलाती है। विकल्प C में 'लू' ग्रीष्मकाल में चलने वाली अत्यंत गर्म व शुष्क हवाएं हैं। विकल्प D में 'बभुल्या' स्थानीय निम्न वायुदाब से उत्पन्न चक्रवाती धूल का बवंडर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447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39/200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जल अपवाह प्रणाली एवं नदियों के प्रवाह क्षेत्र के संबंध में निम्नलिखित कथनों पर विचार कीजिए: A. राजस्थान भारत का एकमात्र ऐसा राज्य है जहां आंतरिक जल प्रवाह प्रणाली (Inland Drainage) कुल अपवाह क्षेत्र का लगभग 60% भाग घेरती है। B. चंबल, बनास, बाणगंगा और कालीसिंध नदियां बंगाल की खाड़ी के अपवाह तंत्र का हिस्सा हैं। C. लूनी, माही, साबरमती और पश्चिमी बनास नदियां अरब सागर के अपवाह तंत्र में अपना जल ले जाती हैं। D. कांतली, काकनी (काकनेय), साबी, घग्गर और रूपारेल नदियां पूर्णतः आंतरिक प्रवाह की नदियां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एवं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40/200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एवं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अरावली पर्वतमाला एक प्रमुख महान भारतीय जल-विभाजक का कार्य करती है। राज्य का अपवाह तंत्र तीन भागों में बंटा है: 1. आंतरिक अपवाह तंत्र (लगभग 60.2%): जो नदियां किसी समुद्र में न गिरकर रेत या झीलों में समा जाती हैं (घग्गर, कांतली, काकनी, साबी, मेंथा, रूपनगढ़, रूपारेल)। 2. बंगाल की खाड़ी अपवाह तंत्र (लगभग 22.4%): चंबल और उसकी सहायक नदियां (बनास, बेड़च, कोठारी, कालीसिंध, पार्वती) जो यमुना के माध्यम से बंगाल की खाड़ी में जल ले जाती हैं। 3. अरब सागर अपवाह तंत्र (लगभग 17.4%): लूनी (कच्छ के रण में), पश्चिमी बनास (कच्छ की खाड़ी में), तथा माही व साबरमती (खंभात की खाड़ी में)। अतः सभी चारों कथन सत्य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40/200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नदियों एवं उनके उद्गम स्थलों का सही मिलान कीजिए: सूची-I (नदी): सूची-I: A. बनास B. बेड़च (आयड़) C. साबी D. रूपारेल सूची-II: 1. खमनोर की पहाड़ियां (राजसमंद) 2. गोगुंदा की पहाड़ियां (उदयपुर) 3. सेवर की पहाड़ियां (जयपुर ग्रामीण) 4. उदयनाथ की पहाड़ियां (अलवर)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649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41/200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बनास नदी ('वन की आशा' या वशिष्ठी) का उद्गम राजसमंद जिले में कुंभलगढ़ के निकट खमनोर की पहाड़ियों से होता है और यह 512 किमी बहकर सवाई माधोपुर के रामेश्वर धाम में चंबल में मिलती है। बेड़च नदी उदयपुर में गोगुंदा की पहाड़ियों से निकलती है (उदयसागर झील से पहले इसे आयड़ कहा जाता है)। साबी नदी जयपुर के सेवर की पहाड़ियों से निकलकर अलवर होते हुए हरियाणा के पटौदी के पास विलीन हो जाती है। रूपारेल (वराह या लासवारी) नदी अलवर के थानागाजी में उदयनाथ की पहाड़ी से निकलती है तथा भरतपुर के सीकरी बांध व मोती झील को जलापूर्ति करती है। अतः सही सुमेलन A-1, B-2, C-3, D-4 है और सही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649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41/200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भीलवाड़ा जिले के बीगोद कस्बे के निकट किन तीन पवित्र नदियों का संगम (त्रिवेणी संगम) बनता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चंबल, बनास और सीप</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बनास, बेड़च और मेनाल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बनास, खारी और दाई</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सोम, माही और जाखम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25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42/200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बनास, बेड़च और मेनाल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चंबल, बनास और सीप</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बनास, खारी और दाई</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 माही और जाखम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नदियों के कई महत्वपूर्ण त्रिवेणी संगम हैं। भीलवाड़ा जिले में मांडलगढ़ तहसील के बीगोद कस्बे के पास बनास, बेड़च और मेनाल नदियों का संगम होता है। विकल्प A में चंबल, बनास और सीप का प्रसिद्ध त्रिवेणी संगम सवाई माधोपुर जिले के पदरा/रामेश्वरम घाट पर बनता है। विकल्प C में बनास, खारी और दाई नदियों का त्रिवेणी संगम टोंक जिले के देवली तहसील के राजमहल में बनता है। विकल्प D में सोम, माही और जाखम का त्रिवेणी संगम डूंगरपुर जिले के आसपुर तहसील के बेणेश्वर धाम (नवाटापुरा) में बनता है जिसे 'आदिवासियों का कुंभ' कहा जाता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25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42/200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'राष्ट्रीय झील संरक्षण कार्यक्रम' (NLCP) के अंतर्गत केंद्र एवं राज्य सरकार द्वारा संरक्षित राजस्थान की झीलों के संबंध में निम्नलिखित कथनों पर विचार कीजिए: A. वर्तमान में राजस्थान की कुल 6 महत्वपूर्ण झीलें NLCP कार्यक्रम के अंतर्गत शामिल हैं। B. इसमें उदयपुर की दो झीलें-फतहसागर और पिछोला सम्मिलित हैं। C. अजमेर जिले की आनासागर और पुष्कर झीलें इस योजना के अंतर्गत वित्तपोषित हैं। D. माउंट आबू (सिरोही) की नक्की झील तथा जयपुर की मानसागर झील भी इस कार्यक्रम का हिस्सा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852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43/200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पर्यावरण, वन एवं जलवायु परिवर्तन मंत्रालय द्वारा शहरी व अर्ध-शहरी क्षेत्रों की प्रदूषित झीलों के पुनरुद्धार हेतु राष्ट्रीय झील संरक्षण कार्यक्रम (NLCP) चलाया जा रहा है (जिसमें केंद्र व राज्य का वित्तीय अनुपात 60:40 है)। राजस्थान की कुल 6 झीलें इसमें शामिल हैं: 1. फतहसागर (उदयपुर), 2. पिछोला (उदयपुर), 3. आनासागर (अजमेर), 4. पुष्कर (अजमेर), 5. नक्की झील (माउंट आबू, सिरोही), और 6. मानसागर झील (जलमहल, जयपुर)। उदयपुर की स्वरूप सागर अथवा उदयसागर झीलें इस कार्यक्रम में शामिल नहीं हैं। अतः चारों कथन सत्य हैं और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852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43/200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अमेरिकी कृषि विभाग (USDA) के मृदा वर्गीकरण के अनुसार, हाड़ौती संभाग (कोटा, बूंदी, बारां, झालावाड़) में पाई जाने वाली मध्यम काली मृदा को किस वर्ग में रखा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एरिडीसोल्स (Aridisols)</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अल्फीसोल्स (Alfisols)</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वर्टीसोल्स (Vertisols)</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इनसेप्टीसोल्स (Inceptisols)</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44/200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वर्टीसोल्स (Vertisols)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एरिडीसोल्स (Aridisols)</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अल्फीसोल्स (Alfisols)</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इनसेप्टीसोल्स (Inceptisols)</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वैज्ञानिक मृदा वर्गीकरण प्रणाली (Comprehensive Soil Classification System) के अनुसार राजस्थान की मिट्टियों को 5 गणों में बांटा गया है: 1. वर्टीसोल्स (Vertisols): अत्यधिक क्ले (मृत्तिका) युक्त मध्यम काली कपासी मिट्टी, जिसमें अत्यधिक जलधारण क्षमता और 'स्व-जुताई' (Self-ploughing) का गुण होता है, यह मुख्य रूप से हाड़ौती संभाग (कोटा, बूंदी, बारां, झालावाड़) में पाई जाती है। 2. एरिडीसोल्स: पश्चिमी शुष्क व मरुस्थलीय बालू मिट्टी। 3. अल्फीसोल्स: पूर्वी मैदानों (जयपुर, दौसा, अलवर) की परिपक्व जलोढ़/दोमट मिट्टी। 4. इनसेप्टीसोल्स: अरावली पर्वतीय ढलानों (सिरोही, राजसमंद, उदयपुर) की अर्ध-आर्द्र मिट्टी। 5. एन्टीसोल्स: राज्य में सर्वाधिक क्षेत्रफल पर पाई जाने वाली पीली-भूरी रेतीली मिट्टी।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44/200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वन प्रकारों एवं उनके मुख्य प्राप्ति क्षेत्रों का सही मिलान कीजिए: सूची-I (वन प्रकार): सूची-I: A. शुष्क सागवान वन B. सालार वन C. धोकड़ा (धोक) वन D. उपोष्ण कटिबंधीय पर्वतीय वन सूची-II: 1. बांसवाड़ा, डूंगरपुर एवं प्रतापगढ़ 2. अलवर, उदयपुर, चित्तौड़गढ़ एवं सिरोही (पहाड़ी ढलान) 3. करौली, सवाई माधोपुर, जयपुर एवं बूंदी 4. केवल माउंट आबू (सिरोही)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054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45/200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शुष्क सागवान वन (Teak forests) 75 से 110 सेमी वर्षा वाले दक्षिणी राजस्थान (बांसवाड़ा, डूंगरपुर, प्रतापगढ़, झालावाड़) में पाए जाते हैं जो कुल वनों का लगभग 7% हैं। सालार वन (Boswellia serrata) 450 मीटर से अधिक ऊंचाई वाली अरावली ढलानों (अलवर, उदयपुर, राजसमंद, सिरोही) पर पाए जाते हैं जिनकी लकड़ी पैकिंग व गोंद हेतु उपयोगी है। धोकड़ा (Anogeissus pendula) राजस्थान में सर्वाधिक क्षेत्रफल (लगभग 58%) पर पाया जाने वाला प्रमुख वृक्ष है जो सवाई माधोपुर, करौली, बूंदी आदि में विस्तृत है। उपोष्ण पर्वतीय सदाबहार वन राज्य के कुल वन क्षेत्र के 0.5% से भी कम भाग में केवल माउंट आबू (सिरोही) के 1200 मीटर से ऊंचे क्षेत्रों में पाए जाते हैं जहाँ आम, बांस, जामुन मिलते हैं। अतः सही सुमेलन A-1, B-2, C-3, D-4 है और सही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054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45/200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कृषि अनुसंधान केंद्र बांसवाड़ा द्वारा मक्का की विकसित संकर किस्में 'माही कंचन' और 'माही धवल' हैं, जबकि 'आर.सी.बी.-911' (RCB-911) किस फसल की उन्नत किस्म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बाजरा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कपास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656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46/200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बाजरा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कपास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 अनुसंधान केंद्र (ARS) बोरखेड़ा, बांसवाड़ा द्वारा मक्का की दो अत्यंत लोकप्रिय व उच्च उत्पादकता वाली किस्में 'माही कंचन' और 'माही धवल' विकसित की गई हैं (साथ ही चावल की प्रसिद्ध किस्म 'माही सुगंधा' भी यहीं विकसित हुई)। 'आर.सी.बी.-911' (RCB-911), राज-171, RHB-30 और आरसीबी-2 राजस्थान कृषि विश्वविद्यालय बीकानेर द्वारा विकसित बाजरे की प्रमुख संकर किस्में हैं। गेहूं की प्रमुख किस्मों में कल्याण सोना, सोनालिका, राज-3077 और राज-3765 हैं। जौ की प्रमुख किस्मों में ज्योति, कैलाश और बिलारा-2 शामिल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656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46/200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चीनी एवं सूती वस्त्र उद्योगों के इतिहास और संरचना के संबंध में निम्नलिखित कथनों पर विचार कीजिए: A. राजस्थान की प्रथम सूती वस्त्र मिल 'द कृष्णा मिल्स लिमिटेड' की स्थापना 1889 ई. में सेठ दामोदर दास राठी द्वारा ब्यावर में की गई थी। B. राजस्थान की प्रथम चीनी मिल 'द मेवाड़ शुगर मिल्स' की स्थापना 1932 में भोपालसागर (चित्तौड़गढ़) में निजी क्षेत्र में की गई थी। C. श्रीगंगानगर शुगर मिल्स (1937) में वर्ष 1968 से गन्ने के साथ-साथ चुकंदर से भी चीनी बनाने का संयंत्र प्रारंभ किया गया था। D. राजस्थान में सहकारिता क्षेत्र की प्रथम कताई मिल 'राजस्थान सहकारी कताई मिल' गुलाबपुरा (भीलवाड़ा) में 1965 में स्थापित हुई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257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47/200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कृषि आधारित उद्योगों का विकास ऐतिहासिक रहा है। राज्य की पहली कॉटन टेक्सटाइल मिल 1889 में ब्यावर (अजमेर) में दामोदर दास राठी द्वारा निजी क्षेत्र में स्थापित की गई थी। पाली की महाराजा उम्मेद मिल्स (1942) राज्य की सबसे बड़ी सूती वस्त्र मिल है तथा भीलवाड़ा को 'वस्त्र नगरी' (टेक्सटाइल सिटी) का दर्जा प्राप्त है। चीनी उद्योग में 1932 में भोपालसागर (चित्तौड़गढ़) में निजी क्षेत्र में पहली मिल स्थापित हुई। गंगानगर शुगर मिल्स (सार्वजनिक क्षेत्र) में 1968 से चुकंदर से चीनी बनाने का भारत का पहला प्रयोग हुआ। सहकारिता क्षेत्र में गुलाबपुरा, गंगापुर और हनुमानगढ़ कताई मिलों को मिलाकर 1993 में 'स्पिनफेड' (SPINFED) का गठन किया गया था। अतः चारों कथन सत्य हैं और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257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47/200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जैसलमेर जिले में परंपरागत जल संरक्षण की प्रसिद्ध विधि 'खड़ीन' (कृषि हेतु जल संचयन) का आविष्कार 15वीं शताब्दी में किस समुदाय द्वारा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विश्नोई संप्रदाय द्वारा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चारण कवियों द्वारा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पालीवाल ब्राह्मणों द्वारा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महेश्वरी वैश्यों द्वारा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48/200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पालीवाल ब्राह्मणों द्वारा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विश्नोई संप्रदाय द्वारा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चारण कवियों द्वारा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महेश्वरी वैश्यों द्वारा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खड़ीन पश्चिमी राजस्थान (विशेषकर जैसलमेर जिले) में वर्षा जल संरक्षण और बारानी कृषि की एक प्राचीन व वैज्ञानिक तकनीक है। इसका विकास 15वीं शताब्दी में जैसलमेर के प्रतिभाशाली 'पालीवाल ब्राह्मणों' द्वारा किया गया था। इसमें दो तरफ से ढलान वाली बालू पहाड़ियों के बीच निचले समतल भूभाग पर मिट्टी की पाल (बांध) बनाकर बरसाती पानी को रोक लिया जाता है। जब पानी सूख जाता है या रिसकर भूमिगत हो जाता है, तब उस नमी युक्त उपजाऊ भूमि पर बिना किसी अतिरिक्त सिंचाई के रबी की भरपूर फसलें (गेहूं, चना, सरसों) उगाई जाती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48/200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 बजाज सागर बहुउद्देश्यीय सिंचाई परियोजना के संबंध में निम्नलिखित कथनों पर विचार कीजिए: A. यह राजस्थान एवं गुजरात राज्यों की संयुक्त बहुउद्देश्यीय परियोजना है, जिसमें वित्तीय व्यय का अनुपात क्रमशः 45:55 है। B. इस परियोजना से उत्पादित होने वाली संपूर्ण 100% जलविद्युत केवल राजस्थान राज्य को प्राप्त होती है। C. मुख्य बांध बांसवाड़ा जिले के बोरखेड़ा गांव के निकट माही नदी पर बनाया गया है, जो राजस्थान का सबसे लंबा बांध (3109 मीटर) है। D. इस परियोजना से बांसवाड़ा में कागदी पिक-अप बांध तथा गुजरात में कड़ाणा बांध का निर्माण भी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459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49/200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1966 के अंतर-राज्यीय समझौते के तहत माही बजाज सागर परियोजना का निर्माण राजस्थान और गुजरात की संयुक्त साझेदारी से हुआ। इसमें बांध की लागत और जल बंटवारे में राजस्थान का हिस्सा 45% तथा गुजरात का हिस्सा 55% निर्धारित है। किंतु इस परियोजना से उत्पादित समस्त 140 मेगावाट जलविद्युत पर 100% अधिकार राजस्थान का है (यह समझौता आदिवासी बहुल दक्षिणांचल के विकास हेतु हुआ था)। बोरखेड़ा (बांसवाड़ा) में बना माही बजाज सागर बांध 3109 मीटर लंबाई के साथ राजस्थान का सबसे लंबा बांध है। इसके अतिरिक्त सिंचाई कमान हेतु कागदी पिकअप (बांसवाड़ा) से आनंदपुरी व सागवाड़ा नहरें निकाली गई हैं तथा गुजरात के पंचमहल जिले में कड़ाणा बांध निर्मित किया गया है। अतः चारों कथन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459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49/200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2011 की जनगणना के अनुसार, राजस्थान के सर्वाधिक एवं न्यूनतम साक्षरता दर वाले जिलों का सही युग्म निम्नलिखित में से कौन 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जयपुर (सर्वाधिक) एवं सिरोही (न्यूनतम)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झुंझुनूं (सर्वाधिक) एवं प्रतापगढ़ (न्यूनतम)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कोटा (सर्वाधिक) एवं जालौर (न्यूनतम)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कोटा (सर्वाधिक) एवं बांसवाड़ा (न्यूनतम)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060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50/200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कोटा (सर्वाधिक) एवं जालौर (न्यूनतम)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(सर्वाधिक) एवं सिरोही (न्यूनतम)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झुंझुनूं (सर्वाधिक) एवं प्रतापगढ़ (न्यूनतम)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(सर्वाधिक) एवं बांसवाड़ा (न्यूनतम)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जनगणना 2011 के अंतिम आंकड़ों के अनुसार राजस्थान की कुल साक्षरता दर 66.11% (पुरुष: 79.19%, महिला: 52.12%) है। राज्य में सर्वाधिक साक्षरता दर कोटा जिले (76.6%) में दर्ज की गई है (इसके बाद जयपुर 75.5% और झुंझुनूं 74.1% का स्थान है)। राज्य में न्यूनतम साक्षरता दर जालौर जिले (54.9%) में दर्ज की गई है (इसके बाद सिरोही 55.3% और प्रतापगढ़ 56.0% हैं)। महिला साक्षरता में भी कोटा (65.9%) शीर्ष पर और जालौर (38.5%) सबसे निचले स्थान पर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060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50/200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जनगणना 2011 के अनुसार राजस्थान में जनसंख्या वृद्धि, घनत्व एवं लिंगानुपात के संबंध में निम्नलिखित कथनों पर विचार कीजिए: A. 2001-2011 के दशक में राजस्थान की कुल जनसंख्या वृद्धि दर 21.31% रही, जिसमें सर्वाधिक वृद्धि बाड़मेर (32.5%) तथा न्यूनतम श्रीगंगानगर (10.0%) में दर्ज की गई। B. राजस्थान का कुल लिंगानुपात 928 है, जिसमें सर्वाधिक लिंगानुपात डूंगरपुर (994) तथा न्यूनतम धौलपुर (846) में है। C. राजस्थान का ग्रामीण लिंगानुपात 933 है, जिसमें पाली जिला (1003) राज्य का एकमात्र ऐसा जिला है जिसका ग्रामीण लिंगानुपात 1000 से अधिक है। D. राजस्थान का नगरीय लिंगानुपात 914 है, जिसमें सर्वाधिक नगरीय लिंगानुपात टोंक जिले (985) तथा न्यूनतम जैसलमेर (807) में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662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51/200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2011 की जनगणना राज्य के जनसांख्यिकीय स्वरूप का प्रामाणिक चित्र प्रस्तुत करती है। 2001-2011 के दौरान राज्य की दशकीय वृद्धि 21.31% रही (बाड़मेर 32.5% व जैसलमेर 31.8% उच्चतम; गंगानगर 10% व झुंझुनूं 11.7% न्यूनतम)। राज्य का समग्र लिंगानुपात 928 है (डूंगरपुर 994 व राजसमंद 990 शीर्ष पर; धौलपुर 846 व जैसलमेर 852 सबसे कम)। ग्रामीण क्षेत्रों में पाली का लिंगानुपात 1003 होकर राज्य में सर्वोच्च और 1000 पार करने वाला एकमात्र जिला है। शहरी क्षेत्रों में सर्वाधिक लिंगानुपात टोंक (985) व बांसवाड़ा (964) में तथा न्यूनतम जैसलमेर (807) में है। अतः चारों कथन सत्य हैं और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662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51/200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धात्विक एवं अधात्विक खनिजों तथा उनके प्रसिद्ध खनन क्षेत्रों का सही मिलान कीजिए: सूची-I (खनिज): सूची-I: A. सीसा एवं जस्ता B. तांबा C. टंगस्टन D. मैंगनीज सूची-II: 1. खेतड़ी-सिंघाना, चांदमारी व खो-दरीबा 2. डेगाना (भाकरी) एवं वाल्दा (रेवदर) 3. लीलवानी, कालाखूंटा एवं तलवाड़ा (बांसवाड़ा) 4. जावर, देबारी, रामपुरा-आगूचा व राजपुरा-दरीबा</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52/200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सीसा-जस्ता (गैलेना) के प्रमुख भंडार भीलवाड़ा के रामपुरा-आगूचा (विश्वस्तरीय उच्च गुणवत्ता भंडार), उदयपुर के जावर व देबारी, तथा राजसमंद के राजपुरा-दरीबा में स्थित हैं। तांबे के प्रमुख क्षेत्र झुंझुनूं में खेतड़ी-सिंघाना व चांदमारी, सीकर में नीम का थाना तथा अलवर में खो-दरीबा व भगोनी हैं। टंगस्टन (वुल्फ्रेमाइट) के लिए नागौर का डेगाना (रेवंत पहाड़ी) भारत की सबसे बड़ी खान रही है तथा सिरोही का वाल्दा व आबू-रेवदर क्षेत्र प्रसिद्ध है। मैंगनीज मुख्यतः बांसवाड़ा जिले में लीलवानी, कालाखूंटा, तलवाड़ा, नरड़िया और तिम्मामोरी की खानों से निकाला जाता है। अतः सही सुमेलन A-4, B-1, C-2, D-3 है और सही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52/200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राज्य किन खनिजों के उत्पादन में देश में लगभग 100% एकाधिकार (Sole Producer) रखता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तांबा अयस्क, लिग्नाइट और अभ्रक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लौह अयस्क, बॉक्साइट और क्रोमाइट</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सीसा-जस्ता अयस्क, वोलेस्टोनाइट और सेलेनाइट</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पोटाश, रॉक फॉस्फेट और मैग्नेसाइट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864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53/200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सीसा-जस्ता अयस्क, वोलेस्टोनाइट और सेलेनाइट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तांबा अयस्क, लिग्नाइट और अभ्रक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लौह अयस्क, बॉक्साइट और क्रोमाइट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पोटाश, रॉक फॉस्फेट और मैग्नेसाइट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'खनिजों का अजायबघर' कहा जाता है जहाँ 81 प्रकार के खनिज मिलते हैं और 58 का व्यावसायिक दोहन होता है। राजस्थान तीन प्रमुख खनिजों-सीसा-जस्ता अयस्क (Lead-Zinc Ore), वोलेस्टोनाइट (Wollastonite) और सेलेनाइट (Selenite) के उत्पादन में पूरे देश में 100% एकाधिकार रखता है (यानी भारत में इनका लगभग समस्त उत्पादन केवल राजस्थान में होता है)। इसके अलावा चांदी, कैल्साइट, जिप्सम और संगमरमर में भी राजस्थान देश में शीर्ष स्थान पर है। बॉक्साइट में ओडिशा और क्रोमाइट में भी ओडिशा का एकाधिकार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864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53/200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लिग्नाइट कोयला संसाधनों के वितरण एवं संबंधित खनन क्षेत्रों के बारे में निम्नलिखित कथनों पर विचार कीजिए: A. बाड़मेर जिले में कपूरड़ी, जालीपा, गिरल, जोगेश्वर थाला और भादरेस प्रमुख लिग्नाइट क्षेत्र हैं। B. बीकानेर जिले में पलाना, बरसिंहसर, गुढ़ा, बिठ्ठनोक और रानेरी महत्वपूर्ण लिग्नाइट उत्पादक स्थल हैं। C. नागौर जिले में मेड़ता रोड, कसनाऊ-इग्यार, मातासुख और मोकला प्रमुख लिग्नाइट खदानें हैं। D. पलाना (बीकानेर) का लिग्नाइट कोयला अपनी उत्तम गुणवत्ता और उच्च कार्बन मात्रा के लिए विश्वभर में प्रसिद्ध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465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54/200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टर्शियरी (ईओसीन) कालीन चट्टानों में उच्च कोटि का भूरा कोयला (लिग्नाइट) पाया जाता है। बाड़मेर में कपूरड़ी-जालीपा और गिरल (जहाँ राज्य का पहला लिग्नाइट आधारित गैसीकरण ताप विद्युत गृह बना) प्रमुख हैं। बीकानेर का पलाना अपनी सर्वश्रेष्ठ गुणवत्ता और रेजिन युक्त लिग्नाइट के लिए जाना जाता है तथा बरसिंहसर में एनएलसी (NLC) द्वारा ताप विद्युत संयंत्र संचालित है। नागौर के मेड़ता रोड और कसनाऊ-मातासुख में आरएसएमएमएल (RSMML) द्वारा खनन कार्य किया जाता है। अतः चारों कथन सत्य हैं और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465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54/200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'कालीसिंध सुपर क्रिटिकल थर्मल पावर स्टेशन' किस जिले के उँड़ेल गांव में अवस्थित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झालावाड़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कोटा</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066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55/200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झालावाड़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कालीसिंध सुपर क्रिटिकल थर्मल पावर प्लांट झालावाड़ जिले की झालरापाटन तहसील के उँड़ेल गांव के समीप कालीसिंध नदी के किनारे स्थापित है। यह राजस्थान विद्युत उत्पादन निगम लिमिटेड (RVUNL) द्वारा संचालित राज्य का चौथा सुपर थर्मल पावर प्लांट है, जिसकी कुल स्थापित क्षमता 1200 मेगावाट (600 MW की 2 इकाइयां) है। इस संयंत्र की मुख्य विशेषता यह है कि इसमें अत्याधुनिक तकनीक का एशिया का सबसे ऊंचा कूलिंग टॉवर निर्मित किया गया है। विकल्प A में बारां जिले में छबड़ा सुपर थर्मल पावर प्लांट तथा कवाई अडानी पावर प्लांट स्थित हैं। विकल्प B में कोटा सुपर थर्मल पावर स्टेशन कोटा बैराज के निकट स्थित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066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55/200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वन्यजीव संरक्षण एवं कंजर्वेशन रिजर्व (संरक्षित क्षेत्र) के संबंध में निम्नलिखित कथनों पर विचार कीजिए: A. रणखार (जालौर) कंजर्वेशन रिजर्व विशेष रूप से जंगली गधों (Wild Ass) के संरक्षण हेतु अधिसूचित किया गया है। B. सोरसन कंजर्वेशन रिजर्व (I, II एवं III) तथा शाहबाद के जंगल बारां जिले में अवस्थित हैं। C. हमीरगढ़ एवं बीड़ घास फूलिया खुर्द कंजर्वेशन रिजर्व भीलवाड़ा जिले में स्थित हैं। D. झुंझुनूं जिले में मनसा माता, बीड़ और बांसीयाल-खेतड़ी कंजर्वेशन रिजर्व अवस्थित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56/200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वन्यजीव संरक्षण अधिनियम, 1972 के तहत पारिस्थितिक रूप से संवेदनशील क्षेत्रों को 'कंजर्वेशन रिजर्व' घोषित करता है। जालोर की चितलवाना तहसील में स्थित 'रणखार' राज्य का 16वां कंजर्वेशन रिजर्व बना जो जंगली गधों व चिंकारा हेतु संरक्षित है। बारां जिले में सोरसन (गोडावण व कृष्णमृग हेतु प्रसिद्ध) तथा शाहबाद के सघन वन क्षेत्र संरक्षित घोषित हैं। भीलवाड़ा में हमीरगढ़ और बीड़ घास फूलिया खुर्द पक्षी व वन्यजीव संरक्षण केंद्र हैं। झुंझुनूं जिले में मनसा माता (उदयपुरवाटी), बीड़ (झुंझुनूं शहर के पास) तथा बांसीयाल-खेतड़ी बाघ कॉरिडोर के रूप में संरक्षित क्षेत्र हैं। अतः चारों कथन पूर्णतः सत्य हैं और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56/200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विभिन्न जिलों एवं उनके आधिकारिक वन्यजीव शुभंकर (District Mascots) का सही मिलान कीजिए: सूची-I (जिला): सूची-I: A. भीलवाड़ा B. चूरू C. सवाई माधोपुर D. जैसलमेर सूची-II: 1. मोर 2. कृष्णमृग (काला हिरण) 3. बाघ (Tiger) 4. गोडावण (Great Indian Bustard)</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269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57/200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वन विभाग द्वारा वन्यजीव संरक्षण के प्रति जन-जागरूकता बढ़ाने हेतु प्रत्येक जिले का एक वन्यजीव शुभंकर घोषित किया गया है। भीलवाड़ा का शुभंकर राष्ट्रीय पक्षी 'मोर' है। चूरू का शुभंकर तालछापर अभयारण्य के कारण 'कृष्णमृग' (काला हिरण) है। सवाई माधोपुर का शुभंकर रणथंभौर राष्ट्रीय उद्यान के कारण 'बाघ' है। जैसलमेर का शुभंकर राष्ट्रीय मरु उद्यान का राज्य पक्षी 'गोडावण' (ग्रेट इंडियन बस्टर्ड) है। अन्य प्रमुख शुभंकरों में जयपुर का चीतल, जोधपुर का कुरंजा पक्षी, जालोर का भालू तथा टोंक का हंस है। अतः सही सुमेलन A-1, B-2, C-3, D-4 है और सही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269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57/200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पर्यटन विकास निगम (RTDC) द्वारा विकसित प्रसिद्ध 'मरु त्रिकोण' (Desert Triangle) पर्यटन सर्किट में कौन से तीन प्रमुख जिले सम्मिलित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बाड़मेर, जैसलमेर और जालौर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नागौर, चूरू और बीकानेर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जोधपुर, पाली और सिरोही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बीकानेर, जैसलमेर और जोधपुर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870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58/200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बीकानेर, जैसलमेर और जोधपुर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बाड़मेर, जैसलमेर और जालौर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नागौर, चूरू और बीकानेर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जोधपुर, पाली और सिरोही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अंतरराष्ट्रीय और घरेलू पर्यटकों को आकर्षित करने हेतु विशिष्ट पर्यटन सर्किट विकसित किए गए हैं। इनमें सबसे विख्यात 'मरु त्रिकोण' (Desert Triangle) सर्किट है, जो थार मरुस्थल के तीन ऐतिहासिक व सांस्कृतिक केंद्रों-बीकानेर, जैसलमेर और जोधपुर को आपस में जोड़ता है (हाल के वर्षों में बाड़मेर को जोड़कर इसे मरु चतुर्भुज का स्वरूप भी दिया गया है, किंतु मूल मरु त्रिकोण में बीकानेर, जैसलमेर और जोधपुर शामिल हैं)। विकल्प C में माउंट आबू, रणकपुर, जालोर को 'गोडवाड़ सर्किट' कहा जाता है। कोटा, बूंदी, झालावाड़ 'हाड़ौती सर्किट' का हिस्सा हैं।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870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58/200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राज्यपाल की संवैधानिक स्थिति, शक्तियों एवं कार्यप्रणाली के संदर्भ में निम्नलिखित कथनों पर विचार कीजिए: A. संविधान के अनुच्छेद 154 के अनुसार राज्य की कार्यपालिका शक्ति राज्यपाल में निहित होती है। B. अनुच्छेद 200 के तहत राज्यपाल विधानसभा द्वारा पारित किसी विधेयक को अनुमति दे सकता है, रोक सकता है, या राष्ट्रपति के विचारार्थ आरक्षित कर सकता है। C. अनुच्छेद 213 के अनुसार जब राज्य विधानमंडल का सत्र न चल रहा हो, तब राज्यपाल अध्यादेश प्रख्यापित कर सकता है। D. राजस्थान के प्रथम राज्यपाल सरदार गुरुमुख निहाल सिंह थे, जिन्होंने 1 नवंबर 1956 को पदभार ग्रहण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471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59/200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राज्यपाल राज्य का संवैधानिक प्रमुख होता है। अनुच्छेद 154 राज्य की समस्त कार्यपालिका शक्तियां राज्यपाल को सौंपता है, जिनका प्रयोग वह मंत्रिपरिषद की सलाह पर करता है। अनुच्छेद 200 राज्यपाल को विधेयकों पर अनुमति देने अथवा अनुच्छेद 201 के तहत राष्ट्रपति के विचारार्थ सुरक्षित रखने (जैसे उच्च न्यायालय की शक्तियों को कम करने वाले विधेयक) का विशेषाधिकार देता है। अनुच्छेद 213 आपातकालीन विधायी शक्ति के रूप में अध्यादेश जारी करने का अधिकार देता है, जिसे विधानसभा सत्र शुरू होने के 6 सप्ताह के भीतर अनुमोदित कराना अनिवार्य है। राज्य पुनर्गठन के उपरांत 1 नवंबर 1956 को सरदार गुरुमुख निहाल सिंह राजस्थान के प्रथम राज्यपाल बने और वे सर्वाधिक कार्यकाल (1956-1962) तक रहे। अतः चारों कथन सत्य हैं और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471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59/200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अब तक कुल 4 बार (1967, 1977, 1980 और 1992) राष्ट्रपति शासन (अनुच्छेद 356) लागू हुआ है। निम्नलिखित में से किस मुख्यमंत्री ने सर्वाधिक बार (दो बार) राष्ट्रपति शासन का सामना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मोहनलाल सुखाड़िया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भैरोंसिंह शेखावत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शिवचरण माथुर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हरिदेव जोशी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60/200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भैरोंसिंह शेखावत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मोहनलाल सुखाड़िया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शिवचरण माथुर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हरिदेव जोशी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चार बार राष्ट्रपति शासन लागू किया गया है: 1. 1967 (प्रथम): मोहनलाल सुखाड़िया के समय (त्रिशंकु विधानसभा के कारण, राज्यपाल डॉ. संपूर्णानंद)। 2. 1977 (द्वितीय): हरिदेव जोशी के समय (केंद्र में जनता पार्टी सरकार आने पर विधानसभा भंग, कार्यवाहक राज्यपाल वेदपाल त्यागी)। 3. 1980 (तृतीय): भैरोंसिंह शेखावत के समय (केंद्र में कांग्रेस सरकार की वापसी पर, राज्यपाल रघुकुल तिलक, यह सबसे कम अवधि का राष्ट्रपति शासन था)। 4. 1992-1993 (चतुर्थ): भैरोंसिंह शेखावत के समय (बाबरी मस्जिद विध्वंस के बाद, राज्यपाल एम. चेन्ना रेड्डी, यह सर्वाधिक लंबी अवधि का राष्ट्रपति शासन था)। इस प्रकार भैरोंसिंह शेखावत ने दो बार (1980 और 1992) राष्ट्रपति शासन का सामना किया।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60/200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91वें संविधान संशोधन अधिनियम (2003) तथा राजस्थान मंत्रिपरिषद के आकार के संबंध में निम्नलिखित कथनों पर विचार कीजिए: A. 91वें संशोधन द्वारा अनुच्छेद 164 में खंड (1क) जोड़कर मंत्रिपरिषद का अधिकतम आकार विधानसभा की कुल सदस्य संख्या का 15% निर्धारित किया गया। B. किसी भी राज्य में मुख्यमंत्री सहित मंत्रियों की न्यूनतम संख्या 12 से कम नहीं हो सकती। C. राजस्थान विधानसभा में कुल 200 सदस्य हैं, अतः राज्य मंत्रिपरिषद में मुख्यमंत्री सहित अधिकतम 30 मंत्री हो सकते हैं। D. यदि किसी विधायक को 10वीं अनुसूची (दल-बदल विरोधी कानून) के तहत अयोग्य घोषित किया जाता है, तो वह मंत्री पद हेतु भी अयोग्य 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674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61/200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91वें संविधान संशोधन अधिनियम, 2003 द्वारा केंद्र और राज्यों में मंत्रिपरिषद के अनियंत्रित विस्तार को रोकने के लिए अनुच्छेद 75 और 164 में महत्वपूर्ण संशोधन किए गए। अनुच्छेद 164(1क) के अनुसार राज्य मंत्रिपरिषद में मुख्यमंत्री सहित मंत्रियों की कुल संख्या विधानसभा की कुल सदस्य संख्या के 15% से अधिक नहीं होगी, परंतु किसी भी राज्य में न्यूनतम मंत्रियों की संख्या 12 से कम नहीं होगी (सिक्किम, मिजोरम, गोवा जैसे छोटे राज्यों के लिए 7 का अपवाद है)। राजस्थान विधानसभा की सदस्य संख्या 200 है, अतः 200 का 15% = 30 मंत्री (मुख्यमंत्री सहित अधिकतम) हो सकते हैं। अनुच्छेद 164(1ख) के तहत दल-बदल के आधार पर अयोग्य घोषित सदस्य मंत्री पद धारण करने हेतु भी अयोग्य हो जाता है। अतः चारों कथन सत्य हैं और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674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61/200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निम्नांकित मुख्यमंत्रियों में से किसने सर्वाधिक लंबे समय (16 वर्ष 194 दिन) तक मुख्यमंत्री पद पर कार्य किया तथा चार अलग-अलग बार पद की शपथ 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मोहनलाल सुखाड़िया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हरिदेव जोशी</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भैरोंसिंह शेखावत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अशोक गहलोत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275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62/200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मोहनलाल सुखाड़िया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हरिदेव जोशी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भैरोंसिंह शेखावत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अशोक गहलोत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मोहनलाल सुखाड़िया राजस्थान के सर्वाधिक समय तक (13 नवंबर 1954 से 9 जुलाई 1971 तक-कुल 16 वर्ष 194 दिन) मुख्यमंत्री रहने वाले राजनेता हैं, जिन्हें 'आधुनिक राजस्थान का निर्माता' कहा जाता है। उन्होंने चार बार (1954, 1957, 1962, 1967) मुख्यमंत्री पद की शपथ ली। उनके काल में संभागीय व्यवस्था बंद की गई (1962), पहली बार संसदीय सचिव नियुक्त किए गए और 1967 में प्रथम राष्ट्रपति शासन लगा। विकल्प A में हरिदेव जोशी ने 3 बार शपथ ली। विकल्प C में भैरोंसिंह शेखावत ने 3 बार शपथ ली। विकल्प D में अशोक गहलोत ने भी 3 बार शपथ ली।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275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62/200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उन मुख्यमंत्रियों के संदर्भ में जो संसद के सदनों (लोकसभा अथवा राज्यसभा) के सदस्य रहे, निम्नलिखित कथनों पर विचार कीजिए: A. टीकाराम पालीवाल, जगन्नाथ पहाड़िया, शिवचरण माथुर, वसुंधरा राजे और अशोक गहलोत लोकसभा के सदस्य रहे हैं। B. जयनारायण व्यास, भैरोंसिंह शेखावत और जगन्नाथ पहाड़िया राज्यसभा के सदस्य रहे हैं। C. जगन्नाथ पहाड़िया राजस्थान के एकमात्र ऐसे मुख्यमंत्री रहे हैं जो लोकसभा और राज्यसभा दोनों सदनों के सदस्य रहे। D. हरिदेव जोशी और बरकतुल्लाह खां कभी भी लोकसभा के सदस्य नहीं रहे।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876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63/200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कई मुख्यमंत्रियों का केंद्रीय राजनीति में महत्वपूर्ण योगदान रहा है। टीकाराम पालीवाल 1962 में निर्दलीय लोकसभा सांसद चुने गए थे। अशोक गहलोत 5 बार लोकसभा सदस्य तथा केंद्रीय मंत्री रहे। वसुंधरा राजे झालावाड़ से 5 बार लोकसभा सांसद रहीं। शिवचरण माथुर और जगन्नाथ पहाड़िया भी लोकसभा सदस्य रहे। राज्यसभा में जयनारायण व्यास, भैरोंसिंह शेखावत और जगन्नाथ पहाड़िया ने प्रतिनिधित्व किया। जगन्नाथ पहाड़िया दोनों सदनों (लोकसभा 1957, 1967, 1971, 1980 तथा राज्यसभा 1978) के सदस्य रहने वाले एकमात्र मुख्यमंत्री हैं। हरिदेव जोशी (जो लगातार 10 बार विधानसभा सदस्य रहे) और बरकतुल्लाह खां कभी लोकसभा नहीं पहुंचे। अतः चारों कथन सत्य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876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63/200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निम्नलिखित मुख्यमंत्रियों में से कौन सा मुख्यमंत्री राजस्थान विधानसभा में कभी भी 'नेता प्रतिपक्ष' (Leader of Opposition) के पद पर आसीन नहीं रहा?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भैरोंसिंह शेखावत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हरिदेव जोशी</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वसुंधरा राजे</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अशोक गहलोत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64/200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अशोक गहलोत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भैरोंसिंह शेखावत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हरिदेव जोशी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वसुंधरा राजे</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विधानसभा के संसदीय इतिहास में भैरोंसिंह शेखावत (जो तीन बार मुख्यमंत्री रहे) विभिन्न विधानसभाओं में विपक्ष के नेता भी रहे। हरिदेव जोशी मुख्यमंत्री बनने से पहले और बाद में विधानसभा में नेता प्रतिपक्ष रहे। वसुंधरा राजे भी 13वीं और 15वीं विधानसभा में नेता प्रतिपक्ष की भूमिका निभा चुकी हैं। इसके विपरीत अशोक गहलोत और शिवचरण माथुर कभी भी राजस्थान विधानसभा में नेता प्रतिपक्ष के पद पर नहीं रहे हैं (अशोक गहलोत जब भी विधानसभा में आए, वे सीधे सत्ता पक्ष या मुख्यमंत्री पद पर रहे)।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64/200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विधानसभा के इतिहास में प्रमुख पीठासीन अधिकारियों एवं उनसे संबंधित विशिष्ट तथ्यों का सही मिलान कीजिए: सूची-I (अधिकारी / व्यक्ति): सूची-I: A. नरोत्तम लाल जोशी B. रामनिवास मिर्धा C. पूनमचंद विश्नोई D. सुमित्रा सिंह सूची-II: 1. प्रथम विधानसभा के अध्यक्ष 2. विधानसभा अध्यक्ष के रूप में सर्वाधिक लंबा कार्यकाल 3. प्रोटेम स्पीकर, विधानसभा उपाध्यक्ष और विधानसभा अध्यक्ष-तीनों पदों पर रहे 4. राजस्थान विधानसभा की प्रथम महिला अध्यक्ष (12वीं विधानसभा)</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079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65/200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नरोत्तम लाल जोशी (झुंझुनूं) राजस्थान की प्रथम विधानसभा (1952-1957) के अध्यक्ष बने थे (लालसिंह शक्तावत प्रथम उपाध्यक्ष बने थे)। रामनिवास मिर्धा दूसरी और तीसरी विधानसभा (1957-1967) में लगातार 10 वर्षों तक अध्यक्ष रहकर सर्वाधिक लंबी अवधि तक अध्यक्ष रहने का रिकॉर्ड रखते हैं। पूनमचंद विश्नोई राजस्थान विधानसभा के एकमात्र ऐसे नेता हैं जो प्रोटेम स्पीकर (तीन बार), उपाध्यक्ष और बाद में अध्यक्ष (1980-1985) तीनों महत्वपूर्ण पदों पर रहे। सुमित्रा सिंह 12वीं विधानसभा (2003-2008) में राजस्थान की पहली महिला विधानसभा अध्यक्ष निर्वाचित हुई थीं। अतः सही सुमेलन A-1, B-2, C-3, D-4 है और सही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079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65/200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के प्रक्रिया एवं कार्य संचालन नियमों तथा इसकी वित्तीय समितियों के संबंध में निम्नलिखित कथनों पर विचार कीजिए: A. राजस्थान विधानसभा में कुल 4 वित्तीय समितियां हैं-लोक लेखा समिति, प्राक्कलन समिति 'क', प्राक्कलन समिति 'ख' और राजकीय उपक्रम समिति। B. इन वित्तीय समितियों के सदस्यों का चुनाव एकल संक्रमणीय मत द्वारा आनुपातिक प्रतिनिधित्व प्रणाली से प्रतिवर्ष किया जाता है। C. किसी भी मंत्री (Minister) को इन वित्तीय समितियों के अध्यक्ष या सदस्य के रूप में नियुक्त नहीं किया जा सकता। D. प्राक्कलन समिति 'क' के नियंत्रणाधीन सार्वजनिक निर्माण, गृह और वित्त विभागों के प्राक्कलन शामिल नहीं होते।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680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66/200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विधानसभा में कुल 22 स्थायी समितियां हैं जिनमें 4 वित्तीय समितियां हैं: 1. जनलेखा समिति (PAC), 2. प्राक्कलन समिति 'क', 3. प्राक्कलन समिति 'ख', और 4. राजकीय उपक्रम समिति (COPU)। संसदीय परंपरा के अनुसार इन समितियों का कार्यकाल 1 वर्ष होता है और इनका चुनाव विधानसभा सदस्यों में से आनुपातिक प्रतिनिधित्व पद्धति से होता है। कार्यपालिका की जवाबदेही सुनिश्चित करने के लिए किसी भी मंत्री को इन समितियों का सदस्य नहीं बनाया जाता; यदि कोई सदस्य मंत्री बन जाता है तो उसकी सदस्यता समाप्त हो जाती है। प्राक्कलन समिति 'क' और 'ख' के बीच विभागों का स्पष्ट विभाजन है (गृह विभाग प्राक्कलन समिति 'क' के नियंत्रण में नहीं आता)। अतः चारों कथन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680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66/200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विधानसभा में 'स्थगन प्रस्ताव' (Adjournment Motion) प्रस्तुत करने की प्रक्रिया के नियमों के संदर्भ में कौन 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स्थगन प्रस्ताव प्रस्तुत करने के लिए विधानसभा अध्यक्ष की पूर्व सहमति अनिवार्य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एक ही बैठक में एक से अधिक स्थगन प्रस्ताव प्रस्तुत नहीं किए जा सकते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स्थगन प्रस्ताव के माध्यम से सदन में किसी सदस्य के विशेषाधिकार हनन का प्रश्न उठाया जा सकता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प्रस्ताव हाल ही में घटित किसी निश्चित, अविलंबनीय लोक महत्व के विशिष्ट मामले तक सीमित होना चाहिए</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281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67/200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स्थगन प्रस्ताव के माध्यम से सदन में किसी सदस्य के विशेषाधिकार हनन का प्रश्न उठाया जा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स्थगन प्रस्ताव प्रस्तुत करने के लिए विधानसभा अध्यक्ष की पूर्व सहमति अनिवार्य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एक ही बैठक में एक से अधिक स्थगन प्रस्ताव प्रस्तुत नहीं किए जा सकते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प्रस्ताव हाल ही में घटित किसी निश्चित, अविलंबनीय लोक महत्व के विशिष्ट मामले तक सीमित होना चाहिए</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स्थगन प्रस्ताव (काम रोको प्रस्ताव) एक असाधारण संसदीय प्रक्रिया है जिसके द्वारा सदन की सामान्य दैनिक कार्यवाही को रोककर हाल ही में घटित किसी अत्यावश्यक एवं गंभीर लोक महत्व के मामले पर चर्चा की जाती है। इसके नियमों के तहत: 1. अध्यक्ष की पूर्व अनुमति आवश्यक है, 2. एक बैठक में केवल एक ही प्रस्ताव लाया जा सकता है, 3. विषय स्पष्ट, तथ्यात्मक और राज्य सरकार के प्रत्यक्ष दायित्व से जुड़ा होना चाहिए। विकल्प C गलत है क्योंकि स्थगन प्रस्ताव द्वारा विशेषाधिकार का प्रश्न नहीं उठाया जा सकता; विशेषाधिकार हनन के लिए अलग से 'विशेषाधिकार प्रस्ताव' (Privilege Motion) का नियम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281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67/200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2022 के भारत के राष्ट्रपति चुनाव में राजस्थान विधानसभा के प्रत्येक निर्वाचित सदस्य (विधायक) का मत मूल्य (Vote Value) कितना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129</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149</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132</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68/200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129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149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132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116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55 के अनुसार राष्ट्रपति चुनाव में राज्य विधानसभा के प्रत्येक विधायक का मत मूल्य निर्धारित करने का सूत्र है: [राज्य की कुल जनसंख्या (1971 की जनगणना)] / [राज्य विधानसभा के निर्वाचित सदस्यों की कुल संख्या × 1000]। 84वें संविधान संशोधन (2001) के अनुसार वर्ष 2026 के बाद की पहली जनगणना प्रकाशित होने तक जनसंख्या का आधार 1971 की जनगणना ही रहेगा। राजस्थान की 1971 की जनसंख्या 2,57,65,806 को 200 × 1000 से भाग देने पर 128.829 आता है, जिसे पूर्णांक में 129 गिना जाता है। अतः 2022 के राष्ट्रपति चुनाव में राजस्थान के प्रत्येक विधायक का मत मूल्य 129 था।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68/200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उच्च न्यायालय के गठन, संवैधानिक प्रावधानों एवं इतिहास के संबंध में निम्नलिखित कथनों पर विचार कीजिए: A. राजस्थान उच्च न्यायालय की स्थापना 29 अगस्त 1949 को जोधपुर में की गई थी, जिसके प्रथम मुख्य न्यायाधीश कमलकांत वर्मा बने। B. पी. सत्यनारायण राव समिति की सिफारिशों के आधार पर 1958 में जयपुर खंडपीठ को समाप्त कर मुख्यपीठ स्थाई रूप से जोधपुर रखी गई थी। C. 8 दिसंबर 1976 को राष्ट्रपति के आदेश द्वारा 31 जनवरी 1977 से जयपुर में पुनः उच्च न्यायालय की स्थाई खंडपीठ (Bench) स्थापित की गई। D. संविधान के अनुच्छेद 217(1) के अनुसार उच्च न्यायालय के अन्य न्यायाधीशों की नियुक्ति राष्ट्रपति द्वारा CJI, राज्य के राज्यपाल और संबंधित उच्च न्यायालय के मुख्य न्यायाधीश के परामर्श से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484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69/200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उच्च न्यायालय अध्यादेश, 1949 के तहत 29 अगस्त 1949 को राजप्रमुख सवाई मानसिंह ने जोधपुर में उच्च न्यायालय का उद्घाटन किया और कमलकांत वर्मा प्रथम CJ बने (संविधान लागू होने के बाद प्रथम CJ कैलाशनाथ वांचू बने)। राज्य पुनर्गठन के समय राजधानी और न्यायपालिका के विवाद को सुलझाने हेतु गठित सत्यनारायण राव समिति ने राजधानी जयपुर और उच्च न्यायालय जोधपुर रखने की सिफारिश की, जिसके तहत 1958 में जयपुर पीठ समाप्त हुई। किंतु जन-मांग पर 1976 के अध्यादेश द्वारा 31 जनवरी 1977 से जयपुर में स्थाई खंडपीठ पुनः प्रारंभ हुई। अनुच्छेद 217(1) के अनुसार उच्च न्यायालय के अन्य न्यायाधीशों की नियुक्ति में भारत के मुख्य न्यायाधीश, संबंधित राज्य के राज्यपाल और उस उच्च न्यायालय के मुख्य न्यायाधीश का परामर्श अनिवार्य है। अतः चारों कथन पूर्णतः सत्य हैं और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484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69/200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उच्च न्यायालय के निम्नलिखित न्यायाधीशों में से कौन राजस्थान सरकार में राज्यमंत्री के पद पर आसीन रहने के पश्चात उच्च न्यायालय के न्यायाधीश नियुक्त हुए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जस्टिस मोहम्मद यामीन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जस्टिस यादराम मीणा</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जस्टिस सूरज नारायण डीडवानिया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जस्टिस फारूख हसन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085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70/200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जस्टिस फारूख हसन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जस्टिस मोहम्मद यामीन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जस्टिस यादराम मीणा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जस्टिस सूरज नारायण डीडवानिया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न्यायमूर्ति फारूख हसन राजस्थान के विधिक और राजनीतिक इतिहास में एक अनूठा उदाहरण हैं। वे 1972 के विधानसभा चुनाव में सवाई माधोपुर निर्वाचन क्षेत्र से विधायक (MLA) चुने गए थे और बरकतुल्लाह खां मंत्रिमंडल में राज्यमंत्री के पद पर रहे। बाद में उन्होंने न्यायिक सेवा और वकालत के माध्यम से 1985 से 1994 तक राजस्थान उच्च न्यायालय के न्यायाधीश के रूप में कार्य किया। अन्य न्यायाधीशों (जस्टिस यामीन, जस्टिस डीडवानिया, जस्टिस मीणा) ने केवल न्यायिक पदों पर कार्य किया था, वे कभी राज्यमंत्री नहीं रहे।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085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70/200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उच्च न्यायालय के प्रशासनिक नियंत्रण एवं रजिस्ट्रार जनरल के पद के संदर्भ में निम्नलिखित कथनों पर विचार कीजिए: A. संविधान के अनुच्छेद 229 के तहत उच्च न्यायालय के अधिकारियों एवं सेवकों की नियुक्ति तथा सेवा शर्तों का निर्धारण मुख्य न्यायाधीश द्वारा किया जाता है। B. उच्च न्यायालय का रजिस्ट्रार जनरल न्यायालय का सर्वोच्च प्रशासनिक अधिकारी होता है जो सीधे मुख्य न्यायाधीश के अधीन कार्य करता है। C. 20 अप्रैल 2024 को प्रमिल कुमार माथुर ने राजस्थान उच्च न्यायालय के रजिस्ट्रार जनरल का कार्यभार संभाला था। D. उच्च न्यायालय की मुख्यपीठ जोधपुर में अवस्थित है तथा इसकी एक स्थाई खंडपीठ जयपुर में कार्यरत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686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71/200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229 उच्च न्यायालय की प्रशासनिक स्वायत्तता सुनिश्चित करता है। इसके तहत मुख्य न्यायाधीश को उच्च न्यायालय के कर्मचारियों और अधिकारियों की नियुक्ति और प्रशासनिक नियम बनाने का अनन्य अधिकार है। रजिस्ट्रार जनरल (Registrar General) उच्च न्यायालय का शीर्ष प्रशासनिक अधिकारी होता है, जो सामान्यतः राज्य का वरिष्ठ जिला एवं सत्र न्यायाधीश कैडर का न्यायिक अधिकारी होता है। 20 अप्रैल 2024 को प्रमिल कुमार माथुर ने राजस्थान उच्च न्यायालय के रजिस्ट्रार जनरल का पदभार ग्रहण किया था। उच्च न्यायालय की प्रधान पीठ जोधपुर तथा खंडपीठ जयपुर में कार्यरत है। अतः चारों कथन सत्य हैं और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686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71/200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73वें संविधान संशोधन के अनुसरण में गठित 'जिला आयोजना समिति' (District Planning Committee) के संबंध में राजस्थान में क्या वैधानिक स्थिति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 आयोजना समिति का अध्यक्ष सदैव जिले का प्रभारी मंत्री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 कलेक्टर इस समिति का अध्यक्ष तथा मुख्य कार्यकारी अधिकारी (CEO) सदस्य सचिव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समिति के कुल 25 सदस्यों में से केवल 10 सदस्य निर्वाचित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2004 से जिला आयोजना समिति का अध्यक्ष जिला प्रमुख होता है तथा जिला कलेक्टर इसका पदेन सदस्य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72/200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2004 से जिला आयोजना समिति का अध्यक्ष जिला प्रमुख होता है तथा जिला कलेक्टर इसका पदेन सदस्य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जिला आयोजना समिति का अध्यक्ष सदैव जिले का प्रभारी मंत्री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जिला कलेक्टर इस समिति का अध्यक्ष तथा मुख्य कार्यकारी अधिकारी (CEO) सदस्य सचिव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समिति के कुल 25 सदस्यों में से केवल 10 सदस्य निर्वाचित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243ZD के तहत प्रत्येक जिले में पंचायतों और नगरपालिकाओं द्वारा तैयार की गई योजनाओं के समेकन हेतु जिला आयोजना समिति (DPC) का प्रावधान है। राजस्थान में जिला आयोजना समिति नियम 1991 के तहत कुल 25 सदस्य होते हैं, जिनमें से 80% (20 सदस्य) जिले के ग्रामीण और शहरी क्षेत्रों के निर्वाचित प्रतिनिधियों में से जनसंख्या के अनुपात में चुने जाते हैं। वर्ष 2004 से पूर्व जिला कलेक्टर इसका अध्यक्ष होता था, किंतु 2004 के संशोधन के बाद त्रिस्तरीय पंचायती राज के लोकतांत्रिक विकेंद्रीकरण को मजबूत करने हेतु 'जिला प्रमुख' को जिला आयोजना समिति का अध्यक्ष बनाया गया और जिला कलेक्टर को पदेन सदस्य सचिव/सदस्य का दर्जा दिया गया।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72/200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नगरपालिका अधिनियम, 2009 के प्रमुख प्रावधानों एवं नगरीय शासन संरचना के संदर्भ में निम्नलिखित कथनों पर विचार कीजिए: A. अधिनियम की धारा 6 के तहत राज्य सरकार द्वारा नगर निगम में 12, नगर परिषद में 8 और नगरपालिका बोर्ड में 6 विशेष ज्ञान वाले व्यक्ति मनोनीत किए जा सकते हैं। B. अधिनियम की धारा 74 अचल नगरपालिका संपत्ति की सूची, नक्शा और तालिका बनाए रखने से संबंधित है। C. राजस्थान में नगरीय निकायों का त्रिस्तरीय ढांचा विद्यमान है-नगरपालिका (20,000-1 लाख), नगर परिषद (1-5 लाख) और नगर निगम (5 लाख से अधिक जनसंख्या)। D. नगर निगम का राजनीतिक प्रमुख महापौर (Mayor) तथा प्रशासनिक प्रमुख मुख्य कार्यकारी अधिकारी (CEO)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888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73/200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नगरपालिका अधिनियम, 2009 (15 सितंबर 2009 से प्रभावी) राज्य के शहरी स्थानीय स्वशासन का आधारभूत कानून है। धारा 6 के तहत राज्य सरकार को नगर प्रशासन में विशेष अनुभव रखने वाले व्यक्तियों को मनोनीत (Nominated/Co-opted) करने की शक्ति है (नगर निगम में 12, नगर परिषद में 8 और पालिका बोर्ड में 6)। धारा 74 पालिका की समस्त अचल संपत्तियों के रिकॉर्ड और मानचित्रों के संधारण को अनिवार्य बनाती है। राज्य में 3 स्तरीय नगरीय निकाय हैं: नगरपालिका (अध्यक्ष + अधिशाषी अधिकारी/EO), नगर परिषद (सभापति + आयुक्त/Commissioner), और नगर निगम (महापौर + मुख्य कार्यकारी अधिकारी/CEO)। अतः चारों कथन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888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73/200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पंचायती राज अधिनियम, 1994 की किस धारा में वर्ष 2021 में संशोधन करके 'ग्राम सेवक' के पदनाम को 'ग्राम विकास अधिकारी' (VDO) से प्रतिस्थापित किया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धारा 88</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धारा 89</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धारा 91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धारा 90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490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74/200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धारा 89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 88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 91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 90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पंचायती राज अधिनियम, 1994 की धारा 89 'राजस्थान पंचायत समिति एवं जिला परिषद सेवा' के गठन और कैडर प्रावधानों से संबंधित है। राज्य सरकार ने राजस्थान पंचायती राज (संशोधन) अधिनियम, 2021 पारित कर धारा 89 में संशोधन किया और पारंपरिक 'ग्राम सेवक' पदनाम को बदलकर 'ग्राम विकास अधिकारी' (Village Development Officer - VDO) कर दिया, ताकि ग्रामीण विकास और पंचायती राज में इस पद की आधुनिक प्रशासनिक भूमिका और दायित्वों को सही रूप में प्रतिबिंबित किया जा सके।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490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74/200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ग्राम सभा की संवैधानिक स्थिति, कार्यप्रणाली एवं PESA नियमों के संबंध में निम्नलिखित कथनों पर विचार कीजिए: A. अनुच्छेद 243A के अनुसार ग्राम पंचायत क्षेत्र की मतदाता सूची में पंजीकृत सभी वयस्क नागरिकों से मिलकर ग्राम सभा बनती है। B. राजस्थान में सामान्यतः 1 वर्ष में ग्राम सभा की न्यूनतम 4 बैठकें (26 जनवरी, 1 मई, 15 अगस्त और 2 अक्टूबर) अनिवार्य हैं। C. राजस्थान पंचायती राज (अनुसूचित क्षेत्रों में लागू होने के संबंध में उपान्तरण) नियम, 2011 में एक से अधिक ग्राम सभाओं की संयुक्त बैठक का स्पष्ट प्रावधान है। D. ग्राम सभा में किसी भी बैठक के आयोजन हेतु न्यूनतम गणपूर्ति (कोरम) कुल सदस्यों का 1/10 निर्धारित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091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75/200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ग्राम सभा प्रत्यक्ष लोकतंत्र की प्राथमिक इकाई है। अनुच्छेद 243A के तहत पंचायत की निर्वाचक नामावली में दर्ज सभी नागरिक ग्राम सभा के सदस्य होते हैं। राजस्थान में वर्ष में 4 अनिवार्य बैठकें (26 जनवरी-गणतंत्र दिवस, 1 मई-मजदूर दिवस, 15 अगस्त-स्वतंत्रता दिवस, 2 अक्टूबर-गांधी जयंती) आयोजित की जाती हैं तथा विशेष परिस्थितियों में 8 मार्च (महिला दिवस) और 14 नवंबर को भी बैठक हो सकती है। अनुसूचित क्षेत्रों में PESA नियमों (2011) के तहत सामूहिक मामलों पर विचार हेतु ग्राम सभाओं की संयुक्त बैठक बुलाई जा सकती है। बैठक की गणपूर्ति कुल सदस्यों का 1/10 भाग होती है। अतः चारों कथन पूर्णतः सत्य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091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75/200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लोक सेवा आयोग (RPSC) के संवैधानिक अनुच्छेदों एवं संबंधित प्रावधानों का सही मिलान कीजिए: सूची-I (अनुच्छेद): सूची-I: A. अनुच्छेद 316 B. अनुच्छेद 317 C. अनुच्छेद 320(3) D. अनुच्छेद 323 सूची-II: 1. आयोग के अध्यक्ष एवं सदस्यों को पद से हटाने की प्रक्रिया (केवल राष्ट्रपति द्वारा) 2. राज्य सेवा के कर्मचारियों के अनुशासनात्मक मामलों में अनिवार्य परामर्श 3. आयोग के कार्यों का वार्षिक प्रतिवेदन राज्यपाल को प्रस्तुत करना 4. आयोग के अध्यक्ष एवं सदस्यों की राज्यपाल द्वारा नियुक्ति एवं पदावधि (6 वर्ष / 62 वर्ष)</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76/200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C-3,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भाग 14 में राज्य लोक सेवा आयोग के विस्तृत प्रावधान हैं। अनुच्छेद 316 के तहत RPSC के अध्यक्ष व सदस्यों की नियुक्ति राज्यपाल द्वारा की जाती है और उनकी पदावधि 6 वर्ष या 62 वर्ष की आयु तक होती है। अनुच्छेद 317 के तहत राज्यपाल उन्हें नियुक्त तो कर सकता है किंतु हटा नहीं सकता; हटाने की शक्ति केवल राष्ट्रपति के पास है (उच्चतम न्यायालय की जांच रिपोर्ट के बाद कदाचार के आधार पर)। अनुच्छेद 320(3) भर्ती, पदोन्नति, स्थानांतरण और अनुशासनात्मक मामलों में राज्य सरकार को RPSC से परामर्श लेना अनिवार्य बनाता है। अनुच्छेद 323 के तहत RPSC अपना वार्षिक प्रतिवेदन राज्यपाल को सौंपती है, जिसे राज्यपाल राज्य विधानसभा के पटल पर रखवाता है। अतः सही सुमेलन A-4, B-1, C-2, D-3 है और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76/200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राज्य मानवाधिकार आयोग (SHRC) के गठन, संरचना एवं शक्तियों के संबंध में निम्नलिखित कथनों पर विचार कीजिए: A. आयोग का गठन 18 जनवरी 1999 को राज्य सरकार की अधिसूचना द्वारा हुआ तथा यह मार्च 2000 में पूर्णतः क्रियाशील हुआ। B. मानव अधिकार संरक्षण (संशोधन) अधिनियम, 2006 के बाद आयोग में 1 अध्यक्ष एवं 2 सदस्य (कुल 3) का प्रावधान है। C. आयोग के अध्यक्ष पद पर उच्च न्यायालय का सेवानिवृत्त मुख्य न्यायाधीश अथवा सेवानिवृत्त न्यायाधीश नियुक्त किया जा सकता है। D. अध्यक्ष एवं सदस्यों की नियुक्ति राज्यपाल द्वारा मुख्यमंत्री की अध्यक्षता वाली 4 सदस्यीय उच्चस्तरीय चयन समिति की सिफारिश पर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293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77/200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मानवाधिकार संरक्षण अधिनियम, 1993 की धारा 21 के तहत राजस्थान मानवाधिकार आयोग 18 जनवरी 1999 को गठित हुआ और मार्च 2000 में प्रथम अध्यक्ष न्यायमूर्ति कांता भटनागर की नियुक्ति के साथ क्रियाशील हुआ। मूल अधिनियम में 1+4 सदस्य थे, जिसे 2006 के संशोधन द्वारा घटाकर 1 अध्यक्ष + 2 सदस्य किया गया। 2019 के संशोधन के बाद अब उच्च न्यायालय का कोई भी पूर्व न्यायाधीश भी अध्यक्ष बन सकता है। धारा 22 के अनुसार नियुक्ति चयन समिति की सिफारिश पर राज्यपाल करता है; इस समिति में मुख्यमंत्री (अध्यक्ष), गृह मंत्री, विधानसभा अध्यक्ष और विधानसभा में नेता प्रतिपक्ष सदस्य होते हैं। अतः चारों कथन सत्य हैं और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293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77/200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लोकायुक्त एवं उप-लोकायुक्त अधिनियम, 1973 के अनुसार निम्नलिखित में से कौन सा पदाधिकारी लोकायुक्त के जांच क्षेत्राधिकार के अंतर्गत शामिल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राज्य सरकार के मंत्री एवं राज्य मंत्री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ग्राम पंचायतों के सरपंच एवं पंच</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जिला परिषदों के जिला प्रमुख एवं उप-प्रमुख</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नगर निगमों के महापौर एवं उप-महापौर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895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78/200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ग्राम पंचायतों के सरपंच एवं पंच</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 सरकार के मंत्री एवं राज्य मंत्री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 परिषदों के जिला प्रमुख एवं उप-प्रमुख</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नगर निगमों के महापौर एवं उप-महापौर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लोकायुक्त संस्था की स्थापना 1973 के अधिनियम के तहत की गई, जो लोक सेवकों के विरुद्ध भ्रष्टाचार, पद के दुरुपयोग और अकर्मण्यता के आरोपों की जांच करने वाला एक वैधानिक स्वतंत्र निकाय है। इसके क्षेत्राधिकार में मंत्री, राज्य मंत्री, जिला प्रमुख, प्रधान, नगर निगमों के महापौर तथा स्वायत्तशासी निगमों के अध्यक्ष आते हैं। किंतु धारा 2 एवं धारा 7 के तहत निम्नलिखित पद लोकायुक्त के जांच दायरे से बाहर रखे गए हैं: 1. राज्यपाल, 2. मुख्यमंत्री, 3. उच्च न्यायालय व जिला न्यायालय के न्यायाधीश, 4. महालेखाकार (CAG प्रतिनिधि), 5. RPSC के अध्यक्ष व सदस्य, 6. मुख्य चुनाव आयुक्त व चुनाव अधिकारी, 7. विधानसभा सचिवालय के कर्मचारी, तथा 8. ग्राम पंचायतों के सरपंच एवं पंच।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895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78/200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राज्य निर्वाचन आयोग (SEC) के संवैधानिक प्रावधानों एवं कार्यों के संदर्भ में निम्नलिखित कथनों पर विचार कीजिए: A. संविधान के 73वें संशोधन (अनुच्छेद 243K) तथा 74वें संशोधन (अनुच्छेद 243ZA) के तहत जुलाई 1994 में राज्य निर्वाचन आयोग का गठन किया गया। B. राजस्थान राज्य निर्वाचन आयोग एक एकल सदस्यीय संवैधानिक आयोग है, जिसके प्रमुख राज्य निर्वाचन आयुक्त होते हैं। C. राज्य निर्वाचन आयोग भारत निर्वाचन आयोग का अधीनस्थ निकाय नहीं है, बल्कि पंचायती राज व नगर निकायों के चुनावों हेतु एक पूर्णतः स्वतंत्र संवैधानिक संस्था है। D. आयोग का एक सचिव होता है जो राज्य का मुख्य निर्वाचन अधिकारी (Chief Electoral Officer) भी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496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79/200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73वें एवं 74वें संविधान संशोधन द्वारा स्थानीय निकायों के नियमित चुनाव कराने हेतु राज्य निर्वाचन आयोग का स्वतंत्र संवैधानिक प्रावधान किया गया। राजस्थान में 17 जून 1994 को आदेश जारी कर जुलाई 1994 में अमर सिंह राठौड़ को प्रथम राज्य निर्वाचन आयुक्त नियुक्त किया गया। यह एक सदस्यीय आयोग है जिसकी सेवा शर्तें राज्यपाल निर्धारित करता है। यह संस्था भारत निर्वाचन आयोग के अधीन नहीं है; भारत निर्वाचन आयोग संसद व विधानसभा के चुनाव करवाता है, जबकि राज्य निर्वाचन आयोग केवल पंचायतों व नगरपालिकाओं के चुनाव करवाता है। राज्य निर्वाचन आयुक्त को पद से हटाने की प्रक्रिया उच्च न्यायालय के न्यायाधीश के समान विशेष बहुमत पर आधारित है। अतः चारों कथन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496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79/200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सूचना का अधिकार (RTI) अधिनियम, 2005 की धारा 15 के अंतर्गत गठित 'राजस्थान राज्य सूचना आयोग' के संदर्भ में कौन 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आयोग का गठन 13 अप्रैल 2006 को किया गया तथा यह 18 अप्रैल 2006 से क्रियाशील हुआ</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श्री एम.डी. कौरानी राजस्थान राज्य के प्रथम मुख्य सूचना आयुक्त नियुक्त किए गए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आयोग में एक मुख्य सूचना आयुक्त तथा अधिकतम 10 राज्य सूचना आयुक्त हो सकते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मुख्य सूचना आयुक्त की चयन समिति में उच्च न्यायालय का मुख्य न्यायाधीश सदस्य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80/200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राज्य मुख्य सूचना आयुक्त की चयन समिति में उच्च न्यायालय का मुख्य न्यायाधीश सदस्य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आयोग का गठन 13 अप्रैल 2006 को किया गया तथा यह 18 अप्रैल 2006 से क्रियाशील हुआ</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श्री एम.डी. कौरानी राजस्थान राज्य के प्रथम मुख्य सूचना आयुक्त नियुक्त किए गए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आयोग में एक मुख्य सूचना आयुक्त तथा अधिकतम 10 राज्य सूचना आयुक्त हो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सूचना का अधिकार अधिनियम, 2005 की धारा 15 के तहत राजस्थान राज्य सूचना आयोग 13 अप्रैल 2006 को स्थापित हुआ तथा 18 अप्रैल 2006 को एम.डी. कौरानी ने प्रथम मुख्य सूचना आयुक्त का पदभार संभाला। आयोग में 1 मुख्य सूचना आयुक्त और अधिकतम 10 सूचना आयुक्त हो सकते हैं। धारा 15(3) के अनुसार इनकी नियुक्ति राज्यपाल द्वारा 3 सदस्यीय समिति की सिफारिश पर होती है: 1. मुख्यमंत्री (अध्यक्ष), 2. विधानसभा में नेता प्रतिपक्ष, और 3. मुख्यमंत्री द्वारा मनोनीत एक कैबिनेट मंत्री। इस समिति में उच्च न्यायालय के मुख्य न्यायाधीश सदस्य नहीं होते (उच्च न्यायालय के CJ लोकायुक्त चयन समिति में होते हैं)। अतः विकल्प D गलत कथन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80/200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नागरिक अधिकार-पत्र (Citizen's Charter) आंदोलन के छह आधारभूत सिद्धांतों एवं उनके अर्थ का सही मिलान कीजिए: सूची-I (सिद्धांत): सूची-I: A. गुणवत्ता (Quality) B. विकल्प (Choice) C. मानक (Standards) D. पारदर्शिता (Transparency) सूची-II: 1. प्रदान की जाने वाली सरकारी सेवाओं की गुणवत्ता में निरंतर सुधार 2. जहां भी संभव हो नागरिकों को सेवाओं के चयन का विकल्प उपलब्ध कराना 3. सेवाओं के वितरण की समय-सीमा और स्पष्ट मापदंड निर्धारित करना 4. नियमों, कार्यप्रणालियों और शिकायत निवारण तंत्र की पूर्ण सार्वजनिक जानकारी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698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81/200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नागरिक अधिकार पत्र (सिटिजन चार्टर) की अवधारणा सर्वप्रथम 1991 में ब्रिटेन के प्रधानमंत्री जॉन मेजर द्वारा शुरू की गई थी। इसके छह प्रमुख सिद्धांत हैं: 1. गुणवत्ता (सेवाओं की उत्कृष्टता), 2. विकल्प (उपभोक्ता/नागरिक को चयन की स्वतंत्रता), 3. मानक (सेवा वितरण के तय समय और स्तर), 4. मूल्य (करदाताओं के धन का सदुपयोग), 5. उत्तरदायित्व (प्रशासनिक जवाबदेही), और 6. पारदर्शिता (प्रक्रियाओं की खुली जानकारी)। भारत में 1997 के मुख्यमंत्रियों के सम्मेलन के बाद इसे लागू किया गया। राजस्थान में 1998 में खाद्य एवं नागरिक आपूर्ति विभाग तथा 1999 में राजस्व मंडल ने इसे अपनाया। सिटिजन चार्टर कानूनी रूप से अदालतों में प्रवर्तनीय (न्याययोग्य) नहीं है। अतः सही सुमेलन A-1, B-2, C-3, D-4 है और सही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698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81/200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कैबिनेट मिशन योजना (16 मई 1946) के तहत भारत की संविधान सभा के गठन के संबंध में कौन 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संविधान सभा पूर्णतः वयस्क मताधिकार पर आधारित प्रत्यक्ष निर्वाचित संस्था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संविधान सभा केवल एक राजनीतिक दल-भारतीय राष्ट्रीय कांग्रेस की एकदलीय सभा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संविधान सभा आंशिक रूप से प्रांतीय विधानसभाओं द्वारा अप्रत्यक्ष रूप से निर्वाचित तथा आंशिक रूप से देशी रियासतों द्वारा मनोनीत निकाय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संविधान सभा के सभी 389 सदस्य केवल ब्रिटिश प्रांतों से निर्वाचित किए गए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299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82/200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संविधान सभा आंशिक रूप से प्रांतीय विधानसभाओं द्वारा अप्रत्यक्ष रूप से निर्वाचित तथा आंशिक रूप से देशी रियासतों द्वारा मनोनीत निकाय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संविधान सभा पूर्णतः वयस्क मताधिकार पर आधारित प्रत्यक्ष निर्वाचित संस्था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संविधान सभा केवल एक राजनीतिक दल-भारतीय राष्ट्रीय कांग्रेस की एकदलीय सभा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संविधान सभा के सभी 389 सदस्य केवल ब्रिटिश प्रांतों से निर्वाचित किए गए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कैबिनेट मिशन योजना के अनुसार संविधान सभा की कुल सदस्य संख्या 389 निर्धारित की गई थी, जिनमें 296 सीटें ब्रिटिश भारत से तथा 93 सीटें देशी रियासतों के लिए थीं। ब्रिटिश प्रांतों के 296 सदस्यों का चुनाव प्रांतीय विधानसभाओं के सदस्यों द्वारा एकल संक्रमणीय मत से अप्रत्यक्ष रूप से हुआ (सीमित मताधिकार के आधार पर, सार्वभौमिक वयस्क मताधिकार पर नहीं)। देशी रियासतों के 93 प्रतिनिधि वार्तालाप समिति के परामर्श से रियासतों के शासकों द्वारा मनोनीत किए गए। अतः भारतीय संविधान सभा पूर्णतः निर्वाचित या पूर्णतः मनोनीत न होकर आंशिक रूप से निर्वाचित और आंशिक रूप से नामांकित (मनोनीत) बहुदलीय संस्था थी।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299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82/200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संविधान सभा की महत्वपूर्ण तिथियों, अधिवेशनों एवं निर्णयों के संबंध में निम्नलिखित कथनों पर विचार कीजिए: A. संविधान सभा की प्रथम बैठक 9 दिसंबर 1946 को हुई, जिसमें डॉ. सच्चिदानंद सिन्हा अस्थायी सभापति बने। B. 11 दिसंबर 1946 को डॉ. राजेंद्र प्रसाद को संविधान सभा का स्थाई अध्यक्ष तथा एच.सी. मुखर्जी को उपाध्यक्ष चुना गया। C. संविधान सभा का 12वां एवं अंतिम सत्र 24 जनवरी 1950 को आयोजित हुआ, जिसमें डॉ. राजेंद्र प्रसाद को भारत का प्रथम राष्ट्रपति निर्विरोध चुना गया। D. 24 जनवरी 1950 को ही संविधान सभा द्वारा 'जन-गण-मन' को राष्ट्रगान तथा 'वंदे मातरम्' को राष्ट्रगीत के रूप में अंगीकार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901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83/200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सभा की कार्यप्रणाली 9 दिसंबर 1946 को संविधान कक्ष (सेंट्रल हॉल) में प्रारंभ हुई जहाँ सबसे वरिष्ठ सदस्य डॉ. सच्चिदानंद सिन्हा अस्थायी अध्यक्ष बने (फ्रेंक एंथनी अस्थायी उपाध्यक्ष थे)। 11 दिसंबर को डॉ. राजेंद्र प्रसाद निर्विरोध स्थाई अध्यक्ष बने (बी.एन. राव संवैधानिक सलाहकार नियुक्त हुए)। संविधान निर्माण में 2 वर्ष, 11 माह, 18 दिन लगे और कुल 11 औपचारिक सत्रों में 26 नवंबर 1949 को संविधान अंगीकृत किया गया। 24 जनवरी 1950 को विशेष 12वां सत्र हुआ, जिसमें राष्ट्रगान और राष्ट्रगीत को मान्यता दी गई, डॉ. राजेंद्र प्रसाद को राष्ट्रपति चुना गया और 284 सदस्यों ने संविधान की मूल प्रतियों पर हस्ताक्षर किए (सर्वप्रथम हस्ताक्षर जवाहरलाल नेहरू ने किए)। अतः चारों कथन सत्य हैं और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901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83/200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संविधान सभा की प्रमुख समितियों एवं उनके सभापतियों (अध्यक्षों) का सही मिलान कीजिए: सूची-I (संविधान सभा समिति): सूची-I: A. प्रारूप समिति (Drafting Committee) B. कार्य संचालन समिति (Order of Business Committee) C. संघ शक्ति समिति (Union Powers Committee) D. मौलिक अधिकारों एवं अल्पसंख्यकों हेतु परामर्शदाता समिति सूची-II: 1. डॉ. के.एम. मुंशी 2. पं. जवाहरलाल नेहरू 3. सरदार वल्लभभाई पटेल 4. डॉ. बी.आर. अम्बेडकर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84/200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सभा ने अपने विशाल कार्य को सुचारू रूप से चलाने हेतु 22 मुख्य समितियां गठित की थीं। प्रारूप समिति का गठन 29 अगस्त 1947 को हुआ, जिसके 7 सदस्यों के अध्यक्ष डॉ. बी.आर. अम्बेडकर थे। कार्य संचालन समिति के अध्यक्ष डॉ. के.एम. मुंशी थे (जो सर्वाधिक 6 समितियों में उपस्थित रहे)। संघ शक्ति समिति और संघीय संविधान समिति के अध्यक्ष पं. जवाहरलाल नेहरू थे जिन्होंने शक्तिशाली केंद्र की वकालत की। मौलिक अधिकारों, अल्पसंख्यकों और जनजातीय क्षेत्रों हेतु परामर्शदाता समिति के अध्यक्ष सरदार पटेल थे (जिसकी मौलिक अधिकार उप-समिति के अध्यक्ष जे.बी. कृपलानी और अल्पसंख्यक उप-समिति के अध्यक्ष एच.सी. मुखर्जी थे)। संचालन समिति व नियम समिति के अध्यक्ष डॉ. राजेंद्र प्रसाद थे। अतः सही सुमेलन A-4, B-1, C-2, D-3 है और सही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84/200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1951 में संसद द्वारा पारित 'प्रथम संविधान संशोधन अधिनियम' के संबंध में कौन 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संशोधन द्वारा संपत्ति के अधिकार को मूल अधिकारों की सूची से पूर्णतः समाप्त कर दिया गया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संशोधन द्वारा संविधान में 10वीं अनुसूची जोड़ी गई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संशोधन उस समय की अंतरिम संसद (एकसदनीय विधायिका) द्वारा पारित किया गया था, क्योंकि राज्यसभा का गठन 1952 में हुआ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द्वारा सर्वोच्च न्यायालय के न्यायाधीशों की सेवानिवृत्ति आयु 60 से बढ़ाकर 65 वर्ष की गई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103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85/200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संशोधन उस समय की अंतरिम संसद (एकसदनीय विधायिका) द्वारा पारित किया गया था, क्योंकि राज्यसभा का गठन 1952 में हुआ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संशोधन द्वारा संपत्ति के अधिकार को मूल अधिकारों की सूची से पूर्णतः समाप्त कर दिया गया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संशोधन द्वारा संविधान में 10वीं अनुसूची जोड़ी गई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द्वारा सर्वोच्च न्यायालय के न्यायाधीशों की सेवानिवृत्ति आयु 60 से बढ़ाकर 65 वर्ष की गई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प्रथम संविधान संशोधन अधिनियम, 1951 भारत के संवैधानिक इतिहास का पहला संशोधन था। उस समय आम चुनाव नहीं हुए थे और 1950 से कार्यरत 'अंतरिम संसद' (संविधान सभा ही विधायिका के रूप में कार्य कर रही थी) एकसदनीय थी, अतः यह संशोधन केवल अंतरिम संसद द्वारा पारित हुआ क्योंकि राज्यसभा का गठन मई 1952 में हुआ। इस संशोधन द्वारा जमींदारी उन्मूलन कानूनों को अदालतों की न्यायिक समीक्षा से बचाने हेतु संविधान में '9वीं अनुसूची' और अनुच्छेद 31A व 31B जोड़े गए। साथ ही अनुच्छेद 19(2) में वाक् एवं अभिव्यक्ति की स्वतंत्रता पर 'युक्तियुक्त निर्बंधन' लगाने हेतु लोक व्यवस्था, अपराध उद्दीपन और विदेशी राज्यों से मैत्रीपूर्ण संबंध जैसे नए आधार जोड़े गए। संपत्ति का अधिकार 44वें संशोधन 1978 द्वारा हटाया गया था।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103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85/200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में मूल संरचना (Basic Structure) के सिद्धांत के ऐतिहासिक न्यायिक विकास के संबंध में निम्नलिखित कथनों पर विचार कीजिए: A. 1967 के गोलकनाथ वाद में सर्वोच्च न्यायालय ने निर्णय दिया कि संसद संविधान संशोधन द्वारा मौलिक अधिकारों को छीन या कम नहीं कर सकती। B. केशवानंद भारती बनाम केरल राज्य (1973) में 13 न्यायाधीशों की पीठ ने 7:6 के बहुमत से 'संविधान की मूल संरचना' का सिद्धांत प्रतिपादित किया। C. इंदिरा गांधी बनाम राजनारायण (1975) में न्यायालय ने स्वतंत्र एवं निष्पक्ष चुनाव तथा लोकतंत्र को मूल ढांचे का अभिन्न अंग घोषित किया। D. मिनर्वा मिल्स बनाम भारत संघ (1980) में न्यायालय ने स्पष्ट किया कि संविधान की नींव मौलिक अधिकारों और नीति-निदेशक तत्वों के बीच संतुलन पर टिकी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704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86/200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 संरचना सिद्धांत भारतीय न्यायपालिका की सर्वोच्च देन है। शंकरी प्रसाद (1951) व सज्जन सिंह (1965) में संसद को संशोधन की पूर्ण शक्ति मानी गई थी, जिसे गोलकनाथ वाद (1967) में जस्टिस सुब्बाराव की पीठ ने पलटते हुए कहा कि संसद मूल अधिकारों में कटौती नहीं कर सकती। इसके विरुद्ध संसद 24वां संशोधन (1971) लाई। केशवानंद भारती वाद (1973) में CJI एस.एम. सीकरी की अध्यक्षता वाली 13 जजों की सबसे बड़ी पीठ ने ऐतिहासिक निर्णय दिया कि संसद अनुच्छेद 368 के तहत किसी भी भाग में संशोधन कर सकती है, किंतु संविधान के 'मूल ढांचे' को नष्ट नहीं कर सकती। 1975 में 39वें संशोधन के खिलाफ इंदिरा गांधी वाद में स्वतंत्र चुनाव को तथा 1980 में मिनर्वा मिल्स वाद में न्यायिक समीक्षा और भाग III व भाग IV के संतुलन को मूल ढांचा माना गया। अतः चारों कथन सत्य हैं और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704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86/200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द्वारा प्रदत्त निम्नलिखित मौलिक अधिकारों में से कौन सा समूह केवल भारत के 'नागरिकों' को प्राप्त है, विदेशियों को नहीं?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15, 16, 19, 29 और 30</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14, 19, 21 और 32</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14, 20, 21 और 25</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20, 21, 23 और 28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305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87/200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अनुच्छेद 15, 16, 19, 29 और 30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14, 19, 21 और 32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14, 20, 21 और 25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20, 21, 23 और 28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में वर्णित मौलिक अधिकारों में से कुछ अधिकार केवल भारतीय नागरिकों को प्राप्त हैं जबकि कुछ अधिकार भारत भूमि पर उपस्थित प्रत्येक व्यक्ति (विदेशी सहित) को उपलब्ध हैं। केवल नागरिकों को प्राप्त मौलिक अधिकारों का विशिष्ट समूह है: 1. अनुच्छेद 15 (धर्म, मूलवंश, जाति, लिंग या जन्मस्थान के आधार पर भेदभाव का निषेध), 2. अनुच्छेद 16 (लोक नियोजन के विषय में अवसर की समता), 3. अनुच्छेद 19 (विचार, अभिव्यक्ति, सम्मेलन, संघ, संचरण, निवास और व्यापार की 6 स्वतंत्रताएं), 4. अनुच्छेद 29 (अल्पसंख्यकों के हितों का संरक्षण), और 5. अनुच्छेद 30 (शिक्षण संस्थाओं की स्थापना और प्रशासन का अल्पसंख्यक वर्गों का अधिकार)। अन्य सभी अधिकार जैसे अनु. 14 (विधि के समक्ष समता), अनु. 20 (दोषसिद्धि से संरक्षण), अनु. 21 (प्राण व दैहिक स्वतंत्रता) विदेशियों को भी प्राप्त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305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87/200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मेनका गांधी बनाम भारत संघ वाद (1978) में उच्चतम न्यायालय द्वारा अनुच्छेद 21 के न्यायिक निर्वचन के संदर्भ में निम्नलिखित कथनों पर विचार कीजिए: A. न्यायालय ने अनुच्छेद 21 में प्रयुक्त 'विधि द्वारा स्थापित प्रक्रिया' की व्याख्या करते हुए उसमें अमेरिकी 'विधि की सम्यक प्रक्रिया' (Due Process of Law) के सिद्धांतों को अंतर्निहित माना। B. न्यायालय ने स्पष्ट किया कि अनुच्छेद 21, अनुच्छेद 19 और अनुच्छेद 14 परस्पर पृथक नहीं हैं, बल्कि वे मानवाधिकारों का एक 'स्वर्णिम त्रिभुज' (Golden Triangle) बनाते हैं। C. 'जीवन के अधिकार' का अर्थ केवल पशुवत जीवित रहना नहीं, बल्कि मानवीय गरिमा के साथ गरिमापूर्ण जीवन जीना है। D. विदेश भ्रमण का अधिकार अनुच्छेद 21 के तहत व्यक्तिगत दैहिक स्वतंत्रता का अभिन्न अंग घोषित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88/200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मेनका गांधी वाद (1978) भारत में न्यायिक सक्रियता और मूल अधिकारों के विस्तार का मील का पत्थर है। जब मेनका गांधी का पासपोर्ट जब्त किया गया, तब सर्वोच्च न्यायालय ने ए.के. गोपालन (1950) के संकीर्ण दृष्टिकोण को त्याग दिया। न्यायालय ने निर्णय दिया कि जीवन और दैहिक स्वतंत्रता से वंचित करने वाली विधि केवल औपचारिक रूप से पारित कानून नहीं होनी चाहिए, बल्कि वह 'न्यायपूर्ण, निष्पक्ष और उचित' (Just, Fair and Reasonable) होनी चाहिए। अनु. 14, 19 और 21 को परस्पर अंतर्संबंधित स्वर्णिम त्रिकोण माना गया। जीवन के अधिकार को विस्तृत करते हुए इसमें गरिमापूर्ण जीवन, आजीविका का अधिकार, स्वच्छ पर्यावरण, चिकित्सा सहायता और विदेश यात्रा का अधिकार शामिल किया गया। अतः चारों कथन सत्य हैं और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88/200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42वें संविधान संशोधन अधिनियम (1976) द्वारा संविधान के भाग IV (राज्य नीति के निदेशक तत्व) में निम्नलिखित में से कौन सा नया नीति निर्देशक तत्व नहीं जोड़ा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43A - उद्योगों के प्रबंधन में कर्मकारों की भागीदारी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39A - समान न्याय एवं गरीबों को निःशुल्क विधिक सहायता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40 - ग्राम पंचायतों का संगठन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48A - पर्यावरण का संरक्षण, संवर्धन तथा वन व वन्यजीवों की रक्षा</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508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89/200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अनुच्छेद 40 - ग्राम पंचायतों का संगठन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43A - उद्योगों के प्रबंधन में कर्मकारों की भागीदारी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39A - समान न्याय एवं गरीबों को निःशुल्क विधिक सहायता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48A - पर्यावरण का संरक्षण, संवर्धन तथा वन व वन्यजीवों की रक्षा</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42वें संविधान संशोधन अधिनियम, 1976 (लघु संविधान) द्वारा निदेशक तत्वों में 4 नए अनुच्छेद जोड़े गए थे: 1. अनुच्छेद 39(f) (बच्चों के स्वस्थ विकास के अवसर), 2. अनुच्छेद 39A (समान न्याय और गरीबों के लिए निःशुल्क विधिक सहायता जिसके तहत 1987 में NALSA एक्ट बना), 3. अनुच्छेद 43A (औद्योगिक प्रबंधन में श्रमिकों की भागीदारी), और 4. अनुच्छेद 48A (पर्यावरण और वन्यजीवों का संरक्षण)। इसके विपरीत अनुच्छेद 40 (ग्राम पंचायतों का संगठन) मूल संविधान में ही गांधीवादी सिद्धांत के रूप में शामिल था, इसे 42वें संशोधन द्वारा नहीं जोड़ा गया। (अनुच्छेद 43B सहकारी समितियों से संबंधित 97वें संशोधन 2011 द्वारा जोड़ा गया था)।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508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89/200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सरदार स्वर्ण सिंह समिति (1976) एवं भारतीय संविधान में मूल कर्तव्यों (Fundamental Duties) के समावेशन के संबंध में निम्नलिखित कथनों पर विचार कीजिए: A. कांग्रेस अध्यक्ष देवकांत बरुआ द्वारा 26 फरवरी 1976 को 12 सदस्यीय स्वर्ण सिंह समिति गठित की गई थी। B. स्वर्ण सिंह समिति ने संविधान में केवल 8 मूल कर्तव्यों को जोड़े जाने की सिफारिश की थी। C. 42वें संविधान संशोधन अधिनियम, 1976 द्वारा संविधान में नया भाग IV-A तथा अनुच्छेद 51A जोड़कर 10 मूल कर्तव्य शामिल किए गए। D. 86वें संविधान संशोधन अधिनियम, 2002 द्वारा 6 से 14 वर्ष तक के बच्चों को शिक्षा के अवसर प्रदान करने का 11वां मूल कर्तव्य जोड़ा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109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90/200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आपातकाल के दौरान नागरिकों में नागरिक उत्तरदायित्व की भावना जागृत करने हेतु सरदार स्वर्ण सिंह की अध्यक्षता में समिति बनी जिसमें ए.आर. अंतुले, एस.एस. रे और सी.एम. स्टीफन प्रमुख सदस्य थे। समिति ने 8 मूल कर्तव्यों की सिफारिश की थी तथा कर अदायगी को कर्तव्य बनाने व अनुपालन न करने पर दंड का सुझाव दिया था (जिसे सरकार ने नहीं माना)। 42वें संशोधन 1976 द्वारा सोवियत संघ (USSR) से प्रेरित होकर भाग IV-A (अनुच्छेद 51A) में 10 मूल कर्तव्य जोड़े गए। अटल बिहारी वाजपेयी सरकार के समय 86वें संशोधन 2002 द्वारा 11वां कर्तव्य (6-14 वर्ष के बच्चों को शिक्षा दिलाना माता-पिता/अभिभावक का कर्तव्य) जोड़ा गया। मूल कर्तव्य निदेशक तत्वों की भांति गैर-न्याययोजित (अदालतों द्वारा सीधे अप्रवर्तनीय) हैं। अतः चारों कथन सत्य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109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90/200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के निर्वाचन की रीति एवं निर्वाचक मंडल (Electoral College) के संदर्भ में निम्नलिखित कथनों पर विचार कीजिए: A. अनुच्छेद 54 के अनुसार राष्ट्रपति के निर्वाचक मंडल में संसद के दोनों सदनों के निर्वाचित सदस्य तथा राज्यों व दिल्ली-पुडुचेरी विधानसभाओं के निर्वाचित सदस्य शामिल होते हैं। B. संसद के दोनों सदनों तथा राज्य विधानसभाओं के मनोनीत (Nominated) सदस्य राष्ट्रपति के चुनाव में मतदान नहीं कर सकते। C. अनुच्छेद 55 के अनुसार राष्ट्रपति का चुनाव आनुपातिक प्रतिनिधित्व प्रणाली के अनुसार एकल संक्रमणीय मत (Single Transferable Vote) तथा गुप्त मतदान द्वारा होता है। D. 70वें संविधान संशोधन अधिनियम, 1992 द्वारा राष्ट्रीय राजधानी क्षेत्र दिल्ली और पुडुचेरी संघ राज्य क्षेत्रों की विधानसभाओं को निर्वाचक मंडल में शामिल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710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91/200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54 राष्ट्रपति के निर्वाचक मंडल को परिभाषित करता है, जिसमें संसद के दोनों सदनों के निर्वाचित सदस्य, 28 राज्यों की विधानसभाओं के निर्वाचित सदस्य तथा 70वें संविधान संशोधन (1992) के तहत दिल्ली व पुडुचेरी की विधानसभाओं के निर्वाचित सदस्य शामिल होते हैं। विधान परिषदों के सदस्य तथा किसी भी सदन के मनोनीत सदस्य इसमें भाग नहीं लेते। अनुच्छेद 55 निर्वाचन पद्धति तय करता है, जिसमें राज्यों के बीच एकरूपता (Uniformity) तथा राज्यों और संघ के बीच समतुल्यता (Parity) सुनिश्चित की जाती है। चुनाव एकल संक्रमणीय गुप्त मतदान द्वारा होता है और जीतने के लिए न्यूनतम कोटा (कुल वैध मतों का 50% + 1) प्राप्त करना अनिवार्य होता है। अतः चारों कथन पूर्णतः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710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91/200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25 जून 1975 को तत्कालीन राष्ट्रपति फखरुद्दीन अली अहमद ने किस संवैधानिक आधार पर देश में तीसरे राष्ट्रीय आपातकाल की ऐतिहासिक उद्घोषणा की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युद्ध (War)</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आंतरिक अशांति (Internal Disturbance)</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सशस्त्र विद्रोह (Armed Rebellion)</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बाह्य आक्रमण (External Aggression)</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92/200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आंतरिक अशांति (Internal Disturbance)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युद्ध (War)</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सशस्त्र विद्रोह (Armed Rebellion)</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बाह्य आक्रमण (External Aggression)</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अब तक तीन बार राष्ट्रीय आपातकाल (अनुच्छेद 352) लगाया गया है: 1962 (भारत-चीन युद्ध), 1971 (भारत-पाक युद्ध), और 25 जून 1975। 1975 का तीसरा आपातकाल प्रधानमंत्री इंदिरा गांधी की सलाह पर राष्ट्रपति फखरुद्दीन अली अहमद द्वारा मूल संविधान में उल्लिखित 'आंतरिक अशांति' (Internal Disturbance) के आधार पर घोषित किया गया था। इस प्रावधान के दुरुपयोग को रोकने हेतु जनता पार्टी सरकार द्वारा 44वें संविधान संशोधन अधिनियम, 1978 के माध्यम से 'आंतरिक अशांति' शब्द को हटाकर उसके स्थान पर 'सशस्त्र विद्रोह' (Armed Rebellion) शब्द जोड़ा गया तथा मंत्रिमंडल की लिखित सिफारिश को अनिवार्य बनाया गया।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92/200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87(1) के अंतर्गत भारत का राष्ट्रपति संसद में अपना विशेष अभिभाषण किस रूप में प्रदान करता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संसद के दोनों सदनों के संयुक्त सम्मेलन में (Joint Conference)</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संसद के दोनों सदनों की संयुक्त बैठक में (Joint Sitting)</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एक साथ समवेत संसद के दोनों सदनों में (Assembled Together)</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लोकसभा के विशेष सत्र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913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93/200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एक साथ समवेत संसद के दोनों सदनों में (Assembled Together)</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 के दोनों सदनों के संयुक्त सम्मेलन में (Joint Conference)</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 के दोनों सदनों की संयुक्त बैठक में (Joint Sitting)</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लोकसभा के विशेष सत्र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87(1) में प्रयुक्त शब्दावली के अनुसार राष्ट्रपति प्रत्येक आम चुनाव के बाद प्रथम सत्र के प्रारंभ में तथा प्रत्येक वर्ष के प्रथम सत्र (बजट सत्र) के प्रारंभ में "एक साथ समवेत संसद के दोनों सदनों" (Both Houses of Parliament Assembled Together) को संबोधित करता है और संसद को उसके आह्वान के कारण बताता है। इसे संयुक्त बैठक (Joint Sitting - अनुच्छेद 108) नहीं कहा जाता, क्योंकि अनुच्छेद 108 की संयुक्त बैठक दोनों सदनों में साधारण विधेयक पर गतिरोध दूर करने हेतु लोकसभा अध्यक्ष की अध्यक्षता में होती है, जबकि अनुच्छेद 87 का अभिभाषण राष्ट्रपति द्वारा संबोधित औपचारिक संवैधानिक प्रक्रिया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913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93/200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लोकसभा अध्यक्ष (Speaker) की शक्तियों, विशेषाधिकारों एवं पदच्युति के संबंध में निम्नलिखित कथनों पर विचार कीजिए: A. अनुच्छेद 118(4) के तहत दोनों सदनों की संयुक्त बैठक की अध्यक्षता सदैव लोकसभा अध्यक्ष करता है। B. अनुच्छेद 110(3) के अनुसार कोई विधेयक 'धन विधेयक' (Money Bill) है या नहीं, इसका अंतिम निर्णय लोकसभा अध्यक्ष का होता है। C. अध्यक्ष सामान्य स्थिति में मतदान नहीं करता, किंतु मत बराबर होने पर अनुच्छेद 100(1) के तहत निर्णायक मत (Casting Vote) देता है। D. जब अध्यक्ष को पद से हटाने का संकल्प विचाराधीन हो (अनुच्छेद 96), तब वह सदन की कार्यवाही में भाग ले सकता है और मतदान भी कर सकता है, किंतु निर्णायक मत नहीं दे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514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94/200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लोकसभा अध्यक्ष संसदीय व्यवस्था में सर्वोच्च पीठासीन प्राधिकारी है। अनुच्छेद 118(4) के तहत गतिरोध की दशा में संयुक्त बैठक की अध्यक्षता केवल स्पीकर करता है। किसी वित्त विधेयक को धन विधेयक प्रमाणित करने का उसका निर्णय अंतिम होता है। सदन में निष्पक्षता बनाए रखने हेतु वह प्रथमतः मत नहीं देता, किंतु टाई की स्थिति में निर्णायक मत देता है। अनुच्छेद 96 के अनुसार जब उसे हटाने का संकल्प विचाराधीन हो, तब वह पीठासीन नहीं हो सकता, किंतु वह सदन में उपस्थित रह सकता है, बोल सकता है और प्रथम चरण में साधारण मतदान कर सकता है; उस समय उसे बराबरी पर निर्णायक मत देने का अधिकार नहीं रहता। अतः चारों कथन पूर्णतः सत्य हैं और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514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94/200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स्वतंत्र भारत के संसदीय इतिहास में अब तक दोनों सदनों की कुल 3 संयुक्त बैठकें (Joint Sittings) आयोजित हुई हैं। निम्नलिखित में से कौन सा विधेयक संयुक्त बैठक द्वारा पारित नहीं हुआ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दहेज प्रतिषेध विधेयक, 1959 (मई 1961 में पारित)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बैंकिंग सेवा आयोग (निरसन) विधेयक, 1977 (मई 1978 में पारित)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आतंकवाद निवारण विधेयक - पोटा, 2002 (मार्च 2002 में पारित)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जन लोकपाल विधेयक, 2013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115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95/200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जन लोकपाल विधेयक, 2013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दहेज प्रतिषेध विधेयक, 1959 (मई 1961 में पारित)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बैंकिंग सेवा आयोग (निरसन) विधेयक, 1977 (मई 1978 में पारित)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आतंकवाद निवारण विधेयक - पोटा, 2002 (मार्च 2002 में पारित)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संसद के इतिहास में साधारण विधेयकों पर दोनों सदनों के मध्य गतिरोध दूर करने हेतु अनुच्छेद 108 के तहत अब तक केवल 3 बार संयुक्त बैठक बुलाई गई है: 1. मई 1961: दहेज प्रतिषेध विधेयक, 1959 (पं. नेहरू के समय), 2. मई 1978: बैंकिंग सेवा आयोग (निरसन) विधेयक, 1977 (मोरारजी देसाई के समय), और 3. मार्च 2002: आतंकवाद निवारण विधेयक - POTA (अटल बिहारी वाजपेयी के समय)। अटल बिहारी वाजपेयी एकमात्र ऐसे सांसद थे जो इन तीनों ऐतिहासिक संयुक्त बैठकों में उपस्थित रहे थे। जन लोकपाल विधेयक दोनों सदनों द्वारा नियमित प्रक्रिया से अलग-अलग पारित हुआ था, इसके लिए कोई संयुक्त बैठक नहीं हुई थी।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115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95/200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संसद में 'अविश्वास प्रस्ताव' (Motion of No-Confidence) की प्रक्रिया एवं संवैधानिक स्थिति के संदर्भ में निम्नलिखित कथनों पर विचार कीजिए: A. अविश्वास प्रस्ताव केवल लोकसभा में ही लाया जा सकता है, राज्यसभा में नहीं (अनुच्छेद 75(3) के तहत मंत्रिपरिषद लोकसभा के प्रति उत्तरदायी है)। B. लोकसभा प्रक्रिया एवं कार्य संचालन नियमावली के नियम 198 के तहत अविश्वास प्रस्ताव को चर्चा हेतु स्वीकार करने के लिए कम से कम 50 सदस्यों का समर्थन अनिवार्य है। C. अविश्वास प्रस्ताव संपूर्ण मंत्रिपरिषद के विरुद्ध लाया जाता है, किसी एक मंत्री के विरुद्ध नहीं। D. अविश्वास प्रस्ताव प्रस्तुत करने के लिए सदन के समक्ष कोई कारण बताना अनिवार्य नहीं होता।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96/200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संसदीय लोकतंत्र में कार्यपालिका की सामूहिक जिम्मेदारी लोकसभा के प्रति होती है। अनुच्छेद 75(3) के आधार पर लोकसभा नियम 198 के तहत कोई भी सदस्य अविश्वास प्रस्ताव का नोटिस दे सकता है। इसे सदन में स्वीकार किए जाने के लिए कम से कम 50 सांसदों का समर्थन आवश्यक होता है और अध्यक्ष द्वारा अनुमति मिलने के 10 दिनों के भीतर चर्चा कराना अनिवार्य होता है। यह प्रस्ताव किसी एक मंत्री के खिलाफ नहीं बल्कि समूची मंत्रिपरिषद के विरुद्ध होता है और इसे लाने के लिए कोई विशिष्ट कानूनी कारण दर्शाना आवश्यक नहीं होता। यदि प्रस्ताव पारित हो जाता है तो सरकार को इस्तीफा देना पड़ता है। भारत में पहला अविश्वास प्रस्ताव अगस्त 1963 में जे.बी. कृपलानी द्वारा नेहरू सरकार के विरुद्ध लाया गया था। अतः चारों कथन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96/200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संसद की तीन प्रमुख वित्तीय समितियों में से 'प्राक्कलन समिति' (Estimates Committee) के संदर्भ में कौन 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इसमें कुल 30 सदस्य होते हैं और सभी सदस्य केवल लोकसभा से चुने जाते हैं (राज्यसभा का कोई प्रतिनिधित्व नहीं होता)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स्थापना 1921 में मोंटेग्यू-चेम्सफोर्ड सुधारों के तहत की गई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अध्यक्ष अनिवार्य रूप से लोकसभा में मुख्य विपक्षी दल का नेता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केंद्रीय वित्त मंत्री इस समिति का पदेन सभापति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318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97/200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इसमें कुल 30 सदस्य होते हैं और सभी सदस्य केवल लोकसभा से चुने जाते हैं (राज्यसभा का कोई प्रतिनिधित्व नहीं होता)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स्थापना 1921 में मोंटेग्यू-चेम्सफोर्ड सुधारों के तहत की गई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अध्यक्ष अनिवार्य रूप से लोकसभा में मुख्य विपक्षी दल का नेता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केंद्रीय वित्त मंत्री इस समिति का पदेन सभापति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प्राक्कलन समिति (अनुमान समिति) संसद की सबसे बड़ी वित्तीय समिति है। स्वतंत्रता के बाद जॉन मथाई की सिफारिश पर 1950 में इसका पुनर्गठन किया गया। इसमें कुल 30 सदस्य होते हैं और सभी 30 सदस्य केवल लोकसभा से एकल संक्रमणीय मत द्वारा निर्वाचित होते हैं; इसमें राज्यसभा का कोई सदस्य शामिल नहीं होता। कोई भी मंत्री इसका सदस्य नहीं बन सकता। इसका मुख्य कार्य सरकारी खर्चों में मितव्ययिता (Economy) लाने और प्रशासनिक सुधारों के सुझाव देना है, इसलिए इसे 'स्थायी मितव्ययिता समिति' भी कहा जाता है। विकल्प B गलत है क्योंकि 1921 में लोक लेखा समिति (PAC) बनी थी। विकल्प C PAC से संबंधित है (1967 से विपक्षी दल का अध्यक्ष परंपरा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318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97/200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उच्चतम न्यायालय के संगठन, अधिकारिता एवं मुख्य न्यायाधीशों के संबंध में निम्नलिखित कथनों पर विचार कीजिए: A. मूल संविधान में 1 मुख्य न्यायाधीश तथा 7 अन्य न्यायाधीश (कुल 8) थे, जबकि वर्तमान में 1 CJI + 33 अन्य न्यायाधीश (कुल 34) स्वीकृत हैं। B. एच.जे. कानिया स्वतंत्र भारत के प्रथम मुख्य न्यायाधीश थे तथा न्यायमूर्ति वाई.वी. चंद्रचूड़ ने सबसे लंबे समय तक (7 वर्ष 4 माह) CJI पद पर कार्य किया। C. न्यायमूर्ति मोहम्मद हिदायतुल्ला भारत के पहले मुस्लिम मुख्य न्यायाधीश थे जिन्होंने भारत के कार्यवाहक राष्ट्रपति और उपराष्ट्रपति का पद भी संभाला। D. संविधान के अनुच्छेद 124(2क) के अनुसार उच्चतम न्यायालय के न्यायाधीश की आयु का निर्धारण संसद द्वारा विधि द्वारा स्थापित प्राधिकारी द्वारा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919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98/200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न्यायपालिका के शीर्ष पर उच्चतम न्यायालय (अनुच्छेद 124-147) स्थित है। 1950 में इसकी स्थापना के समय कुल 8 न्यायाधीश थे। संसद ने कानून बनाकर समय-समय पर संख्या बढ़ाई (1956 में 11, 1960 में 14, 1977 में 18, 1986 में 26, 2008 में 31 और 2019 में 34)। हरिलाल जे. कानिया प्रथम मुख्य न्यायाधीश थे। 16वें CJI यशवंत विष्णु चंद्रचूड़ सबसे लंबी अवधि (1978-1985) तक रहे। एम. हिदायतुल्ला 1969 में जाकिर हुसैन के निधन पर कार्यवाहक राष्ट्रपति बने थे। 15वें संशोधन 1963 द्वारा अनुच्छेद 124(2क) अंतःस्थापित कर आयु संबंधी विवादों के निपटारे की शक्ति संसद को सौंपी गई। अतः चारों कथन सत्य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919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98/200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कार्यस्थल पर कामकाजी महिलाओं के यौन उत्पीड़न की रोकथाम एवं लैंगिक समानता सुनिश्चित करने हेतु उच्चतम न्यायालय ने 1997 में किस ऐतिहासिक वाद में व्यापक दिशा-निर्देश जारी किए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मेनका गांधी बनाम भारत संघ</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इंदिरा साहनी बनाम भारत संघ</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विशाखा एवं अन्य बनाम राजस्थान राज्य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एस.आर. बोम्मई बनाम भारत संघ</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520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99/200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विशाखा एवं अन्य बनाम राजस्थान राज्य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मेनका गांधी बनाम भारत संघ</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इंदिरा साहनी बनाम भारत संघ</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एस.आर. बोम्मई बनाम भारत संघ</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1992 में राजस्थान के भतेरी गांव में बाल विवाह रुकवाने वाली साथिन भंवरी देवी के साथ हुए सामूहिक दुष्कर्म के मामले के बाद महिला संगठनों ने सर्वोच्च न्यायालय में जनहित याचिका दायर की थी। अगस्त 1997 में CJI जे.एस. वर्मा की पीठ ने ऐतिहासिक फैसला सुनाते हुए कार्यस्थल पर महिलाओं के यौन उत्पीड़न को संविधान के अनुच्छेद 14, 19(1)(g) और 21 का उल्लंघन माना और संसद द्वारा कानून बनाए जाने तक बाध्यकारी 'विशाखा दिशा-निर्देश' (Vishaka Guidelines) जारी किए। इन्हीं दिशा-निर्देशों के आधार पर भारत सरकार ने 'कार्यस्थल पर महिलाओं का यौन उत्पीड़न (रोकथाम, निषेध और निवारण) अधिनियम, 2013' (POSH Act) पारित किया।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520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99/200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'जनहित याचिका' (Public Interest Litigation - PIL) की अवधारणा एवं विकास के संबंध में निम्नलिखित कथनों पर विचार कीजिए: A. जनहित याचिका की अवधारणा का मूल उद्भव 1960 के दशक में संयुक्त राज्य अमेरिका में हुआ था। B. भारत में 1980 के दशक के मध्य में न्यायमूर्ति पी.एन. भगवती और न्यायमूर्ति वी.आर. कृष्ण अय्यर को जनहित याचिका का जनक माना जाता है। C. पीआईएल के माध्यम से पारंपरिक 'वाद का अधिकार' (Locus Standi) के संकीर्ण नियम को शिथिल कर समाज के वंचित वर्गों हेतु न्याय सुलभ बनाया गया। D. एस.पी. गुप्ता बनाम भारत संघ (1982, प्रथम जजेज केस) में न्यायालय ने जनहित याचिका की संवैधानिक वैधता को औपचारिक रूप से स्वीकार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100/200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जनहित याचिका (PIL) भारतीय न्यायिक सक्रियता की सबसे क्रांतिकारी उपलब्धि है। इसका मूल उद्गम अमेरिकी न्यायिक प्रणाली में सामाजिक कार्रवाई मुकदमेबाजी (Social Action Litigation) के रूप में हुआ था। भारत में आपातकाल के बाद 1980 के दशक में जस्टिस पी.एन. भगवती और जस्टिस वी.आर. कृष्ण अय्यर ने इसे स्थापित किया ताकि गरीब, शोषित और असहाय लोग जो स्वयं अदालत नहीं पहुंच सकते, उनके मौलिक अधिकारों की रक्षा हेतु कोई भी लोक-भावना से प्रेरित नागरिक या संस्था अनुच्छेद 32 या 226 के तहत न्यायालय जा सके। 1982 के एस.पी. गुप्ता वाद में सर्वोच्च न्यायालय ने लोकस स्टैंडाई (केवल पीड़ित ही याचिका लगा सकता है) के नियम को उदार बनाकर पोस्टकार्ड या पत्र को भी याचिका स्वीकार करने का मार्ग प्रशस्त किया। अतः चारों कथन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31 दिसंबर 2023 को भारत सरकार द्वारा संविधान के अनुच्छेद 280 के तहत अधिसूचित '16वें वित्त आयोग' के अध्यक्ष किन्हें नियुक्त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 सी. रंगराजन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एन.के. सिंह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 वाई.वी. रेड्डी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 अरविंद पनगढ़िया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723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डॉ. अरविंद पनगढ़िया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सी. रंगराजन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एन.के. 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वाई.वी. रेड्डी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राष्ट्रपति ने 31 दिसंबर 2023 को संविधान के अनुच्छेद 280(1) के अंतर्गत 16वें वित्त आयोग के गठन की अधिसूचना जारी की। नीति आयोग के पूर्व प्रथम उपाध्यक्ष और कोलंबिया विश्वविद्यालय के प्रोफेसर डॉ. अरविंद पनगढ़िया को इसका अध्यक्ष नियुक्त किया गया है तथा ऋत्विक रंजन पांडे को आयोग का सचिव बनाया गया है। आयोग का मुख्य कार्य संघ और राज्यों के मध्य करों के शुद्ध आगमों का वितरण, संचित निधि से राज्यों को सहायता अनुदान के सिद्धांत, पंचायतों व नगरपालिकाओं के संसाधन बढ़ाने के उपाय तथा आपदा प्रबंधन अधिनियम 2005 के तहत वित्तपोषण की समीक्षा करना है। इसकी सिफारिशें 1 अप्रैल 2026 से 5 वर्षों के लिए लागू होंगी। विकल्प B में एन.के. सिंह 15वें वित्त आयोग के अध्यक्ष थे।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723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101/200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263 के तहत गठित 'अंतर-राज्य परिषद' (Inter-State Council) के संबंध में निम्नलिखित कथनों पर विचार कीजिए: A. सरकारिया आयोग (1983-1988) की सिफारिश पर वी.पी. सिंह सरकार द्वारा 1990 में राष्ट्रपति के आदेश से अंतर-राज्य परिषद का गठन किया गया था। B. अंतर-राज्य परिषद की अध्यक्षता भारत के प्रधानमंत्री करते हैं तथा सभी राज्यों के मुख्यमंत्री इसके सदस्य होते हैं। C. संघ शासित प्रदेशों के मुख्यमंत्री/प्रशासक तथा प्रधानमंत्री द्वारा नामित 6 केंद्रीय कैबिनेट मंत्री (गृह मंत्री सहित) इसके सदस्य होते हैं। D. यह एक स्थाई संवैधानिक निकाय है जिसकी प्रकृति सलाहकारी (Advisory) होती है और यह सहकारी संघवाद को सुदृढ़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324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102/200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263 राष्ट्रपति को राज्यों तथा केंद्र-राज्यों के बीच समन्वय स्थापित करने हेतु अंतर-राज्य परिषद गठित करने की शक्ति देता है। 1969 में राजमन्नार समिति ने इसे 'अंतर-सरकार परिषद' नाम से गठित करने की मांग की थी, किंतु 1988 में सरकारिया आयोग की पुरजोर सिफारिश के बाद 28 मई 1990 को राष्ट्रपति द्वारा इसका औपचारिक गठन किया गया। प्रधानमंत्री इसके पदेन अध्यक्ष होते हैं। सभी 28 राज्यों के मुख्यमंत्री, विधानसभा वाले केंद्रशासित प्रदेशों (दिल्ली, पुडुचेरी, जम्मू-कश्मीर) के मुख्यमंत्री, शेष UTs के प्रशासक तथा 6 केंद्रीय कैबिनेट मंत्री इसके सदस्य होते हैं। यह एक संवैधानिक सलाहकारी मंच है जो विवादों की जांच, राष्ट्रीय नीति समन्वय और सहकारी संघवाद को बढ़ावा देता है। अतः चारों कथन सत्य हैं और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324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102/200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1964 में गठित केंद्रीय सतर्कता आयोग (CVC) को किस समिति की सिफारिशों के आधार पर स्थापित किया गया था, जिसे वर्ष 2003 में संसद द्वारा वैधानिक दर्जा दिया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संथानम समिति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प्रशासनिक सुधार आयोग</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गोरवाला समिति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स्वर्ण सिंह समिति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925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103/200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संथानम समिति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प्रशासनिक सुधार आयोग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गोरवाला समिति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स्वर्ण सिंह समिति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सतर्कता आयोग (Central Vigilance Commission) की स्थापना फरवरी 1964 में के. संथानम की अध्यक्षता वाली 'भ्रष्टाचार निवारण समिति' (1962-64) की सिफारिशों पर केंद्र सरकार के एक कार्यपालिका प्रस्ताव द्वारा की गई थी। प्रारंभ में यह न तो संवैधानिक निकाय था और न ही सांविधिक। विनीत नारायण बनाम भारत संघ (1997) वाद में सर्वोच्च न्यायालय के ऐतिहासिक निर्णय के बाद संसद ने 'केंद्रीय सतर्कता आयोग अधिनियम, 2003' पारित किया और 11 सितंबर 2003 से इसे एक स्वायत्त सांविधिक (Statutory) संस्था का दर्जा प्रदान किया गया। CVC किसी मंत्रालय के अधीन नहीं है और यह सीधे संसद के प्रति जवाबदेह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925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103/200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नियंत्रक एवं महालेखा परीक्षक (CAG) के संवैधानिक पद, शक्तियों एवं कर्तव्यों के संदर्भ में निम्नलिखित कथनों पर विचार कीजिए: A. अनुच्छेद 148 के अनुसार CAG की नियुक्ति राष्ट्रपति द्वारा की जाती है और उसे केवल उसी रीति व आधारों पर हटाया जा सकता है जैसे उच्चतम न्यायालय के न्यायाधीश को। B. अनुच्छेद 149 संसद को CAG के कर्तव्यों और शक्तियों को निर्धारित करने की शक्ति देता है, जिसके तहत संसद ने 1971 में कैग अधिनियम पारित किया। C. 1976 में केंद्र सरकार के स्तर पर लेखांकन (Accounting) को लेखापरीक्षा (Auditing) से अलग कर दिया गया, किंतु राज्यों में CAG दोनों कार्य करता है। D. CAG संसद की लोक लेखा समिति (PAC) के 'मित्र, दार्शनिक और पथप्रदर्शक' (Guide, Philosopher and Friend) के रूप में कार्य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104/200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 अम्बेडकर ने CAG को भारतीय संविधान का सबसे महत्वपूर्ण अधिकारी कहा था जो सार्वजनिक धन का संरक्षक है। अनुच्छेद 148 के तहत इसकी नियुक्ति राष्ट्रपति करता है किंतु यह राष्ट्रपति के प्रसादपर्यंत नहीं होता; इसे केवल संसद के दोनों सदनों के विशेष बहुमत से पारित समावेदन पर साबित कदाचार या असमर्थता के आधार पर ही हटाया जा सकता है। अनुच्छेद 149 संसद को अधिकार देता है जिसके तहत CAG एक्ट 1971 बना। 1976 में केंद्र स्तर पर लेखांकन कार्य CGA (महालेखा नियंत्रक) को सौंपा गया जबकि CAG के पास केवल ऑडिटिंग रही, परंतु राज्यों में दोनों कार्य CAG के अधीन हैं। CAG अपनी 3 वार्षिक रिपोर्टें (विनियोग, वित्त, सार्वजनिक उपक्रम) राष्ट्रपति को देता है (अनु. 151), जिसे PAC द्वारा परखा जाता है। अतः चारों कथन सत्य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104/200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निर्वाचन आयोग (ECI) के ऐतिहासिक विकास एवं संरचनात्मक चरणों का सही मिलान कीजिए: सूची-I (समयावधि): सूची-I: A. 25 जनवरी 1950 से 15 अक्टूबर 1989 B. 16 अक्टूबर 1989 से 1 जनवरी 1990 C. 2 जनवरी 1990 से 30 सितंबर 1993 D. 1 अक्टूबर 1993 से वर्तमान तक सूची-II: 1. मूलतः एकल-सदस्यीय निकाय (केवल 1 मुख्य चुनाव आयुक्त) 2. प्रथम बार 61वें संशोधन (मतदान आयु 21 से घटाकर 18 वर्ष) के बाद त्रिसदस्यीय निकाय 3. पुनः दो आयुक्तों के पद समाप्त कर एकल-सदस्यीय निकाय बनाया गया 4. स्थाई रूप से बहु-सदस्यीय (1 मुख्य चुनाव आयुक्त + 2 चुनाव आयुक्त) निकाय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127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105/200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324 के तहत 25 जनवरी 1950 को ECI की स्थापना हुई (इस दिन राष्ट्रीय मतदाता दिवस मनाया जाता है)। 1950 से 1989 तक आयोग एक सदस्यीय रहा (सुकुमार सेन प्रथम CEC थे)। 61वें संशोधन 1988 द्वारा मतदान की आयु 21 से घटाकर 18 वर्ष करने पर कार्यभार बढ़ा, अतः 16 अक्टूबर 1989 को राष्ट्रपति ने 2 नए चुनाव आयुक्त नियुक्त कर इसे पहली बार त्रिसदस्यीय बनाया। जनवरी 1990 में वी.पी. सिंह सरकार ने दो पद समाप्त कर इसे फिर से एकल सदस्यीय कर दिया। अंततः 1 अक्टूबर 1993 को अध्यादेश व बाद में अधिनियम द्वारा इसे स्थाई रूप से 3 सदस्यीय (1 CEC + 2 ECs) बना दिया गया, जहां सभी आयुक्तों के अधिकार, वेतन और शक्तियां समान हैं और मतभेद होने पर निर्णय बहुमत से लिया जाता है। अतः सही सुमेलन A-1, B-2, C-3, D-4 है और सही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127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105/200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प्राचीन भारत में छठी शताब्दी ईसा पूर्व में उदित 'आजीवक संप्रदाय' के संस्थापक मक्खलिपुत्र गोशाल का प्रमुख दार्शनिक सिद्धांत निम्नलिखित में से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शून्यवाद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नियतिवाद (भाग्यवादिता)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क्षणिकवाद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अनेकांतवाद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729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106/200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नियतिवाद (भाग्यवादिता)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शून्यवाद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क्षणिकवाद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अनेकांतवाद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छठी शताब्दी ईसा पूर्व में वैदिक कर्मकांडों के विरुद्ध उभरी श्रमण परंपरा में आजीवक संप्रदाय अत्यंत महत्वपूर्ण था, जिसके प्रमुख प्रवर्तक मक्खलिपुत्र गोशाल थे (श्रावस्ती इनका मुख्य केंद्र था)। आजीवक दर्शन का मूल आधार 'नियतिवाद' (Fatalism/Determinism) है। इस मत के अनुसार संसार का प्रत्येक जीव और घटना नियति (भाग्य) के पूर्ण नियंत्रण में है; मानव के अपने कर्मों, पुरुषार्थ, पुण्य या पाप का उसके जीवन अथवा पुनर्जन्म के चक्र पर कोई प्रभाव नहीं पड़ता, सब कुछ पूर्व-निर्धारित है। आजीवक नग्न रहते थे और कठोर तपस्या करते थे। मौर्य सम्राट अशोक और उनके पौत्र दशरथ ने गया (बिहार) की बराबर और नागार्जुनी पहाड़ियों में आजीवकों के निवास हेतु गुफाएं दान में दी थीं।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729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106/200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हड़प्पा सभ्यता (सिंधु घाटी सभ्यता) के प्रमुख पुरातात्विक स्थलों एवं उनके उत्खननकर्ताओं के संदर्भ में निम्नलिखित कथनों पर विचार कीजिए: A. गुजरात के कच्छ जिले में स्थित 'सुरकोटड़ा' स्थल की खोज 1964 में जे.पी. जोशी (जगतपति जोशी) द्वारा की गई थी जहाँ से घोड़े के अस्थि-पंजर के साक्ष्य मिले हैं। B. गुजरात में भोगवा नदी के तट पर स्थित गोदीवाड़ा (डॉकयार्ड) स्थल 'लोथल' का उत्खनन एस.आर. राव द्वारा किया गया था। C. राजस्थान के हनुमानगढ़ में घग्गर नदी के तट पर स्थित 'कालीबंगा' की खोज अमलानंद घोष (1952) ने की तथा उत्खनन बी.बी. लाल व बी.के. थापर ने किया। D. कच्छ के रण में स्थित त्रिस्तरीय नगर योजना और उन्नत जल संचयन प्रणाली वाला स्थल 'धौलावीरा' आर.एस. बिष्ट द्वारा उत्खनित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330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107/200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सिंधु घाटी सभ्यता का विस्तार और उत्खनन भारतीय इतिहास की प्राचीनतम धरोहर है। सुरकोटड़ा (कच्छ) की खोज जे.पी. जोशी ने की, जहाँ से प्रस्तर की रक्षा प्राचीर, शवाधान के कलश और घोड़े के अस्थि अवशेष मिले। लोथल (अहमदाबाद) का उत्खनन 1955-60 में एस.आर. राव ने किया, जहाँ से विश्व का प्राचीनतम मानव-निर्मित बंदरगाह (गोदीवाड़ा), चावल की भूसी और मनके बनाने का कारखाना मिला। कालीबंगा का उत्खनन बी.बी. लाल और बी.के. थापर ने किया जहाँ से जुते हुए खेत, अग्निकुंड और भूकंप के प्राचीनतम साक्ष्य मिले। धौलावीरा (खादिर द्वीप, कच्छ) का उत्खनन 1990 में आर.एस. बिष्ट ने किया, जो 3 भागों (दुर्ग, मध्यम नगर, निचला नगर) में विभाजित था और जिसे यूनेस्को विश्व धरोहर घोषित किया गया है। अतः चारों कथन सत्य हैं और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330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107/200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जैन धर्म के 24 तीर्थंकरों में से प्रमुख तीर्थंकरों एवं उनके संज्ञान (प्रतीक चिह्नों) का सही मिलान कीजिए: सूची-I (तीर्थंकर): सूची-I: A. आदिनाथ (ऋषभदेव) B. महावीर स्वामी C. पार्श्वनाथ D. शांतिनाथ सूची-II: 1. सिंह 2. सर्प फण 3. हिरण 4. वृषभ (बैल)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108/200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 परंपरा में 24 तीर्थंकर हुए हैं और प्रत्येक तीर्थंकर का एक विशिष्ट संज्ञान या पहचान प्रतीक निर्धारित है। प्रथम तीर्थंकर भगवान ऋषभदेव (आदिनाथ) का प्रतीक 'वृषभ' (बैल) है। 24वें और अंतिम तीर्थंकर भगवान महावीर स्वामी का प्रतीक 'सिंह' है। 23वें तीर्थंकर भगवान पार्श्वनाथ का प्रतीक 'सर्प' (सर्प फण) है। 16वें तीर्थंकर भगवान शांतिनाथ का प्रतीक 'हिरण' है। इसके अतिरिक्त द्वितीय तीर्थंकर अजितनाथ का गज (हाथी), 22वें तीर्थंकर नेमिनाथ (अरिष्टनेमि) का शंख तथा मल्लिनाथ का कलश प्रतीक चिन्ह है। अतः सही सुमेलन A-4, B-1, C-2, D-3 है और सही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108/200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जैन दर्शन के ज्ञानमीमांसीय और तत्वमीमांसीय सिद्धांतों में निम्नलिखित में से कौन से दो सिद्धांत जैन धर्म से विशिष्ट रूप से संबंधित हैं? (i) अनेकांतवाद (ii) सर्वास्तिवाद (iii) शून्यवाद (iv) स्याद्वाद</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(ii) और (iii)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(ii) और (iv)</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(i) और (iii)</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(i) और (iv)</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532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109/200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(i) और (iv)</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(ii) और (iii)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(ii) और (iv)</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 और (iii)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 दर्शन के दो सबसे महत्वपूर्ण स्तंभ हैं: 1. अनेकांतवाद (तत्वमीमांसीय सिद्धांत): यह बहुलतावाद का सिद्धांत है जिसके अनुसार प्रत्येक वस्तु में अनंत गुण (धर्म) होते हैं, जिन्हें साधारण मनुष्य एक साथ नहीं जान सकता। 2. स्याद्वाद या सप्तभंगीनय (ज्ञानमीमांसीय सिद्धांत): यह सापेक्षता का सिद्धांत है, जो बताता है कि हमारा सांसारिक ज्ञान सापेक्ष और आंशिक होता है और किसी वस्तु के बारे में 7 विभिन्न दृष्टिकोणों से निर्णय दिए जा सकते हैं (शायद है, शायद नहीं है...)। इसके विपरीत विकल्प (ii) सर्वास्तिवाद (वैभाषिक मत) तथा विकल्प (iii) शून्यवाद (माध्यमिक संप्रदाय, नागार्जुन द्वारा प्रवर्तित) बौद्ध दर्शन के प्रमुख संप्रदाय हैं। अतः केवल (i) और (iv) जैन धर्म से संबंधित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532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109/200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प्राचीन भारत की 'श्रेणी व्यवस्था' (Guild System) की कार्यप्रणाली एवं विशेषताओं के संबंध में कौन सा कथन असत्य है? A. श्रेणी व्यापारियों और कारीगरों का एक संगठित व्यावसायिक संगठन थी, जिसका प्रमुख 'श्रेष्ठि' या 'ज्येष्ठक' कहलाता था। B. श्रेणी व्यवस्था केवल उत्तर भारत में गंगा घाटी तक सीमित थी, दक्षिण भारत में इसका कोई अस्तित्व नहीं था। C. श्रेणियां उत्पादित वस्तुओं की गुणवत्ता, मानक और मूल्य निर्धारित करती थीं तथा अपने सदस्यों के आचरण पर नियंत्रण रखती थीं। D. श्रेणियां बैंकों के रूप में भी कार्य करती थीं, जहां लोग धन जमा करते थे और वे धार्मिक संस्थाओं को दान देती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133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110/200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प्राचीन भारत में व्यापार और शिल्पों के संगठित स्वरूप को 'श्रेणी' कहा जाता था। जातक कथाओं, अर्थशास्त्र और धर्मशास्त्रों में 18 प्रकार की श्रेणियों का उल्लेख मिलता है। श्रेणियां स्वतंत्र निगमों की भांति कार्य करती थीं जिनके अपने नियम, न्यायालय और कार्यप्रणाली होती थी। वे कीमतें, वेतन और वस्तु की गुणवत्ता तय करती थीं तथा आधुनिक बैंकों की तरह ब्याज पर धन जमा रखती थीं। कथन B असत्य है क्योंकि श्रेणी व्यवस्था केवल उत्तर भारत तक सीमित नहीं थी, बल्कि दक्षिण भारत में भी संगम साहित्य और बाद के पल्लव-चोल काल में श्रेणियों (जैसे मणिग्रामम, अय्यावोल, नानदेशिन) का अत्यंत सुदृढ़ नेटवर्क संपूर्ण दक्षिण भारत और दक्षिण-पूर्व एशिया में फैला हुआ था।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133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110/200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कुषाण वंश के किस प्रतापी शासक ने भारत में पहली बार भारी मात्रा में स्वर्ण मुद्राएं जारी कीं तथा सिक्कों पर 'सर्वलोकेश्वर' और 'माहेश्वर' की उपाधि धारण की?</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कुजुल कैडफिसेस (कैडफिसेस प्रथम)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कनिष्क प्रथम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हुविष्क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विम कैडफिसेस (कैडफिसेस द्वितीय)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735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111/200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विम कैडफिसेस (कैडफिसेस द्वितीय)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कुजुल कैडफिसेस (कैडफिसेस प्रथम)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कनिष्क प्रथम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हुविष्क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कुषाण वंश का संस्थापक कुजुल कैडफिसेस था जिसने केवल तांबे के सिक्के जारी किए थे। उसका पुत्र विम कैडफिसेस (कैडफिसेस द्वितीय) कुषाण वंश का पहला शासक था जिसने भारत में नियमित रूप से उच्च शुद्धता वाले स्वर्ण सिक्के जारी किए। वह शैव धर्म का अनुयायी था और उसके सिक्कों पर एक ओर भगवान शिव, नंदी और त्रिशूल की आकृतियां तथा दूसरी ओर खरोष्ठी लिपि में 'महाराजस राजाधिराजस सर्वलोकेश्वरस महेश्वरस विम कधफिसस त्रातारस' उत्कीर्ण मिलता है। कनिष्क प्रथम ने बाद में शक संवत (78 ई.) प्रारंभ किया था।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735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111/200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गुप्त सम्राट चंद्रगुप्त द्वितीय 'विक्रमादित्य' की वैवाहिक कूटनीति एवं सामरिक विजयों के संदर्भ में निम्नलिखित कथनों पर विचार कीजिए: A. चंद्रगुप्त द्वितीय ने नाग वंश की राजकुमारी कुबेर नागा से विवाह किया, जिनसे प्रभावती गुप्ता का जन्म हुआ। B. इन्होंने अपनी पुत्री प्रभावती गुप्ता का विवाह दक्कन के शक्तिशाली वाकाटक नरेश रुद्रसेन द्वितीय से कराया। C. वाकाटकों के सहयोग से चंद्रगुप्त द्वितीय ने पश्चिमी भारत के अंतिम शक क्षत्रप रुद्रसिंह तृतीय को पराजित कर शकों की शक्ति को समूल नष्ट किया। D. शक विजय के उपलक्ष्य में चंद्रगुप्त द्वितीय ने 'शकारि' और 'विक्रमादित्य' की उपाधि धारण की तथा व्याघ्र-शैली के चांदी के सिक्के जारी किए।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112/200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चंद्रगुप्त द्वितीय 'विक्रमादित्य' (375-415 ई.) ने साम्राज्य विस्तार हेतु वैवाहिक संधियों और युद्ध दोनों का उत्कृष्ट उपयोग किया। उन्होंने नाग राजकुमारी कुबेरनागा से विवाह कर मध्य भारत में अपनी स्थिति मजबूत की। दक्षिण में अपनी पुत्री प्रभावती गुप्ता का विवाह वाकाटक राजा रुद्रसेन द्वितीय से किया; रुद्रसेन की असामयिक मृत्यु के बाद प्रभावती गुप्ता ने संरक्षिका के रूप में शासन किया जिससे वाकाटक राज्य पर अप्रत्यक्ष गुप्त प्रभाव स्थापित हुआ। इसी भौगोलिक लाभ से चंद्रगुप्त ने मालवा और गुजरात-काठियावाड़ के शकों पर आक्रमण कर अंतिम शक शासक रुद्रसिंह तृतीय को पराजित किया और भड़ौच बंदरगाह के जरिए पश्चिमी व्यापार पर नियंत्रण स्थापित किया। विजय की स्मृति में उन्होंने चांदी के सिक्के चलाए। अतः चारों कथन सत्य हैं और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112/200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प्राचीन भारत के प्रमुख राजवंशों एवं उनकी ऐतिहासिक राजधानियों का सही मिलान कीजिए: सूची-I (राजवंश): सूची-I: A. शुंग वंश B. सातवाहन वंश C. कदम्ब वंश D. चन्देल वंश सूची-II: 1. पाटलीपुत्र / विदिशा 2. पैठन (प्रतिष्ठान) 3. बनवासी 4. खजुराहो / महोबा</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937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113/200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अंतिम मौर्य शासक वृहद्रथ की हत्या कर पुष्यमित्र शुंग ने 185 ई.पू. में शुंग वंश की स्थापना की और पाटलीपुत्र तथा बाद में विदिशा को अपनी राजनीतिक गतिविधियों का केंद्र बनाया। सातवाहन वंश (संस्थापक सिमुक) की राजधानी दक्कन में गोदावरी नदी के तट पर प्रतिष्ठान (महाराष्ट्र का वर्तमान पैठन) थी। कर्नाटक के कदम्ब वंश (संस्थापक मयूरशर्मन) की राजधानी बनवासी (वैजयंती) थी। मध्य भारत के बुंदेलखंड (जेजाकभुक्ति) के चन्देल शासकों (संस्थापक नन्नुक) की प्रारंभिक राजधानी खजुराहो तथा सामरिक राजधानी महोबा थी। अतः सही सुमेलन A-1, B-2, C-3, D-4 है और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937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113/200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बौद्ध ग्रंथों में से किन ग्रंथों की मूल रचना संस्कृत भाषा में की गई थी? A. दिव्यावदान B. दीपवंश C. महावंश D. आर्यमंजुश्रीमूलकल्प</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538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114/200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बौद्ध धर्म का प्रारंभिक साहित्य पालि भाषा में लिखा गया (जैसे त्रिपिटक, जातक कथाएं, मिलिंदपन्हो तथा श्रीलंका के ऐतिहासिक इतिवृत्त 'दीपवंश' और 'महावंश')। किंतु महायान शाखा के उदय के साथ ही कनिष्क और गुप्त काल में बौद्ध ग्रंथों की रचना संस्कृत भाषा में भी बड़े पैमाने पर होने लगी। 'दिव्यावदान' और 'आर्यमंजुश्रीमूलकल्प' महायान बौद्ध धर्म के प्रसिद्ध संस्कृत ग्रंथ हैं (दिव्यावदान में अशोक और उत्तरवर्ती शासकों के आख्यान हैं तथा आर्यमंजुश्रीमूलकल्प में गुप्त सम्राटों व हर्षवर्धन का ऐतिहासिक विवरण मिलता है)। अतः A और D संस्कृत में रचित ग्रंथ हैं और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538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114/200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वैदिक संहिताओं एवं उपनिषदों में उल्लिखित प्राचीन कृषि उत्पादों के संस्कृत नामों एवं उनके आधुनिक अर्थ का सही मिलान कीजिए: सूची-I (वैदिक संस्कृत शब्द): सूची-I: A. व्रीहि B. मुदग C. यव D. इक्षु सूची-II: 1. जौ (Barley) 2. गन्ना (Sugarcane) 3. चावल / धान (Rice) 4. मूंग (Green gram)</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140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115/200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C-3,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वैदिक साहित्य में कृषि उपजों के अनेक विशिष्ट संस्कृत नाम मिलते हैं। 'व्रीहि' का अर्थ धान या चावल होता है (शतपथ ब्राह्मण और अथर्ववेद में व्रीहि का बहुतायत से उल्लेख है)। 'मुदग' का अर्थ मूंग दाल होता है। 'यव' ऋग्वेद में उल्लिखित प्राचीनतम धान्य है जिसका अर्थ 'जौ' है। 'इक्षु' का अर्थ गन्ना होता है। अन्य प्रमुख वैदिक कृषि शब्दों में 'गोधूम' का अर्थ गेहूं, 'माष' का अर्थ उड़द, 'तिल' का अर्थ तिलहन और 'सर्षप' का अर्थ सरसों होता है। अतः सही सुमेलन A-3, B-4, C-1, D-2 है और सही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140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115/200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विजयनगर साम्राज्य के महान तुलुव शासक कृष्णदेवराय (1509-1529 ई.) की साहित्यिक एवं सांस्कृतिक उपलब्धियों के संबंध में निम्नलिखित कथनों पर विचार कीजिए: A. कृष्णदेवराय ने तेलुगु भाषा में राजनीति और शासनकला पर प्रसिद्ध ग्रंथ 'अमुक्तमाल्यद' की रचना की। B. इन्होंने संस्कृत भाषा में 'जाम्बवती कल्याणम्' और 'उषा परिणय' नामक प्रसिद्ध नाटकों की रचना की। C. इनके दरबार में तेलुगु साहित्य के आठ शीर्ष विद्वान एवं कवि निवास करते थे, जिन्हें 'अष्टदिग्गज' कहा जाता था। D. अष्टदिग्गजों में सर्वप्रमुख कवि अल्लसानी पेद्दन थे, जिन्हें 'आंध्र कविता का पितामह'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116/200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कृष्णदेवराय विजयनगर के सबसे प्रतापी सम्राट और विद्या के महान संरक्षक थे, जिन्हें 'अभिनव भोज' और 'आंध्र भोज' भी कहा जाता है। उनका काल तेलुगु साहित्य का स्वर्ण युग (क्लासिकल युग) कहलाता है। उन्होंने स्वयं तेलुगु में 'अमुक्तमाल्यद' (जिसमें आलवार संत अंडाल का विवाह प्रसंग और राजा के कर्तव्य वर्णित हैं) तथा संस्कृत में 'जाम्बवती कल्याणम्' नाटक लिखा। उनके दरबार के 'अष्टदिग्गज' कवियों में अल्लसानी पेद्दन (जिन्होंने 'मनुचरितम्' लिखा और जिन्हें 'आंध्र कविता पितामह' की उपाधि मिली), नंदी तिम्मन, तेनालीराम और धूर्जटी प्रमुख थे। कृष्णदेवराय ने अपनी माता नागला देवी की स्मृति में नागालपुर नगर बसाया तथा हम्पी में हजारा राम मंदिर व विट्ठलस्वामी मंदिर का निर्माण कराया। अतः चारों कथन सत्य हैं और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116/200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दिल्ली सल्तनत काल में सुल्तानों द्वारा स्थापित प्रमुख केंद्रीय प्रशासनिक विभागों एवं उनके संस्थापकों का सही मिलान कीजिए: सूची-I (विभाग): सूची-I: A. दीवान-ए-अर्ज (सैन्य विभाग) B. दीवान-ए-मुस्तखराज (राजस्व बकाया वसूली विभाग) C. दीवान-ए-अमीर कोही (कृषि विकास विभाग) D. दीवान-ए-बंदगान (दास विभाग) सूची-II: 1. बलबन 2. अलाउद्दीन खिलजी 3. मुहम्मद बिन तुगलक 4. फिरोज शाह तुगलक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342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117/200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दिल्ली सल्तनत में प्रशासनिक दक्षता और विशिष्ट कार्यों हेतु सुल्तानों ने अलग-अलग विभागों का सृजन किया। दीवान-ए-अर्ज (सैन्य मामलों का विभाग) की स्थापना बलबन ने मंगोल आक्रमणों से सुरक्षा हेतु की और इमादुल मुल्क को पहला आरिज-ए-मुमालिक बनाया। दीवान-ए-मुस्तखराज की स्थापना अलाउद्दीन खिलजी ने भू-राजस्व के बकायों की कठोरता से वसूली करने हेतु की थी। दीवान-ए-अमीर कोही की स्थापना मुहम्मद बिन तुगलक ने कृषि विस्तार और किसानों को तकावी ऋण बांटने हेतु की थी। दीवान-ए-बंदगान (दासों के कल्याण व प्रबंधन हेतु) की स्थापना फिरोज शाह तुगलक ने की थी (उसके काल में सर्वाधिक 1,80,000 दास थे; उसने खैरात और दारुल-शफा अस्पताल भी बनवाया)। अतः सही सुमेलन A-1, B-2, C-3, D-4 है और सही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342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117/200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मध्य प्रदेश के सतना जिले में स्थित प्रसिद्ध 'भरहुत स्तूप' के तोरण द्वारों एवं पाषाण वेदिकाओं का निर्माण मौर्योत्तर काल में किस राजवंश के समय हुआ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सातवाहन वंश</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कुषाण वंश</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शुंग वंश</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गुप्त वंश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943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118/200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शुंग वंश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सातवाहन वंश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कुषाण वंश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गुप्त वंश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भरहुत स्तूप की खोज 1873 में भारतीय पुरातत्व सर्वेक्षण (ASI) के महानिदेशक अलेक्जेंडर कनिंघम ने की थी। मूल स्तूप का निर्माण ईंटों से मौर्य सम्राट अशोक के काल में हुआ था। किंतु शुंग काल में राजा वात्सीपुत्र धनभूति और अन्य दानदाताओं द्वारा लकड़ी की वेदिका के स्थान पर सुंदर पाषाण वेदिका (Stone Railing) और चारों दिशाओं में भव्य नक्काशीदार तोरण द्वारों का निर्माण कराया गया। भरहुत स्तूप के तोरणों पर जातक कथाओं, बुद्ध के जीवन प्रतीकों (धर्मचक्र, बोधिवृक्ष, चरणपादुका), यक्ष-यक्षियों तथा अजातशत्रु व प्रसेनजीत द्वारा बुद्ध वंदना के दृश्य उत्कीर्ण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943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118/200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मुगल स्थापत्य कला एवं फतेहपुर सीकरी की ऐतिहासिक इमारतों के संबंध में निम्नलिखित कथनों पर विचार कीजिए: A. अकबर ने गुजरात विजय (1572-73 ई.) के उपलक्ष्य में फतेहपुर सीकरी में 176 फीट ऊंचे भव्य 'बुलंद दरवाजे' का निर्माण कराया था। B. फतेहपुर सीकरी में स्थित 'पंचमहल' पिरामिड के आकार की पांच मंजिला इमारत है, जिसमें बौद्ध विहारों (बौद्ध स्थापत्य) की शैली का अनुसरण किया गया है। C. 'दीवान-ए-खास' के केंद्रीय स्तंभ का उत्कृष्ट नक्काशीदार छत्र हिंदू, जैन और इस्लामी स्थापत्य शैलियों के समन्वय का अनुपम उदाहरण है। D. बिहार के सासाराम में झील के मध्य अष्टकोणीय मंच पर निर्मित शेरशाह सूरी का मकबरा बाहर से मुस्लिम और भीतर से हिंदू स्थापत्य का संगम माना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544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119/200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मध्यकालीन भारतीय वास्तुकला में अकबर और शेरशाह के निर्माण मील के पत्थर हैं। अकबर ने सूफी संत शेख सलीम चिश्ती के सम्मान में फतेहपुर सीकरी की नींव रखी जिसके मुख्य वास्तुकार बहाउद्दीन थे। गुजरात विजय के उपलक्ष्य में विशाल बुलंद दरवाजा बनवाया गया। हवा महल के नाम से जाना जाने वाला पांच मंजिला पंचमहल बौद्ध स्तूपों और विहारों की छत्र-योजना पर आधारित है जहाँ प्रत्येक ऊपरी मंजिल नीचे वाली मंजिल से छोटी होती जाती है। दीवान-ए-खास का प्रसिद्ध एकल केंद्रीय प्रस्तर स्तंभ इबादतखाने की दार्शनिक बहसों का केंद्र था। कानूनगो और कनिंघम ने सासाराम (बिहार) में झील के बीच स्थित शेरशाह के अष्टकोणीय मकबरे की भूरि-भूरि प्रशंसा की है। अतः चारों कथन सत्य हैं और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544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119/200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मध्यकालीन भक्ति आंदोलन के प्रमुख संतों, उनके दार्शनिक सिद्धांतों एवं संप्रदायों का सही मिलान कीजिए: सूची-I (संत): सूची-I: A. रामानुजाचार्य B. माध्वाचार्य C. निम्बार्काचार्य D. वल्लभाचार्य सूची-II: 1. द्वैतवाद (ब्रह्म संप्रदाय) 2. द्वैताद्वैतवाद (सनक संप्रदाय) 3. शुद्धाद्वैतवाद (पुष्टिमार्ग / रुद्र संप्रदाय) 4. विशिष्टाद्वैतवाद (श्री संप्रदाय)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120/200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भक्ति आंदोलन के आचार्यों ने अद्वैत वेदांत के विरुद्ध अपने विशिष्ट दार्शनिक सिद्धांत प्रस्तुत किए: 1. रामानुजाचार्य (तमिलनाडु) ने 'विशिष्टाद्वैतवाद' प्रतिपादित किया और श्री संप्रदाय की स्थापना की। 2. माध्वाचार्य (कर्नाटक) ने 'द्वैतवाद' का प्रतिपादन किया, जिसमें जीव और ब्रह्म को पूर्णतः स्वतंत्र व पृथक माना गया तथा ब्रह्म संप्रदाय स्थापित किया। 3. निम्बार्काचार्य ने 'द्वैताद्वैतवाद' (भेदाभेदवाद) दिया और राधा-कृष्ण की युगल भक्ति पर बल दिया (राजस्थान में इनकी प्रधान पीठ सलेमाबाद, अजमेर में है)। 4. वल्लभाचार्य ने 'शुद्धाद्वैतवाद' और ईश्वर अनुग्रह पर आधारित 'पुष्टिमार्ग' की स्थापना की (जिसकी प्रमुख पीठ नाथद्वारा, राजसमंद में श्रीनाथजी मंदिर है)। अतः सही सुमेलन A-4, B-1, C-2, D-3 है और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120/200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राष्ट्रीय कांग्रेस के उदारवादी चरण (1885-1905 ई.) के नेताओं की कार्यपद्धति एवं राजनीतिक दृष्टिकोण के संदर्भ में कौन 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 तुरंत पूर्ण स्वराज्य प्राप्त करने हेतु देशव्यापी सविनय अवज्ञा आंदोलन चलाने के पक्षधर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 ब्रिटिश न्यायप्रियता में विश्वास रखते थे तथा संवैधानिक एवं अहिंसक माध्यमों (प्रार्थना-पत्रों, याचिकाओं व शिष्टमंडलों) से सुधारों के पक्षधर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उन्होंने ब्रिटिश शासन के आर्थिक पहलू का समर्थन किया और विदेशी पूंजी निवेश का स्वागत किया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 आधुनिक पाश्चात्य शिक्षा और यूरोपीय वैज्ञानिक संस्कृति के पूर्ण विरोधी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747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121/200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 ब्रिटिश न्यायप्रियता में विश्वास रखते थे तथा संवैधानिक एवं अहिंसक माध्यमों (प्रार्थना-पत्रों, याचिकाओं व शिष्टमंडलों) से सुधारों के पक्षधर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 तुरंत पूर्ण स्वराज्य प्राप्त करने हेतु देशव्यापी सविनय अवज्ञा आंदोलन चलाने के पक्षधर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उन्होंने ब्रिटिश शासन के आर्थिक पहलू का समर्थन किया और विदेशी पूंजी निवेश का स्वागत किया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 आधुनिक पाश्चात्य शिक्षा और यूरोपीय वैज्ञानिक संस्कृति के पूर्ण विरोधी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1885 से 1905 तक का कांग्रेस का प्रथम चरण 'उदारवादी चरण' कहलाता है जिसके प्रमुख नेता दादाभाई नौरोजी, फिरोजशाह मेहता, गोपाल कृष्ण गोखले, दिनशा वाचा और सुरेंद्रनाथ बनर्जी थे। ये नेता ब्रिटिश संविधानवाद, विधि के शासन और क्रमिक प्रशासनिक सुधारों में विश्वास रखते थे। उनकी कार्यपद्धति '3-P' (Prayers, Petitions, Protests - प्रार्थना, याचिका और विरोध) पर आधारित थी। हालांकि, उन्होंने ब्रिटिश उपनिवेशवाद के शोषक चरित्र को उजागर किया (दादाभाई नौरोजी ने 'धन की निकासी का सिद्धांत' - Drain of Wealth Theory प्रतिपादित किया)। वे पूर्ण स्वराज्य के बजाय ब्रिटिश साम्राज्य के भीतर स्वशासन और नागरिक अधिकारों की मांग करते थे।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747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121/200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राष्ट्रीय कांग्रेस के ऐतिहासिक अधिवेशनों एवं उनमें पारित ऐतिहासिक प्रस्तावों का सही मिलान कीजिए: सूची-I (अधिवेशन): सूची-I: A. कलकत्ता विशेष अधिवेशन (सितंबर 1920) B. नागपुर वार्षिक अधिवेशन (दिसंबर 1920) C. लाहौर अधिवेशन (दिसंबर 1929) D. कराची अधिवेशन (मार्च 1931) सूची-II: 1. सी. विजय राघवाचारी / कांग्रेस के संविधान में परिवर्तन व भाषाई आधार पर प्रांतीय कमेटियां 2. लाला लाजपत राय / असहयोग आंदोलन का प्रस्ताव पहली बार पारित 3. सरदार वल्लभभाई पटेल / मूल अधिकारों एवं राष्ट्रीय आर्थिक कार्यक्रम का ऐतिहासिक संकल्प 4. पं. जवाहरलाल नेहरू / 'पूर्ण स्वराज' का लक्ष्य तथा 26 जनवरी 1930 को प्रथम स्वतंत्रता दिवस</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348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122/200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स्वतंत्रता संग्राम में कांग्रेस के अधिवेशनों का ऐतिहासिक महत्व है: 1. सितंबर 1920 के कलकत्ता विशेष अधिवेशन की अध्यक्षता लाला लाजपत राय ने की जिसमें गांधी जी के असहयोग आंदोलन का प्रस्ताव पारित हुआ। 2. दिसंबर 1920 के नागपुर अधिवेशन में सी. विजय राघवाचारी अध्यक्ष थे जहाँ असहयोग प्रस्ताव का अनुमोदन हुआ तथा भाषाई आधार पर प्रांतीय कमेटियों के गठन का निर्णय हुआ। 3. 1929 के लाहौर अधिवेशन में जवाहरलाल नेहरू ने पूर्ण स्वराज की घोषणा की और रावी तट पर तिरंगा फहराया गया। 4. 1931 के कराची अधिवेशन में सरदार पटेल अध्यक्ष थे जहाँ गांधी-इरविन समझौते का अनुमोदन हुआ तथा पहली बार मौलिक अधिकारों और राष्ट्रीय आर्थिक नीति का प्रस्ताव पारित हुआ। अतः सही सुमेलन A-2, B-1, C-4, D-3 है और सही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348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122/200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क्रांतिकारी आंदोलन के प्रमुख षड्यंत्र मुकदमों (Conspiracy Cases) एवं उनसे जुड़े क्रांतिकारियों के संबंध में निम्नलिखित कथनों पर विचार कीजिए: A. 23 दिसंबर 1912 को दिल्ली के चांदनी चौक में वायसराय लॉर्ड हार्डिंग पर बम फेंकने के मामले (दिल्ली षड्यंत्र केस) में मास्टर अमीर चंद, अवध बिहारी, बाल मुकुंद और बसंत कुमार विश्वास को फांसी दी गई। B. रास बिहारी बोस दिल्ली षड्यंत्र के मुख्य सूत्रधार थे, जो गिरफ्तारी से बचकर जापान चले गए। C. द्वितीय लाहौर षड्यंत्र केस (1929-30) में जे.पी. सांडर्स की हत्या के आरोप में भगत सिंह, सुखदेव और राजगुरु को 23 मार्च 1931 को फांसी दी गई। D. अलीपुर षड्यंत्र केस (1908) में चित्तरंजन दास ने अरविंद घोष का प्रभावी कानूनी बचाव किया, जिसके फलस्वरूप वे बरी हो गए।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949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123/200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क्रांतिकारी राष्ट्रवाद के इतिहास में ये मुकदमे मील के पत्थर हैं। 1912 में जब राजधानी कलकत्ता से दिल्ली स्थानांतरित हो रही थी, तब लॉर्ड हार्डिंग के जुलूस पर बम फेंका गया; मास्टर अमीर चंद, भाई बाल मुकुंद, अवध बिहारी और बसंत विश्वास को फांसी हुई जबकि रास बिहारी बोस बचकर जापान निकल गए। 1928 में लाला लाजपत राय की लाठीचार्ज से मृत्यु का बदला लेने हेतु भगत सिंह, सुखदेव और राजगुरु ने सांडर्स का वध किया और लाहौर षड्यंत्र केस में 23 मार्च 1931 को अमर बलिदान दिया। 1908 के अलीपुर (माणिकटोला) केस में क्रांतिकारी अरविंद घोष और उनके भाई बारींद्र घोष पकड़े गए थे, जहां बैरिस्टर सी.आर. दास की शानदार वकालत के कारण अरविंद घोष निर्दोष छूट गए और उन्होंने पांडिचेरी जाकर अध्यात्म का मार्ग अपनाया। अतः चारों कथन सत्य हैं और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949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123/200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20 सितंबर 1942 को 'भारत छोड़ो आंदोलन' के दौरान असम के किस पुलिस थाने पर राष्ट्रीय तिरंगा फहराने के प्रयास में 17 वर्षीय वीरांगना कनकलता बरुआ पुलिस की गोली लगने से शहीद हुई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तेजपुर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गोहपुर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जोरहाट</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सिलचर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124/200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गोहपुर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तेजपुर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जोरहाट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सिलचर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कनकलता बरुआ (1924-1942 ई.) असम की एक साहसी स्वतंत्रता सेनानी थीं, जिन्हें 'बीरबाला' और 'असम की लक्ष्मीबाई' कहा जाता है। 1942 के 'भारत छोड़ो आंदोलन' के दौरान उन्होंने 'मृत्यु वाहिनी' (Death Squad) दल का नेतृत्व किया और 20 सितंबर 1942 को असम के दरंग जिले के 'गोहपुर पुलिस थाने' पर तिरंगा फहराने हेतु निहत्थे ग्रामीणों के जुलूस का नेतृत्व किया। ब्रिटिश पुलिस ने उन पर गोलियां चलाईं जिससे उनके सीने में गोली लगी, किंतु गिरते समय भी उन्होंने तिरंगे को झुकने नहीं दिया और साथी मुकुंद काकोती को झंडा सौंप दिया। वे मात्र 17 वर्ष की उम्र में शहीद हुईं।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124/200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राष्ट्रीय आंदोलन की महत्वपूर्ण ऐतिहासिक घटनाओं के कालानुक्रम एवं उनके प्रभावों के संबंध में निम्नलिखित कथनों पर विचार कीजिए: A. लखनऊ समझौता (दिसंबर 1916) में कांग्रेस और मुस्लिम लीग के बीच ऐतिहासिक समझौता हुआ तथा गरम दल का कांग्रेस में पुनः प्रवेश हुआ। B. जलियांवाला बाग नरसंहार 13 अप्रैल 1919 को अमृतसर में बैसाखी के दिन जनरल डायर द्वारा निहत्थी सभा पर गोलीबारी से हुआ। C. लोकमान्य बाल गंगाधर तिलक का निधन 1 अगस्त 1920 को हुआ, जिस दिन गांधी जी द्वारा औपचारिक रूप से असहयोग आंदोलन प्रारंभ किया गया। D. स्वराज पार्टी का गठन 1 जनवरी 1923 को इलाहाबाद में चित्तरंजन दास (अध्यक्ष) और मोतीलाल नेहरू (सचिव) द्वारा किया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152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125/200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1916 से 1923 के मध्य भारतीय स्वाधीनता संघर्ष ने नए मोड़ लिए: 1. लखनऊ पैक्ट (1916) में अंबिका चरण मजूमदार की अध्यक्षता में मुस्लिम लीग व कांग्रेस में समझौता हुआ और तिलक व बेसेंट के प्रयासों से गरम दल कांग्रेस में शामिल हुआ। 2. 13 अप्रैल 1919 को डॉ. सैफुद्दीन किचलू और डॉ. सत्यपाल की गिरफ्तारी के विरोध में जलियांवाला बाग में एकत्र शांतिपूर्ण भीड़ पर डायर ने गोलियां चलवाईं। 3. 1 अगस्त 1920 को बाल गंगाधर तिलक का देहावसान हुआ और उसी दिन असहयोग आंदोलन शुरू हुआ ('तिलक स्वराज फंड' बनाया गया)। 4. गया अधिवेशन (1922) में विधान परिषदों में प्रवेश का प्रस्ताव खारिज होने पर सी.आर. दास और मोतीलाल नेहरू ने 1 जनवरी 1923 को 'कांग्रेस-खिलाफत स्वराज पार्टी' की स्थापना की। अतः चारों कथन सत्य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152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125/200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5 मार्च 1931 को वायसराय लॉर्ड इरविन और महात्मा गांधी के मध्य हुए ऐतिहासिक 'गांधी-इरविन समझौते' (दिल्ली समझौता) में किन दो प्रमुख नेताओं ने मध्यस्थ की निर्णायक भूमिका निभाई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मोतीलाल नेहरू और चित्तरंजन दास</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मौलाना अबुल कलाम आजाद और डॉ. राजेंद्र प्रसाद</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तेज बहादुर सप्रू और एम.आर. जयकर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मदन मोहन मालवीय और एनी बेसेंट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753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126/200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तेज बहादुर सप्रू और एम.आर. जयकर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मोतीलाल नेहरू और चित्तरंजन दास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मौलाना अबुल कलाम आजाद और डॉ. राजेंद्र प्रसाद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मदन मोहन मालवीय और एनी बेसेंट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सविनय अवज्ञा आंदोलन (1930) के प्रथम चरण के बाद प्रथम गोलमेज सम्मेलन के गतिरोध को समाप्त करने हेतु उदारवादी नेताओं डॉ. तेज बहादुर सप्रू और डॉ. एम.आर. जयकर ने मध्यस्थता के गंभीर प्रयास किए। उनके प्रयासों से 17 फरवरी से 5 मार्च 1931 तक दिल्ली में गांधी जी और वायसराय लॉर्ड इरविन के बीच वार्ता हुई और 5 मार्च 1931 को 'गांधी-इरविन पैक्ट' हस्ताक्षरित हुआ (जिसका मसौदा हर्बर्ट इमर्सन ने तैयार किया था)। इसके तहत कांग्रेस ने सविनय अवज्ञा स्थगित कर द्वितीय गोलमेज सम्मेलन में भाग लेना स्वीकार किया तथा सरकार ने अहिंसक राजनीतिक कैदियों को रिहा करने व तटीय क्षेत्रों में व्यक्तिगत उपयोग हेतु नमक बनाने की छूट दी।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753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126/200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19वीं एवं 20वीं शताब्दी के दौरान भारत में सामाजिक-धार्मिक सुधार आंदोलनों तथा संस्थाओं के संबंध में निम्नलिखित कथनों पर विचार कीजिए: A. गोपाल कृष्ण गोखले ने एम.जी. रानाडे की सहायता से 1905 में बंबई में 'भारत सेवक समाज' (Servants of India Society) की स्थापना की। B. राव बहादुर कंदुकुरी वीरेशलिंगम पंतुलु ने विधवा विवाह और महिला शिक्षा को बढ़ावा देने हेतु 1878 में 'राजमुन्द्री सोशल रिफॉर्म एसोसिएशन' की स्थापना की। C. नारायण मल्हार जोशी (N.M. Joshi) ने 1911 में बंबई में 'सोशल सर्विस लीग' की स्थापना की तथा 1920 में AITUC के संस्थापकों में शामिल रहे। D. पंडित हृदयनाथ कुंजरू ने 1914 में इलाहाबाद में 'सेवा समिति' तथा श्रीराम वाजपेयी ने 'सेवा समिति बॉय स्काउट्स एसोसिएशन' की स्थापना 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354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127/200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आधुनिक भारत में समाज सुधारकों ने संस्थागत निर्माण के माध्यम से जागृति फैलाई। 1905 में गोखले द्वारा स्थापित सवेंट्स ऑफ इंडिया सोसाइटी ने राष्ट्रसेवा हेतु समर्पित कार्यकर्ताओं को प्रशिक्षित किया। दक्षिण भारत के विद्यासागर कहे जाने वाले वीरेशलिंगम ने तेलुगु क्षेत्र में 1878 में राजमुन्द्री सोशल रिफॉर्म एसोसिएशन बनाया और 1881 में पहला विधवा पुनर्विवाह संपन्न कराया। एन.एम. जोशी ने गरीबों के जीवन स्तर को सुधारने हेतु सोशल सर्विस लीग बनाई और भारत में श्रमिक आंदोलन के अगुआ रहे। पं. हृदयनाथ कुंजरू ने दीन-दुखियों की सेवा हेतु सेवा समिति तथा श्रीराम वाजपेयी ने भारतीय बालकों हेतु स्वतंत्र स्काउटिंग संस्था स्थापित की। अतः चारों कथन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354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127/200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स्वतंत्रता के पश्चात भारत सरकार द्वारा अगस्त 1953 में गठित ऐतिहासिक 'राज्य पुनर्गठन आयोग' (फजल अली आयोग) के तीन सदस्य निम्नलिखित में से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एस.के. धर, वल्लभभाई पटेल और पट्टाभि सीतारमैया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न्यायमूर्ति फजल अली (अध्यक्ष), के.एम. पन्निक्कर और हृदयनाथ कुंजरू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डॉ. बी.आर. अम्बेडकर, के.एम. पन्निक्कर और सरदार पटेल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तेज बहादुर सप्रू, फजल अली और जवाहरलाल नेहरू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128/200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न्यायमूर्ति फजल अली (अध्यक्ष), के.एम. पन्निक्कर और हृदयनाथ कुंजरू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एस.के. धर, वल्लभभाई पटेल और पट्टाभि सीतारमैया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बी.आर. अम्बेडकर, के.एम. पन्निक्कर और सरदार पटेल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तेज बहादुर सप्रू, फजल अली और जवाहरलाल नेहरू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दिसंबर 1952 में भाषा के आधार पर अलग आंध्र राज्य की मांग को लेकर पोट्टी श्रीरामुलु के 58 दिनों के आमरण अनशन और शहादत के बाद 1 अक्टूबर 1953 को भाषाई आधार पर पहला राज्य 'आंध्र प्रदेश' बना। इसके बाद पूरे देश में भाषाई राज्यों की मांग तेज हो गई, जिस पर समग्र विचार करने हेतु भारत सरकार ने 22 दिसंबर 1953 को 3 सदस्यीय 'राज्य पुनर्गठन आयोग' (SRC) की घोषणा की। इसके अध्यक्ष सर्वोच्च न्यायालय के पूर्व न्यायाधीश न्यायमूर्ति फजल अली थे तथा दो अन्य सदस्य के.एम. पन्निक्कर और हृदयनाथ कुंजरू थे। आयोग ने 1955 में रिपोर्ट दी, जिसके आधार पर संसद ने 'राज्य पुनर्गठन अधिनियम, 1956' पारित किया जिसके तहत 14 राज्य और 6 केंद्रशासित प्रदेश गठित हुए।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128/200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'वस्तु एवं सेवा कर' (GST) की कार्यप्रणाली एवं इनपुट टैक्स क्रेडिट (ITC) तंत्र के संदर्भ में निम्नलिखित कथनों पर विचार कीजिए: A. 101वें संविधान संशोधन अधिनियम, 2016 द्वारा 1 जुलाई 2017 से भारत में वस्तु एवं सेवा कर (GST) लागू किया गया। B. जीएसटी एक गंतव्य-आधारित उपभोग कर (Destination-based consumption tax) है जो वस्तुओं और सेवाओं के निर्माण से लेकर अंतिम उपभोग तक प्रत्येक चरण पर लगाया जाता है। C. इनपुट टैक्स क्रेडिट (ITC) तंत्र व्यवसायों को कच्चा माल या इनपुट खरीदते समय चुकाए गए कर को अपनी आउटपुट कर देनदारी से घटाने की सुविधा देकर 'करों पर कर' (Cascading Effect) को समाप्त करता है। D. कंपोजिशन स्कीम का विकल्प चुनने वाले छोटे व्यवसाय इनपुट टैक्स क्रेडिट (ITC) का लाभ नहीं उठा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557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129/200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जीएसटी भारतीय अप्रत्यक्ष कर प्रणाली का सबसे बड़ा सुधार है। 101वें संशोधन द्वारा संविधान में अनुच्छेद 246A (संसद व राज्य विधानमंडलों को समवर्ती कर शक्ति), अनुच्छेद 269A (IGST) और अनुच्छेद 279A (GST परिषद) जोड़े गए। यह 'वन नेशन, वन टैक्स' के सिद्धांत पर आधारित मूल्य-वर्धित कर है। इनपुट टैक्स क्रेडिट इसकी रीढ़ है, जो पहले लगने वाले दोहरे कराधान और टैक्स पर टैक्स के व्यापक प्रभाव को रोकता है। कंपोजिशन स्कीम छोटे व्यापारियों (1.5 करोड़ तक टर्नओवर) को कम दर पर एकमुश्त कर चुकाने की सरलीकृत सुविधा देती है, किंतु उन्हें ITC का दावा करने या ग्राहकों से टैक्स वसूलने का अधिकार नहीं होता। मानव उपभोग की शराब को संविधान के अनुच्छेद 366(12A) के तहत जीएसटी से बाहर रखा गया है। अतः चारों कथन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557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129/200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राष्ट्रीय आय लेखांकन के अंतर्गत 'बाजार मूल्यों पर शुद्ध राष्ट्रीय उत्पाद' (NNP at Market Price) की सही गणना का सूत्र निम्नलिखित में से कौन 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बाजार मूल्य पर सकल घरेलू उत्पाद (GDP) + मूल्यह्रास (Depreciation)</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बाजार मूल्य पर सकल राष्ट्रीय उत्पाद (GNP at MP) - मूल्यह्रास (Depreciation)</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साधन लागत पर राष्ट्रीय आय + प्रत्यक्ष कर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सकल राष्ट्रीय उत्पाद - विदेशों से प्राप्त शुद्ध साधन आय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158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130/200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बाजार मूल्य पर सकल राष्ट्रीय उत्पाद (GNP at MP) - मूल्यह्रास (Depreciation)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बाजार मूल्य पर सकल घरेलू उत्पाद (GDP) + मूल्यह्रास (Depreciation)</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साधन लागत पर राष्ट्रीय आय + प्रत्यक्ष 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सकल राष्ट्रीय उत्पाद - विदेशों से प्राप्त शुद्ध साधन आय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आय समुच्चय में सकल (Gross) और शुद्ध (Net) के बीच का मूलभूत अंतर 'मूल्यह्रास' (Depreciation या स्थायी पूंजी का उपभोग - Consumption of Fixed Capital) होता है। जब किसी समयावधि में सकल राष्ट्रीय उत्पाद (GNP at Market Price) में से उत्पादन प्रक्रिया में मशीनों और उपकरणों की घिसावट व टूट-फूट की लागत (मूल्यह्रास) को घटा दिया जाता है, तो हमें 'बाजार मूल्यों पर शुद्ध राष्ट्रीय उत्पाद' (NNP at MP) प्राप्त होता है। जब NNP at MP में से अप्रत्यक्ष कर घटाकर आर्थिक अनुदान (सब्सिडी) जोड़ दिया जाता है, तो वह NNP at Factor Cost (साधन लागत पर शुद्ध राष्ट्रीय उत्पाद) बन जाता है, जिसे अर्थशास्त्र में आधिकारिक 'राष्ट्रीय आय' (National Income) कहा जाता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158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130/200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बजट में प्रयुक्त होने वाले विभिन्न प्रकार के घाटों (Deficits) एवं उनके सूत्रों के संबंध में निम्नलिखित कथनों पर विचार कीजिए: A. राजस्व घाटा (Revenue Deficit) = राजस्व व्यय - राजस्व प्राप्तियां। B. प्रभावी राजस्व घाटा (Effective Revenue Deficit) = राजस्व घाटा - पूंजीगत संपत्तियों के सृजन हेतु दिए गए अनुदान। C. राजकोषीय घाटा (Fiscal Deficit) = कुल व्यय - (राजस्व प्राप्तियां + गैर-ऋण पूंजीगत प्राप्तियां) = कुल उधार (Total Borrowing)। D. प्राथमिक घाटा (Primary Deficit) = राजकोषीय घाटा - पिछले ऋणों पर ब्याज भुगतान।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759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131/200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लोक-वित्त में बजटीय घाटों का वर्गीकरण सरकार की वित्तीय सेहत का सटीक पैमाना है: 1. राजस्व घाटा सरकार के नियमित उपभोग व्यय की तुलना में राजस्व आय की कमी को दर्शाता है। 2. प्रभावी राजस्व घाटा 2011-12 के बजट में रंगराजन समिति की सिफारिश पर प्रारंभ हुआ जो राज्यों को परिसंपत्ति निर्माण (जैसे स्कूल, अस्पताल, सड़क निर्माण) हेतु दी गई ग्रांट्स को राजस्व घाटे से अलग करता है। 3. राजकोषीय घाटा सरकार की एक वित्तीय वर्ष में कुल बाजार उधारी (Net Borrowing from RBI, Market &amp; External) की मात्रा है। 4. प्राथमिक घाटा दर्शाता है कि पुराने कर्ज के ब्याज को छोड़कर चालू वित्तीय वर्ष में सरकार का राजकोषीय असंतुलन कितना है; यदि प्राथमिक घाटा शून्य हो जाए तो इसका अर्थ है कि सरकार चालू वर्ष में केवल पुराने कर्ज का ब्याज चुकाने हेतु उधार ले रही है। अतः चारों कथन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759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131/200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 वित्त एवं अर्थशास्त्र के सिद्धांतों के अनुसार निम्नलिखित में से कौन सी वस्तु एक 'सार्वजनिक वस्तु' (Public Good) की श्रेणी में नहीं आती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निजी स्वामित्व की व्यक्तिगत कारें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सरकारी प्रशासन एवं न्याय व्यवस्था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राष्ट्रीय राजमार्ग व सार्वजनिक सड़कें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राष्ट्रीय सुरक्षा एवं रक्षा सेवाएं</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132/200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निजी स्वामित्व की व्यक्तिगत 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सरकारी प्रशासन एवं न्याय व्यवस्था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राष्ट्रीय राजमार्ग व सार्वजनिक सड़कें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राष्ट्रीय सुरक्षा एवं रक्षा सेवाएं</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अर्थशास्त्र में 'सार्वजनिक वस्तुएं' (Public Goods) वे वस्तुएं या सेवाएं होती हैं जिनमें दो विशिष्ट विशेषताएं पाई जाती हैं: 1. गैर-अपवर्ज्यता (Non-excludability): किसी भी नागरिक को इसके उपभोग से रोका या बहिष्कृत नहीं किया जा सकता (चाहे उसने कर दिया हो या नहीं), और 2. गैर-प्रतिद्वंद्विता (Non-rivalry): एक व्यक्ति द्वारा उपभोग करने से दूसरे व्यक्ति के लिए इसकी उपलब्धता में कोई कमी नहीं आती। राष्ट्रीय रक्षा, कानून व्यवस्था, सार्वजनिक सड़कें और स्ट्रीट लाइट इसके उत्तम उदाहरण हैं। इसके विपरीत निजी स्वामित्व की कारें 'निजी वस्तु' (Private Goods) हैं क्योंकि इनमें अपवर्ज्यता (केवल कार खरीदने वाला ही उसका उपयोग कर सकता है) और प्रतिद्वंद्विता दोनों गुण होते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132/200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रिजर्व बैंक (RBI) द्वारा मौद्रिक नीति के संचालन हेतु उपयोग किए जाने वाले उपकरणों के संदर्भ में निम्नलिखित कथनों पर विचार कीजिए: A. बैंक दर, नकद आरक्षित अनुपात (CRR), सांविधिक तरलता अनुपात (SLR) और खुला बाजार परिचालन (OMO) मात्रात्मक (Quantitative) उपकरण हैं। B. मार्जिन आवश्यकताओं में परिवर्तन, उपभोक्ता साख का नियमन, साख की राशनिंग और नैतिक दबाव गुणात्मक (Qualitative/Selective) उपकरण हैं। C. खुले बाजार की क्रियाओं (OMO) के अंतर्गत जब RBI बाजार से सरकारी प्रतिभूतियां खरीदता है, तो अर्थव्यवस्था में तरलता (Liquidity) बढ़ती है। D. रेपो दर (Repo Rate) वह ब्याज दर है जिस पर वाणिज्यिक बैंक अपनी अल्पकालिक वित्तीय आवश्यकताओं हेतु RBI से धन उधार 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961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133/200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बैंक अर्थव्यवस्था में साख नियंत्रण हेतु दो प्रकार के साधनों का उपयोग करता है। मात्रात्मक उपकरण पूरी अर्थव्यवस्था में साख की कुल मात्रा को प्रभावित करते हैं (CRR - बैंक जमा का वह हिस्सा जो RBI के पास नकदी में रखना होता है; SLR - जो तरल संपत्तियों में रखना होता है; OMO - सरकारी बॉन्ड की खरीद-बिक्री; रेपो रेट व रिवर्स रेपो रेट)। गुणात्मक उपकरण विशिष्ट क्षेत्रों (जैसे सट्टेबाजी रोकने या कृषि/MSME को प्राथमिकता) में ऋण की दिशा को नियंत्रित करते हैं (जैसे मार्जिन आवश्यकता, साख की राशनिंग, नैतिक दबाव)। जब RBI बाजार से सरकारी बॉन्ड खरीदता है तो वह बाजार में मुद्रा का प्रवाह करता है जिससे तरलता बढ़ती है। अतः चारों कथन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961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133/200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राष्ट्रीय सांख्यिकी कार्यालय (NSO) द्वारा मासिक रूप से जारी किए जाने वाले 'औद्योगिक उत्पादन सूचकांक' (IIP - आधार वर्ष 2011-12) में निम्नलिखित में से कौन सा क्षेत्र सम्मिलित नहीं किया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विनिर्माण (Manufacturing)</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खनन एवं उत्खनन (Mining &amp; Quarrying)</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गैस एवं जलापूर्ति (Gas &amp; Water Supply)</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विद्युत (Electricity)</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563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134/200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गैस एवं जलापूर्ति (Gas &amp; Water Supply)</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विनिर्माण (Manufacturing)</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खनन एवं उत्खनन (Mining &amp; Quarrying)</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विद्युत (Electricity)</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औद्योगिक उत्पादन सूचकांक (Index of Industrial Production - IIP) भारतीय अर्थव्यवस्था में औद्योगिक क्षेत्र की वास्तविक वृद्धि का आधिकारिक मासिक मापक है, जिसका आधार वर्ष 2011-12 है। IIP केवल तीन व्यापक औद्योगिक क्षेत्रों के आंकड़ों को संकलित करता है: 1. विनिर्माण (विनिर्माण का भारांश सर्वाधिक 77.63% है), 2. खनन एवं उत्खनन (भारांश 14.37%), और 3. विद्युत (भारांश 7.99%)। इसमें 'गैस एवं जलापूर्ति' शामिल नहीं है। IIP में 8 प्रमुख बुनियादी उद्योगों (Core Industries) का कुल भारांश 40.27% है जिसमें सर्वाधिक भार रिफाइनरी उत्पादों का और सबसे कम उर्वरक का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563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134/200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बजट 2017-18 में भारतीय बजटीय प्रणाली में किए गए ऐतिहासिक संरचनात्मक सुधारों के संदर्भ में निम्नलिखित कथनों पर विचार कीजिए: A. 1924 में एकवर्थ समिति की सिफारिशों पर अलग हुए 'रेल बजट' को 92 वर्षों बाद बिबेक देबरॉय समिति की सिफारिश पर आम बजट में मिला दिया गया। B. बजट प्रस्तुत करने की तिथि को फरवरी के अंतिम कार्य दिवस से बदलकर 1 फरवरी कर दिया गया, ताकि नया वित्त वर्ष शुरू होने से पहले बजटीय प्रक्रिया पूर्ण हो सके। C. योजनाओं के नियोजन में दशकों से चले आ रहे 'योजनागत व्यय' (Plan Expenditure) और 'गैर-योजनागत व्यय' (Non-Plan Expenditure) के कृत्रिम वर्गीकरण को समाप्त कर दिया गया। D. लेखांकन में केवल 'राजस्व व्यय' और 'पूंजीगत व्यय' का स्पष्ट वर्गीकरण लागू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164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135/200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वित्त मंत्री अरुण जेटली द्वारा प्रस्तुत 2017-18 का केंद्रीय बजट स्वतंत्र भारत के बजटीय सुधारों का सबसे युगांतकारी बजट माना जाता है। 1920-21 की विलियम एकवर्थ समिति की रिपोर्ट पर 1924 से शुरू हुई पृथक रेल बजट की प्रथा को समाप्त कर नीति आयोग के सदस्य बिबेक देबरॉय की अध्यक्षता वाली समिति की रिपोर्ट पर 2017 में रेल बजट को आम बजट का हिस्सा बनाया गया। प्रशासनिक दक्षता हेतु बजट प्रस्तुति 28 फरवरी से 1 फरवरी की गई जिससे 31 मार्च तक विनियोग विधेयक पास होकर 1 अप्रैल से विकास कार्य तुरंत शुरू हो सकें। योजनागत (योजना आयोग आधारित) और गैर-योजनागत (रखरखाव व वेतन) का भेद समाप्त कर संपूर्ण व्यय को राजस्व और पूंजीगत के रूप में तर्कसंगत बनाया गया। अतः चारों कथन सत्य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164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135/200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संगठित मुद्रा बाजार (Organized Money Market) का कौन सा भाग अपनी अत्यधिक अस्थिर ब्याज दरों और मात्र एक दिन की अल्पावधि उधारी के कारण जाना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वाणिज्यिक पत्र बाजार (Commercial Paper Market)</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जमा प्रमाणपत्र बाजार (Certificate of Deposit Market)</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ट्रेजरी बिल बाजार (Treasury Bill Market)</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मांग मुद्रा बाजार / याचना मुद्रा बाजार (Call Money Market)</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136/200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मांग मुद्रा बाजार / याचना मुद्रा बाजार (Call Money Market)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वाणिज्यिक पत्र बाजार (Commercial Paper Market)</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जमा प्रमाणपत्र बाजार (Certificate of Deposit Market)</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ट्रेजरी बिल बाजार (Treasury Bill Market)</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मुद्रा बाजार अल्पावधि (1 वर्ष से कम) की वित्तीय परिसंपत्तियों का बाजार होता है। इसमें 'कॉल मनी मार्केट' (याचना मुद्रा बाजार) सर्वाधिक संवेदनशील और अस्थिर भाग है, जिसमें मुख्य रूप से अनुसूचित वाणिज्यिक बैंक अपने तात्कालिक तरलता असंतुलन और दैनिक CRR/SLR आवश्यकताओं को पूरा करने हेतु मात्र एक दिन (रातों-रात / Overnight) के लिए बिना किसी जमानत के परस्पर उधारी का लेन-देन करते हैं। इसकी ब्याज दरें (कॉल रेट्स) दिन में कई बार तेजी से बदलती हैं। यदि उधारी 2 से 14 दिनों के लिए हो तो उसे 'नोटिस मनी' तथा 14 दिन से 1 वर्ष के लिए हो तो उसे 'टर्म मनी' कहा जाता है।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136/200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बजट के 'राजस्व खाते' (Revenue Account) एवं 'पूंजीगत खाते' (Capital Account) के घटकों के संबंध में निम्नलिखित कथनों पर विचार कीजिए: A. प्रत्यक्ष कर (आयकर, निगम कर) एवं अप्रत्यक्ष कर (GST, सीमा शुल्क) सरकार की राजस्व प्राप्तियों का हिस्सा हैं। B. सार्वजनिक उपक्रमों (PSUs) से प्राप्त लाभांश, ब्याज प्राप्तियां एवं डाक शुल्क गैर-कर राजस्व प्राप्तियां हैं। C. सरकार द्वारा लिए जाने वाले घरेलू व बाह्य ऋण, विनिवेश (Disinvestment) से प्राप्त राशि और ऋणों की वसूली पूंजीगत प्राप्तियां (Capital Receipts) हैं। D. राष्ट्रीय बचत पत्रों (NSC) और लोक भविष्य निधि (PPF) जैसी अल्प बचतें (Small Savings) सरकार के राजस्व खाते में नहीं, बल्कि 'लोक लेखा' (Public Account) में आती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366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137/200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112 के अनुसार वार्षिक वित्तीय विवरण को राजस्व खाते और पूंजीगत खाते में बांटा जाता है। राजस्व प्राप्तियां वे हैं जिनसे न तो सरकार की कोई देनदारी बनती है और न ही संपत्ति घटती है (कर राजस्व व गैर-कर राजस्व जैसे लाभांश, ब्याज, फीस)। पूंजीगत प्राप्तियां वे हैं जिनसे या तो सरकार की देनदारी बढ़ती है (उधार/बॉन्ड) या संपत्तियां घटती हैं (पीएसयू का विनिवेश, राज्यों से पुराने कर्जों की मूल वसूली)। राष्ट्रीय बचत पत्र (NSC) और किसान विकास पत्र जैसी अल्प बचतें संचित निधि के बजाय संविधान के अनुच्छेद 266(2) के तहत 'भारत के लोक खाते' (Public Account of India) में जमा होती हैं और इसे सरकार केवल न्यासी (Trustee) के रूप में धारित करती है। अतः चारों कथन सत्य हैं और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366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137/200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'ग्यारहवीं पंचवर्षीय योजना' (2007-2012) का केंद्रीय विषय (Theme / मुख्य दृष्टिकोण) निम्नलिखित में से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मानव संसाधन विकास और रोजगार सृजन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गरीबी उन्मूलन और तकनीकी आधुनिकीकरण</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स्थिरता के साथ आर्थिक विकास और आत्मनिर्भरता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तीव्रतर एवं अधिक समावेशी संवृद्धि (Faster and More Inclusive Growth)</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968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138/200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तीव्रतर एवं अधिक समावेशी संवृद्धि (Faster and More Inclusive Growth)</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मानव संसाधन विकास और रोजगार सृजन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गरीबी उन्मूलन और तकनीकी आधुनिकीकरण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स्थिरता के साथ आर्थिक विकास और आत्मनिर्भरता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 मनमोहन सिंह की सरकार के समय डॉ. सी. रंगराजन के मार्गदर्शन में तैयार ग्यारहवीं पंचवर्षीय योजना (2007-2012) का आधिकारिक केंद्रीय विषय "तीव्रतर एवं अधिक समावेशी संवृद्धि" (Towards Faster and More Inclusive Growth) था। इसका उद्देश्य विकास के लाभों को समाज के सभी वंचित वर्गों, महिलाओं और अल्पसंख्यकों तक पहुंचाना था, जिसमें 9% वार्षिक GDP संवृद्धि, कृषि में 4% विकास, 7 करोड़ नए रोजगार और शिशु मृत्यु दर घटाने का लक्ष्य रखा गया था। इसके बाद आई अंतिम 'बारहवीं पंचवर्षीय योजना' (2012-2017) का विषय "तीव्रतर, अधिक समावेशी और धारणीय संवृद्धि" (Faster, More Inclusive and Sustainable Growth) था।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968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138/200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आर्थिक शब्दावली में मुद्रास्फीति के विभिन्न प्रकारों एवं उनकी परिभाषाओं के संबंध में निम्नलिखित कथनों पर विचार कीजिए: A. मांग-जनित स्फ़ीति (Demand-Pull Inflation) तब उत्पन्न होती है जब अर्थव्यवस्था में कुल मांग (Aggregate Demand) कुल पूर्ति से अधिक हो जाती है ("अत्यधिक मुद्रा बहुत कम वस्तुओं का पीछा करती है")। B. लागत-प्रेरित स्फ़ीति (Cost-Push Inflation) उत्पादन लागत में वृद्धि (जैसे कच्चे तेल की कीमतें, श्रमिकों की मजदूरी या परिवहन लागत बढ़ना) के कारण उत्पन्न होती है। C. स्टैगफ्लेशन (Stagflation) अर्थव्यवस्था की वह असामान्य स्थिति है जिसमें उच्च मुद्रास्फीति, उच्च बेरोजगारी और आर्थिक विकास की मंदी एक साथ मौजूद होती हैं। D. स्क्यूफ्लेशन (Skewflation) वह स्थिति है जिसमें केवल किसी एक विशिष्ट वस्तु समूह (जैसे खाद्य पदार्थ या सब्जियां) में अत्यधिक मूल्य वृद्धि होती है जबकि सामान्य मुद्रास्फीति स्थिर रहती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569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139/200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मुद्रास्फीति के विभिन्न स्वरूप अर्थव्यवस्था के विभिन्न क्षेत्रों के दबावों को उजागर करते हैं: 1. मांग-जनित स्फ़ीति में वेतन वृद्धि या सरकारी खर्च बढ़ने से मांग बढ़ जाती है और समग्र पूर्ति वक्र मांग के दबाव में कीमतें बढ़ा देता है। 2. लागत-प्रेरित स्फ़ीति में समग्र पूर्ति वक्र (AS Curve) बाईं ओर खिसक जाता है क्योंकि इनपुट लागत (मजदूरी, ऊर्जा, किराया) बढ़ जाती है। 3. स्टैगफ्लेशन पारंपरिक फिलिप्स वक्र (जो मुद्रास्फीति और बेरोजगारी में व्युत्क्रम संबंध बताता है) को झुठलाता है और 1970 के तेल संकट के समय दुनिया में देखा गया जहाँ उच्च बेरोजगारी के साथ मंदी और स्फ़ीति एक साथ थी। 4. स्क्यूफ्लेशन शब्द भारतीय आर्थिक समीक्षा (2009-10) में विशेष रूप से चर्चित हुआ जब केवल दालों और खाद्य पदार्थों में भीषण महंगाई थी जबकि गैर-खाद्य क्षेत्र शांत था। अतः चारों कथन सत्य हैं और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569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139/200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1991 के ऐतिहासिक आर्थिक सुधारों के बाद बैंकिंग एवं वित्तीय क्षेत्र में गैर-निष्पादित परिसंपत्तियों (NPAs) की त्वरित वसूली हेतु वर्ष 2002 में कौन सा ऐतिहासिक कानून बनाया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राजकोषीय उत्तरदायित्व एवं बजट प्रबंधन अधिनियम (FRBM Act)</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सरफेसी अधिनियम (SARFAESI Act)</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दिवाला और शोधन अक्षमता संहिता (IBC)</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विदेशी मुद्रा प्रबंधन अधिनियम (FEMA)</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140/200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सरफेसी अधिनियम (SARFAESI Act)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राजकोषीय उत्तरदायित्व एवं बजट प्रबंधन अधिनियम (FRBM Act)</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दिवाला और शोधन अक्षमता संहिता (IBC)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विदेशी मुद्रा प्रबंधन अधिनियम (FEMA)</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नरसिंहम समिति-II (1998) और अंध्यारुजिना समिति की सिफारिशों के आधार पर वर्ष 2002 में 'वित्तीय आस्तियों का प्रतिभूतिकरण और पुनर्गठन तथा प्रतिभूति हित का प्रवर्तन अधिनियम' (Securitisation and Reconstruction of Financial Assets and Enforcement of Security Interest Act - SARFAESI Act, 2002) पारित किया गया। यह कानून वाणिज्यिक बैंकों और हाउसिंग फाइनेंस कंपनियों को अदालत के लंबे हस्तक्षेप के बिना डिफाल्टरों की बंधक रखी गई अचल संपत्तियों को जब्त करने, उनका प्रबंधन बदलने या परिसंपत्ति पुनर्गठन कंपनियों (ARCs) को बेचकर अपना फंसा हुआ ऋण (NPA) वसूलने की असाधारण शक्ति देता है। विकल्प A FRBM 2003 वित्तीय अनुशासन का कानून है। विकल्प C IBC 2016 में आया।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140/200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औषधि (Pharma) एवं ऑटोमोबाइल निर्माण क्षेत्र के संबंध में निम्नलिखित कथनों पर विचार कीजिए: A. भारत विश्व स्तर पर जेनेरिक दवाओं का सबसे बड़ा आपूर्तिकर्ता है, जो वैश्विक मात्रा (Volume) का लगभग 20% हिस्सा उपलब्ध कराता है। B. भारत मात्रा (Volume) के आधार पर विश्व में तीसरा तथा मूल्य (Value) के आधार पर 14वां सबसे बड़ा दवा उत्पादक देश है। C. भारत विश्व भर में टीकों (Vaccines) के उत्पादन में लगभग 60% बाजार हिस्सेदारी के साथ सबसे बड़ा वैक्सीन निर्माता देश है। D. भारत विश्व का तीसरा सबसे बड़ा ऑटोमोबाइल बाजार बन चुका है तथा दोपहिया और तिपहिया वाहनों के उत्पादन में विश्व में अग्रणी स्थान रखता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771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141/200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विनिर्माण क्षेत्र में फार्मास्यूटिकल्स और ऑटोमोबाइल दो सबसे मजबूत वैश्विक स्तंभ हैं। भारत को 'विश्व की फार्मेसी' (Pharmacy of the World) कहा जाता है; यह जेनेरिक दवाओं का सबसे बड़ा प्रदाता है जो अमेरिकी बाजार की 40% और यूके की 25% जेनेरिक दवाओं की आपूर्ति करता है। सीरम इंस्टीट्यूट और भारत बायोटेक जैसी कंपनियों के बल पर भारत दुनिया के 60% से अधिक टीकों का उत्पादन करता है। मात्रा में भारत का 3rd और मूल्य में 14th स्थान है (क्योंकि भारतीय दवाएं अत्यंत सस्ती हैं)। ऑटोमोबाइल क्षेत्र भारत की GDP में 7.1% और विनिर्माण GDP में 49% योगदान देता है; 2022-23 में भारत ने जापान को पीछे छोड़कर दुनिया का तीसरा सबसे बड़ा कार बाजार बनने का गौरव प्राप्त किया। अतः चारों कथन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771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141/200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श्रम बाजार एवं रोजगार की स्थिति मापने हेतु 'आवधिक श्रम बल सर्वेक्षण' (PLFS) के अंतर्गत 'श्रमिक-जनसंख्या अनुपात' (Worker Population Ratio - WPR) की सही परिभाषा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श्रम बल (Labour Force) में नियोजित व्यक्तियों का कुल प्रतिशत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संगठित क्षेत्र में काम करने वाले नियमित वेतनभोगी श्रमिकों का प्रतिशत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15 से 59 वर्ष के कार्यशील आयु वर्ग में बेरोजगार व्यक्तियों का प्रतिशत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देश की कुल जनसंख्या में रोजगार में नियोजित व्यक्तियों का प्रतिशत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372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142/200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देश की कुल जनसंख्या में रोजगार में नियोजित व्यक्तियों का प्रतिशत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श्रम बल (Labour Force) में नियोजित व्यक्तियों का कुल प्रतिशत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संगठित क्षेत्र में काम करने वाले नियमित वेतनभोगी श्रमिकों का प्रतिशत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15 से 59 वर्ष के कार्यशील आयु वर्ग में बेरोजगार व्यक्तियों का प्रतिशत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सांख्यिकी कार्यालय (NSO) द्वारा 2017 से आवधिक श्रम बल सर्वेक्षण (Periodic Labour Force Survey - PLFS) प्रारंभ किया गया। इसके प्रमुख संकेतक हैं: 1. श्रमिक-जनसंख्या अनुपात (WPR): देश की कुल जनसंख्या में वास्तव में किसी आर्थिक गतिविधि में कार्यरत/नियोजित व्यक्तियों का प्रतिशत [WPR = (कार्यरत व्यक्ति / कुल जनसंख्या) × 100]। यह अर्थव्यवस्था में रोजगार सृजन की क्षमता का सबसे ठोस पैमाना है। 2. श्रम बल भागीदारी दर (LFPR): कुल जनसंख्या में कार्य करने वाले अथवा काम की तलाश कर रहे लोगों का प्रतिशत। 3. बेरोजगारी दर (UR): श्रम बल में बेरोजगार व्यक्तियों का प्रतिशत [UR = (बेरोजगार / श्रम बल) × 100]।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372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142/200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खाद्य सुरक्षा अधिनियम' (NFSA, 2013) के प्रमुख कानूनी प्रावधानों एवं कवरेज के संबंध में निम्नलिखित कथनों पर विचार कीजिए: A. यह अधिनियम 5 जुलाई 2013 को अधिसूचित हुआ तथा 10 सितंबर 2013 को संसद द्वारा अधिनियमित किया गया। B. यह अधिनियम कानूनी रूप से देश की ग्रामीण आबादी के 75% और शहरी आबादी के 50% (अर्थात कुल जनसंख्या के लगभग दो-तिहाई या 67%) को रियायती खाद्यान्न पाने का अधिकार देता है। C. अंत्योदय अन्न योजना (AAY) के परिवारों को प्रति परिवार प्रति माह 35 किग्रा खाद्यान्न तथा प्राथमिकता वाले परिवारों (PHH) को प्रति व्यक्ति प्रति माह 5 किग्रा खाद्यान्न का अधिकार है। D. 1 जनवरी 2024 से केंद्र सरकार ने 'प्रधानमंत्री गरीब कल्याण अन्न योजना' (PMGKAY) के तहत लगभग 81.35 करोड़ लाभार्थियों को अगले 5 वर्षों हेतु पूर्णतः मुफ्त खाद्यान्न प्रदान करने का निर्णय लिया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974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143/200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खाद्य सुरक्षा अधिनियम (NFSA 2013) कल्याणकारी दृष्टिकोण से आगे बढ़कर नागरिकों को कानूनी खाद्य अधिकार (Right to Food) प्रदान करता है। 2011 की जनगणना के आधार पर देश की 75% ग्रामीण और 50% शहरी आबादी (लगभग 81.35 करोड़ लोग) इसके दायरे में आते हैं। इसके तहत अंत्योदय परिवारों को 35 किग्रा प्रति माह तथा प्राथमिकता परिवारों को 5 किग्रा प्रति व्यक्ति प्रति माह खाद्यान्न मिलता है (मूल अधिनियम में चावल 3 रु., गेहूं 2 रु. और मोटा अनाज 1 रु. प्रति किग्रा था)। जनवरी 2024 से सरकार ने इसे अगले 5 वर्षों तक शत-प्रतिशत निःशुल्क कर दिया है। अधिनियम में 18 वर्ष या उससे अधिक आयु की सबसे वरिष्ठ महिला को राशन कार्ड जारी करने हेतु 'परिवार की मुखिया' माना गया है। अतः चारों कथन सत्य हैं और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974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143/200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चीन पर वैश्विक व्यापारिक निर्भरता कम करने और व्यापारिक जोखिम घटाने के उद्देश्य से 2021 में भारत ने किन दो देशों के साथ मिलकर 'आपूर्ति श्रृंखला लचीलापन पहल' (Supply Chain Resilience Initiative - SCRI) प्रारंभ की?</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जापान और ऑस्ट्रेलिया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फ्रांस और जर्मनी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रूस और दक्षिण कोरिया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संयुक्त राज्य अमेरिका और यूनाइटेड किंगडम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144/200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जापान और ऑस्ट्रेलिया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फ्रांस और जर्मनी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रूस और दक्षिण कोरिया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संयुक्त राज्य अमेरिका और यूनाइटेड किंगडम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कोविड-19 महामारी के दौरान वैश्विक आपूर्ति श्रृंखलाओं में आए गंभीर व्यवधान और चीन में उत्पादन ठप होने के अनुभवों से सबक लेते हुए अप्रैल 2021 में भारत, जापान और ऑस्ट्रेलिया के व्यापार मंत्रियों ने संयुक्त रूप से 'सप्लाई चेन रेजिलिएंस इनीशिएटिव' (SCRI) की औपचारिक शुरुआत की। इस त्रिपक्षीय पहल का मुख्य उद्देश्य हिंद-प्रशांत क्षेत्र में मजबूत, लचीली, टिकाऊ और विविधतापूर्ण आपूर्ति श्रृंखला विकसित करना, किसी एक देश (विशेष रूप से चीन) पर निर्भरता को कम करना, डिजिटल प्रौद्योगिकी के उपयोग को बढ़ावा देना और तीनों देशों के बीच निवेश व क्रेता-विक्रेता संपर्कों को प्रोत्साहित करना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144/200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उत्तरी भारत की पर्वत श्रेणियों के उत्तर से दक्षिण के भौगोलिक क्रम एवं उनकी भू-आकृतिक विशेषताओं के संबंध में निम्नलिखित कथनों पर विचार कीजिए: A. उत्तर से दक्षिण की ओर पर्वत श्रेणियों का सही क्रम है: काराकोरम ➔ लद्दाख ➔ जास्कर ➔ पीर पंजाल ➔ शिवालिक। B. काराकोरम श्रेणी में भारत की सर्वोच्च चोटी K-2 (गॉडविन ऑस्टिन - 8611 मीटर) तथा सियाचिन (72 किमी) व बाल्टोरो हिमनद अवस्थित हैं। C. सिंधु नदी लद्दाख और जास्कर पर्वत श्रेणियों के मध्य बहती है तथा लद्दाख श्रेणी को काटकर बुंजी के निकट भारत के सबसे गहरे महाखड्ड (5200 मीटर) का निर्माण करती है। D. शिवालिक पर्वतमाला हिमालय की सबसे नवीन एवं सबसे दक्षिणी बाह्य पर्वत श्रृंखला है, जिसका निर्माण नदियों द्वारा लाए गए अवसादों के वलन से हुआ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176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145/200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हिमालय का उत्तर से दक्षिण अनुप्रस्थ विभाजन भारतीय भूगोल की आधारशिला है। ट्रांस-हिमालय की सबसे उत्तरी श्रेणी काराकोरम (कृष्णगिरि) है जहाँ विश्व की दूसरी सबसे ऊंची चोटी K-2 और सियाचिन जैसे विशाल ग्लेशियर हैं। इसके दक्षिण में लद्दाख श्रेणी है जिसकी सबसे तीव्र ढलान वाली चोटी राकापोशी है और इसके बीच खारदुंग ला दर्रा है। सिंधु नदी लद्दाख और जास्कर के बीच बहती हुई लद्दाख श्रेणी को काटकर 5200 मीटर गहरा गॉर्ज बनाती है। मध्य हिमालय में पीर पंजाल और धौलाधार श्रेणियां हैं तथा सबसे दक्षिण में शिवालिक (बाह्य हिमालय) स्थित है जो अभी भी विवर्तनिक रूप से सक्रिय है। अतः चारों कथन पूर्णतः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176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145/200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कश्मीर हिमालय में पाए जाने वाले अत्यधिक उपजाऊ झीलीय हिमनद निक्षेपों को क्या कहा जाता है, जो जाफरान (केसर), बादाम और अखरोट की कृषि हेतु विश्वविख्यात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भाबर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करेवा (Karewa)</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तराई</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रेह / कल्लर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777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146/200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करेवा (Karewa)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भाबर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तराई</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रेह / कल्लर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कश्मीर घाटी में झेलम नदी और उसकी सहायक नदियों के बेसिन में लगभग 100 से 250 मीटर की ऊंचाई पर पाए जाने वाले झीलीय चिकनी मिट्टी, गाद, बजरी और बालू के हिमनदीय निक्षेपों को स्थानीय भाषा में 'करेवा' (Karewa) कहा जाता है। इनका निर्माण प्लाइस्टोसीन काल में पीर पंजाल श्रेणी के उत्थान से बनी प्राचीन झीलों के सूखने और अवसादन से हुआ था। करेवा की मिट्टी विशेष रूप से विश्वप्रसिद्ध कश्मीरी केसर (जाफरान), बादाम, सेब और अखरोट की व्यावसायिक बागवानी के लिए आदर्श मानी जाती है। विकल्प A 'भाबर' शिवालिक के गिरिपाद में कंकड़-पत्थरों वाला छिद्रयुक्त क्षेत्र है। विकल्प C 'तराई' दलदली क्षेत्र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777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146/200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विभिन्न भौतिक प्रदेशों की सर्वोच्च पर्वत चोटियों एवं उनकी अवस्थिति का सही मिलान कीजिए: सूची-I (पर्वत चोटी): सूची-I: A. अनामुड़ी (2695 मीटर) B. डोडाबेट्टा (2637 मीटर) C. धूपगढ़ (1350 मीटर) D. अरमाकोंडा / जिंदागड़ा (1680 मीटर) सूची-II: 1. नीलगिरि पहाड़ियां (तमिलनाडु) 2. सतपुड़ा पर्वतमाला - महादेव पर्वत (मध्य प्रदेश) 3. अन्नामलाई पहाड़ियां (केरल) - दक्षिण भारत की सर्वोच्च चोटी 4. पूर्वी घाट (आंध्र प्रदेश)</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379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147/200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प्रमुख पठारी व तटीय पर्वत शिखरों में: 1. अनामुड़ी (केरल के इडुक्की जिले में अन्नामलाई पहाड़ियों में) 2695 मीटर ऊंचाई के साथ संपूर्ण प्रायद्वीपीय भारत और पश्चिमी घाट का सर्वोच्च पर्वत शिखर है। 2. डोडाबेट्टा 2637 मीटर ऊंचाई के साथ नीलगिरि पर्वत की सर्वोच्च चोटी है। 3. धूपगढ़ (1350 मीटर) मध्य प्रदेश के पचमढ़ी के पास महादेव पर्वत पर स्थित है और सतपुड़ा पर्वत श्रेणी की सबसे ऊंची चोटी है। 4. अरमाकोंडा (जिंदागड़ा पीक - 1680 मीटर) विशाखापट्टनम के पास स्थित है और पूर्वी घाट की सर्वोच्च चोटी मानी जाती है (ओडिशा की देवमाली 1672 मीटर दूसरी प्रमुख चोटी है)। अतः सही सुमेलन A-3, B-1, C-2, D-4 है और सही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379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147/200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मानसून प्रणाली, अल-नीनो तथा वर्षा वितरण के संदर्भ में निम्नलिखित कथनों पर विचार कीजिए: A. अल-नीनो प्रशांत महासागर में पेरू तट के पास ठंडी हम्बोल्ट धारा के स्थान पर 2 से 7 वर्ष के अंतराल पर उत्पन्न होने वाली एक गर्म समुद्री जलधारा है। B. अल-नीनो के सक्रिय होने पर सामान्यतः भारतीय ग्रीष्मकालीन मानसून कमजोर पड़ता है और भारत में सूखे की संभावना बढ़ जाती है। C. ला-नीना की स्थिति में व्यापारिक पवनें सामान्य से अधिक प्रबल हो जाती हैं जिससे भारतीय मानसून में सामान्य से अधिक वर्षा होती है। D. चेन्नई (तमिलनाडु तट) को अपनी अधिकांश वार्षिक वर्षा ग्रीष्मकालीन दक्षिण-पश्चिम मानसून से नहीं, बल्कि लौटते हुए उत्तर-पूर्वी मानसून से प्राप्त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148/200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मानसून पर वैश्विक वायुमंडलीय एवं महासागरीय परिसंचरण का गहरा प्रभाव पड़ता है। अल-नीनो (ENSO का गर्म चरण) पेरू तट पर गर्म जल के जमाव से वाकर परिसंचरण को बिगाड़ देता है जिससे हिंद महासागर पर उच्च दाब बनने से दक्षिण-पश्चिम मानसून की शाखा कमजोर पड़ जाती है। इसके विपरीत ला-नीना (ठंडा चरण) प्रशांत में व्यापारिक पवनों को तीव्र कर भारतीय उपमहाद्वीप पर भारी वर्षा लाता है। चेन्नई और कोरोमंडल तट दक्षिण-पश्चिम मानसून के समय पश्चिमी घाट के वृष्टि-छाया क्षेत्र में होने के कारण सूखे रहते हैं, किंतु अक्टूबर से दिसंबर में जब उत्तर-पूर्वी मानसून बंगाल की खाड़ी से नमी लेकर लौटता है, तब तमिलनाडु तट पर वर्ष की 50-60% वर्षा होती है। अतः चारों कथन सत्य हैं और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148/200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1979 में भारत और सोवियत संघ के संयुक्त तत्वावधान में भारतीय मानसून की गतिशीलता और व्यवहार को समझने हेतु कौन सा अंतरराष्ट्रीय वैज्ञानिक अभियान आयोजित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इनसैट-मौसम मिशन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मोनेक्स (MONEX - Monsoon Experiment)</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गार्प (GARP) महासागर मिशन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मेघदूत वायुमंडलीय परियोजना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581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149/200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मोनेक्स (MONEX - Monsoon Experiment)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इनसैट-मौसम मिशन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गार्प (GARP) महासागर मिशन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मेघदूत वायुमंडलीय परियोजना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1979 में भारत मौसम विज्ञान विभाग (IMD) और सोवियत संघ (USSR) की विज्ञान अकादमी ने विश्व मौसम विज्ञान संगठन (WMO) तथा इंटरनेशनल काउंसिल फॉर साइंस (ICSU) के वैश्विक वायुमंडलीय अनुसंधान कार्यक्रम (GARP) के तहत 'मानसून प्रयोग' (Monsoon Experiment - MONEX 1979) का सफल आयोजन किया था। इस संयुक्त वैज्ञानिक अभियान में अनुसंधान पोतों, विमानों और मौसम उपग्रहों का उपयोग कर अरब सागर और बंगाल की खाड़ी के ऊपर मानसूनी पवनों के उद्भव, तिब्बत के पठार के तापीय प्रभाव और सोमाली जेट धारा की गतिशीलता का गहन अध्ययन किया गया था।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581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149/200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प्रमुख नदी प्रणालियों एवं उनकी मुख्य सहायक नदियों का सही मिलान कीजिए: सूची-I (मुख्य नदी): सूची-I: A. घाघरा B. ब्रह्मपुत्र C. नर्मदा D. गोदावरी सूची-II: 1. तीस्ता 2. राप्ती 3. पेनगंगा / पूर्णा 4. हिरन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182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150/200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प्रमुख नदी तंत्रों में: 1. राप्ती नदी नेपाल से निकलकर उत्तर प्रदेश के गोरखपुर से बहती हुई घाघरा नदी में बाईं ओर से मिलती है। 2. तीस्ता नदी सिक्किम के चो लहामू हिमनद से निकलकर पश्चिम बंगाल होते हुए बांग्लादेश में ब्रह्मपुत्र (जमुना) में मिलती है। 3. हिरन नदी मध्य प्रदेश में जबलपुर के भेड़ाघाट के निकट नर्मदा नदी में दाईं ओर से मिलने वाली प्रमुख सहायक नदी है (तवा, बरना, कोलार अन्य सहायक नदियां हैं)। 4. पेनगंगा और पूर्णा नदियां महाराष्ट्र के अजंता पर्वतमाला से निकलकर गोदावरी नदी तंत्र का प्रमुख हिस्सा बनती हैं। अतः सही सुमेलन A-2, B-1, C-4, D-3 है और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182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150/200</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प्रमुख खनिज भंडारों एवं उनके उत्पादक राज्यों के संदर्भ में निम्नलिखित कथनों पर विचार कीजिए: A. भारत में बॉक्साइट का सर्वाधिक उत्पादन (लगभग 70% से अधिक) ओडिशा राज्य में होता है, जहां कोरापुट और कालाहांडी प्रमुख खनन क्षेत्र हैं। B. देश में अभ्रक (Mica) का सर्वाधिक उत्पादन आंध्र प्रदेश के नेल्लोर जिले में होता है। C. छत्तीसगढ़ के दंतेवाड़ा जिले में स्थित 'बैलाडीला' भारत की सबसे बड़ी यंत्रीकृत लौह अयस्क खान है, जहां से विशाखापट्टनम बंदरगाह द्वारा जापान को निर्यात किया जाता है। D. झारखंड का पलामू व लोहरदगा जिला उच्च कोटि के बॉक्साइट उत्पादन हेतु तथा कोडरमा अभ्रक के लिए विख्यात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783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151/200</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खनिज संपदा का वितरण विशिष्ट भौगोलिक पेटियों में केंद्रित है। ओडिशा बॉक्साइट का शीर्ष उत्पादक है (पंचपतमली, कोरापुट व गंधमार्दन भंडार)। आंध्र प्रदेश की नेल्लोर अभ्रक पेटी सर्वोत्तम गुणवत्ता वाले हरे रंग के अभ्रक के लिए देश में प्रथम है। छत्तीसगढ़ का बैलाडीला उच्च कोटि के हेमेटाइट लौह अयस्क का विपुल भंडार है जहाँ से 14 निक्षेपों में खनन होता है और एनएमडीसी द्वारा विशाखापट्टनम पोर्ट के जरिए जापान व दक्षिण कोरिया को कच्चा लोहा भेजा जाता है। झारखंड में लोहरदगा बॉक्साइट के लिए तथा कोडरमा-हजारीबाग पेटी 'विश्व की अभ्रक राजधानी' मानी जाती रही है। अतः चारों कथन पूर्णतः सत्य हैं और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783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151/200</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नाभिकीय एवं गैर-पारंपरिक ऊर्जा संयंत्रों तथा उनके राज्यों का सही मिलान कीजिए: सूची-I (ऊर्जा संयंत्र / स्थल): सूची-I: A. मुप्पंदल एवं कायथार B. पावागढ़ सोलर पार्क C. तातापानी D. कैगा परमाणु ऊर्जा संयंत्र सूची-II: 1. सौर ऊर्जा (कर्नाटक) 2. भू-तापीय ऊर्जा (छत्तीसगढ़) 3. नाभिकीय ऊर्जा (कर्नाटक) 4. पवन ऊर्जा (तमिलनाडु)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152/200</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स्वच्छ एवं नवीकरणीय ऊर्जा का विकास तेजी से हो रहा है। तमिलनाडु का मुप्पंदल-कायथार पवन ऊर्जा फार्म एशिया के सबसे बड़े तटवर्ती पवन ऊर्जा केंद्रों में से एक है। कर्नाटक के तुमकुर जिले में स्थित पावागढ़ सौर पार्क (शक्ति स्थल) 2050 मेगावाट क्षमता का विशाल सोलर पार्क है। छत्तीसगढ़ के बलरामपुर जिले में स्थित तातापानी गर्म जल स्रोतों के कारण भू-तापीय ऊर्जा (Geothermal Energy) के दोहन हेतु प्रमुख स्थल है (लद्दाख की पूगा घाटी और हिमाचल का मणिकर्ण भी इसके उदाहरण हैं)। कैगा परमाणु ऊर्जा संयंत्र कर्नाटक के उत्तर कन्नड़ जिले में काली नदी के तट पर स्थित है। अतः सही सुमेलन A-4, B-1, C-2, D-3 है और सही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152/200</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राष्ट्रीय राजमार्ग विकास परियोजना (NHDP) के तहत 'स्वर्णिम चतुर्भुज' (Golden Quadrilateral) के चार खंडों में से सर्वाधिक लंबाई वाला खंड कौन 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चेन्नई - कोलकाता खंड (1684 किमी)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कोलकाता - दिल्ली खंड (1453 किमी)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दिल्ली - मुम्बई खंड (1419 किमी)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मुम्बई - चेन्नई खंड (1290 किमी)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986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153/200</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चेन्नई - कोलकाता खंड (1684 किमी)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कोलकाता - दिल्ली खंड (1453 किमी)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दिल्ली - मुम्बई खंड (1419 किमी)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मुम्बई - चेन्नई खंड (1290 किमी)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स्वर्णिम चतुर्भुज भारत के चार प्रमुख महानगरों-दिल्ली, मुंबई, चेन्नई और कोलकाता को जोड़ने वाला 5846 किमी लंबा 4/6 लेन का राष्ट्रीय राजमार्ग तंत्र है। इसके चारों खंडों की लंबाई का घटता क्रम इस प्रकार है: 1. चेन्नई - कोलकाता खंड (NH 16): 1684 किमी (सर्वाधिक लंबा खंड), 2. कोलकाता - दिल्ली खंड (NH 19): 1453 किमी, 3. दिल्ली - मुम्बई खंड (NH 48): 1419 किमी, और 4. मुम्बई - चेन्नई खंड (NH 48): 1290 किमी।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986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153/200</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विभिन्न राज्यों में की जाने वाली 'स्थानांतरित कृषि' (झूमिंग कृषि) के स्थानीय नामों का सही मिलान कीजिए: सूची-I (स्थानांतरित कृषि नाम): सूची-I: A. पोडू / पाण्डु B. पूनम (Punam) C. बेवर / दहिया D. कुमारी (Kumari) सूची-II: 1. केरल 2. ओडिशा एवं आंध्र प्रदेश 3. पश्चिमी घाट (कर्नाटक/गोवा) 4. मध्य प्रदेश एवं छत्तीसगढ़</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587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154/200</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स्थानांतरित कृषि (स्लैश एंड बर्न एग्रीकल्चर) भारत के जनजातीय क्षेत्रों में अलग-अलग नामों से जानी जाती है: पूर्वोत्तर भारत में इसे 'झूम' कहा जाता है; ओडिशा और आंध्र प्रदेश में 'पोडू' या 'पाण्डु'; केरल के पश्चिमी घाट में 'पूनम'; मध्य प्रदेश व छत्तीसगढ़ में बैगा जनजाति द्वारा 'बेवर' या 'दहिया'; तथा दक्षिणी राजस्थान के पहाड़ी भागों में भीलों द्वारा 'वालरा' (माता व दजिया) कहा जाता है। कर्नाटक और पश्चिमी घाट के पर्वतीय ढलानों पर इसे 'कुमारी' कहा जाता है। अतः सही सुमेलन A-2, B-1, C-4, D-3 है और सही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587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154/200</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रेगिस्तानों, पर्वत शिखरों एवं उनकी महाद्वीपीय अवस्थिति के संबंध में निम्नलिखित कथनों पर विचार कीजिए: A. गोबी मरुस्थल मध्य एशिया (मंगोलिया और चीन) में स्थित एक ठंडा वृष्टि-छाया रेगिस्तान है। B. पेटागोनिया मरुस्थल दक्षिण अमेरिका (अर्जेंटीना) में एंडीज पर्वतमाला के पूर्व में स्थित एक शीतोष्ण ठंडा मरुस्थल है। C. माउंट एल्ब्रुस (रूस, काकेशस पर्वतमाला) यूरोप की सर्वोच्च पर्वत चोटी है। D. माउंट किलिमंजारो (तंजानिया) अफ्रीका महाद्वीप का सर्वोच्च एकल ज्वालामुखी पर्वत शिखर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188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155/200</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विश्व के प्रमुख भौतिक लक्षणों में महाद्वीपीय विविधता दृष्टिगोचर होती है। गोबी मरुस्थल हिमालय और तिब्बत के पठार की वृष्टि-छाया के कारण बना विशाल ठंडा मरुस्थल है। दक्षिण अमेरिका का पेटागोनिया रेगिस्तान एंडीज पर्वत के पवन-विमुख ढाल पर स्थित है। यूरोप की सबसे ऊंची चोटी माउंट एल्ब्रुस (5642 मीटर) काकेशस पर्वत में जॉर्जिया सीमा के निकट रूस में स्थित है। अफ्रीका की सबसे ऊंची चोटी किलिमंजारो (5895 मीटर) एक सुषुप्त स्ट्रैटोज्वालामुखी है जिसके तीन शंकु-किबो, मावेंजी और शिरा हैं। उत्तरी अमेरिका की सर्वोच्च चोटी देनाली (मैकिन्ले - 6190 मी.) है तथा दक्षिण अमेरिका की एकांकागुआ (6961 मी.) है। अतः चारों कथन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188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155/200</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अंतरराष्ट्रीय जहाजी नहरों एवं उनके द्वारा जोड़े जाने वाले जल निकायों का सही मिलान कीजिए: सूची-I (जहाजी नहर): सूची-I: A. कील नहर (Kiel Canal) B. स्वेज नहर (Suez Canal) C. पनामा नहर (Panama Canal) D. सू नहर (Soo Canal) सूची-II: 1. भूमध्य सागर को लाल सागर से 2. अटलांटिक महासागर को प्रशांत महासागर से 3. सुपीरियर झील को ह्यूरॉन झील से 4. उत्तरी सागर (एल्ब ज्वारनदमुख) को बाल्टिक सागर से</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156/200</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अंतरराष्ट्रीय व्यापारिक जलमार्गों में ये नहरें रणनीतिक संकीर्ण गलियारे (Choke points) हैं: 1. उत्तरी जर्मनी की 'कील नहर' (1895) उत्तरी सागर को बाल्टिक सागर से जोड़ती है और जहाजों को जूटलैंड प्रायद्वीप के लंबे चक्कर से बचाती है। 2. मिस्र की 'स्वेज नहर' (1869 में फर्डिनेंड डी लेसेप्स द्वारा निर्मित) भूमध्य सागर को लाल सागर से जोड़कर यूरोप और एशिया के बीच की दूरी लगभग 7000 किमी कम करती है। 3. 'पनामा नहर' (1914) पनामा के जलडमरूमध्य को काटकर बनाई गई है जो अटलांटिक और प्रशांत महासागरों को जोड़ती है। 4. अमेरिका और कनाडा सीमा पर स्थित 'सू नहर' सेंट मैरी नदी पर लॉक सिस्टम द्वारा सुपीरियर झील को ह्यूरॉन झील से जोड़ती है। अतः सही सुमेलन A-4, B-1, C-2, D-3 है और सही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156/200</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जर्मनी का कौन सा औद्योगिक प्रदेश यूरोप का सबसे बड़ा भारी औद्योगिक क्षेत्र है, जो कोयला भंडार, लोहा-इस्पात और भारी इंजीनियरिंग हेतु 'जर्मनी का हृदय' कहलाता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रूर औद्योगिक प्रदेश (Ruhr Region)</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 घाटी औद्योगिक प्रदेश</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कांतो मैदानी प्रदेश</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लॉरेन औद्योगिक बेसिन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391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157/200</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रूर औद्योगिक प्रदेश (Ruhr Region)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 घाटी औद्योगिक प्रदेश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कांतो मैदानी प्रदेश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लॉरेन औद्योगिक बेसिन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पश्चिमी जर्मनी में राइन नदी की सहायक रूर नदी घाटी में स्थित 'रूर औद्योगिक प्रदेश' (Ruhr District) यूरोप का सबसे सघन और प्रमुख औद्योगिक केंद्र है, जहाँ डोर्टमुंड, एसेन और डुइसबर्ग जैसे बड़े औद्योगिक नगर हैं। यह क्षेत्र उत्तम बिटुमिनस कोयला भंडारों पर आधारित इस्पात, भारी मशीनरी और रसायन उद्योगों के लिए विश्वभर में प्रसिद्ध है (इसी कारण विश्व में किसी भी समृद्ध कोयला-खनिज क्षेत्र की उपमा रूर से दी जाती है, जैसे भारत का छोटानागपुर पठार)। विकल्प B 'पो घाटी' उत्तरी इटली (मिलान-ट्यूरिन) का वस्त्र व ऑटोमोबाइल क्षेत्र है। विकल्प C 'कांतो मैदान' टोक्यो-योकोहामा (जापान) का प्रमुख औद्योगिक क्षेत्र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391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157/200</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संयुक्त राष्ट्र मरुस्थलीकरण रोकथाम अभिसमय (UNCCD) एवं वैश्विक पर्यावरणीय संकटों के संदर्भ में निम्नलिखित कथनों पर विचार कीजिए: A. UNCCD (1994) के अनुसार मरुस्थलीकरण शुष्क, अर्ध-शुष्क और उप-आर्द्र क्षेत्रों में जलवायु परिवर्तन और मानवीय गतिविधियों से होने वाला भूमि क्षरण है। B. वैश्विक स्तर पर मरुस्थलीकरण की समस्या से सर्वाधिक प्रभावित महाद्वीप अफ्रीका और एशिया हैं, जबकि यूरोप में यह समस्या न्यूनतम है। C. खाद्य एवं कृषि संगठन (FAO) की रिपोर्ट 2020 के अनुसार विश्व में सर्वाधिक वनों की कटाई (Deforestation) उष्णकटिबंधीय वन क्षेत्रों (जैसे अमेज़न व कांगो बेसिन) में दर्ज की गई है। D. अंतरराष्ट्रीय प्रकृति संरक्षण संघ (IUCN) की संकटग्रस्त प्रजातियों की लाल सूची (Red List) को आधिकारिक रूप से 'जीवन का बैरोमीटर' (Barometer of Life)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99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158/200</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वैश्विक पर्यावरण संरक्षण के प्रमुख सम्मेलनों में रियो पृथ्वी सम्मेलन (1992) के तहत UNCCD की स्थापना हुई। UNCCD की ग्लोबल लैंड आउटलुक रिपोर्ट के अनुसार अफ्रीका (विशेषकर साहेल क्षेत्र) और एशिया के शुष्क क्षेत्र मरुस्थलीकरण के सबसे बड़े हॉटस्पॉट हैं, जबकि समशीतोष्ण जलवायु और सख्त वन नीतियों के कारण यूरोप में भूमि क्षरण 8% से भी कम है। FAO के ग्लोबल फॉरेस्ट रिसोर्स असेसमेंट (FRA 2020) के अनुसार 1990 से 2020 के बीच 90% से अधिक वनों की कटाई कृषि विस्तार और पशुपालन के कारण उष्णकटिबंधीय वर्षावनों में हुई। 1964 में स्थापित IUCN रेड लिस्ट 9 श्रेणियों में जैव-विविधता के स्वास्थ्य और संकट को ठीक उसी प्रकार मापती है जैसे बैरोमीटर वायुदाब मापता है, अतः इसे 'जीवन का बैरोमीटर' कहा जाता है। अतः चारों कथन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99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158/200</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रक्षा अनुसंधान एवं विकास संगठन (DRDO) द्वारा कम ऊंचाई वाले हवाई खतरों (जैसे ड्रोन और हेलीकॉप्टर) को निष्प्रभावी करने हेतु विकसित 'मैन-पोर्टेबल' (सैनिकों द्वारा कंधे पर रखकर दागी जाने वाली) वायु रक्षा प्रणाली कौन 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आकाश-NG</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क्यूआरएसएएम (QRSAM)</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वीएल-एसआरएसएएम (VL-SRSAM)</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वी-शोराड्स (VSHoRADS)</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593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159/200</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वी-शोराड्स (VSHoRADS)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आकाश-NG</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क्यूआरएसएएम (QRSAM)</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वीएल-एसआरएसएएम (VL-SRSAM)</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VSHoRADS (Very Short Range Air Defence System) DRDO के अनुसंधान केंद्र इमारत (RCI), हैदराबाद द्वारा विकसित चौथी पीढ़ी की मैन-पोर्टेबल (MANPADS) सतह-से-हवा में मार करने वाली मिसाइल प्रणाली है। इसे सैनिकों द्वारा दुर्गम पर्वतीय सीमांत क्षेत्रों में आसानी से ले जाया जा सकता है और तिपाई (Tripod) या कंधे से कम ऊंचाई पर उड़ने वाले लड़ाकू विमानों, हेलीकॉप्टरों और मानव रहित ड्रोनों (UAVs) पर दागा जा सकता है। इसमें प्रणोदन हेतु ड्यूल-थ्रस्ट सॉलिड मोटर तथा अत्याधुनिक मिनिएचराइज्ड रिएक्शन कंट्रोल सिस्टम (RCS) लगा है। अन्य प्रणालियां (आकाश, QRSAM) भारी वाहनों या नौसैनिक जहाजों पर स्थापित की जाती हैं, वे मैन-पोर्टेबल नहीं हैं।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593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159/200</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आधुनिक लड़ाकू विमानों में प्रयुक्त होने वाले 'सक्रिय इलेक्ट्रॉनिक रूप से स्कैन की गई एरे' (AESA) रडार के संदर्भ में निम्नलिखित कथनों पर विचार कीजिए: A. AESA रडार में यांत्रिक घूर्णन (Mechanical rotation) के बिना केवल इलेक्ट्रॉनिक बीम स्टीयरिंग द्वारा रेडियो बीम को पलक झपकते ही किसी भी दिशा में मोड़ा जा सकता है। B. इसमें सैकड़ों छोटे-छोटे सॉलिड-स्टेट ट्रांसमिट/रिसीव मॉड्यूल (TRMs) लगे होते हैं, जिससे यह एक साथ कई अलग-अलग आवृत्तियों पर कार्य कर सकता है। C. AESA रडार एक ही समय में हवा और जमीन पर मौजूद कई लक्ष्यों को एक साथ ट्रैक करने और मिसाइलों को निर्देशित करने में सक्षम है। D. DRDO की LRDE प्रयोगशाला द्वारा स्वदेशी लड़ाकू विमान तेजस Mk-1A और AMCA हेतु 'उत्तम' (Uttam) AESA रडार विकसित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160/200</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AESA (Active Electronically Scanned Array) आधुनिक वायु युद्धकला की सबसे उन्नत रडार तकनीक है। पारंपरिक रडारों में एंटीना घूमता था, किंतु AESA में हजारों अर्धचालक टीआर मॉड्यूल होते हैं जो प्रकाश की गति से बीम को इलेक्ट्रॉनिक रूप से संचालित करते हैं। इसकी लो प्रोबेबिलिटी ऑफ इंटरसेप्ट (LPI) विशेषता के कारण दुश्मन के विमान इसे आसानी से डिटेक्ट या जैम नहीं कर सकते। यह एक साथ 20 से अधिक लक्ष्यों को ट्रैक कर उन पर हथियार लॉक कर सकता है। भारत के इलेक्ट्रॉनिक्स एवं रडार विकास प्रतिष्ठान (LRDE) द्वारा विकसित स्वदेशी 'उत्तम रडार' तेजस लड़ाकू विमानों में लगाया जा रहा है। अतः चारों कथन सत्य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160/200</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 से 8 दिसंबर 2024 के मध्य भारतीय सेना और कंबोडियाई सेना के बीच पहले संयुक्त टेबल टॉप अभ्यास 'सिनबैक्स' (CINBAX) का आयोजन किस स्थान पर किया गया?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जोधपुर (राजस्थान)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पुणे (महाराष्ट्र)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भुवनेश्वर (ओडिशा)</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उमरोई (मेघालय)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796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161/200</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पुणे (महाराष्ट्र)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जोधपुर (राजस्थान)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भुवनेश्वर (ओडिशा)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उमरोई (मेघालय)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और कंबोडिया के बीच द्विपक्षीय रक्षा सहयोग को सुदृढ़ करने के उद्देश्य से संयुक्त टेबल टॉप अभ्यास का पहला संस्करण 'CINBAX 2024' (Cambodia-India Bilateral Army Exercise) 1 से 8 दिसंबर 2024 को पुणे (महाराष्ट्र) में सफलतापूर्वक आयोजित किया गया। इस अभ्यास का मुख्य केंद्र बिंदु संयुक्त राष्ट्र शांति स्थापना अभियानों (UN Peacekeeping), आतंकवाद-रोधी रणनीति, तथा मानवीय सहायता और आपदा राहत (HADR) कार्यों में दोनों देशों की सेनाओं के मध्य अंतर-संचालनीयता और सैन्य तालमेल को बढ़ाना था।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796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161/200</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पूर्वी लद्दाख के हानले में स्थापित एशिया की सबसे बड़ी और विश्व की सबसे ऊंची इमेजिंग चेरेनकोव वेधशाला (MACE) के संबंध में निम्नलिखित कथनों पर विचार कीजिए: A. MACE (Major Atmospheric Cherenkov Experiment) टेलीस्कोप की स्थापना समुद्र तल से 4300 मीटर की ऊंचाई पर हानले डार्क स्काई रिजर्व में की गई है। B. इस 21 मीटर व्यास वाले विशाल टेलीस्कोप को भाभा परमाणु अनुसंधान केंद्र (BARC) द्वारा ECIL तथा अन्य भारतीय उद्योगों के सहयोग से स्वदेशी रूप से निर्मित किया गया है। C. इसका मुख्य वैज्ञानिक उद्देश्य ब्रह्मांड से आने वाली अति-उच्च ऊर्जा गामा किरणों (Very High Energy Gamma Rays) और सुपरनोवा अवशेषों का अध्ययन करना है। D. इसका आधिकारिक उद्घाटन परमाणु ऊर्जा आयोग (AEC) के अध्यक्ष डॉ. अजीत कुमार मोहंती द्वारा अक्टूबर 2024 में किया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397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162/200</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लद्दाख का हानले अपनी अत्यधिक शुष्क जलवायु, न्यूनतम बादलों और शून्य प्रकाश प्रदूषण के कारण खगोलीय अनुसंधानों के लिए विश्व के सबसे बेहतरीन स्थलों में गिना जाता है। यहाँ BARC द्वारा निर्मित MACE टेलीस्कोप 4300 मीटर की ऊंचाई पर विश्व का सबसे ऊंचा और नामीबिया के H.E.S.S. के बाद विश्व का दूसरा सबसे बड़ा (एशिया का सबसे बड़ा) चेरेनकोव टेलीस्कोप है। जब ब्रह्मांडीय गामा किरणें पृथ्वी के उच्च वायुमंडल में टकराती हैं, तो वे चेरेनकोव विकिरण (नीला प्रकाश) उत्पन्न करती हैं, जिसे MACE के 356 दर्पण और अत्यधिक संवेदनशील कैमरे रिकॉर्ड करते हैं। इसका उद्घाटन अक्टूबर 2024 में AEC अध्यक्ष डॉ. अजीत कुमार मोहंती ने किया था। अतः चारों कथन सत्य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397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162/200</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अप्रैल 2023 में भारतीय अंतरिक्ष अनुसंधान संगठन (ISRO) द्वारा सिंगापुर के दो प्रमुख उपग्रहों-टेलीयोस-2 (TeLEOS-2) और ल्यूमलाइट-4 (Lumelite-4) को किस प्रक्षेपण यान से सफलतापूर्वक प्रक्षेपित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पीएसएलवी-सी55 (PSLV-C55)</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एलवीएम3-एम4 (LVM3-M4)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एसएसएलवी-डी2 (SSLV-D2)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जीएसएलवी-एफ12 (GSLV-F12)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998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163/200</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पीएसएलवी-सी55 (PSLV-C55)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एलवीएम3-एम4 (LVM3-M4)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एसएसएलवी-डी2 (SSLV-D2)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जीएसएलवी-एफ12 (GSLV-F12)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22 अप्रैल 2023 को इसरो ने अपने 'वर्कहॉर्स' रॉकेट PSLV-C55 के जरिए सतीश धवन अंतरिक्ष केंद्र, श्रीहरिकोटा से सिंगापुर के 741 किग्रा वजनी प्राथमिक रडार इमेजिंग सैटेलाइट 'TeLEOS-2' और समुद्री सुरक्षा निगरानी उपग्रह 'Lumelite-4' को 586 किमी की वृत्ताकार कक्षा में स्थापित किया। इस मिशन में न्यूस्पेस इंडिया लिमिटेड (NSIL) का समर्पित वाणिज्यिक अनुबंध था। इस मिशन की मुख्य तकनीकी विशेषता यह थी कि इसके चौथे चरण (PS4) को समुद्र में गिराने के बजाय 'POEM-2' (PSLV Orbital Experimental Module) के रूप में एक स्थिर कक्षीय प्रयोगशाला बनाकर उस पर विभिन्न भारतीय वैज्ञानिक पेलोड्स के प्रयोग संचालित किए गए।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998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163/200</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अंतरिक्ष अनुसंधान संगठन (ISRO) के प्रमुख तकनीकी केंद्रों एवं उनके भौगोलिक स्थानों का सही मिलान कीजिए: सूची-I (इसरो केंद्र): सूची-I: A. विक्रम साराभाई अंतरिक्ष केंद्र (VSSC) B. यू.आर. राव उपग्रह केंद्र (URSC) C. राष्ट्रीय सुदूर संवेदन केंद्र (NRSC) D. भारतीय सुदूर संवेदन संस्थान (IIRS) सूची-II: 1. बेंगलुरु (कर्नाटक) 2. हैदराबाद (तेलंगाना) 3. देहरादून (उत्तराखंड) 4. तिरुवनंतपुरम (केरल)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164/200</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इसरो के विभिन्न प्रभाग विशिष्ट कार्यों हेतु देश भर में स्थापित हैं: 1. VSSC (तिरुवनंतपुरम) प्रक्षेपण यानों (PSLV, GSLV, LVM3) के डिजाइन और रॉकेट तकनीक का मुख्य केंद्र है। 2. URSC (बेंगलुरु) भारत के सभी उपग्रहों (संचार, रिमोट सेंसिंग, चंद्रयान, मंगलयान) के निर्माण व संयोजन का शीर्ष केंद्र है। 3. NRSC (हैदराबाद) पृथ्वी अवलोकन उपग्रहों से प्राप्त डेटा के अधिग्रहण, प्रसंस्करण और राष्ट्रीय स्तर पर मानचित्रण का कार्य करता है। 4. IIRS (देहरादून) सुदूर संवेदन (Remote Sensing) और जीआईएस तकनीक में स्नातकोत्तर शिक्षा व प्रशिक्षण का प्रमुख संस्थान है। अतः सही सुमेलन A-4, B-1, C-2, D-3 है और सही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164/200</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रक्षा अनुसंधान एवं विकास संगठन (DRDO) की प्रयोगशाला DIPAS द्वारा सफेद दाग (विटिलिगो / ल्यूकोडर्मा) के प्रभावी उपचार हेतु हिमालयी जड़ी-बूटियों से कौन सा पॉली-हर्बल उत्पाद विकसित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अमटूथ</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ल्यूकोस्किन (Lukoskin)</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एग्जिट</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नॉकडर्ना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200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165/200</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ल्यूकोस्किन (Lukoskin)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अमटूथ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एग्जिट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नॉकडर्ना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DRDO की रक्षा फिजियोलॉजी और संबद्ध विज्ञान संस्थान (DIPAS), नई दिल्ली ने हिमालयी उच्च पर्वतीय क्षेत्रों में पाई जाने वाली औषधीय वनस्पतियों के गहन अनुसंधान से 'ल्यूकोस्किन' (Lukoskin) नामक अत्यंत प्रभावी पॉली-हर्बल औषधि विकसित की। यह दवा त्वचा में मेलेनिन वर्णक के पुनर्निर्माण को उत्तेजित कर सफेद दाग (विटिलिगो) को ठीक करने में चमत्कारी सिद्ध हुई है, जिसे एमिल फार्मास्यूटिकल्स द्वारा व्यावसायिक स्तर पर उत्पादित किया जा रहा है। विकल्प B 'अमटूथ' दांतों की सुरक्षा का हर्बल टूथपेस्ट है। विकल्प C 'एग्जिट' दाद व एक्जिमा की हर्बल दवा है। विकल्प D 'नॉकडर्ना' नोक्टूरिया की रासायनिक एलोपैथिक दवा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200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165/200</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वैश्विक मंगल अन्वेषण अभियानों के अंतर्गत विभिन्न अंतरिक्ष एजेंसियों द्वारा भेजे गए उपग्रहों एवं रोवरों के संबंध में निम्नलिखित कथनों पर विचार कीजिए: A. 'तियानवेन-1' (Tianwen-1) चीन का प्रथम स्वतंत्र मंगल मिशन है, जिसके रोवर का नाम अग्नि देवता के नाम पर 'झुरोंग' (Zhurong) रखा गया था। B. 'पर्सिवरेंस' (Perseverance) रोवर अमेरिकी अंतरिक्ष एजेंसी नासा (NASA) द्वारा मंगल की जेजेरो क्रेटर पर भेजा गया अत्याधुनिक मार्स रोवर है। C. 'होप' (Hope / अल-अमल) मार्स प्रोब संयुक्त अरब अमीरात (UAE) द्वारा मंगल के वायुमंडल का अध्ययन करने हेतु भेजा गया पहला अरब मिशन है। D. भारत का मंगलयान (Mars Orbiter Mission - MOM) 2013 में PSLV-C25 द्वारा प्रक्षेपित किया गया था, जो प्रथम प्रयास में ही मंगल की कक्षा में पहुंचने वाला विश्व का पहला देश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802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166/200</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2020-21 मंगल अन्वेषण का ऐतिहासिक काल रहा जब तीन देशों ने एक साथ मंगल मिशन भेजे। चीन के राष्ट्रीय अंतरिक्ष प्रशासन (CNSA) ने जुलाई 2020 में तियानवेन-1 भेजा जिसने मई 2021 में यूटोपिया प्लैनिटिया पर रोवर 'झुरोंग' को सफलता से उतारा। नासा का पर्सिवरेंस रोवर मंगल पर प्राचीन सूक्ष्मजीवी जीवन के साक्ष्य तलाश रहा है (जिसके साथ इंजीन्यूटी हेलीकॉप्टर ने मंगल पर पहली नियंत्रित उड़ान भरी थी)। यूएई ने जापान के तानेगाशिमा से होप प्रोब लॉन्च किया जो मंगल के मौसमी चक्र का अध्ययन कर रहा है। भारत 5 नवंबर 2013 को मात्र 450 करोड़ रु. की लागत से प्रथम प्रयास में मंगल की कक्षा में पहुंचने वाला दुनिया का पहला देश बना था। अतः चारों कथन सत्य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802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166/200</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उपग्रह संचार (Satellite Communication) में प्रयुक्त होने वाली निम्नलिखित आवृत्ति पट्टियों (Frequency Bands) में से कौन सा बैंड INSAT एवं GSAT उपग्रहों में मुख्य रूप से प्रयुक्त नहीं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MF (Medium Frequency - 300 kHz से 3 MHz)</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Ku-बैंड (12 से 18 GHz)</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C-बैंड (4 से 8 GHz)</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Ka-बैंड (26.5 से 40 GHz)</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403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167/200</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MF (Medium Frequency - 300 kHz से 3 MHz)</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Ku-बैंड (12 से 18 GHz)</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C-बैंड (4 से 8 GHz)</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Ka-बैंड (26.5 से 40 GHz)</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अंतरिक्ष में भू-स्थिर संचार उपग्रहों (जैसे भारत के इनसैट और जीसैट उपग्रह) द्वारा पृथ्वी से संपर्क साधने हेतु सुपर हाई फ्रीक्वेंसी (SHF) माइक्रोवेव बैंड्स का उपयोग किया जाता है: 1. C-बैंड और एक्सटेंडेड C-बैंड (टेलीविजन प्रसारण और मौसम डेटा), 2. Ku-बैंड (डायरेक्ट-टू-होम / DTH उपग्रह टेलीविजन और वी-सैट संचार), तथा 3. Ka-बैंड (अत्यधिक तीव्र ब्रॉडबैंड इंटरनेट और हाई थ्रूपुट उपग्रह जैसे GSAT-11 व GSAT-29)। इसके विपरीत विकल्प C में दिया गया 'MF' (मध्यम आवृत्ति - 300 kHz से 3 MHz) जमीन पर चलने वाले पारंपरिक AM रेडियो प्रसारण और समुद्री तटीय नेविगेशन हेतु उपयोग होता है, उपग्रह संचार में नहीं।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403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167/200</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'इंटरनेट ऑफ थिंग्स' (IoT) की तकनीकी वास्तुकला (Architecture) एवं उसकी विभिन्न परतों (Layers) के संदर्भ में निम्नलिखित कथनों पर विचार कीजिए: A. परसेप्शन लेयर (Perception Layer) भौतिक वातावरण से डेटा एकत्र करने हेतु सेंसर्स (Sensors), आरएफआईडी (RFID) और कैमरों का उपयोग करती है। B. नेटवर्क लेयर (Network Layer) वायरलेस और वायर्ड संचार प्रोटोकॉल (जैसे Wi-Fi, Bluetooth, Zigbee, LoRaWAN और 5G) के माध्यम से डेटा प्रेषित करती है। C. ट्रांसपोर्ट लेयर (Transport Layer) एंड-टू-एंड डेटा पैकेट्स के विश्वसनीय ट्रांसमिशन हेतु TCP/UDP प्रोटोकॉल का उपयोग करती है। D. एप्लीकेशन लेयर (Application Layer) अंतिम उपयोगकर्ता को स्मार्ट होम, स्मार्ट ग्रिड और स्वास्थ्य निगरानी जैसी प्रत्यक्ष डिजिटल सेवाएं प्रदान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168/200</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इंटरनेट ऑफ थिंग्स (IoT) अरबों भौतिक उपकरणों का एक अंतर्संबंधित नेटवर्क है जो इंटरनेट के माध्यम से डेटा साझा करते हैं। इसकी 4-स्तरीय वास्तुकला में: 1. परसेप्शन लेयर (सेंसिंग परत) वास्तविक दुनिया के तापमान, गति और आर्द्रता को डिजिटल सिग्नल में बदलती है। 2. नेटवर्क लेयर वाई-फाई, ब्लूटूथ, जिगबी और सेलुलर तकनीकों द्वारा इस डेटा को गेटवे तक पहुंचाती है। 3. ट्रांसपोर्ट लेयर नेटवर्क और क्लाउड सर्वर के बीच सुरक्षित डेटा पैकेट डिलीवरी सुनिश्चित करती है। 4. एप्लीकेशन लेयर उपयोगकर्ता के स्मार्टफोन या डैशबोर्ड पर स्मार्ट सिटी, हेल्थकेयर और कृषि ऑटोमेशन के रूप में परिणाम प्रदर्शित करती है। अतः चारों कथन पूर्णतः सत्य हैं और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168/200</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मशीन लर्निंग (Machine Learning) के उस प्रकार को क्या कहा जाता है, जिसमें कंप्यूटर एल्गोरिदम बिना किसी पूर्व-चिह्नित (Unlabelled) डेटा के केवल डेटा के अंतर्निहित पैटर्न, समानता और समूहों (Clusters) को स्वयं खोजता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पर्यवेक्षित अधिगम (Supervised Learning)</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अपर्यवेक्षित अधिगम (Unsupervised Learning)</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प्रबलन अधिगम (Reinforcement Learning)</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अर्ध-पर्यवेक्षित अधिगम (Semi-supervised Learning)</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605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169/200</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अपर्यवेक्षित अधिगम (Unsupervised Learning)</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पर्यवेक्षित अधिगम (Supervised Learning)</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प्रबलन अधिगम (Reinforcement Learning)</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अर्ध-पर्यवेक्षित अधिगम (Semi-supervised Learning)</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मशीन लर्निंग AI का वह उपक्षेत्र है जहां कंप्यूटर स्पष्ट प्रोग्रामिंग के बिना डेटा से सीखता है। इसके तीन प्रमुख प्रकार हैं: 1. अनसुपरवाइज्ड लर्निंग (अपर्यवेक्षित अधिगम): इसमें एल्गोरिदम को कोई लेबल या सही उत्तर नहीं दिया जाता, वह डेटा में समानता और विसंगतियों को पहचानकर स्वतः क्लस्टरिंग (जैसे K-Means) या आयाम न्यूनीकरण (PCA) करता है (जैसे ग्राहकों का व्यवहार विभाजन या धोखाधड़ी पहचान)। 2. सुपरवाइज्ड लर्निंग: इसमें कंप्यूटर को इनपुट और आउटपुट दोनों का लेबल्ड डेटा देकर प्रशिक्षित किया जाता है (जैसे स्पैम डिटेक्शन)। 3. रीइन्फोर्समेंट लर्निंग: इसमें एजेंट ट्रायल-एंड-एरर और रिवॉर्ड/पेनल्टी प्रणाली से सीखता है (जैसे सेल्फ-ड्राइविंग कार व चेस)।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605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169/200</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चुनाव आयोग की आधुनिक चुनावी तकनीक एवं 'सुविधा 2.0' (Suvidha 2.0) मोबाइल एप्लीकेशन के संदर्भ में निम्नलिखित कथनों पर विचार कीजिए: A. भारत निर्वाचन आयोग (ECI) द्वारा राजनीतिक दलों और प्रत्याशियों को चुनावी रैलियों, बैठकों और लाउडस्पीकर की डिजिटल अनुमतियां देने हेतु 'सुविधा 2.0' ऐप शुरू किया गया है। B. 'cVIGIL' ऐप आम नागरिकों को आदर्श आचार संहिता (MCC) के उल्लंघनों की जीपीएस-टैग्ड फोटो/वीडियो के साथ सीधी शिकायत दर्ज करने की सुविधा देता है, जिस पर 100 मिनट में कार्रवाई की जाती है। C. 'वोटर हेल्पलाइन ऐप' (VHA) नागरिकों को मतदाता सूची में नाम खोजने, नए पंजीकरण और डिजिटल वोटर कार्ड (e-EPIC) डाउनलोड की सुविधा देता है। D. 2004 का 14वीं लोकसभा चुनाव भारत का पहला ऐसा आम चुनाव था जो शत-प्रतिशत इलेक्ट्रॉनिक वोटिंग मशीनों (EVMs) से संपन्न कराया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207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170/200</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चुनाव प्रणाली में डिजिटल तकनीक की भूमिका अत्यंत पारदर्शी बन चुकी है। चुनाव आयोग ने उम्मीदवारों के लिए 'सुविधा 2.0' पोर्टल व ऐप विकसित किया है जिससे वे 'पहले आओ पहले पाओ' के आधार पर निष्पक्ष रूप से चुनावी सभाओं व वाहनों की ऑनलाइन अनुमति प्राप्त कर सकते हैं। सी-विजिल ऐप आम मतदाताओं को भ्रष्ट आचरण की लाइव रिपोर्टिंग का सशक्त माध्यम देता है। वोटर हेल्पलाइन ऐप घर बैठे मतदाता पहचान पत्र सेवाएं उपलब्ध कराता है। भारत में 1982 में केरल के पारूर में पायलट आधार पर शुरू हुई ईवीएम का 2004 के आम चुनाव में पूरे देश के सभी 543 संसदीय क्षेत्रों में पहली बार पूर्ण उपयोग किया गया था। अतः चारों कथन सत्य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207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170/200</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कंप्यूटर मेमोरी एवं डेटा संग्रहण क्षमता की माप इकाइयों का सबसे छोटी इकाई से प्रारंभ कर सबसे बड़ी इकाई की ओर सही आरोही क्रम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बिट ➔ बाइट ➔ मेगाबाइट ➔ किलोबाइट ➔ टेराबाइट ➔ गीगाबाइट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बाइट ➔ बिट ➔ किलोबाइट ➔ मेगाबाइट ➔ गीगाबाइट ➔ टेराबाइट</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बिट ➔ बाइट ➔ किलोबाइट ➔ मेगाबाइट ➔ गीगाबाइट ➔ टेराबाइट</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बिट ➔ निबल ➔ बाइट ➔ गीगाबाइट ➔ मेगाबाइट ➔ टेराबाइट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808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171/200</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बिट ➔ बाइट ➔ किलोबाइट ➔ मेगाबाइट ➔ गीगाबाइट ➔ टेराबाइट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बिट ➔ बाइट ➔ मेगाबाइट ➔ किलोबाइट ➔ टेराबाइट ➔ गीगाबाइट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बाइट ➔ बिट ➔ किलोबाइट ➔ मेगाबाइट ➔ गीगाबाइट ➔ टेराबाइट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बिट ➔ निबल ➔ बाइट ➔ गीगाबाइट ➔ मेगाबाइट ➔ टेराबाइट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डिजिटल कंप्यूटर में डेटा संग्रहण बाइनरी प्रणाली (0 और 1) पर आधारित होता है। इसकी मानक इकाइयों का आरोही क्रम है: 1. बिट (Bit - 0 या 1, सबसे छोटी इकाई), 2. निबल (4 बिट्स), 3. बाइट (8 बिट्स = 1 बाइट = 1 अक्षर), 4. किलोबाइट (1 KB = 1024 बाइट्स), 5. मेगाबाइट (1 MB = 1024 KB), 6. गीगाबाइट (1 GB = 1024 MB), 7. टेराबाइट (1 TB = 1024 GB), 8. पेटाबाइट (1 PB = 1024 TB), 9. एक्साबाइट (1 EB), 10. जेटाबाइट (1 ZB), 11. योटाबाइट (1 YB) तथा 12. जियोपबाइट (Geopbyte - उच्चतम इकाई)। अतः सही आरोही क्रम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808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171/200</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कंप्यूटर एवं इंटरनेट में प्रयुक्त होने वाले डिजिटल मल्टीमीडिया फाइल प्रारूपों (File Formats) के संदर्भ में निम्नलिखित कथनों पर विचार कीजिए: A. .MP3, .WAV, .AAC और .FLAC मुख्य रूप से डिजिटल ऑडियो (ध्वनि) फाइल प्रारूप हैं। B. .MP4, .MOV, .AVI, .MKV और .WebM प्रमुख डिजिटल वीडियो फाइल प्रारूप हैं। C. .JPEG, .PNG, .GIF और .SVG डिजिटल छवि (इमेज) फाइल प्रारूप हैं। D. .PDF (Portable Document Format) एक क्रॉस-प्लेटफॉर्म डॉक्यूमेंट प्रारूप है जिसे एडोब (Adobe) द्वारा विकसित किया गया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172/200</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सूचना प्रौद्योगिकी में विभिन्न प्रकार के डेटा को एनकोड और स्टोर करने के लिए विशिष्ट एक्सटेंशन युक्त फाइल फॉर्मेट्स होते हैं। ऑडियो फाइलों में MP3 (लॉसी कंप्रेशन), WAV (असंपीड़ित उच्च गुणवत्ता), AAC (ऐप्पल द्वारा प्रयुक्त उन्नत ऑडियो कोडिंग) और FLAC (लॉसलेस ऑडियो) प्रमुख हैं। वीडियो फाइलों में MP4 (MPEG-4 भाग 14), AVI (माइक्रोसॉफ्ट ऑडियो वीडियो इंटरलीव), MOV (ऐप्पल क्विकटाइम) और MKV (मैट्रोस्का कंटेनर) शामिल हैं। छवियों में जेपीईजी फोटोग्राफी हेतु, पीएनजी पारदर्शी पृष्ठभूमि हेतु और एसवीजी स्केलेबल वेक्टर ग्राफिक्स हेतु प्रयुक्त होते हैं। पीडीएफ स्वतंत्र डिजिटल दस्तावेजों का सार्वभौमिक प्रारूप है। अतः चारों कथन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172/200</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21वीं सदी में राजस्थान के युवाओं और नागरिकों में सूचना प्रौद्योगिकी (IT) कौशल एवं डिजिटल साक्षरता का प्रसार करने हेतु 2008 में राज्य सरकार द्वारा किस सार्वजनिक कंपनी की स्थापना की गई?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राजस्थान राज्य सूचना प्रौद्योगिकी निगम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राजकॉम्प इन्फो सर्विसेज लिमिटेड (RISL)</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राजस्थान नॉलेज कॉरपोरेशन लिमिटेड (RKCL)</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सेंटर फॉर इलेक्ट्रॉनिक गवर्नेंस (CEG)</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010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173/200</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राजस्थान नॉलेज कॉरपोरेशन लिमिटेड (RKCL)</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राज्य सूचना प्रौद्योगिकी निगम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राजकॉम्प इन्फो सर्विसेज लिमिटेड (RISL)</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सेंटर फॉर इलेक्ट्रॉनिक गवर्नेंस (CEG)</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25 अप्रैल 2008 को कंपनी अधिनियम के तहत राजस्थान नॉलेज कॉरपोरेशन लिमिटेड (RKCL) की स्थापना राजस्थान सरकार, महाराष्ट्र नॉलेज कॉरपोरेशन लिमिटेड (MKCL) और राजस्थान के विश्वविद्यालयों के संयुक्त उपक्रम के रूप में की गई थी। इसका मुख्य उद्देश्य राजस्थान में 'RS-CIT' (राजस्थान स्टेट सर्टिफिकेट इन इंफॉर्मेशन टेक्नोलॉजी) जैसे रोजगारोन्मुखी पाठ्यक्रमों के माध्यम से राज्य के दूरदराज के युवाओं, महिलाओं और सरकारी कर्मचारियों को कंप्यूटर एवं डिजिटल साक्षरता में दक्ष बनाना है। विकल्प B 'RISL' राज्य की नोडल ई-गवर्नेंस तकनीकी एजेंसी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010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173/200</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स्थापित आधुनिक तकनीकी संस्थानों एवं इनोवेशन हब्स के संदर्भ में निम्नलिखित कथनों पर विचार कीजिए: A. राजीव गांधी फिनटेक डिजिटल इंस्टीट्यूट की स्थापना जोधपुर में की गई है। B. आर्टिफिशियल इंटेलिजेंस ऑफ थिंग्स (AIoT) इनोवेशन हब की स्थापना आईआईटी जोधपुर के टेक्नोलॉजी पार्क में की गई है। C. राजस्थान सेंटर ऑफ एडवांस्ड टेक्नोलॉजी (R-CAT) की स्थापना जयपुर में युवाओं को रोबोटिक्स, एआई और क्लाउड में वैश्विक कंपनियों द्वारा प्रशिक्षण देने हेतु की गई है। D. राजस्थान सरकार द्वारा ब्लॉकचेन तकनीक के उत्कृष्टता केंद्र (CoE) की स्थापना हेतु आईआईटी कानपुर के साथ समझौता ज्ञापन (MoU)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611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174/200</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बजट घोषणाओं के तहत आधुनिक आईटी और चौथी औद्योगिक क्रांति (Industry 4.0) के क्षेत्रों में अभूतपूर्व संस्थान स्थापित हुए हैं: जोधपुर में 672 करोड़ रु. की लागत से फिनटेक डिजिटल यूनिवर्सिटी (संस्थान) का निर्माण हुआ है। आईआईटी जोधपुर में भारत सरकार के सहयोग से AIoT हब बना है जहाँ सेंसर्स, ड्रोन और एआई आधारित उत्पादों का प्रोटोटाइपिंग होता है। जयपुर में अगस्त 2022 में शुरू हुआ आर-कैट (R-CAT) एडवांस्ड टेक में ओरेकल, सिस्को, एडोब के सहयोग से छात्रों को वैश्विक प्रमाणन देता है। ई-गवर्नेंस में पारदर्शिता और डेटा सुरक्षा हेतु आईआईटी कानपुर के साथ मिलकर ब्लॉकचेन सेंटर ऑफ एक्सीलेंस स्थापित किया गया है। अतः चारों कथन सत्य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611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174/200</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अगस्त 2023 में भारत के प्रथम '3D मुद्रित' (3D-Printed Post Office) डाकघर भवन का उद्घाटन किस शहर के कैम्ब्रिज लेआउट में किया गया?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हैदराबाद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नई दिल्ली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मुंबई</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बेंगलुरु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213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175/200</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बेंगलुरु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हैदराबाद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नई दिल्ली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मुंबई</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लार्सन एंड टुब्रो (L&amp;T) निर्माण कंपनी ने आईआईटी मद्रास के तकनीकी मार्गदर्शन में कर्नाटक के बेंगलुरु स्थित कैम्ब्रिज लेआउट (उलसूर) में मात्र 43 दिनों में भारत के पहले 3D-प्रिंटेड डाकघर का निर्माण पूर्ण किया, जिसका उद्घाटन केंद्रीय रेल एवं आईटी मंत्री अश्विनी वैष्णव द्वारा अगस्त 2023 में किया गया। 3D कंक्रीट प्रिंटिंग एक अत्याधुनिक 'एडिटिव मैन्युफैक्चरिंग' तकनीक है जिसमें स्वचालित रोबोटिक आर्म कंप्यूटर डिजाइन (CAD) के अनुसार विशेष त्वरित-सूखने वाले कंक्रीट की परत-दर-परत (Layer-by-layer) बिछाकर संरचना खड़ी करती है, जिससे निर्माण लागत में 30-40% की कमी और समय की भारी बचत होती है।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213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175/200</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टेलीविजन एवं कंप्यूटर स्क्रीन के डिस्प्ले रेजोल्यूशन तथा आस्पेक्ट रेशियो के तकनीकी मानकों के संदर्भ में निम्नलिखित कथनों पर विचार कीजिए: A. 16:9 आस्पेक्ट रेशियो (चौड़ाई और ऊंचाई का अनुपात) के साथ 'फुल एचडी' (1080p) डिस्प्ले रेजोल्यूशन का अर्थ 1920 × 1080 पिक्सल होता है। B. 1080p में 'p' अक्षर प्रोग्रेसिव स्कैन (Progressive Scan) को दर्शाता है, जिसमें स्क्रीन की प्रत्येक लाइन क्रमबद्ध रूप से रिफ्रेश होती है। C. 4K अल्ट्रा एचडी (UHD) डिस्प्ले का रेजोल्यूशन 3840 × 2160 पिक्सल होता है, जो 1080p के कुल पिक्सल का ठीक 4 गुना होता है। D. पिक्सल घनत्व (PPI - Pixels Per Inch) जितना अधिक होगा, स्क्रीन पर चित्र उतना ही अधिक स्पष्ट और तीक्ष्ण (Sharp) दिखाई देगा।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176/200</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डिजिटल डिस्प्ले तकनीक में रेजोल्यूशन स्क्रीन पर उपलब्ध कुल पिक्सल्स की संख्या होती है। 16:9 आस्पेक्ट अनुपात आज का सार्वभौमिक ब्रॉडकास्ट मानक है। 1080p में 1080 क्षैतिज रेखाएं (ऊर्ध्वाधर पिक्सल) होती हैं, अतः 16/9 × 1080 = 1920 क्षैतिज पिक्सल बनते हैं (कुल 20,73,600 पिक्सल = लगभग 2.07 मेगापिक्सल)। 'p' (प्रोग्रेसिव) पुरानी 'i' (इंटरलेस्ड - जहाँ आधी-आधी रेखाएं बारी-बारी से जलती थीं) से बहुत बेहतर है और आंखों पर तनाव नहीं डालता। 4K UHD में क्षैतिज और लंबवत दोनों दिशाओं में 1080p के दोगुने पिक्सल (3840×2160 = 8.3 मेगापिक्सल) होते हैं जो ठीक 4 गुना अधिक स्पष्टता प्रदान करते हैं। अतः चारों कथन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176/200</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विद्युतचुंबकीय स्पेक्ट्रम (Electromagnetic Spectrum) की विभिन्न तरंगों एवं उनके मुख्य तकनीकी उपयोगों का सही मिलान कीजिए: सूची-I (विद्युतचुंबकीय तरंग): सूची-I: A. अवरक्त किरणें (Infrared Rays) B. पराबैंगनी किरणें (Ultraviolet Rays) C. माइक्रोवेव (Microwaves) D. रेडियो तरंगें (Radio Waves) सूची-II: 1. टीवी रिमोट कंट्रोल एवं थर्मल इमेजिंग 2. जल शोधन (RO प्यूरीफायर) एवं शल्य उपकरणों का विसंक्रमण (Sterilization) 3. रडार प्रणाली, वाई-फाई एवं माइक्रोवेव ओवन 4. सेलुलर मोबाइल संचार, FM/AM रेडियो प्रसारण</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415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177/200</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विद्युतचुंबकीय स्पेक्ट्रम में तरंगदैर्घ्य और आवृत्ति के अनुसार तरंगों के अलग-अलग विशिष्ट अनुप्रयोग हैं: 1. अवरक्त किरणें (IR) ऊष्मीय तरंगें हैं जिनका उपयोग घरेलू टीवी रिमोट, नाइट विजन कैमरों और ऑप्टिकल फाइबर संचार में होता है। 2. पराबैंगनी किरणें (UV) उच्च ऊर्जा वाली होने के कारण रोगाणुओं (बैक्टीरिया, वायरस) के डीएनए को नष्ट कर देती हैं, इसलिए इनका उपयोग अस्पतालों में ऑपरेशन थिएटरों और वाटर प्यूरीफायर में कीटाणुनाशन हेतु किया जाता है। 3. माइक्रोवेव का उपयोग रडार नेविगेशन, उपग्रह लिंक और भोजन पकाने में होता है। 4. रेडियो तरंगें सबसे लंबी तरंगदैर्घ्य वाली तरंगें हैं जो मोबाइल फोन नेटवर्क, टीवी और रेडियो प्रसारण की आधारशिला हैं। अतः सही सुमेलन A-1, B-2, C-3, D-4 है और सही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415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177/200</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वायरलेस डेटा संचार प्रौद्योगिकियों में 'ब्लूटूथ' (Bluetooth) और 'वाई-फाई' (Wi-Fi) के बीच मूलभूत तकनीकी अंतर निम्नलिखित में से कौन 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ब्लूटूथ केवल 5 GHz आवृत्ति पर कार्य करता है जबकि वाई-फाई केवल 2.4 GHz पर कार्य करता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ब्लूटूथ का उपयोग केवल इंटरनेट चलाने हेतु होता है और वाई-फाई का उपयोग केवल हेडफोन जोड़ने हेतु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ब्लूटूथ केवल लाइन-ऑफ-साइट (सीधी दृष्टि रेखा) में कार्य करता है जबकि वाई-फाई दीवारों के आर-पार कार्य नहीं कर सकता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ब्लूटूथ मुख्य रूप से 2.4 GHz रेडियो आवृत्ति पर कम दूरी का पर्सनल एरिया नेटवर्क (WPAN) बनाता है जबकि वाई-फाई 2.4, 5 एवं 6 GHz पर उच्च गति का लोकल एरिया नेटवर्क (WLAN) उपलब्ध कराता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01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178/200</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ब्लूटूथ मुख्य रूप से 2.4 GHz रेडियो आवृत्ति पर कम दूरी का पर्सनल एरिया नेटवर्क (WPAN) बनाता है जबकि वाई-फाई 2.4, 5 एवं 6 GHz पर उच्च गति का लोकल एरिया नेटवर्क (WLAN) उपलब्ध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ब्लूटूथ केवल 5 GHz आवृत्ति पर कार्य करता है जबकि वाई-फाई केवल 2.4 GHz पर कार्य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ब्लूटूथ का उपयोग केवल इंटरनेट चलाने हेतु होता है और वाई-फाई का उपयोग केवल हेडफोन जोड़ने हेतु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ब्लूटूथ केवल लाइन-ऑफ-साइट (सीधी दृष्टि रेखा) में कार्य करता है जबकि वाई-फाई दीवारों के आर-पार कार्य नहीं कर सकता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ब्लूटूथ और वाई-फाई दोनों रेडियो तरंगों पर आधारित बेतार (वायरलेस) संचार तकनीकें हैं, किंतु उनके उद्देश्य और क्षमताएं भिन्न हैं: ब्लूटूथ (IEEE 802.15.1) कम ऊर्जा खपत वाली शॉर्ट-रेंज (लगभग 10 मीटर) तकनीक है जो स्मार्टफोन, वायरलेस इयरबड्स और स्मार्टवॉच जैसे व्यक्तिगत उपकरणों को जोड़ने (WPAN) हेतु 2.4 GHz ISM बैंड पर कार्य करती है (इसकी गति 2-3 Mbps होती है)। इसके विपरीत वाई-फाई (IEEE 802.11) उच्च बैंडविड्थ और 30 से 100 मीटर रेंज वाली लोकल एरिया नेटवर्क (WLAN) तकनीक है जो 2.4 GHz, 5 GHz और अब 6 GHz (Wi-Fi 6E/7) पर सैकड़ों Mbps से लेकर Gbps की गति से इंटरनेट कनेक्टिविटी प्रदान करती है। दोनों को कार्य करने के लिए दृष्टि-रेखा (Line of sight) की आवश्यकता नहीं होती (दृष्टि-रेखा इन्फ्रारेड में आवश्यक होती है)।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01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178/200</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नैनो-प्रौद्योगिकी (Nanotechnology) की बुनियादी संकल्पनाओं एवं नैनो-संरचनाओं के संबंध में निम्नलिखित कथनों पर विचार कीजिए: A. नैनो-स्केल का पैमाना 1 से 100 नैनोमीटर (1 nm = 10⁻⁹ मीटर) के मध्य होता है। B. क्वांटम डॉट (Quantum Dot) एक अति-सूक्ष्म अर्धचालक नैनो-संरचना है, जिसमें इलेक्ट्रॉनों को तीनों विमाओं में सीमित (0-D) कर दिया जाता है। C. ग्राफीन (Graphene) कार्बन का एकल-परमाण्विक 2-विमीय (2-D) अपररूप है, जो अत्यधिक विद्युत व तापीय चालकता तथा स्टील से 200 गुना अधिक मजबूती रखता है। D. कार्बन नैनोट्यूब्स (CNTs) 1-विमीय (1-D) बेलनाकार नैनो-संरचनाएं हैं जिनका उपयोग एयरोस्पेस और ऊर्जा भंडारण में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618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179/200</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नैनोटेक्नोलॉजी पदार्थ के आणविक व परमाण्विक स्तर (1-100 nm) पर नियंत्रण का विज्ञान है, जिसकी नींव 1959 में भौतिक विज्ञानी रिचर्ड फाइनमैन के व्याख्यान 'देयर इज प्लेंटी ऑफ रूम एट द बॉटम' से पड़ी तथा 1974 में नोरियो तानिगुची ने यह शब्द गढ़ा। जब कण नैनो स्तर पर पहुंचते हैं, तो उनका सतही क्षेत्रफल अत्यधिक बढ़ जाता है और क्वांटम सीमांकन प्रभाव उत्पन्न होता है। विमाओं के आधार पर: क्वांटम डॉट्स 0-D होते हैं (तीनों विमाएं &lt;100 nm, कृत्रिम परमाणु तुल्य); कार्बन नैनोट्यूब्स 1-D होती हैं; ग्राफीन 2-D हेक्सागोनल जालीदार परत है (जिसके लिए 2010 में आंद्रे जीम और नोवोसेलोव को नोबेल पुरस्कार मिला)। अतः चारों कथन सत्य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618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179/200</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जुलाई 2023 में सीकर (राजस्थान) में प्रधानमंत्री द्वारा राष्ट्र को समर्पित 'यूरिया गोल्ड' (Urea Gold) की मुख्य विशेषता निम्नलिखित में से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तरल नैनो यूरिया का एक उन्नत संपीड़ित गैस रूप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यूरिया नीम के तेल के स्थान पर चांदी के नैनो-कणों से लेपित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सल्फर (गंधक) लेपित यूरिया की एक नई किस्म है जो मिट्टी में सल्फर की कमी दूर कर नाइट्रोजन उपयोग दक्षता बढ़ाती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यूरिया कीटनाशक गुणों से युक्त शून्य-नाइट्रोजन उर्वरक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180/200</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सल्फर (गंधक) लेपित यूरिया की एक नई किस्म है जो मिट्टी में सल्फर की कमी दूर कर नाइट्रोजन उपयोग दक्षता बढ़ाती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तरल नैनो यूरिया का एक उन्नत संपीड़ित गैस रूप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यूरिया नीम के तेल के स्थान पर चांदी के नैनो-कणों से लेपित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यूरिया कीटनाशक गुणों से युक्त शून्य-नाइट्रोजन उर्वरक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27 जुलाई 2023 को प्रधानमंत्री नरेंद्र मोदी ने सीकर (राजस्थान) से 'यूरिया गोल्ड' (Urea Gold) को आधिकारिक रूप से लॉन्च किया था। यह भारतीय किसान उर्वरक सहकारी लिमिटेड (IFFCO) द्वारा विकसित 'सल्फर-कोटेड यूरिया' (Sulfur-Coated Urea) है। भारतीय कृषि मृदाओं में सल्फर (गंधक) की व्यापक कमी को दूर करने हेतु पारंपरिक यूरिया पर सल्फर की सूक्ष्म परत चढ़ाई गई है। इससे यूरिया से नाइट्रोजन मिट्टी में बहुत धीरे-धीरे उत्सर्जित (Slow release) होती है, जिससे पौधों द्वारा नाइट्रोजन अवशोषण की दक्षता (NUE) बढ़ती है, उर्वरक की खपत में 25% तक की कमी आती है और तिलहन व दलहन फसलों की पैदावार व तेल की मात्रा में उल्लेखनीय सुधार होता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180/200</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जैव ईंधन (बायोफ्यूल) की विभिन्न पीढ़ियों के विकास क्रम में 'चौथी पीढ़ी के जैव ईंधन' (Fourth Generation Biofuels) का मुख्य स्रोत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खाद्य फसलें जैसे मक्का, गन्ना और सोयाबीन (प्रथम पीढ़ी)</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आनुवंशिक रूप से संवर्धित / रूपांतरित शैवाल एवं सूक्ष्मजीव (Genetically Engineered Algae)</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गैर-खाद्य बायोमास और कृषि अवशेष जैसे पराली व लकड़ी (द्वितीय पीढ़ी)</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प्राकृतिक समुद्री शैवाल और जलकुंभी (तृतीय पीढ़ी)</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820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181/200</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आनुवंशिक रूप से संवर्धित / रूपांतरित शैवाल एवं सूक्ष्मजीव (Genetically Engineered Algae)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खाद्य फसलें जैसे मक्का, गन्ना और सोयाबीन (प्रथम पीढ़ी)</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गैर-खाद्य बायोमास और कृषि अवशेष जैसे पराली व लकड़ी (द्वितीय पीढ़ी)</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प्राकृतिक समुद्री शैवाल और जलकुंभी (तृतीय पीढ़ी)</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जैव ईंधनों को उनके उत्पादन स्रोतों और तकनीकी विकास के आधार पर चार पीढ़ियों में वर्गीकृत किया जाता है: प्रथम पीढ़ी (1G) खाद्य फसलों (गन्ना, मक्का) से बनाई जाती है जो खाद्य सुरक्षा संकट पैदा करती है। द्वितीय पीढ़ी (2G) गैर-खाद्य कृषि अवशेषों और सेल्युलोज से तैयार होती है। तृतीय पीढ़ी (3G) प्राकृतिक सूक्ष्म शैवाल (Algae) से उत्पादित होती है। चौथी पीढ़ी (4G) सबसे अत्याधुनिक तकनीक है जिसमें आनुवंशिक रूप से इंजीनियर किए गए सूक्ष्मजीवों और शैवालों (GE Algae) का उपयोग किया जाता है, जो न केवल उच्च उपज वाले बायोफ्यूल का उत्पादन करते हैं बल्कि प्रकाश संश्लेषण द्वारा अत्यधिक मात्रा में कार्बन डाईऑक्साइड का अवशोषण (Carbon Capture &amp; Sequestration) कर इसे कार्बन-नेगेटिव ऊर्जा स्रोत बनाते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820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181/200</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पशु क्लोनिंग (Animal Cloning) अनुसंधान एवं राष्ट्रीय डेयरी अनुसंधान संस्थान (NDRI, करनाल) की उपलब्धियों के संदर्भ में निम्नलिखित कथनों पर विचार कीजिए: A. भारत में क्लोनिंग हेतु 'हैंड गाइडेड क्लोनिंग तकनीक' (HGCT - सोमैटिक सेल न्यूक्लियर ट्रांसफर) का उपयोग किया जाता है। B. वर्ष 2009 में NDRI करनाल द्वारा विश्व की पहली क्लोन की गई भैंस की कटड़ी 'समरूपा' और 'गरिमा' का जन्म कराया गया था। C. मार्च 2023 में भारत की प्रथम क्लोनित गिर नस्ल की देसी गाय 'गंगा' का सफल जन्म NDRI करनाल में हुआ। D. भारतीय पशु चिकित्सा अनुसंधान संस्थान (IVRI) इज्जतनगर, बरेली में स्थित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421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182/200</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कृषि और पशुपालन में उन्नत जैव प्रौद्योगिकी का उपयोग करने वाले अग्रणी देशों में शामिल है। राष्ट्रीय डेयरी अनुसंधान संस्थान (NDRI), करनाल (हरियाणा) ने 2009 में 'हैंड गाइडेड क्लोनिंग तकनीक' विकसित की जो डॉली भेड़ बनाने वाली पारंपरिक माइक्रो-मैनिपुलेटर तकनीक की तुलना में कहीं अधिक सरल और किफायती है। इसके जरिए मुर्रा नस्ल की भैंस 'समरूपा' (विश्व की पहली क्लोन भैंस) और 'गरिमा' पैदा की गईं। इसी ऐतिहासिक अनुसंधान को आगे बढ़ाते हुए मार्च 2023 में भारत की पहली देसी गाय की क्लोन बछड़ी 'गंगा' (गीर नस्ल) पैदा की गई। IVRI बरेली पशु स्वास्थ्य का राष्ट्रीय संस्थान है। अतः चारों कथन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421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182/200</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कृषि अनुसंधान परिषद (ICAR) के केंद्रीय कपास प्रौद्योगिकी अनुसंधान संस्थान (CIRCOT), मुंबई द्वारा भारत का पहला नैनो-सेलुलोज पायलट संयंत्र किस कृषि उत्पाद के लिंटर्स से विकसित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कपास (Cotton)</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जूट</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गन्ना खोई</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022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183/200</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कपास (Cotton)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गन्ना खोई</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नैनो-सेलुलोज एक अति-हल्का, असाधारण रूप से मजबूत (स्टील से मजबूत) और पूर्णतः जैव-अपघटनीय (Biodegradable) नैनो-सामग्री है जिसका उपयोग चिकित्सा प्रत्यारोपण, उन्नत बायो-पैकेजिंग, पारदर्शी डिस्प्ले और एयरोस्पेस में होता है। ICAR-CIRCOT (केंद्रीय कपास प्रौद्योगिकी अनुसंधान संस्थान), मुंबई ने कपास के प्रसंस्करण के दौरान निकलने वाले अपशिष्ट (कपास के छोटे रेशे या कॉटन लिंटर्स) से नैनो-सेलुलोज निकालने की पर्यावरण-अनुकूल स्वदेशी तकनीक विकसित की और भारत में पहला नैनो-सेलुलोज पायलट प्लांट स्थापित किया। इससे कपास किसानों के कचरे को उच्च-मूल्य नैनो-उत्पाद में बदला जा रहा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022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183/200</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'डीएनए फिंगरप्रिंटिंग' (DNA Fingerprinting / DNA Profiling) की वैज्ञानिक कार्यप्रणाली एवं अनुप्रयोगों के संदर्भ में निम्नलिखित कथनों पर विचार कीजिए: A. डीएनए फिंगरप्रिंटिंग तकनीक का मूल आविष्कार 1984 में ब्रिटिश वैज्ञानिक सर एलेक जेफ्रीज (Sir Alec Jeffreys) द्वारा किया गया था। B. भारत में डीएनए फिंगरप्रिंटिंग तकनीक का जनक हैदराबाद स्थित CCMB के पूर्व निदेशक डॉ. लालजी सिंह को माना जाता है। C. डीएनए फिंगरप्रिंटिंग का मूल वैज्ञानिक आधार मानव जीनोम में उपस्थित 'डीएनए बहुरूपता' (DNA Polymorphism) एवं VNTR (वेरिएबल नंबर टेंडेम रिपीट्स) है। D. इसका उपयोग न्यायालयों में पितृत्व विवादों (Paternity disputes) को सुलझाने, अज्ञात शवों की पहचान और अपराध विज्ञान (फोरेंसिक) में संदिग्धों की पहचान हेतु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184/200</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डीएनए फिंगरप्रिंटिंग आधुनिक जैव-फोरेंसिक विज्ञान का सबसे अचूक साधन है। प्रत्येक मानव का 99.9% डीएनए समान होता है, किंतु 0.1% गैर-कोडिंग डीएनए में छोटे-छोटे न्यूक्लियोटाइड अनुक्रम बार-बार दोहराए जाते हैं, जिन्हें VNTR या मिनीसेटेलाइट कहा जाता है। इन दोहरावों की संख्या प्रत्येक व्यक्ति में (जुड़वां बच्चों को छोड़कर) अद्वितीय होती है, जिसे 'डीएनए बहुरूपता' कहते हैं। 1984 में सर एलेक जेफ्रीज ने इसे खोजा और भारत में डॉ. लालजी सिंह तथा डॉ. वी.के. कश्यप ने 1988 में स्वदेशी Bkm प्रोब विकसित कर राजीव गांधी हत्याकांड और नैना साहनी केस जैसे ऐतिहासिक मामलों में इसका सफल उपयोग किया। अतः चारों कथन सत्य हैं और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184/200</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भोजन में प्रोटीन की अत्यधिक कमी के कारण छोटे बच्चों में होने वाले उस गंभीर कुपोषण रोग को क्या कहा जाता है, जिसका मुख्य लक्षण पेट, टखनों और पैरों में द्रव संचय (सूजन / एडिमा) और यकृत का बढ़ना (Fatty Liver)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क्वाशियोरकर (Kwashiorkor)</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मरास्मस (Marasmus)</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पेलाग्रा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रिकेट्स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225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185/200</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क्वाशियोरकर (Kwashiorkor)</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मरास्मस (Marasmus)</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पेलाग्रा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रिकेट्स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बच्चों में प्रोटीन-ऊर्जा कुपोषण (PEM) के दो मुख्य रूप होते हैं: 1. क्वाशियोरकर: यह मुख्य रूप से भोजन में प्रोटीन की गंभीर कमी से होता है (भले ही कैलोरी मिल रही हो)। प्रोटीन की कमी से रक्त प्लाज्मा में एल्ब्यूमिन का स्तर गिर जाता है, जिससे ऊतकों से जल रक्तवाहिकाओं में नहीं लौट पाता और शरीर में (विशेषकर पेट, चेहरे और पैरों में) सूजन (Edema) आ जाती है, पेट घड़े जैसा फूल जाता है, यकृत बढ़ जाता है और बाल भूरे-पतले हो जाते हैं। 2. मरास्मस: यह प्रोटीन और कैलोरी (ऊर्जा) दोनों की कमी से होता है, जिसमें बच्चा सूखकर हड्डियों का ढांचा बन जाता है और उसमें सूजन नहीं पाई जाती। पेलाग्रा विटामिन B3 तथा रिकेट्स विटामिन D की कमी से होता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225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185/200</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कृत्रिम मधुरकों (Artificial Sweeteners) के गुणधर्मों एवं उनकी मिठास क्षमता के संबंध में निम्नलिखित कथनों पर विचार कीजिए: A. कृत्रिम मधुरक शरीर में चयापचयित (Metabolized) नहीं होते और ऊर्जा उत्पन्न नहीं करते, अतः मधुमेह रोगियों और वजन नियंत्रित करने वालों हेतु उपयोगी हैं। B. 'एलिटेम' (Alitame) की मिठास क्षमता सामान्य टेबल शुगर (सुक्रोज) की तुलना में लगभग 2000 गुना अधिक होती है। C. 'सुक्रालोज' (Sucralose) सुक्रोज का ट्राईक्लोरो व्युत्पन्न है, जो पकाने और बेकिंग के उच्च तापमान पर भी स्थिर रहता है। D. 'एस्पार्टेम' (Aspartame) खाना पकाने के तापमान पर अस्थिर (विघटित) हो जाता है, अतः इसका उपयोग केवल ठंडे पेय पदार्थों और आइसक्रीम में ही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826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186/200</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कृत्रिम मधुरक गैर-पोषक रसायन होते हैं जो कम मात्रा में भी अत्यधिक मिठास देते हैं। सुक्रोज (गन्ना शर्करा) की तुलना में इनकी मिठास का पैमाना: एस्पार्टेम = 100-200 गुना (यह फेनिलएलानिन व एस्पार्टिक एसिड का डाईपेप्टाइड है जो गर्म करने पर नष्ट हो जाता है); सैकरीन = 300-550 गुना (सबसे पुराना 1879 का स्वीटनर); सुक्रालोज = 600 गुना (पकाने योग्य स्थिर मधुरक); एलिटेम = 2000 गुना (उच्च कोटि का स्थिर एस्पार्टिक एसिड स्वीटनर); तथा एडवांटेम = 20000 गुना। ये रक्त शर्करा को नहीं बढ़ाते। अतः चारों कथन पूर्णतः सत्य हैं और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826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186/200</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मानव शरीर में पोषण और शारीरिक उपापचय के आधार पर निम्नलिखित में से कौन सा एक 'सूक्ष्म-खनिज' (Micro-mineral / Trace Element) है, जिसकी दैनिक आवश्यकता 100 मिलीग्राम से कम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कैल्शियम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फास्फोरस</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मैग्नीशियम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आयोडीन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427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187/200</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आयोडीन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कैल्शियम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फास्फोरस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मैग्नीशियम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मानव पोषण में खनिजों को दैनिक आवश्यकता के आधार पर दो वर्गों में बांटा जाता है: 1. प्रमुख खनिज (Macro-minerals): जिनकी शरीर को प्रतिदिन 100 mg से अधिक मात्रा में आवश्यकता होती है; जैसे कैल्शियम (हड्डियों/दांतों हेतु), फास्फोरस, पोटेशियम, सोडियम, क्लोरीन, मैग्नीशियम और सल्फर। 2. सूक्ष्म खनिज या ट्रेस तत्व (Micro-minerals): जिनकी प्रतिदिन 100 mg से बहुत कम (मिलीग्राम या माइक्रोग्राम में) आवश्यकता होती है, किंतु वे जीवन हेतु अपरिहार्य हैं; जैसे आयोडीन (थायरोक्सिन हार्मोन निर्माण हेतु), आयरन (हीमोग्लोबिन हेतु), जिंक, कॉपर, सेलेनियम, फ्लोरीन और क्रोमियम। अतः आयोडीन एक सूक्ष्म खनिज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427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187/200</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कार्ल लैंडस्टीनर द्वारा खोजी गई मानव रक्त समूह 'ABO' प्रणाली के संदर्भ में निम्नलिखित कथनों पर विचार कीजिए: A. लाल रक्त कणिकाओं (RBCs) की सतह पर उपस्थित ग्लाइकोप्रोटीन को प्रतिजन (Antigen / एग्लूटिनोजन) तथा रक्त प्लाज्मा में उपस्थित प्रोटीन को प्रतिरक्षी (Antibody / एग्लूटिनिन) कहते हैं। B. रक्त समूह 'O' वाले व्यक्ति की RBCs की सतह पर न तो A और न ही B कोई भी प्रतिजन नहीं पाया जाता, जबकि उसके प्लाज्मा में 'a' और 'b' दोनों एंटीबॉडीज मौजूद होती हैं। C. रक्त समूह 'AB' वाले व्यक्ति की RBCs पर A और B दोनों प्रतिजन पाए जाते हैं, जबकि उसके प्लाज्मा में कोई एंटीबॉडी नहीं होती (अतः यह सर्वग्राही है)। D. रक्त समूह 'O' (विशेष रूप से O-नेगेटिव) किसी भी प्रतिजन की अनुपस्थिति के कारण 'सर्वदाता' (Universal Donor) कहलाता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188/200</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1900 में कार्ल लैंडस्टीनर ने ABO रक्त समूह प्रणाली की खोज की जिसके लिए उन्हें 1930 में चिकित्सा का नोबेल पुरस्कार मिला। रक्त समूह का निर्धारण RBC की कोशिका झिल्ली पर लगे एंटीजन से होता है: समूह A में एंटीजन A व एंटीबॉडी b होती है; समूह B में एंटीजन B व एंटीबॉडी a होती है; समूह AB में दोनों एंटीजन (A व B) होते हैं परंतु कोई एंटीबॉडी नहीं होती जिससे यह किसी भी समूह से रक्त ले सकता है (सर्वग्राही); समूह O में कोई एंटीजन नहीं होता जिससे दाता के रक्त पर प्राप्तकर्ता की एंटीबॉडीज हमला नहीं कर पातीं (अतः यह सर्वदाता है)। अतः चारों कथन सत्य हैं और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188/200</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गर्भस्थ शिशु में होने वाले घातक रोग 'एरिथ्रोब्लास्टोसिस फीटेलिस' (HDN) की स्थिति कब उत्पन्न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जब माता और गर्भस्थ शिशु दोनों Rh-नेगेटिव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जब माता Rh-पॉजिटिव हो तथा उसका गर्भस्थ शिशु Rh-नेगेटिव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जब माता Rh-हीन (Rh-नेगेटिव) हो तथा उसका गर्भस्थ शिशु Rh-सहित (Rh-पॉजिटिव)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जब माता और पिता दोनों Rh-पॉजिटिव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630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189/200</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जब माता Rh-हीन (Rh-नेगेटिव) हो तथा उसका गर्भस्थ शिशु Rh-सहित (Rh-पॉजिटिव)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जब माता और गर्भस्थ शिशु दोनों Rh-नेगेटिव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जब माता Rh-पॉजिटिव हो तथा उसका गर्भस्थ शिशु Rh-नेगेटिव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जब माता और पिता दोनों Rh-पॉजिटिव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Rh कारक (रीसस बंदर में खोजा गया एंटीजन D) रक्त आधान और गर्भावस्था में अत्यंत महत्वपूर्ण है। जब एक Rh-नेगेटिव महिला का विवाह Rh-पॉजिटिव पुरुष से होता है और गर्भ में पल रहा बच्चा पिता से Rh-पॉजिटिव गुणसूत्र प्राप्त करता है, तब प्रथम प्रसव के समय नाल कटने पर शिशु का Rh+ रक्त माता के संपर्क में आ जाता है। माता का शरीर इसे बाह्य एंटीजन मानकर उसके विरुद्ध 'एंटी-D एंटीबॉडीज' बना लेता है। दूसरी गर्भावस्था में यदि पुनः शिशु Rh+ हो, तो माता की ये IgG एंटीबॉडीज प्लेसेंटा को पार कर शिशु के रक्त में पहुंचकर उसकी RBCs को तेजी से नष्ट करने लगती हैं, जिससे शिशु को गंभीर पीलिया, रक्ताल्पता और मृत्यु हो सकती है (इसे एरिथ्रोब्लास्टोसिस फीटेलिस कहते हैं)। इससे बचाव हेतु प्रथम प्रसव के 72 घंटे के भीतर माता को 'एंटी-D' (Rhogam) का इंजेक्शन दिया जाता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630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189/200</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विभिन्न विटामिनों के रासायनिक नामों एवं उनकी हीनता (कमी) से होने वाले रोगों का सही मिलान कीजिए: सूची-I (विटामिन): सूची-I: A. विटामिन A (रेटिनॉल) B. विटामिन D (कैल्सिफेरॉल) C. विटामिन C (एस्कॉर्बिक एसिड) D. विटामिन B1 (थायमिन) सूची-II: 1. रिकेट्स (सूखा रोग) 2. रतौंधी एवं जीरोफ्थैल्मिया 3. बेरी-बेरी 4. स्कर्वी (मसूड़ों से रक्तस्राव)</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231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190/200</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विटामिन कार्बनिक उत्प्रेरक हैं जिनकी कमी से विशिष्ट रोग होते हैं: विटामिन A की कमी से कॉर्निया सूख जाती है और कम प्रकाश में दिखाई नहीं देता (रतौंधी व जीरोफ्थैल्मिया)। विटामिन D (धूप का विटामिन) की कमी से बच्चों की हड्डियां मुड़ जाती हैं (रिकेट्स) तथा वयस्कों में अस्थिमृदुता (ऑस्टियोमलेशिया) हो जाता है। विटामिन C की कमी से कोलेजन प्रोटीन नहीं बनता और मसूड़ों से खून आने लगता है (स्कर्वी)। विटामिन B1 (थायमिन) की कमी से तंत्रिका तंत्र और मांसपेशियों में विकार (बेरी-बेरी) उत्पन्न होता है। विटामिन A, D, E, K वसा में घुलनशील हैं, जबकि विटामिन B-कॉम्प्लेक्स और C जल में घुलनशील हैं। अतः सही सुमेलन A-2, B-1, C-4, D-3 है और सही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231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190/200</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प्रकृति में पाई जाने वाली कार्बोहाइड्रेट शर्कराओं में से सबसे मीठी प्राकृतिक शर्करा कौन सी है, जो मुख्यतः फलों एवं शहद में पाई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फ्रक्टोज (फल शर्करा)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लैक्टोज (दुग्ध शर्करा)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ग्लूकोज (द्राक्षा शर्करा)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माल्टोज (अनाज शर्करा)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832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191/200</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फ्रक्टोज (फल शर्करा)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लैक्टोज (दुग्ध शर्करा)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ग्लूकोज (द्राक्षा शर्करा)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माल्टोज (अनाज शर्करा)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कार्बोहाइड्रेट शर्कराओं में 'फ्रक्टोज' (Fructose या Fruit Sugar) सभी प्राकृतिक मोनोसैकेराइड्स में सर्वाधिक मीठी शर्करा है (यह सुक्रोज से लगभग 1.7 गुना अधिक मीठी होती है)। यह प्राकृतिक रूप से सभी पके फलों, जामुन, अंगूर और शुद्ध शहद (हनी) में प्रचुर मात्रा में पाई जाती है। विकल्प A में ग्लूकोज (डेक्सट्रोज या रक्त शर्करा) कोशिकाओं का प्रत्यक्ष ईंधन है। विकल्प B में लैक्टोज दूध में पाई जाने वाली डाईसैकेराइड है जो ग्लूकोज व गैलेक्टोज से बनती है। विकल्प D में माल्टोज अंकुरित अनाजों में पाई जाने वाली माल्ट शर्करा है। टेबल शुगर 'सुक्रोज' होती है जो ग्लूकोज और फ्रक्टोज के संयोजन से बनती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832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191/200</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स्थित प्रमुख राष्ट्रीय एवं राज्य स्तरीय कृषि/पशुपालन अनुसंधान केंद्रों तथा उनके स्थानों का सही मिलान कीजिए: सूची-I (अनुसंधान संस्थान): सूची-I: A. केंद्रीय शुष्क क्षेत्र अनुसंधान संस्थान (CAZRI) B. शुष्क वन अनुसंधान संस्थान (AFRI) C. राष्ट्रीय बीजीय मसाला अनुसंधान केंद्र (NRCSS) D. केंद्रीय भेड़ एवं ऊन अनुसंधान संस्थान (CSWRI) सूची-II: 1. तबीजी (अजमेर) 2. अविकानगर, मालपुरा (टोंक) 3. जोधपुर 4. जोधपुर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192/200</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कृषि और मरुस्थलीय पारिस्थितिकी के शीर्ष संस्थान स्थित हैं: 1. काजरी (CAZRI - 1959) जोधपुर में स्थित है जो मरुस्थलीकरण नियंत्रण और शुष्क कृषि का विश्वप्रसिद्ध संस्थान है। 2. आफरी (AFRI - 1988) भी जोधपुर में स्थित है जो वानिकी अनुसंधान करता है। 3. राष्ट्रीय बीजीय मसाला अनुसंधान केंद्र (NRCSS - 2000) अजमेर के तबीजी में स्थित है जो जीरा, धनिया, सौंफ, मेथी, अजवाइन पर शोध करता है। 4. केंद्रीय भेड़ एवं ऊन अनुसंधान संस्थान (CSWRI - 1962) टोंक जिले के मालपुरा में अविकानगर में स्थापित है जहाँ 'अविवस्त्र' और 'अविकासलीन' भेड़ों की संकर नस्लें विकसित की गई हैं। जोड़बीड़ (बीकानेर) में राष्ट्रीय उष्ट्र अनुसंधान केंद्र तथा अश्व अनुसंधान केंद्र स्थित हैं। अतः सही सुमेलन A-3, B-4, C-1, D-2 है और सही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192/200</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केंपस एवं जैविक अपशिष्टों से कंपोस्ट (खाद) तथा वर्मीकंपोस्ट के निर्माण के संबंध में कौन सा कथन वैज्ञानिक रूप से असत्य है? A. गड्ढों में जैविक अपशिष्टों के निम्नीकरण की प्रक्रिया को केंचुए धीमा कर देते हैं। B. कंपोस्ट में कार्बनिक पदार्थ और पौधों के लिए आवश्यक पोषक तत्व (नाइट्रोजन, फास्फोरस, पोटाश) प्रचुर मात्रा में होते हैं। C. केंचुओं (विशेष रूप से Eisenia foetida) द्वारा तैयार की गई खाद को 'वर्मीकंपोस्ट' (केंचुआ खाद) कहा जाता है, जिसे 'किसानों का मित्र' कहा जाता है। D. कंपोस्टिंग एक जैव-अपघटन प्रक्रिया है जिसमें सूक्ष्मजीव और केंचुए मिलकर कचरे को ह्यूमस में बदलते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035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193/200</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कंपोस्टिंग कृषि अपशिष्टों, गोबर और घरेलू गीले कचरे के पुनर्चक्रण की जैविक प्रक्रिया है। कथन A पूर्णतः गलत और वैज्ञानिक रूप से असत्य है क्योंकि केंचुए अपशिष्टों को खाकर और उलट-पलट कर अपघटन (निम्नीकरण) की गति को कई गुना 'तेज' (accelerate) कर देते हैं, न कि धीमा करते हैं। केंचुओं के पाचन तंत्र से निकलने वाली विष्ठा (Worm castings) अत्यंत समृद्ध पोषक तत्वों, एंजाइमों और सूक्ष्मजीवों से भरी होती है। इसे 'वर्मीकंपोस्ट' कहा जाता है जो रासायनिक उर्वरकों का सुरक्षित व टिकाऊ विकल्प है और मिट्टी की जलधारण क्षमता बढ़ाती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035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193/200</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दैनिक जीवन में भौतिक विज्ञान के अनुप्रयोगों एवं मापन इकाइयों के संदर्भ में निम्नलिखित कथनों पर विचार कीजिए: A. पास्कल (Pa), बार (bar), टॉर (torr) और वायुमंडलीय दाब (atm) भौतिकी में 'दाब' (Pressure) की मानक इकाइयां हैं। B. जल की स्वच्छता और उसमें उपस्थित तैरते निलंबित कणों के कारण होने वाली गंदलेपन/आविलता की माप 'NTU' (Nephelometric Turbidity Units) में की जाती है। C. संपीड़ित प्राकृतिक गैस (CNG) में मुख्य रूप से मीथेन (CH₄ - लगभग 85 से 95%) पाई जाती है, जो पर्यावरण-अनुकूल स्वच्छ ईंधन है। D. डॉक्टरों द्वारा प्रयुक्त स्टेथोस्कोप रोगी के हृदय और फेफड़ों की ध्वनि को 'ध्वनि के बहु-परावर्तन' (Multiple Reflection of Sound) के सिद्धांत पर कानों तक पहुंचाता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636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194/200</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दैनिक विज्ञान में प्रयुक्त सिद्धांत तकनीकी दृष्टि से अत्यंत स्पष्ट हैं: 1 Pa = 1 N/m²; 1 bar = 10⁵ Pa; 1 atm = 1.013 bar = 760 torr (mmHg), ये सभी दाब की इकाइयां हैं। पेयजल मानकों में पानी का मैलापन नेफेलोमीटर द्वारा मापा जाता है जिसकी इकाई NTU है (मानक पेयजल में यह 1 से 5 NTU से कम होना चाहिए)। सीएनजी में उच्च दाब पर संपीड़ित मुख्य रूप से मीथेन गैस होती है जो बिना धुआं जले पूर्ण दहन करती है। स्टेथोस्कोप की नली के भीतर ध्वनि तरंगें नली की आंतरिक दीवारों से बार-बार परावर्तित होकर डॉक्टर के ईयरपीस तक पहुंचती हैं। अतः चारों कथन सत्य हैं और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636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194/200</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पीतल (Brass - तांबा और जस्ता की मिश्रधातु) के बर्तनों में खट्टे खाद्य पदार्थ रखने पर तांबे के विषैले संदूषण से बचाने हेतु बर्तनों पर किसकी चमकदार परत (कलई) चढ़ाई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जस्ते की (Zinc)</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रांगे की / टिन की (Tin - Sn)</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एल्युमीनियम 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सीसे की (Lead)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237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195/200</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रांगे की / टिन की (Tin - Sn)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जस्ते की (Zinc)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एल्युमीनियम 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 की (Lead)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पीतल तांबे (लगभग 70%) और जस्ते (30%) की मिश्रधातु है। जब पीतल के बर्तनों में दही, छाछ, नींबू, सिरका या टमाटर जैसे अम्लीय खाद्य पदार्थ रखे जाते हैं, तो भोजन में उपस्थित अम्ल तांबे के साथ रासायनिक क्रिया करके जहरीला कॉपर कार्बोनेट व अन्य विषाक्त लवण बनाते हैं, जिसे 'ताम्र संदूषण' (Copper poisoning) कहते हैं। इस विषाक्तता को रोकने हेतु पारंपरिक रूप से पीतल के बर्तनों की भीतरी सतह पर पिघले हुए 'रांगे' (टिन - Tin, रासायनिक संकेत Sn) की एक पतली, अक्रिय और चमकदार परत चढ़ाई जाती है, जिसे स्थानीय भाषा में 'कलई' (Tinning) कहा जाता है। टिन खाद्य अम्लों से कोई अभिक्रिया नहीं करता।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237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195/200</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मानव नेत्र के प्रमुख दृष्टि दोषों एवं उनके निवारण हेतु प्रयुक्त होने वाले उपयुक्त लेंसों का सही मिलान कीजिए: सूची-I (दृष्टि दोष): सूची-I: A. निकट दृष्टि दोष (Myopia) B. दूर दृष्टि दोष (Hypermetropia) C. जरा दृष्टि दोष (Presbyopia) D. अबिंदुकता (Astigmatism) सूची-II: 1. उत्तल लेंस (Convex Lens) 2. अवतल लेंस (Concave Lens) 3. बेलनाकार लेंस (Cylindrical Lens) 4. द्विफोकसी लेंस (Bifocal Lens)</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196/200</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मानव नेत्र में प्रकाश अपवर्तन दोषों का निवारण चश्मों के लेंस द्वारा किया जाता है: 1. मायोपिया (निकट दृष्टि दोष) में पास का दिखता है किंतु दूर का नहीं क्योंकि प्रतिबिंब रेटिना से पहले बन जाता है; इसके निवारण हेतु अपसारी 'अवतल लेंस' (Concave) प्रयुक्त होता है। 2. हाइपरमेट्रोपिया (दूर दृष्टि दोष) में दूर का दिखता है किंतु पास का नहीं क्योंकि प्रतिबिंब रेटिना के पीछे बनता है; इसके निवारण हेतु अभिसारी 'उत्तल लेंस' (Convex) प्रयुक्त होता है। 3. प्रेसबायोपिया (जरा दृष्टि दोष) बुढ़ापे में सिलियरी मांसपेशियों के कमजोर होने से होता है जिसमें दोनों दोष हो जाते हैं; अतः 'द्विफोकसी लेंस' (ऊपरी भाग अवतल, निचला उत्तल) प्रयुक्त होता है। 4. एस्टिग्मेटिज्म में कॉर्निया की वक्रता असममित होने से क्षैतिज व ऊर्ध्वाधर रेखाएं एक साथ स्पष्ट नहीं दिखतीं; इसके लिए 'बेलनाकार लेंस' प्रयुक्त होता है। अतः सही सुमेलन A-2, B-1, C-4, D-3 है और सही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196/200</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मानव शरीर में होने वाले प्रमुख संक्रामक रोगों, उनके रोगजनकों एवं वाहकों के संदर्भ में कौन सा युग्म सही नहीं है? A. डेंगू एवं चिकनगुनिया - जीवाणु जनित रोग (बैक्टीरिया द्वारा) B. जापानी एन्सेफेलाइटिस - फ्लेविविरिडे कुल का विषाणु (क्यूलेक्स मच्छर द्वारा संचरित) C. दुर्दम / घातक मलेरिया - प्लाज्मोडियम फाल्सीपेरम (मादा एनोफेलीज मच्छर द्वारा संचरित) D. फाइलेरिया (हाथीपांव) - वुचेरेरिया बैंक्राफ्टाई परजीवी कृमि (क्यूलेक्स मच्छर द्वारा संचरित)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439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197/200</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संक्रामक रोगों के सटीक वर्गीकरण में रोगजनक (जीवाणु, विषाणु, प्रोटोजोआ, कृमि) की स्पष्ट पहचान आवश्यक है। कथन A गलत है क्योंकि डेंगू और चिकनगुनिया जीवाणु जनित नहीं, बल्कि 'विषाणु जनित' (वायरल) रोग हैं। डेंगू 'डेंगी वायरस' (फ्लेविवायरस) से तथा चिकनगुनिया 'चिकनगुनिया वायरस' (टोगावायरस) से होता है और दोनों का वाहक संक्रमित मादा 'एडीज एजिप्टी' (Aedes aegypti) मच्छर है। जापानी इन्सेफेलाइटिस (मस्तिष्क ज्वर) क्यूलेक्स मच्छर से फैलने वाला वायरल रोग है। मलेरिया प्रोटोजोआ परजीवी से होता है जिसमें प्लाज्मोडियम फाल्सीपेरम मस्तिष्क मलेरिया और मृत्यु का कारण बनता है। फाइलेरिया नेमैटोड कृमि से लसिका तंत्र में होता है।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439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197/200</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मानव आनुवंशिकी में 21वें ऑटोसोम गुणसूत्र की एक अतिरिक्त प्रतिलिपि (Trisomy 21) के कारण होने वाले प्रसिद्ध आनुवंशिक विकार को किस नाम से जाना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डाउन सिंड्रोम (Down's Syndrome)</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टर्नर सिंड्रोम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क्लाइनफेल्टर सिंड्रोम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एडवर्ड सिंड्रोम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04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198/200</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डाउन सिंड्रोम (Down's Syndrome)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टर्नर सिंड्रोम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क्लाइनफेल्टर सिंड्रोम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एडवर्ड सिंड्रोम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सामान्य मानव कोशिका में 23 जोड़े (46) गुणसूत्र होते हैं। अर्धसूत्री विभाजन में अवियोजन (Non-disjunction) के कारण जब 21वें जोड़े में दो के बजाय तीन गुणसूत्र आ जाते हैं (Trisomy 21 - कुल 47 गुणसूत्र), तो इसे 'डाउन सिंड्रोम' (मंगोलिज्म) कहा जाता है। इसकी खोज 1866 में जॉन लैंगडन डाउन ने की थी। इसके लक्षणों में छोटा कद, गोल चेहरा, चौड़ा ललाट, मंगोलियन आंखें, खुली जीभ और मानसिक मंदता शामिल हैं। विकल्प A में टर्नर सिंड्रोम महिलाओं में एक X गुणसूत्र की कमी (45, XO) से होता है। विकल्प C में क्लाइनफेल्टर सिंड्रोम पुरुषों में अतिरिक्त X गुणसूत्र (47, XXY) से होता है। विकल्प D में एडवर्ड सिंड्रोम 18वें गुणसूत्र की ट्राइसोमी से होता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04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198/200</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जूनोटिक रोगों (Zoonotic Diseases - पशुओं से मनुष्यों में फैलने वाले संक्रामक रोग) के संबंध में निम्नलिखित कथनों पर विचार कीजिए: A. रेबीज, प्लेग, स्वाइन फ्लू, बर्ड फ्लू, निपाह वायरस और एंथ्रेक्स प्रमुख जूनोटिक रोग हैं। B. 'म्यूकोरमाइकोसिस' (ब्लैक फंगस) एक जूनोटिक रोग नहीं है, बल्कि यह एक अवसरवादी फंगल (कवक) संक्रमण है जो कमजोर प्रतिरक्षा प्रणाली वाले व्यक्तियों को प्रभावित करता है। C. विश्व पशु स्वास्थ्य संगठन (WOAH) के अनुसार मानव संक्रामक रोगों में से 60% से अधिक रोग जूनोटिक प्रकृति के होते हैं। D. खुरपका-मुंहपका रोग (FMD) और लंपी स्किन डिजीज (LSD) पशुओं के वायरल रोग हैं जो सामान्यतः मनुष्यों में संक्रमित नहीं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642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199/200</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जूनोसिस (Zoonosis) वे बीमारियां हैं जो कशेरुकी पशुओं से प्राकृतिक रूप से मनुष्यों में फैलती हैं (जैसे रेबीज पागल कुत्ते के काटने से; प्लेग चूहों के पिस्सू से; एंथ्रेक्स मवेशियों के बैक्टीरिया से; बर्ड फ्लू मुर्गियों से)। कोविड-19 महामारी के दौरान चर्चित हुआ 'म्यूकोरमाइकोसिस' (काला कवक) मिट्टी और सड़ी पत्तियों में मौजूद म्यूकोरालेस कवक के बीजाणुओं से होता है और यह किसी पशु से नहीं फैलता, अतः यह गैर-जूनोटिक है। लंपी स्किन डिजीज मवेशियों में कैप्रीपॉक्स वायरस से होती है जो दुधारू पशुओं को गंभीर क्षति पहुंचाती है किंतु यह जूनोटिक नहीं है और मनुष्यों को नहीं लगती। अतः चारों कथन सत्य हैं और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642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199/200</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वायु प्रदूषण सूचकांक (National Air Quality Index - AQI) के आधिकारिक 6 श्रेणियों के वर्गीकरण में 101 से 200 की सीमा को किस गुणवत्ता श्रेणी में वर्गीकृत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अच्छा (Good: 0-50)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संतोषजनक (Satisfactory: 51-100)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खराब (Poor: 201-300)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मध्यम (Moderate: 101-200)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200/200</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मध्यम (Moderate: 101-200)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अच्छा (Good: 0-50)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संतोषजनक (Satisfactory: 51-100)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खराब (Poor: 201-300)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प्रदूषण नियंत्रण बोर्ड (CPCB) द्वारा स्वच्छ भारत अभियान के तहत 'राष्ट्रीय वायु गुणवत्ता सूचकांक' (AQI) का निर्धारण किया गया है, जो 8 मुख्य प्रदूषकों (PM10, PM2.5, NO2, SO2, CO, O3, NH3 और Pb) के आधार पर 6 श्रेणियों में विभाजित है: 1. अच्छा (Good: 0-50 - न्यूनतम प्रभाव), 2. संतोषजनक (Satisfactory: 51-100 - संवेदनशील लोगों को सांस लेने में हल्की तकलीफ), 3. मध्यम (Moderate: 101-200 - फेफड़ों, अस्थमा और हृदय रोगियों को सांस लेने में असुविधा), 4. खराब (Poor: 201-300), 5. बहुत खराब (Very Poor: 301-400), और 6. गंभीर (Severe: 401-500 - स्वस्थ लोगों पर भी गंभीर स्वास्थ्य प्रभाव)। अतः 101-200 का मान 'मध्यम' (Moderate) श्रेणी में आता है और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200/200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